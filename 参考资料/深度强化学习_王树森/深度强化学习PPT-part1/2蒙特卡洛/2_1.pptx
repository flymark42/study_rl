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media/image4.jpg" ContentType="image/png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2"/>
  </p:notesMasterIdLst>
  <p:sldIdLst>
    <p:sldId id="256" r:id="rId2"/>
    <p:sldId id="1295" r:id="rId3"/>
    <p:sldId id="1305" r:id="rId4"/>
    <p:sldId id="1296" r:id="rId5"/>
    <p:sldId id="1300" r:id="rId6"/>
    <p:sldId id="1299" r:id="rId7"/>
    <p:sldId id="1298" r:id="rId8"/>
    <p:sldId id="1301" r:id="rId9"/>
    <p:sldId id="1302" r:id="rId10"/>
    <p:sldId id="1345" r:id="rId11"/>
    <p:sldId id="1346" r:id="rId12"/>
    <p:sldId id="1303" r:id="rId13"/>
    <p:sldId id="1304" r:id="rId14"/>
    <p:sldId id="1376" r:id="rId15"/>
    <p:sldId id="1306" r:id="rId16"/>
    <p:sldId id="1307" r:id="rId17"/>
    <p:sldId id="1308" r:id="rId18"/>
    <p:sldId id="1377" r:id="rId19"/>
    <p:sldId id="1354" r:id="rId20"/>
    <p:sldId id="1331" r:id="rId21"/>
    <p:sldId id="1309" r:id="rId22"/>
    <p:sldId id="1389" r:id="rId23"/>
    <p:sldId id="1332" r:id="rId24"/>
    <p:sldId id="1378" r:id="rId25"/>
    <p:sldId id="1310" r:id="rId26"/>
    <p:sldId id="1333" r:id="rId27"/>
    <p:sldId id="1312" r:id="rId28"/>
    <p:sldId id="1311" r:id="rId29"/>
    <p:sldId id="1314" r:id="rId30"/>
    <p:sldId id="1371" r:id="rId31"/>
    <p:sldId id="1313" r:id="rId32"/>
    <p:sldId id="1317" r:id="rId33"/>
    <p:sldId id="1372" r:id="rId34"/>
    <p:sldId id="1318" r:id="rId35"/>
    <p:sldId id="1379" r:id="rId36"/>
    <p:sldId id="1335" r:id="rId37"/>
    <p:sldId id="1336" r:id="rId38"/>
    <p:sldId id="1315" r:id="rId39"/>
    <p:sldId id="1380" r:id="rId40"/>
    <p:sldId id="1381" r:id="rId41"/>
    <p:sldId id="1319" r:id="rId42"/>
    <p:sldId id="1324" r:id="rId43"/>
    <p:sldId id="1382" r:id="rId44"/>
    <p:sldId id="1325" r:id="rId45"/>
    <p:sldId id="1337" r:id="rId46"/>
    <p:sldId id="1390" r:id="rId47"/>
    <p:sldId id="1391" r:id="rId48"/>
    <p:sldId id="1338" r:id="rId49"/>
    <p:sldId id="1327" r:id="rId50"/>
    <p:sldId id="1383" r:id="rId51"/>
    <p:sldId id="1392" r:id="rId52"/>
    <p:sldId id="1393" r:id="rId53"/>
    <p:sldId id="1326" r:id="rId54"/>
    <p:sldId id="1339" r:id="rId55"/>
    <p:sldId id="1384" r:id="rId56"/>
    <p:sldId id="1341" r:id="rId57"/>
    <p:sldId id="1385" r:id="rId58"/>
    <p:sldId id="1342" r:id="rId59"/>
    <p:sldId id="1328" r:id="rId60"/>
    <p:sldId id="1386" r:id="rId61"/>
    <p:sldId id="1343" r:id="rId62"/>
    <p:sldId id="1387" r:id="rId63"/>
    <p:sldId id="1349" r:id="rId64"/>
    <p:sldId id="1352" r:id="rId65"/>
    <p:sldId id="1388" r:id="rId66"/>
    <p:sldId id="1394" r:id="rId67"/>
    <p:sldId id="1395" r:id="rId68"/>
    <p:sldId id="1350" r:id="rId69"/>
    <p:sldId id="1351" r:id="rId70"/>
    <p:sldId id="1353" r:id="rId71"/>
    <p:sldId id="1396" r:id="rId72"/>
    <p:sldId id="1397" r:id="rId73"/>
    <p:sldId id="1323" r:id="rId74"/>
    <p:sldId id="1320" r:id="rId75"/>
    <p:sldId id="1322" r:id="rId76"/>
    <p:sldId id="1344" r:id="rId77"/>
    <p:sldId id="1373" r:id="rId78"/>
    <p:sldId id="1374" r:id="rId79"/>
    <p:sldId id="1375" r:id="rId80"/>
    <p:sldId id="1398" r:id="rId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24FC"/>
    <a:srgbClr val="E9887C"/>
    <a:srgbClr val="F6DCDD"/>
    <a:srgbClr val="F80545"/>
    <a:srgbClr val="EFAFED"/>
    <a:srgbClr val="EDA9A2"/>
    <a:srgbClr val="F1DFF6"/>
    <a:srgbClr val="02FCE0"/>
    <a:srgbClr val="4A169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/>
    <p:restoredTop sz="59379"/>
  </p:normalViewPr>
  <p:slideViewPr>
    <p:cSldViewPr snapToGrid="0" snapToObjects="1">
      <p:cViewPr varScale="1">
        <p:scale>
          <a:sx n="79" d="100"/>
          <a:sy n="79" d="100"/>
        </p:scale>
        <p:origin x="896" y="192"/>
      </p:cViewPr>
      <p:guideLst/>
    </p:cSldViewPr>
  </p:slideViewPr>
  <p:notesTextViewPr>
    <p:cViewPr>
      <p:scale>
        <a:sx n="145" d="100"/>
        <a:sy n="14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49C357-7F3A-6747-BE66-3881BDA4D39C}" type="datetimeFigureOut">
              <a:rPr lang="en-US" smtClean="0"/>
              <a:t>11/14/21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F8700-0BCC-BB42-8973-85E47E56B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4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/>
              <a:t>Monte</a:t>
            </a:r>
            <a:r>
              <a:rPr lang="zh-CN" altLang="en-US" sz="1600" dirty="0"/>
              <a:t> </a:t>
            </a:r>
            <a:r>
              <a:rPr lang="en-US" altLang="zh-CN" sz="1600" dirty="0"/>
              <a:t>Carlo</a:t>
            </a:r>
            <a:r>
              <a:rPr lang="zh-CN" altLang="en-US" sz="1600" dirty="0"/>
              <a:t> </a:t>
            </a:r>
            <a:r>
              <a:rPr lang="en-US" altLang="zh-CN" sz="1600" dirty="0"/>
              <a:t>is</a:t>
            </a:r>
            <a:r>
              <a:rPr lang="zh-CN" altLang="en-US" sz="1600" baseline="0" dirty="0"/>
              <a:t> </a:t>
            </a:r>
            <a:r>
              <a:rPr lang="en-US" altLang="zh-CN" sz="1600" dirty="0"/>
              <a:t>a</a:t>
            </a:r>
            <a:r>
              <a:rPr lang="zh-CN" altLang="en-US" sz="1600" dirty="0"/>
              <a:t> </a:t>
            </a:r>
            <a:r>
              <a:rPr lang="en-US" altLang="zh-CN" sz="1600" dirty="0"/>
              <a:t>family</a:t>
            </a:r>
            <a:r>
              <a:rPr lang="zh-CN" altLang="en-US" sz="1600" dirty="0"/>
              <a:t> </a:t>
            </a:r>
            <a:r>
              <a:rPr lang="en-US" altLang="zh-CN" sz="1600" dirty="0"/>
              <a:t>of</a:t>
            </a:r>
            <a:r>
              <a:rPr lang="zh-CN" altLang="en-US" sz="1600" dirty="0"/>
              <a:t> </a:t>
            </a:r>
            <a:r>
              <a:rPr lang="en-US" altLang="zh-CN" sz="1600" dirty="0"/>
              <a:t>randomized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algorithms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for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approximating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exact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values.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/>
              <a:t>I</a:t>
            </a:r>
            <a:r>
              <a:rPr lang="zh-CN" altLang="en-US" sz="1600" dirty="0"/>
              <a:t> </a:t>
            </a:r>
            <a:r>
              <a:rPr lang="en-US" altLang="zh-CN" sz="1600" dirty="0"/>
              <a:t>am</a:t>
            </a:r>
            <a:r>
              <a:rPr lang="zh-CN" altLang="en-US" sz="1600" dirty="0"/>
              <a:t> </a:t>
            </a:r>
            <a:r>
              <a:rPr lang="en-US" altLang="zh-CN" sz="1600" dirty="0"/>
              <a:t>going</a:t>
            </a:r>
            <a:r>
              <a:rPr lang="zh-CN" altLang="en-US" sz="1600" dirty="0"/>
              <a:t> </a:t>
            </a:r>
            <a:r>
              <a:rPr lang="en-US" altLang="zh-CN" sz="1600" dirty="0"/>
              <a:t>to</a:t>
            </a:r>
            <a:r>
              <a:rPr lang="zh-CN" altLang="en-US" sz="1600" dirty="0"/>
              <a:t> </a:t>
            </a:r>
            <a:r>
              <a:rPr lang="en-US" altLang="zh-CN" sz="1600" dirty="0"/>
              <a:t>use</a:t>
            </a:r>
            <a:r>
              <a:rPr lang="zh-CN" altLang="en-US" sz="1600" dirty="0"/>
              <a:t> </a:t>
            </a:r>
            <a:r>
              <a:rPr lang="en-US" altLang="zh-CN" sz="1600" dirty="0"/>
              <a:t>a</a:t>
            </a:r>
            <a:r>
              <a:rPr lang="zh-CN" altLang="en-US" sz="1600" dirty="0"/>
              <a:t> </a:t>
            </a:r>
            <a:r>
              <a:rPr lang="en-US" altLang="zh-CN" sz="1600" dirty="0"/>
              <a:t>few</a:t>
            </a:r>
            <a:r>
              <a:rPr lang="zh-CN" altLang="en-US" sz="1600" dirty="0"/>
              <a:t> </a:t>
            </a:r>
            <a:r>
              <a:rPr lang="en-US" altLang="zh-CN" sz="1600" dirty="0"/>
              <a:t>examples</a:t>
            </a:r>
            <a:r>
              <a:rPr lang="zh-CN" altLang="en-US" sz="1600" dirty="0"/>
              <a:t> </a:t>
            </a:r>
            <a:r>
              <a:rPr lang="en-US" altLang="zh-CN" sz="1600" dirty="0"/>
              <a:t>to</a:t>
            </a:r>
            <a:r>
              <a:rPr lang="zh-CN" altLang="en-US" sz="1600" dirty="0"/>
              <a:t> </a:t>
            </a:r>
            <a:r>
              <a:rPr lang="en-US" altLang="zh-CN" sz="1600" dirty="0"/>
              <a:t>explain</a:t>
            </a:r>
            <a:r>
              <a:rPr lang="zh-CN" altLang="en-US" sz="1600" dirty="0"/>
              <a:t> </a:t>
            </a:r>
            <a:r>
              <a:rPr lang="en-US" altLang="zh-CN" sz="1600" dirty="0"/>
              <a:t>Monte</a:t>
            </a:r>
            <a:r>
              <a:rPr lang="zh-CN" altLang="en-US" sz="1600" dirty="0"/>
              <a:t> </a:t>
            </a:r>
            <a:r>
              <a:rPr lang="en-US" altLang="zh-CN" sz="1600" dirty="0"/>
              <a:t>Carlo</a:t>
            </a:r>
            <a:r>
              <a:rPr lang="zh-CN" altLang="en-US" sz="1600" dirty="0"/>
              <a:t> </a:t>
            </a:r>
            <a:r>
              <a:rPr lang="en-US" altLang="zh-CN" sz="1600" dirty="0"/>
              <a:t>algorithms.</a:t>
            </a:r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这节课我们学习蒙特卡洛。</a:t>
            </a:r>
            <a:endParaRPr lang="en-US" altLang="zh-CN" sz="1600" dirty="0"/>
          </a:p>
          <a:p>
            <a:r>
              <a:rPr lang="zh-CN" altLang="en-US" sz="1600" dirty="0"/>
              <a:t>蒙特卡洛是一大类随机算法，通过随机样本来估算真实值。</a:t>
            </a: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/>
              <a:t>这节课我用几个例子来讲解</a:t>
            </a:r>
            <a:r>
              <a:rPr lang="zh-CN" altLang="en-US" sz="1600" baseline="0" dirty="0"/>
              <a:t> </a:t>
            </a:r>
            <a:r>
              <a:rPr lang="zh-CN" altLang="en-US" sz="1600" dirty="0"/>
              <a:t>蒙特卡洛算法。</a:t>
            </a:r>
            <a:endParaRPr lang="en-US" altLang="zh-CN" sz="1600" dirty="0"/>
          </a:p>
          <a:p>
            <a:endParaRPr lang="en-US" altLang="zh-CN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50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/>
              <a:t>The</a:t>
            </a:r>
            <a:r>
              <a:rPr lang="zh-CN" altLang="en-US" sz="1600" dirty="0"/>
              <a:t> </a:t>
            </a:r>
            <a:r>
              <a:rPr lang="en-US" altLang="zh-CN" sz="1600" dirty="0"/>
              <a:t>first</a:t>
            </a:r>
            <a:r>
              <a:rPr lang="zh-CN" altLang="en-US" sz="1600" dirty="0"/>
              <a:t> </a:t>
            </a:r>
            <a:r>
              <a:rPr lang="en-US" altLang="zh-CN" sz="1600" dirty="0"/>
              <a:t>example</a:t>
            </a:r>
            <a:r>
              <a:rPr lang="zh-CN" altLang="en-US" sz="1600" dirty="0"/>
              <a:t> </a:t>
            </a:r>
            <a:r>
              <a:rPr lang="en-US" altLang="zh-CN" sz="1600" dirty="0"/>
              <a:t>is</a:t>
            </a:r>
            <a:r>
              <a:rPr lang="zh-CN" altLang="en-US" sz="1600" dirty="0"/>
              <a:t> </a:t>
            </a:r>
            <a:r>
              <a:rPr lang="en-US" altLang="zh-CN" sz="1600" dirty="0"/>
              <a:t>calculating</a:t>
            </a:r>
            <a:r>
              <a:rPr lang="zh-CN" altLang="en-US" sz="1600" dirty="0"/>
              <a:t> </a:t>
            </a:r>
            <a:r>
              <a:rPr lang="en-US" altLang="zh-CN" sz="1600" dirty="0"/>
              <a:t>pi</a:t>
            </a:r>
            <a:r>
              <a:rPr lang="zh-CN" altLang="en-US" sz="1600" dirty="0"/>
              <a:t> </a:t>
            </a:r>
            <a:r>
              <a:rPr lang="en-US" altLang="zh-CN" sz="1600" dirty="0"/>
              <a:t>using</a:t>
            </a:r>
            <a:r>
              <a:rPr lang="zh-CN" altLang="en-US" sz="1600" dirty="0"/>
              <a:t> </a:t>
            </a:r>
            <a:r>
              <a:rPr lang="en-US" altLang="zh-CN" sz="1600" dirty="0"/>
              <a:t>uniform</a:t>
            </a:r>
            <a:r>
              <a:rPr lang="zh-CN" altLang="en-US" sz="1600" dirty="0"/>
              <a:t> </a:t>
            </a:r>
            <a:r>
              <a:rPr lang="en-US" altLang="zh-CN" sz="1600" dirty="0"/>
              <a:t>sampling.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/>
              <a:t>第一个例子是通过均匀抽样来计算</a:t>
            </a:r>
            <a:r>
              <a:rPr lang="en-US" altLang="zh-CN" sz="1600" dirty="0"/>
              <a:t>Pi</a:t>
            </a:r>
            <a:r>
              <a:rPr lang="zh-CN" altLang="en-US" sz="1600" dirty="0"/>
              <a:t>。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68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already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know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that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pi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approximately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3.14159.</a:t>
                </a:r>
              </a:p>
              <a:p>
                <a:r>
                  <a:rPr lang="en-US" altLang="zh-CN" sz="1600" dirty="0"/>
                  <a:t>Now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let’s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pretend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that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don’t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know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value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of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pi.</a:t>
                </a:r>
              </a:p>
              <a:p>
                <a:r>
                  <a:rPr lang="en-US" altLang="zh-CN" sz="1600" dirty="0"/>
                  <a:t>Can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find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out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approximately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using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random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number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generator?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我们都知道</a:t>
                </a:r>
                <a:r>
                  <a:rPr lang="en-US" altLang="zh-CN" sz="1600" dirty="0"/>
                  <a:t>Pi</a:t>
                </a:r>
                <a:r>
                  <a:rPr lang="zh-CN" altLang="en-US" sz="1600" dirty="0"/>
                  <a:t>约等于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3.141592653589</m:t>
                    </m:r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现在假装我们不知道</a:t>
                </a:r>
                <a:r>
                  <a:rPr lang="en-US" altLang="zh-CN" sz="1600" dirty="0"/>
                  <a:t>pi</a:t>
                </a:r>
                <a:r>
                  <a:rPr lang="zh-CN" altLang="en-US" sz="1600" dirty="0"/>
                  <a:t>，我们要想办法近似估算</a:t>
                </a:r>
                <a:r>
                  <a:rPr lang="en-US" altLang="zh-CN" sz="1600" dirty="0"/>
                  <a:t>pi</a:t>
                </a:r>
                <a:r>
                  <a:rPr lang="zh-CN" altLang="en-US" sz="1600" dirty="0"/>
                  <a:t>值。</a:t>
                </a:r>
                <a:endParaRPr lang="en-US" altLang="zh-CN" sz="1600" dirty="0"/>
              </a:p>
              <a:p>
                <a:r>
                  <a:rPr lang="en-US" altLang="zh-CN" sz="1600" dirty="0"/>
                  <a:t>---</a:t>
                </a:r>
              </a:p>
              <a:p>
                <a:r>
                  <a:rPr lang="zh-CN" altLang="en-US" sz="1600" dirty="0"/>
                  <a:t>假设我们有随机数生成器，我们能不能用随机样本来近似</a:t>
                </a:r>
                <a:r>
                  <a:rPr lang="en-US" altLang="zh-CN" sz="1600" dirty="0"/>
                  <a:t>Pi</a:t>
                </a:r>
                <a:r>
                  <a:rPr lang="zh-CN" altLang="en-US" sz="1600" dirty="0"/>
                  <a:t>呢？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我们都知道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约等于</a:t>
                </a:r>
                <a:r>
                  <a:rPr lang="en-US" altLang="zh-CN" sz="1600" b="0" i="0" smtClean="0">
                    <a:latin typeface="Cambria Math" charset="0"/>
                  </a:rPr>
                  <a:t>3.141592653589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现在假装我们不知道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，我们要想办法近似估计出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假设我们有随机数生成器，我们能不能用随机样本来近似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呢？</a:t>
                </a:r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366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/>
              <a:t>Let’s</a:t>
            </a:r>
            <a:r>
              <a:rPr lang="zh-CN" altLang="en-US" sz="1600" dirty="0"/>
              <a:t> </a:t>
            </a:r>
            <a:r>
              <a:rPr lang="en-US" altLang="zh-CN" sz="1600" dirty="0"/>
              <a:t>use</a:t>
            </a:r>
            <a:r>
              <a:rPr lang="zh-CN" altLang="en-US" sz="1600" dirty="0"/>
              <a:t> </a:t>
            </a:r>
            <a:r>
              <a:rPr lang="en-US" altLang="zh-CN" sz="1600" dirty="0"/>
              <a:t>Monte</a:t>
            </a:r>
            <a:r>
              <a:rPr lang="zh-CN" altLang="en-US" sz="1600" dirty="0"/>
              <a:t> </a:t>
            </a:r>
            <a:r>
              <a:rPr lang="en-US" altLang="zh-CN" sz="1600" dirty="0"/>
              <a:t>Carlo</a:t>
            </a:r>
            <a:r>
              <a:rPr lang="zh-CN" altLang="en-US" sz="1600" dirty="0"/>
              <a:t> </a:t>
            </a:r>
            <a:r>
              <a:rPr lang="en-US" altLang="zh-CN" sz="1600" dirty="0"/>
              <a:t>to</a:t>
            </a:r>
            <a:r>
              <a:rPr lang="zh-CN" altLang="en-US" sz="1600" dirty="0"/>
              <a:t> </a:t>
            </a:r>
            <a:r>
              <a:rPr lang="en-US" altLang="zh-CN" sz="1600" dirty="0"/>
              <a:t>approximate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π.</a:t>
            </a:r>
          </a:p>
          <a:p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idea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uniform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sampling.</a:t>
            </a:r>
          </a:p>
          <a:p>
            <a:r>
              <a:rPr lang="en-US" altLang="zh-CN" sz="1600" baseline="0" dirty="0"/>
              <a:t>==============================</a:t>
            </a:r>
          </a:p>
          <a:p>
            <a:r>
              <a:rPr lang="en-US" altLang="zh-CN" sz="1600" baseline="0" dirty="0"/>
              <a:t>Assume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we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have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random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number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generator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that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can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generate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numbers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uniformly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distributed</a:t>
            </a:r>
            <a:r>
              <a:rPr lang="zh-CN" altLang="en-US" sz="1600" baseline="0" dirty="0"/>
              <a:t>  </a:t>
            </a:r>
            <a:r>
              <a:rPr lang="en-US" altLang="zh-CN" sz="1600" baseline="0" dirty="0"/>
              <a:t>between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-1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and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+1.</a:t>
            </a:r>
          </a:p>
          <a:p>
            <a:r>
              <a:rPr lang="en-US" altLang="zh-CN" sz="1600" dirty="0"/>
              <a:t>Each</a:t>
            </a:r>
            <a:r>
              <a:rPr lang="zh-CN" altLang="en-US" sz="1600" dirty="0"/>
              <a:t> </a:t>
            </a:r>
            <a:r>
              <a:rPr lang="en-US" altLang="zh-CN" sz="1600" dirty="0"/>
              <a:t>time,</a:t>
            </a:r>
            <a:r>
              <a:rPr lang="zh-CN" altLang="en-US" sz="1600" dirty="0"/>
              <a:t> </a:t>
            </a:r>
            <a:r>
              <a:rPr lang="en-US" altLang="zh-CN" sz="1600" dirty="0"/>
              <a:t>we</a:t>
            </a:r>
            <a:r>
              <a:rPr lang="zh-CN" altLang="en-US" sz="1600" dirty="0"/>
              <a:t> </a:t>
            </a:r>
            <a:r>
              <a:rPr lang="en-US" altLang="zh-CN" sz="1600" dirty="0"/>
              <a:t>generate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two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numbers: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x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and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y.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/>
              <a:t>==============================</a:t>
            </a:r>
          </a:p>
          <a:p>
            <a:r>
              <a:rPr lang="en-US" altLang="zh-CN" sz="1600" dirty="0"/>
              <a:t>In</a:t>
            </a:r>
            <a:r>
              <a:rPr lang="zh-CN" altLang="en-US" sz="1600" dirty="0"/>
              <a:t> </a:t>
            </a:r>
            <a:r>
              <a:rPr lang="en-US" altLang="zh-CN" sz="1600" dirty="0"/>
              <a:t>this</a:t>
            </a:r>
            <a:r>
              <a:rPr lang="zh-CN" altLang="en-US" sz="1600" dirty="0"/>
              <a:t> </a:t>
            </a:r>
            <a:r>
              <a:rPr lang="en-US" altLang="zh-CN" sz="1600" dirty="0"/>
              <a:t>way,</a:t>
            </a:r>
            <a:r>
              <a:rPr lang="zh-CN" altLang="en-US" sz="1600" dirty="0"/>
              <a:t> </a:t>
            </a:r>
            <a:r>
              <a:rPr lang="en-US" altLang="zh-CN" sz="1600" dirty="0"/>
              <a:t>each</a:t>
            </a:r>
            <a:r>
              <a:rPr lang="zh-CN" altLang="en-US" sz="1600" dirty="0"/>
              <a:t> </a:t>
            </a:r>
            <a:r>
              <a:rPr lang="en-US" altLang="zh-CN" sz="1600" dirty="0"/>
              <a:t>time</a:t>
            </a:r>
            <a:r>
              <a:rPr lang="zh-CN" altLang="en-US" sz="1600" dirty="0"/>
              <a:t> </a:t>
            </a:r>
            <a:r>
              <a:rPr lang="en-US" altLang="zh-CN" sz="1600" dirty="0"/>
              <a:t>we</a:t>
            </a:r>
            <a:r>
              <a:rPr lang="zh-CN" altLang="en-US" sz="1600" dirty="0"/>
              <a:t> </a:t>
            </a:r>
            <a:r>
              <a:rPr lang="en-US" altLang="zh-CN" sz="1600" dirty="0"/>
              <a:t>uniformly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sample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one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point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from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blue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square.</a:t>
            </a:r>
          </a:p>
          <a:p>
            <a:r>
              <a:rPr lang="en-US" altLang="zh-CN" sz="1600" baseline="0" dirty="0"/>
              <a:t>Everywhere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square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has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same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probability density.</a:t>
            </a:r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接下来我们用蒙特卡洛来近似计算</a:t>
            </a:r>
            <a:r>
              <a:rPr lang="en-US" altLang="zh-CN" sz="1600" dirty="0"/>
              <a:t>pi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r>
              <a:rPr lang="zh-CN" altLang="en-US" sz="1600" dirty="0"/>
              <a:t>假设我们有一个随机数生成器，</a:t>
            </a: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/>
              <a:t>==============================</a:t>
            </a:r>
          </a:p>
          <a:p>
            <a:r>
              <a:rPr lang="zh-CN" altLang="en-US" sz="1600" dirty="0"/>
              <a:t>可以均匀生成</a:t>
            </a:r>
            <a:r>
              <a:rPr lang="zh-CN" altLang="en-US" sz="1600" baseline="0" dirty="0"/>
              <a:t> 负一  到 正一  之间的实数。</a:t>
            </a:r>
            <a:endParaRPr lang="en-US" altLang="zh-CN" sz="1600" baseline="0" dirty="0"/>
          </a:p>
          <a:p>
            <a:r>
              <a:rPr lang="zh-CN" altLang="en-US" sz="1600" baseline="0" dirty="0"/>
              <a:t>我们每次生成两个随机数，一个作为</a:t>
            </a:r>
            <a:r>
              <a:rPr lang="en-US" altLang="zh-CN" sz="1600" baseline="0" dirty="0"/>
              <a:t>x</a:t>
            </a:r>
            <a:r>
              <a:rPr lang="zh-CN" altLang="en-US" sz="1600" baseline="0" dirty="0"/>
              <a:t>，另一个作为</a:t>
            </a:r>
            <a:r>
              <a:rPr lang="en-US" altLang="zh-CN" sz="1600" baseline="0" dirty="0"/>
              <a:t>y</a:t>
            </a:r>
            <a:r>
              <a:rPr lang="zh-CN" altLang="en-US" sz="1600" baseline="0" dirty="0"/>
              <a:t>。</a:t>
            </a:r>
            <a:endParaRPr lang="en-US" altLang="zh-CN" sz="1600" baseline="0" dirty="0"/>
          </a:p>
          <a:p>
            <a:r>
              <a:rPr lang="zh-CN" altLang="en-US" sz="1600" baseline="0" dirty="0"/>
              <a:t>于是每次就生成了一个平面坐标系中的点</a:t>
            </a:r>
            <a:r>
              <a:rPr lang="en-US" altLang="zh-CN" sz="1600" baseline="0" dirty="0"/>
              <a:t>(x,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y)</a:t>
            </a:r>
            <a:r>
              <a:rPr lang="zh-CN" altLang="en-US" sz="1600" baseline="0" dirty="0"/>
              <a:t>。</a:t>
            </a:r>
            <a:endParaRPr lang="en-US" altLang="zh-CN" sz="1600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/>
              <a:t>==============================</a:t>
            </a:r>
          </a:p>
          <a:p>
            <a:r>
              <a:rPr lang="zh-CN" altLang="en-US" sz="1600" baseline="0" dirty="0"/>
              <a:t>所有点都会落在这个蓝色</a:t>
            </a:r>
            <a:r>
              <a:rPr lang="zh-CN" altLang="en-US" sz="1600" dirty="0"/>
              <a:t>正方形里面。</a:t>
            </a:r>
            <a:endParaRPr lang="en-US" altLang="zh-CN" sz="1600" dirty="0"/>
          </a:p>
          <a:p>
            <a:r>
              <a:rPr lang="zh-CN" altLang="en-US" sz="1600" dirty="0"/>
              <a:t>由于</a:t>
            </a:r>
            <a:r>
              <a:rPr lang="en-US" altLang="zh-CN" sz="1600" dirty="0"/>
              <a:t>x</a:t>
            </a:r>
            <a:r>
              <a:rPr lang="zh-CN" altLang="en-US" sz="1600" dirty="0"/>
              <a:t>和</a:t>
            </a:r>
            <a:r>
              <a:rPr lang="en-US" altLang="zh-CN" sz="1600" dirty="0"/>
              <a:t>y</a:t>
            </a:r>
            <a:r>
              <a:rPr lang="zh-CN" altLang="en-US" sz="1600" dirty="0"/>
              <a:t>都是在  </a:t>
            </a:r>
            <a:r>
              <a:rPr lang="zh-CN" altLang="en-US" sz="1600" baseline="0" dirty="0"/>
              <a:t>负一  到 正一  之间 均匀分布，所以正方形里所有的点都有相同的概率密度。</a:t>
            </a:r>
            <a:endParaRPr lang="en-US" altLang="zh-CN" sz="1600" baseline="0" dirty="0"/>
          </a:p>
          <a:p>
            <a:endParaRPr lang="en-US" altLang="zh-CN" sz="1600" baseline="0" dirty="0"/>
          </a:p>
          <a:p>
            <a:endParaRPr lang="en-US" altLang="zh-CN" sz="1600" baseline="0" dirty="0"/>
          </a:p>
          <a:p>
            <a:endParaRPr lang="en-US" altLang="zh-CN" sz="1600" baseline="0" dirty="0"/>
          </a:p>
          <a:p>
            <a:endParaRPr lang="en-US" altLang="zh-CN" sz="1600" baseline="0" dirty="0"/>
          </a:p>
          <a:p>
            <a:endParaRPr lang="en-US" altLang="zh-CN" sz="1600" baseline="0" dirty="0"/>
          </a:p>
          <a:p>
            <a:endParaRPr lang="en-US" altLang="zh-CN" sz="1600" baseline="0" dirty="0"/>
          </a:p>
          <a:p>
            <a:endParaRPr lang="en-US" altLang="zh-CN" sz="1600" baseline="0" dirty="0"/>
          </a:p>
          <a:p>
            <a:endParaRPr lang="en-US" altLang="zh-CN" sz="1600" baseline="0" dirty="0"/>
          </a:p>
          <a:p>
            <a:endParaRPr lang="en-US" altLang="zh-CN" sz="1600" baseline="0" dirty="0"/>
          </a:p>
          <a:p>
            <a:endParaRPr lang="en-US" altLang="zh-CN" sz="1600" baseline="0" dirty="0"/>
          </a:p>
          <a:p>
            <a:endParaRPr lang="en-US" altLang="zh-CN" sz="160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991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green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circle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contained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by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blue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square.</a:t>
                </a:r>
              </a:p>
              <a:p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circle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centered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origin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has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radius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1.</a:t>
                </a:r>
              </a:p>
              <a:p>
                <a:r>
                  <a:rPr lang="en-US" altLang="zh-CN" sz="1600" baseline="0" dirty="0"/>
                  <a:t>----</a:t>
                </a:r>
              </a:p>
              <a:p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randomly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generated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may fall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inside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outside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circle.</a:t>
                </a:r>
              </a:p>
              <a:p>
                <a:r>
                  <a:rPr lang="en-US" altLang="zh-CN" sz="1600" baseline="0" dirty="0"/>
                  <a:t>Both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possible.</a:t>
                </a:r>
              </a:p>
              <a:p>
                <a:r>
                  <a:rPr lang="en-US" altLang="zh-CN" sz="1600" baseline="0" dirty="0"/>
                  <a:t>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Think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question: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dirty="0"/>
                  <a:t>What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probability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that point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inside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circle?</a:t>
                </a:r>
              </a:p>
              <a:p>
                <a:r>
                  <a:rPr lang="en-US" altLang="zh-CN" sz="1600" dirty="0"/>
                  <a:t>Let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ask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question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another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way:</a:t>
                </a:r>
                <a:r>
                  <a:rPr lang="zh-CN" altLang="en-US" sz="1600" baseline="0" dirty="0"/>
                  <a:t> </a:t>
                </a:r>
                <a:endParaRPr lang="en-US" altLang="zh-CN" sz="1600" baseline="0" dirty="0"/>
              </a:p>
              <a:p>
                <a:r>
                  <a:rPr lang="en-US" altLang="zh-CN" sz="1600" baseline="0" dirty="0"/>
                  <a:t>If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1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trillion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samples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randomly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generated,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how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many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will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fall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inside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circle?</a:t>
                </a:r>
                <a:endParaRPr lang="en-US" altLang="zh-CN" sz="1600" dirty="0"/>
              </a:p>
              <a:p>
                <a:r>
                  <a:rPr lang="en-US" altLang="zh-CN" sz="1600" dirty="0"/>
                  <a:t>---------------------------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Because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uniformly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sampled,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probability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divided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square.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正方形里面包含</a:t>
                </a:r>
                <a:r>
                  <a:rPr lang="zh-CN" altLang="en-US" sz="1600" baseline="0" dirty="0"/>
                  <a:t> </a:t>
                </a:r>
                <a:r>
                  <a:rPr lang="zh-CN" altLang="en-US" sz="1600" dirty="0"/>
                  <a:t>这个绿色的圆。</a:t>
                </a:r>
                <a:endParaRPr lang="en-US" altLang="zh-CN" sz="1600" dirty="0"/>
              </a:p>
              <a:p>
                <a:r>
                  <a:rPr lang="zh-CN" altLang="en-US" sz="1600" dirty="0"/>
                  <a:t>半径等于</a:t>
                </a:r>
                <a:r>
                  <a:rPr lang="en-US" altLang="zh-CN" sz="1600" dirty="0"/>
                  <a:t>1</a:t>
                </a:r>
                <a:r>
                  <a:rPr lang="zh-CN" altLang="en-US" sz="1600" dirty="0"/>
                  <a:t>，圆心在原点。</a:t>
                </a:r>
                <a:endParaRPr lang="en-US" altLang="zh-CN" sz="1600" dirty="0"/>
              </a:p>
              <a:p>
                <a:r>
                  <a:rPr lang="zh-CN" altLang="en-US" sz="1600" dirty="0"/>
                  <a:t>刚才随机生成的点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charset="0"/>
                      </a:rPr>
                      <m:t>(</m:t>
                    </m:r>
                    <m:r>
                      <a:rPr lang="en-US" altLang="zh-CN" sz="1600" i="1" dirty="0" err="1" smtClean="0">
                        <a:latin typeface="Cambria Math" charset="0"/>
                      </a:rPr>
                      <m:t>𝑥</m:t>
                    </m:r>
                    <m:r>
                      <a:rPr lang="en-US" altLang="zh-CN" sz="1600" i="1" dirty="0" err="1" smtClean="0">
                        <a:latin typeface="Cambria Math" charset="0"/>
                      </a:rPr>
                      <m:t>,</m:t>
                    </m:r>
                    <m:r>
                      <a:rPr lang="en-US" altLang="zh-CN" sz="1600" i="1" dirty="0" err="1" smtClean="0">
                        <a:latin typeface="Cambria Math" charset="0"/>
                      </a:rPr>
                      <m:t>𝑦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sz="1600" dirty="0"/>
                  <a:t>可能落在圆里，也有可能落在圆外面。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=======================</a:t>
                </a:r>
              </a:p>
              <a:p>
                <a:r>
                  <a:rPr lang="zh-CN" altLang="en-US" sz="1600" dirty="0"/>
                  <a:t>思考这个问题：</a:t>
                </a:r>
                <a:endParaRPr lang="en-US" altLang="zh-CN" sz="1600" dirty="0"/>
              </a:p>
              <a:p>
                <a:r>
                  <a:rPr lang="zh-CN" altLang="en-US" sz="1600" dirty="0"/>
                  <a:t>这些点落在圆里的概率有多大？</a:t>
                </a:r>
                <a:endParaRPr lang="en-US" altLang="zh-CN" sz="1600" dirty="0"/>
              </a:p>
              <a:p>
                <a:r>
                  <a:rPr lang="zh-CN" altLang="en-US" sz="1600" dirty="0"/>
                  <a:t>换句话说，假如生成一亿个随机样本，有多少个样本会落在圆里面？</a:t>
                </a:r>
                <a:endParaRPr lang="en-US" altLang="zh-CN" sz="1600" dirty="0"/>
              </a:p>
              <a:p>
                <a:r>
                  <a:rPr lang="en-US" altLang="zh-CN" sz="1600" dirty="0"/>
                  <a:t>---------------------------</a:t>
                </a:r>
                <a:endParaRPr lang="en-US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/>
                  <a:t>这个概率显然是 圆的面积  除以 正方形的面积。</a:t>
                </a: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正方形里还有这个绿色的圆。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半径等于</a:t>
                </a:r>
                <a:r>
                  <a:rPr lang="en-US" altLang="zh-CN" sz="1600" dirty="0" smtClean="0"/>
                  <a:t>1</a:t>
                </a:r>
                <a:r>
                  <a:rPr lang="zh-CN" altLang="en-US" sz="1600" dirty="0" smtClean="0"/>
                  <a:t>，圆心在原点。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</a:t>
                </a:r>
              </a:p>
              <a:p>
                <a:r>
                  <a:rPr lang="zh-CN" altLang="en-US" sz="1600" dirty="0" smtClean="0"/>
                  <a:t>刚才随机生成的点</a:t>
                </a:r>
                <a:r>
                  <a:rPr lang="en-US" altLang="zh-CN" sz="1600" i="0" dirty="0" smtClean="0">
                    <a:latin typeface="Cambria Math" charset="0"/>
                  </a:rPr>
                  <a:t>(</a:t>
                </a:r>
                <a:r>
                  <a:rPr lang="en-US" altLang="zh-CN" sz="1600" i="0" dirty="0" err="1" smtClean="0">
                    <a:latin typeface="Cambria Math" charset="0"/>
                  </a:rPr>
                  <a:t>𝑥,𝑦</a:t>
                </a:r>
                <a:r>
                  <a:rPr lang="en-US" altLang="zh-CN" sz="1600" i="0" dirty="0" smtClean="0">
                    <a:latin typeface="Cambria Math" charset="0"/>
                  </a:rPr>
                  <a:t>)</a:t>
                </a:r>
                <a:r>
                  <a:rPr lang="zh-CN" altLang="en-US" sz="1600" dirty="0" smtClean="0"/>
                  <a:t>可能落在圆里，也有可能落在圆外面。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思考这个问题：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这些点落在圆里的概率有多大？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换句话说，假如生成一亿个随机样本，有多少个样本会落在圆里面？</a:t>
                </a:r>
                <a:endParaRPr lang="en-US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61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sides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square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have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lengths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2.</a:t>
                </a:r>
              </a:p>
              <a:p>
                <a:r>
                  <a:rPr lang="en-US" altLang="zh-CN" sz="1600" baseline="0" dirty="0"/>
                  <a:t>So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square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has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600" dirty="0"/>
                  <a:t>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which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 equal 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4.</a:t>
                </a:r>
              </a:p>
              <a:p>
                <a:r>
                  <a:rPr lang="en-US" altLang="zh-CN" sz="1600" baseline="0" dirty="0"/>
                  <a:t>=========================</a:t>
                </a:r>
              </a:p>
              <a:p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has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radius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1.</a:t>
                </a:r>
              </a:p>
              <a:p>
                <a:r>
                  <a:rPr lang="en-US" altLang="zh-CN" sz="1600" baseline="0" dirty="0"/>
                  <a:t>Its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𝜋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𝑟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600" baseline="0" dirty="0"/>
                  <a:t>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which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 equal to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sz="1600" baseline="0" dirty="0"/>
                  <a:t>.</a:t>
                </a:r>
              </a:p>
              <a:p>
                <a:r>
                  <a:rPr lang="en-US" altLang="zh-CN" sz="1600" baseline="0" dirty="0"/>
                  <a:t>=========================</a:t>
                </a:r>
              </a:p>
              <a:p>
                <a:r>
                  <a:rPr lang="en-US" altLang="zh-CN" sz="160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ratio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two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areas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1600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1600" dirty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Thus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uniformly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sampled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falls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inside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circle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with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probability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𝑃</m:t>
                    </m:r>
                    <m:r>
                      <a:rPr lang="en-US" altLang="zh-CN" sz="1600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1600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1600" dirty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Here,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pretend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that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unknown,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and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seek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find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sz="1600" dirty="0"/>
                  <a:t>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正方形边长是 </a:t>
                </a:r>
                <a:r>
                  <a:rPr lang="en-US" altLang="zh-CN" sz="1600" dirty="0"/>
                  <a:t>2</a:t>
                </a:r>
                <a:r>
                  <a:rPr lang="zh-CN" altLang="en-US" sz="1600" dirty="0"/>
                  <a:t>，所以面积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/>
                  <a:t>是</a:t>
                </a:r>
                <a:r>
                  <a:rPr lang="en-US" altLang="zh-CN" sz="1600" dirty="0"/>
                  <a:t>2</a:t>
                </a:r>
                <a:r>
                  <a:rPr lang="zh-CN" altLang="en-US" sz="1600" dirty="0"/>
                  <a:t>的平方等于</a:t>
                </a:r>
                <a:r>
                  <a:rPr lang="en-US" altLang="zh-CN" sz="1600" dirty="0"/>
                  <a:t>4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baseline="0" dirty="0"/>
                  <a:t>=========================</a:t>
                </a:r>
              </a:p>
              <a:p>
                <a:r>
                  <a:rPr lang="zh-CN" altLang="en-US" sz="1600" dirty="0"/>
                  <a:t>圆的半径是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charset="0"/>
                      </a:rPr>
                      <m:t>𝑟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=1</m:t>
                    </m:r>
                  </m:oMath>
                </a14:m>
                <a:r>
                  <a:rPr lang="zh-CN" altLang="en-US" sz="1600" dirty="0"/>
                  <a:t>，所以面积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/>
                  <a:t> 等于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𝜋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𝑟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charset="0"/>
                      </a:rPr>
                      <m:t>=</m:t>
                    </m:r>
                    <m:r>
                      <a:rPr lang="en-US" altLang="zh-CN" sz="1600" i="1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baseline="0" dirty="0"/>
                  <a:t>=========================</a:t>
                </a:r>
              </a:p>
              <a:p>
                <a:r>
                  <a:rPr lang="zh-CN" altLang="en-US" sz="1600" dirty="0"/>
                  <a:t>于是 概率 </a:t>
                </a:r>
                <a:r>
                  <a:rPr lang="en-US" altLang="zh-CN" sz="1600" dirty="0"/>
                  <a:t>P</a:t>
                </a:r>
                <a:r>
                  <a:rPr lang="zh-CN" altLang="en-US" sz="1600" dirty="0"/>
                  <a:t> 就等于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/>
                  <a:t> 除以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/>
                  <a:t> 等于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1600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这个概率显然是 圆的面积  除以 正方形的面积。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正方形边长是 </a:t>
                </a:r>
                <a:r>
                  <a:rPr lang="en-US" altLang="zh-CN" sz="1600" dirty="0" smtClean="0"/>
                  <a:t>2</a:t>
                </a:r>
                <a:r>
                  <a:rPr lang="zh-CN" altLang="en-US" sz="1600" dirty="0" smtClean="0"/>
                  <a:t>，所以面积</a:t>
                </a:r>
                <a:r>
                  <a:rPr lang="en-US" altLang="zh-CN" sz="1600" i="0">
                    <a:latin typeface="Cambria Math" charset="0"/>
                  </a:rPr>
                  <a:t>𝐴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1</a:t>
                </a:r>
                <a:r>
                  <a:rPr lang="zh-CN" altLang="en-US" sz="1600" dirty="0" smtClean="0"/>
                  <a:t>是</a:t>
                </a:r>
                <a:r>
                  <a:rPr lang="en-US" altLang="zh-CN" sz="1600" dirty="0" smtClean="0"/>
                  <a:t>2</a:t>
                </a:r>
                <a:r>
                  <a:rPr lang="zh-CN" altLang="en-US" sz="1600" dirty="0" smtClean="0"/>
                  <a:t>的平方等于</a:t>
                </a:r>
                <a:r>
                  <a:rPr lang="en-US" altLang="zh-CN" sz="1600" dirty="0" smtClean="0"/>
                  <a:t>4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圆的半径是</a:t>
                </a:r>
                <a:r>
                  <a:rPr lang="en-US" altLang="zh-CN" sz="1600" i="0" dirty="0" smtClean="0">
                    <a:latin typeface="Cambria Math" charset="0"/>
                  </a:rPr>
                  <a:t>𝑟=1</a:t>
                </a:r>
                <a:r>
                  <a:rPr lang="zh-CN" altLang="en-US" sz="1600" dirty="0" smtClean="0"/>
                  <a:t>，所以面积</a:t>
                </a:r>
                <a:r>
                  <a:rPr lang="en-US" altLang="zh-CN" sz="1600" i="0">
                    <a:latin typeface="Cambria Math" charset="0"/>
                  </a:rPr>
                  <a:t>𝐴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2</a:t>
                </a:r>
                <a:r>
                  <a:rPr lang="zh-CN" altLang="en-US" sz="1600" dirty="0" smtClean="0"/>
                  <a:t> 等于 </a:t>
                </a:r>
                <a:r>
                  <a:rPr lang="en-US" altLang="zh-CN" sz="1600" i="0" smtClean="0">
                    <a:latin typeface="Cambria Math" charset="0"/>
                  </a:rPr>
                  <a:t>𝜋</a:t>
                </a:r>
                <a:r>
                  <a:rPr lang="en-US" altLang="zh-CN" sz="1600" i="0">
                    <a:latin typeface="Cambria Math" charset="0"/>
                  </a:rPr>
                  <a:t>𝑟^2=𝜋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</a:t>
                </a:r>
              </a:p>
              <a:p>
                <a:r>
                  <a:rPr lang="zh-CN" altLang="en-US" sz="1600" dirty="0" smtClean="0"/>
                  <a:t>于是 概率 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 就等于 </a:t>
                </a:r>
                <a:r>
                  <a:rPr lang="en-US" altLang="zh-CN" sz="1600" i="0">
                    <a:latin typeface="Cambria Math" charset="0"/>
                  </a:rPr>
                  <a:t>𝐴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2</a:t>
                </a:r>
                <a:r>
                  <a:rPr lang="zh-CN" altLang="en-US" sz="1600" dirty="0" smtClean="0"/>
                  <a:t> 除以 </a:t>
                </a:r>
                <a:r>
                  <a:rPr lang="en-US" altLang="zh-CN" sz="1600" i="0">
                    <a:latin typeface="Cambria Math" charset="0"/>
                  </a:rPr>
                  <a:t>𝐴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1</a:t>
                </a:r>
                <a:r>
                  <a:rPr lang="zh-CN" altLang="en-US" sz="1600" dirty="0" smtClean="0"/>
                  <a:t> 等于 </a:t>
                </a:r>
                <a:r>
                  <a:rPr lang="en-US" altLang="zh-CN" sz="1600" i="0">
                    <a:latin typeface="Cambria Math" charset="0"/>
                  </a:rPr>
                  <a:t>𝜋</a:t>
                </a:r>
                <a:r>
                  <a:rPr lang="en-US" altLang="zh-CN" sz="1600" i="0" smtClean="0">
                    <a:latin typeface="Cambria Math" charset="0"/>
                  </a:rPr>
                  <a:t>/</a:t>
                </a:r>
                <a:r>
                  <a:rPr lang="en-US" altLang="zh-CN" sz="1600" i="0">
                    <a:latin typeface="Cambria Math" charset="0"/>
                  </a:rPr>
                  <a:t>4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30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Let’s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uniformly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dirty="0"/>
                  <a:t>sample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points</a:t>
                </a:r>
                <a:r>
                  <a:rPr lang="zh-CN" altLang="en-US" sz="1600" dirty="0"/>
                  <a:t> </a:t>
                </a:r>
                <a:r>
                  <a:rPr lang="en-US" altLang="zh-CN" sz="1600" baseline="0" dirty="0"/>
                  <a:t>from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square.</a:t>
                </a:r>
              </a:p>
              <a:p>
                <a:r>
                  <a:rPr lang="en-US" altLang="zh-CN" sz="1600" baseline="0" dirty="0"/>
                  <a:t>Every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falls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inside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with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probability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this process 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repeated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times.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Thus,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expectation,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number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of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points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circle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charset="0"/>
                      </a:rPr>
                      <m:t>𝑃</m:t>
                    </m:r>
                    <m:r>
                      <a:rPr lang="en-US" altLang="zh-CN" sz="1600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1600" dirty="0"/>
                  <a:t>.</a:t>
                </a:r>
                <a:endParaRPr lang="en-US" sz="1600" dirty="0"/>
              </a:p>
              <a:p>
                <a:r>
                  <a:rPr lang="en-US" altLang="zh-CN" sz="1600" dirty="0"/>
                  <a:t>---------------</a:t>
                </a:r>
              </a:p>
              <a:p>
                <a:r>
                  <a:rPr lang="en-US" altLang="zh-CN" sz="1600" dirty="0"/>
                  <a:t>Be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careful,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expectation,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not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actual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outcome.</a:t>
                </a:r>
              </a:p>
              <a:p>
                <a:r>
                  <a:rPr lang="en-US" altLang="zh-CN" sz="1600" baseline="0" dirty="0"/>
                  <a:t>If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you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sample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5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points randomly,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all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5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outside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circle.</a:t>
                </a:r>
              </a:p>
              <a:p>
                <a:r>
                  <a:rPr lang="en-US" altLang="zh-CN" sz="1600" dirty="0"/>
                  <a:t>This can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happen.</a:t>
                </a:r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假设我们从正方形的区域里均匀抽样 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 个点。</a:t>
                </a:r>
                <a:endParaRPr lang="en-US" altLang="zh-CN" sz="1600" dirty="0"/>
              </a:p>
              <a:p>
                <a:r>
                  <a:rPr lang="en-US" altLang="zh-CN" sz="1600" dirty="0"/>
                  <a:t>----</a:t>
                </a:r>
              </a:p>
              <a:p>
                <a:r>
                  <a:rPr lang="zh-CN" altLang="en-US" sz="1600" dirty="0"/>
                  <a:t>那么落在 圆中的点的数量的 期望是 </a:t>
                </a:r>
                <a:r>
                  <a:rPr lang="en-US" altLang="zh-CN" sz="1600" dirty="0"/>
                  <a:t>P</a:t>
                </a:r>
                <a:r>
                  <a:rPr lang="zh-CN" altLang="en-US" sz="1600" dirty="0"/>
                  <a:t> 乘以 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 。</a:t>
                </a:r>
              </a:p>
              <a:p>
                <a:r>
                  <a:rPr lang="zh-CN" altLang="en-US" sz="1600" dirty="0"/>
                  <a:t>这是因为 重复了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次，每次落在圆中的概率是</a:t>
                </a:r>
                <a:r>
                  <a:rPr lang="en-US" altLang="zh-CN" sz="1600" dirty="0"/>
                  <a:t>P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----</a:t>
                </a:r>
              </a:p>
              <a:p>
                <a:r>
                  <a:rPr lang="en-US" altLang="zh-CN" sz="1600" dirty="0"/>
                  <a:t>P</a:t>
                </a:r>
                <a:r>
                  <a:rPr lang="zh-CN" altLang="en-US" sz="1600" dirty="0"/>
                  <a:t> 乘以 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 等于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期望有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1600" dirty="0"/>
                  <a:t>个点落在圆里。</a:t>
                </a:r>
                <a:endParaRPr lang="en-US" altLang="zh-CN" sz="1600" dirty="0"/>
              </a:p>
              <a:p>
                <a:r>
                  <a:rPr lang="en-US" altLang="zh-CN" sz="1600" dirty="0"/>
                  <a:t>----</a:t>
                </a:r>
              </a:p>
              <a:p>
                <a:r>
                  <a:rPr lang="zh-CN" altLang="en-US" sz="1600" dirty="0"/>
                  <a:t>注意，这只是期望，并不是实际发生的结果。</a:t>
                </a:r>
                <a:endParaRPr lang="en-US" altLang="zh-CN" sz="1600" dirty="0"/>
              </a:p>
              <a:p>
                <a:r>
                  <a:rPr lang="zh-CN" altLang="en-US" sz="1600" dirty="0"/>
                  <a:t>如果你抽</a:t>
                </a:r>
                <a:r>
                  <a:rPr lang="en-US" altLang="zh-CN" sz="1600" dirty="0"/>
                  <a:t>n=5</a:t>
                </a:r>
                <a:r>
                  <a:rPr lang="zh-CN" altLang="en-US" sz="1600" dirty="0"/>
                  <a:t>个点，可能全都不在圆里。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如果我们从正方形的区域里均匀抽样 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 个点。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那么落在 圆中的点的 期望是 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 乘以 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 个。</a:t>
                </a:r>
              </a:p>
              <a:p>
                <a:r>
                  <a:rPr lang="zh-CN" altLang="en-US" sz="1600" dirty="0" smtClean="0"/>
                  <a:t>这是因为 重复了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次，每次落在圆中的概率是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 乘以 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 等于  </a:t>
                </a:r>
                <a:r>
                  <a:rPr lang="en-US" altLang="zh-CN" sz="1600" b="0" i="0" smtClean="0">
                    <a:latin typeface="Cambria Math" charset="0"/>
                  </a:rPr>
                  <a:t>𝜋</a:t>
                </a:r>
                <a:r>
                  <a:rPr lang="en-US" altLang="zh-CN" sz="1600" b="0" i="0" smtClean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en-US" altLang="zh-CN" sz="1600" b="0" i="0" smtClean="0">
                    <a:solidFill>
                      <a:srgbClr val="C00000"/>
                    </a:solidFill>
                    <a:latin typeface="Cambria Math" charset="0"/>
                  </a:rPr>
                  <a:t>/</a:t>
                </a:r>
                <a:r>
                  <a:rPr lang="en-US" altLang="zh-CN" sz="1600" b="0" i="0" smtClean="0">
                    <a:latin typeface="Cambria Math" charset="0"/>
                  </a:rPr>
                  <a:t>4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期望有</a:t>
                </a:r>
                <a:r>
                  <a:rPr lang="en-US" altLang="zh-CN" sz="1600" b="0" i="0" smtClean="0">
                    <a:latin typeface="Cambria Math" charset="0"/>
                  </a:rPr>
                  <a:t>𝜋</a:t>
                </a:r>
                <a:r>
                  <a:rPr lang="en-US" altLang="zh-CN" sz="1600" b="0" i="0" smtClean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en-US" altLang="zh-CN" sz="1600" b="0" i="0" smtClean="0">
                    <a:solidFill>
                      <a:srgbClr val="C00000"/>
                    </a:solidFill>
                    <a:latin typeface="Cambria Math" charset="0"/>
                  </a:rPr>
                  <a:t>/</a:t>
                </a:r>
                <a:r>
                  <a:rPr lang="en-US" altLang="zh-CN" sz="1600" b="0" i="0" smtClean="0">
                    <a:latin typeface="Cambria Math" charset="0"/>
                  </a:rPr>
                  <a:t>4</a:t>
                </a:r>
                <a:r>
                  <a:rPr lang="zh-CN" altLang="en-US" sz="1600" dirty="0" smtClean="0"/>
                  <a:t>个点落在圆里。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注意，这只是期望，并不是实际发生的结果。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如果你抽</a:t>
                </a:r>
                <a:r>
                  <a:rPr lang="en-US" altLang="zh-CN" sz="1600" dirty="0" smtClean="0"/>
                  <a:t>n=5</a:t>
                </a:r>
                <a:r>
                  <a:rPr lang="zh-CN" altLang="en-US" sz="1600" dirty="0" smtClean="0"/>
                  <a:t>个点，可能全都不在圆里。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但是如果你抽一亿个点，那么实际结果会非常接近期望。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越大，实际结果就会越接近真实值。</a:t>
                </a:r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689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Another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question:</a:t>
                </a:r>
                <a:r>
                  <a:rPr lang="zh-CN" altLang="en-US" sz="1600" baseline="0" dirty="0"/>
                  <a:t> </a:t>
                </a:r>
                <a:endParaRPr lang="en-US" altLang="zh-CN" sz="1600" baseline="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Given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point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CN" sz="1600" dirty="0"/>
                  <a:t>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how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do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you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know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whether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inside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circle?</a:t>
                </a:r>
              </a:p>
              <a:p>
                <a:r>
                  <a:rPr lang="en-US" altLang="zh-CN" sz="1600" dirty="0"/>
                  <a:t>======</a:t>
                </a:r>
              </a:p>
              <a:p>
                <a:r>
                  <a:rPr lang="en-US" altLang="zh-CN" sz="1600" dirty="0"/>
                  <a:t>It’s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actually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easy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tell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whether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inside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outside.</a:t>
                </a:r>
              </a:p>
              <a:p>
                <a:r>
                  <a:rPr lang="en-US" altLang="zh-CN" sz="1600" baseline="0" dirty="0"/>
                  <a:t>Simply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use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equation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circle.</a:t>
                </a:r>
              </a:p>
              <a:p>
                <a:r>
                  <a:rPr lang="en-US" altLang="zh-CN" sz="1600" baseline="0" dirty="0"/>
                  <a:t>If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less</a:t>
                </a:r>
                <a:r>
                  <a:rPr lang="en-US" altLang="zh-CN" sz="1600" baseline="0" dirty="0"/>
                  <a:t> than or equal to</a:t>
                </a:r>
                <a:r>
                  <a:rPr lang="en-US" altLang="zh-CN" sz="1600" dirty="0"/>
                  <a:t>1,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know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circle.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还有个问题。</a:t>
                </a:r>
                <a:endParaRPr lang="en-US" altLang="zh-CN" sz="1600" dirty="0"/>
              </a:p>
              <a:p>
                <a:r>
                  <a:rPr lang="zh-CN" altLang="en-US" sz="1600" dirty="0"/>
                  <a:t>给定一个点的坐标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1600" dirty="0"/>
                  <a:t>，你怎么知道这个点在圆里面还是外面呢？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</a:t>
                </a:r>
              </a:p>
              <a:p>
                <a:r>
                  <a:rPr lang="zh-CN" altLang="en-US" sz="1600" dirty="0"/>
                  <a:t>其实很容易判断，用一下圆的方程就好了。</a:t>
                </a:r>
                <a:endParaRPr lang="en-US" altLang="zh-CN" sz="1600" dirty="0"/>
              </a:p>
              <a:p>
                <a:r>
                  <a:rPr lang="zh-CN" altLang="en-US" sz="1600" dirty="0"/>
                  <a:t>圆心是原点，半径是</a:t>
                </a:r>
                <a:r>
                  <a:rPr lang="en-US" altLang="zh-CN" sz="1600" dirty="0"/>
                  <a:t>1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所以圆的方程是这个公式：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charset="0"/>
                      </a:rPr>
                      <m:t>≤1</m:t>
                    </m:r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-----</a:t>
                </a:r>
              </a:p>
              <a:p>
                <a:r>
                  <a:rPr lang="zh-CN" altLang="en-US" sz="1600" dirty="0"/>
                  <a:t>如果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charset="0"/>
                      </a:rPr>
                      <m:t>≤1</m:t>
                    </m:r>
                  </m:oMath>
                </a14:m>
                <a:r>
                  <a:rPr lang="zh-CN" altLang="en-US" sz="1600" dirty="0"/>
                  <a:t>，就说明点在圆里面。</a:t>
                </a:r>
                <a:endParaRPr lang="en-US" altLang="zh-CN" sz="1600" dirty="0"/>
              </a:p>
              <a:p>
                <a:r>
                  <a:rPr lang="zh-CN" altLang="en-US" sz="1600" dirty="0"/>
                  <a:t>反之，就说明点在圆外面。</a:t>
                </a: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还有个问题。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给定一个点的坐标 </a:t>
                </a:r>
                <a:r>
                  <a:rPr lang="en-US" altLang="zh-CN" sz="1600" i="0" smtClean="0">
                    <a:solidFill>
                      <a:srgbClr val="FF0000"/>
                    </a:solidFill>
                    <a:latin typeface="Cambria Math" charset="0"/>
                  </a:rPr>
                  <a:t>(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𝑥, 𝑦)</a:t>
                </a:r>
                <a:r>
                  <a:rPr lang="zh-CN" altLang="en-US" sz="1600" dirty="0" smtClean="0"/>
                  <a:t>，你怎么知道这个点在圆里面还是外面呢？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</a:t>
                </a:r>
              </a:p>
              <a:p>
                <a:r>
                  <a:rPr lang="zh-CN" altLang="en-US" sz="1600" dirty="0" smtClean="0"/>
                  <a:t>其实很简单，用一下圆的方程就好了。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如果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𝑥</a:t>
                </a:r>
                <a:r>
                  <a:rPr lang="en-US" altLang="zh-CN" sz="1600" i="0" smtClean="0">
                    <a:solidFill>
                      <a:srgbClr val="FF0000"/>
                    </a:solidFill>
                    <a:latin typeface="Cambria Math" charset="0"/>
                  </a:rPr>
                  <a:t>^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2+𝑦^2≤1</a:t>
                </a:r>
                <a:r>
                  <a:rPr lang="zh-CN" altLang="en-US" sz="1600" dirty="0" smtClean="0"/>
                  <a:t>，就说明点在圆里面。</a:t>
                </a:r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60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have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sampled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uniformly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random.</a:t>
                </a:r>
              </a:p>
              <a:p>
                <a:r>
                  <a:rPr lang="en-US" altLang="zh-CN" sz="1600" baseline="0" dirty="0"/>
                  <a:t>After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completing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simulation,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found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that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circle.</a:t>
                </a:r>
              </a:p>
              <a:p>
                <a:r>
                  <a:rPr lang="en-US" altLang="zh-CN" sz="1600" baseline="0" dirty="0"/>
                  <a:t>==========</a:t>
                </a:r>
              </a:p>
              <a:p>
                <a:r>
                  <a:rPr lang="en-US" altLang="zh-CN" sz="1600" baseline="0" dirty="0"/>
                  <a:t>If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big,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actual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observation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should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close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expectation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1600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.</a:t>
                </a:r>
              </a:p>
              <a:p>
                <a:r>
                  <a:rPr lang="en-US" altLang="zh-CN" sz="1600" dirty="0"/>
                  <a:t>Not</a:t>
                </a:r>
                <a:r>
                  <a:rPr lang="en-US" altLang="zh-CN" sz="1600" baseline="0" dirty="0"/>
                  <a:t>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that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1600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expectation,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while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actual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observation.</a:t>
                </a:r>
              </a:p>
              <a:p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two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usually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different.</a:t>
                </a:r>
              </a:p>
              <a:p>
                <a:r>
                  <a:rPr lang="en-US" altLang="zh-CN" sz="1600" baseline="0" dirty="0"/>
                  <a:t>They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close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big.</a:t>
                </a:r>
              </a:p>
              <a:p>
                <a:r>
                  <a:rPr lang="en-US" altLang="zh-CN" sz="1600" baseline="0" dirty="0"/>
                  <a:t>Let’s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move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denominator,</a:t>
                </a:r>
                <a:r>
                  <a:rPr lang="zh-CN" altLang="en-US" sz="1600" baseline="0" dirty="0"/>
                  <a:t> </a:t>
                </a:r>
                <a:endParaRPr lang="en-US" altLang="zh-CN" sz="1600" baseline="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</a:t>
                </a:r>
              </a:p>
              <a:p>
                <a:r>
                  <a:rPr lang="en-US" altLang="zh-CN" sz="1600" baseline="0" dirty="0"/>
                  <a:t>then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obtain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equation:</a:t>
                </a:r>
              </a:p>
              <a:p>
                <a:r>
                  <a:rPr lang="en-US" altLang="zh-CN" sz="1600" baseline="0" dirty="0"/>
                  <a:t>Pi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close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4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sz="1600" baseline="0" dirty="0"/>
                  <a:t>.</a:t>
                </a:r>
              </a:p>
              <a:p>
                <a:r>
                  <a:rPr lang="en-US" altLang="zh-CN" sz="1600" baseline="0" dirty="0"/>
                  <a:t>This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equation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use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approximating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pi.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我们随机均匀抽样了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个点。</a:t>
                </a:r>
                <a:endParaRPr lang="en-US" altLang="zh-CN" sz="1600" dirty="0"/>
              </a:p>
              <a:p>
                <a:r>
                  <a:rPr lang="zh-CN" altLang="en-US" sz="1600" dirty="0"/>
                  <a:t>通过使用圆的方程，我们发现一共有</a:t>
                </a:r>
                <a:r>
                  <a:rPr lang="en-US" altLang="zh-CN" sz="1600" dirty="0"/>
                  <a:t>m</a:t>
                </a:r>
                <a:r>
                  <a:rPr lang="zh-CN" altLang="en-US" sz="1600" dirty="0"/>
                  <a:t>个点落在圆里面。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</a:t>
                </a:r>
              </a:p>
              <a:p>
                <a:r>
                  <a:rPr lang="zh-CN" altLang="en-US" sz="1600" dirty="0"/>
                  <a:t>假如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非常大，那么真实观测值</a:t>
                </a:r>
                <a:r>
                  <a:rPr lang="en-US" altLang="zh-CN" sz="1600" dirty="0"/>
                  <a:t>m</a:t>
                </a:r>
                <a:r>
                  <a:rPr lang="zh-CN" altLang="en-US" sz="1600" dirty="0"/>
                  <a:t> 就会非常接近期望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1600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1600" dirty="0"/>
                  <a:t> 。</a:t>
                </a:r>
                <a:endParaRPr lang="en-US" altLang="zh-CN" sz="1600" dirty="0"/>
              </a:p>
              <a:p>
                <a:r>
                  <a:rPr lang="zh-CN" altLang="en-US" sz="1600" dirty="0"/>
                  <a:t>我强调一下，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1600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1600" dirty="0"/>
                  <a:t>是期望，而</a:t>
                </a:r>
                <a:r>
                  <a:rPr lang="en-US" altLang="zh-CN" sz="1600" dirty="0"/>
                  <a:t>m</a:t>
                </a:r>
                <a:r>
                  <a:rPr lang="zh-CN" altLang="en-US" sz="1600" dirty="0"/>
                  <a:t>是实际观测。</a:t>
                </a:r>
                <a:endParaRPr lang="en-US" altLang="zh-CN" sz="1600" dirty="0"/>
              </a:p>
              <a:p>
                <a:r>
                  <a:rPr lang="zh-CN" altLang="en-US" sz="1600" dirty="0"/>
                  <a:t>两者不一样。</a:t>
                </a:r>
                <a:endParaRPr lang="en-US" altLang="zh-CN" sz="1600" dirty="0"/>
              </a:p>
              <a:p>
                <a:r>
                  <a:rPr lang="zh-CN" altLang="en-US" sz="1600" dirty="0"/>
                  <a:t>但是当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非常大的时候，实际观测值 </a:t>
                </a:r>
                <a:r>
                  <a:rPr lang="en-US" altLang="zh-CN" sz="1600" dirty="0"/>
                  <a:t>m</a:t>
                </a:r>
                <a:r>
                  <a:rPr lang="zh-CN" altLang="en-US" sz="1600" dirty="0"/>
                  <a:t>  会接近 期望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1600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</a:t>
                </a:r>
              </a:p>
              <a:p>
                <a:r>
                  <a:rPr lang="zh-CN" altLang="en-US" sz="1600" dirty="0"/>
                  <a:t>把这个公式做个变换，把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移到分母上，就得到这个公式：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𝜋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≈</m:t>
                    </m:r>
                    <m:f>
                      <m:fPr>
                        <m:ctrlP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4</m:t>
                        </m:r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我们用这个公式来近似</a:t>
                </a:r>
                <a:r>
                  <a:rPr lang="en-US" altLang="zh-CN" sz="1600" dirty="0"/>
                  <a:t>pi</a:t>
                </a:r>
                <a:r>
                  <a:rPr lang="zh-CN" altLang="en-US" sz="1600" dirty="0"/>
                  <a:t>值。</a:t>
                </a:r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我们随机抽样了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个点，通过使用圆的方程，我们发现一共有</a:t>
                </a:r>
                <a:r>
                  <a:rPr lang="en-US" altLang="zh-CN" sz="1600" dirty="0" smtClean="0"/>
                  <a:t>m</a:t>
                </a:r>
                <a:r>
                  <a:rPr lang="zh-CN" altLang="en-US" sz="1600" dirty="0" smtClean="0"/>
                  <a:t>个点落在圆里面。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</a:t>
                </a:r>
              </a:p>
              <a:p>
                <a:r>
                  <a:rPr lang="zh-CN" altLang="en-US" sz="1600" dirty="0" smtClean="0"/>
                  <a:t>假如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非常大，那么期望 </a:t>
                </a:r>
                <a:r>
                  <a:rPr lang="en-US" altLang="zh-CN" sz="1600" i="0">
                    <a:latin typeface="Cambria Math" charset="0"/>
                  </a:rPr>
                  <a:t>𝜋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en-US" altLang="zh-CN" sz="1600" i="0" smtClean="0">
                    <a:solidFill>
                      <a:srgbClr val="C00000"/>
                    </a:solidFill>
                    <a:latin typeface="Cambria Math" charset="0"/>
                  </a:rPr>
                  <a:t>/</a:t>
                </a:r>
                <a:r>
                  <a:rPr lang="en-US" altLang="zh-CN" sz="1600" i="0">
                    <a:latin typeface="Cambria Math" charset="0"/>
                  </a:rPr>
                  <a:t>4</a:t>
                </a:r>
                <a:r>
                  <a:rPr lang="zh-CN" altLang="en-US" sz="1600" dirty="0" smtClean="0"/>
                  <a:t> 就非常接近真实观测值 </a:t>
                </a:r>
                <a:r>
                  <a:rPr lang="en-US" altLang="zh-CN" sz="1600" dirty="0" smtClean="0"/>
                  <a:t>m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我再重复一遍，</a:t>
                </a:r>
                <a:r>
                  <a:rPr lang="en-US" altLang="zh-CN" sz="1600" i="0">
                    <a:latin typeface="Cambria Math" charset="0"/>
                  </a:rPr>
                  <a:t>𝜋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en-US" altLang="zh-CN" sz="1600" i="0" smtClean="0">
                    <a:solidFill>
                      <a:srgbClr val="C00000"/>
                    </a:solidFill>
                    <a:latin typeface="Cambria Math" charset="0"/>
                  </a:rPr>
                  <a:t>/</a:t>
                </a:r>
                <a:r>
                  <a:rPr lang="en-US" altLang="zh-CN" sz="1600" i="0">
                    <a:latin typeface="Cambria Math" charset="0"/>
                  </a:rPr>
                  <a:t>4</a:t>
                </a:r>
                <a:r>
                  <a:rPr lang="zh-CN" altLang="en-US" sz="1600" dirty="0" smtClean="0"/>
                  <a:t>是期望，而</a:t>
                </a:r>
                <a:r>
                  <a:rPr lang="en-US" altLang="zh-CN" sz="1600" dirty="0" smtClean="0"/>
                  <a:t>m</a:t>
                </a:r>
                <a:r>
                  <a:rPr lang="zh-CN" altLang="en-US" sz="1600" dirty="0" smtClean="0"/>
                  <a:t>是实际观测。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两者不一样。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但是当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非常大的时候，两者会比较接近。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</a:t>
                </a:r>
              </a:p>
              <a:p>
                <a:r>
                  <a:rPr lang="zh-CN" altLang="en-US" sz="1600" dirty="0" smtClean="0"/>
                  <a:t>把这个公式做个变换，把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移到分母上，就得到这个公式：</a:t>
                </a:r>
                <a:r>
                  <a:rPr lang="en-US" altLang="zh-CN" sz="1600" i="0" smtClean="0">
                    <a:latin typeface="Cambria Math" charset="0"/>
                  </a:rPr>
                  <a:t>𝜋</a:t>
                </a:r>
                <a:r>
                  <a:rPr lang="en-US" altLang="zh-CN" sz="1600" b="0" i="0" smtClean="0">
                    <a:latin typeface="Cambria Math" charset="0"/>
                  </a:rPr>
                  <a:t>≈</a:t>
                </a:r>
                <a:r>
                  <a:rPr lang="en-US" altLang="zh-CN" sz="1600" b="0" i="0" smtClean="0">
                    <a:solidFill>
                      <a:srgbClr val="C00000"/>
                    </a:solidFill>
                    <a:latin typeface="Cambria Math" charset="0"/>
                  </a:rPr>
                  <a:t>4𝑚/𝑛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可以用这个公式来近似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值。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</a:t>
                </a:r>
              </a:p>
              <a:p>
                <a:r>
                  <a:rPr lang="zh-CN" altLang="en-US" sz="1600" dirty="0" smtClean="0"/>
                  <a:t>大数定律保证了这个性质：当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趋于无穷，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4𝑚</a:t>
                </a:r>
                <a:r>
                  <a:rPr lang="en-US" altLang="zh-CN" sz="1600" i="0" smtClean="0">
                    <a:solidFill>
                      <a:srgbClr val="C00000"/>
                    </a:solidFill>
                    <a:latin typeface="Cambria Math" charset="0"/>
                  </a:rPr>
                  <a:t>/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 就会等于 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其实还能用概率不等式证明 只要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足够大，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4𝑚</a:t>
                </a:r>
                <a:r>
                  <a:rPr lang="en-US" altLang="zh-CN" sz="1600" i="0" smtClean="0">
                    <a:solidFill>
                      <a:srgbClr val="C00000"/>
                    </a:solidFill>
                    <a:latin typeface="Cambria Math" charset="0"/>
                  </a:rPr>
                  <a:t>/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 就</a:t>
                </a:r>
                <a:r>
                  <a:rPr lang="zh-CN" altLang="en-US" sz="1600" dirty="0" smtClean="0"/>
                  <a:t>会足够接近 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03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l</a:t>
                </a:r>
                <a:r>
                  <a:rPr lang="en-US" altLang="zh-CN" sz="1600" dirty="0"/>
                  <a:t>aw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of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large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numbers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guarantees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that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grows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infinity,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estimate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4</m:t>
                        </m:r>
                        <m: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approaches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pi.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大数定律保证了蒙特卡洛的正确性：当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趋于无穷，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4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altLang="en-US" sz="1600" dirty="0"/>
                  <a:t> 就会等于 </a:t>
                </a:r>
                <a:r>
                  <a:rPr lang="en-US" altLang="zh-CN" sz="1600" dirty="0"/>
                  <a:t>pi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我们随机抽样了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个点，通过使用圆的方程，我们发现一共有</a:t>
                </a:r>
                <a:r>
                  <a:rPr lang="en-US" altLang="zh-CN" sz="1600" dirty="0" smtClean="0"/>
                  <a:t>m</a:t>
                </a:r>
                <a:r>
                  <a:rPr lang="zh-CN" altLang="en-US" sz="1600" dirty="0" smtClean="0"/>
                  <a:t>个点落在圆里面。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</a:t>
                </a:r>
              </a:p>
              <a:p>
                <a:r>
                  <a:rPr lang="zh-CN" altLang="en-US" sz="1600" dirty="0" smtClean="0"/>
                  <a:t>假如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非常大，那么期望 </a:t>
                </a:r>
                <a:r>
                  <a:rPr lang="en-US" altLang="zh-CN" sz="1600" i="0">
                    <a:latin typeface="Cambria Math" charset="0"/>
                  </a:rPr>
                  <a:t>𝜋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en-US" altLang="zh-CN" sz="1600" i="0" smtClean="0">
                    <a:solidFill>
                      <a:srgbClr val="C00000"/>
                    </a:solidFill>
                    <a:latin typeface="Cambria Math" charset="0"/>
                  </a:rPr>
                  <a:t>/</a:t>
                </a:r>
                <a:r>
                  <a:rPr lang="en-US" altLang="zh-CN" sz="1600" i="0">
                    <a:latin typeface="Cambria Math" charset="0"/>
                  </a:rPr>
                  <a:t>4</a:t>
                </a:r>
                <a:r>
                  <a:rPr lang="zh-CN" altLang="en-US" sz="1600" dirty="0" smtClean="0"/>
                  <a:t> 就非常接近真实观测值 </a:t>
                </a:r>
                <a:r>
                  <a:rPr lang="en-US" altLang="zh-CN" sz="1600" dirty="0" smtClean="0"/>
                  <a:t>m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我再重复一遍，</a:t>
                </a:r>
                <a:r>
                  <a:rPr lang="en-US" altLang="zh-CN" sz="1600" i="0">
                    <a:latin typeface="Cambria Math" charset="0"/>
                  </a:rPr>
                  <a:t>𝜋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en-US" altLang="zh-CN" sz="1600" i="0" smtClean="0">
                    <a:solidFill>
                      <a:srgbClr val="C00000"/>
                    </a:solidFill>
                    <a:latin typeface="Cambria Math" charset="0"/>
                  </a:rPr>
                  <a:t>/</a:t>
                </a:r>
                <a:r>
                  <a:rPr lang="en-US" altLang="zh-CN" sz="1600" i="0">
                    <a:latin typeface="Cambria Math" charset="0"/>
                  </a:rPr>
                  <a:t>4</a:t>
                </a:r>
                <a:r>
                  <a:rPr lang="zh-CN" altLang="en-US" sz="1600" dirty="0" smtClean="0"/>
                  <a:t>是期望，而</a:t>
                </a:r>
                <a:r>
                  <a:rPr lang="en-US" altLang="zh-CN" sz="1600" dirty="0" smtClean="0"/>
                  <a:t>m</a:t>
                </a:r>
                <a:r>
                  <a:rPr lang="zh-CN" altLang="en-US" sz="1600" dirty="0" smtClean="0"/>
                  <a:t>是实际观测。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两者不一样。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但是当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非常大的时候，两者会比较接近。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</a:t>
                </a:r>
              </a:p>
              <a:p>
                <a:r>
                  <a:rPr lang="zh-CN" altLang="en-US" sz="1600" dirty="0" smtClean="0"/>
                  <a:t>把这个公式做个变换，把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移到分母上，就得到这个公式：</a:t>
                </a:r>
                <a:r>
                  <a:rPr lang="en-US" altLang="zh-CN" sz="1600" i="0" smtClean="0">
                    <a:latin typeface="Cambria Math" charset="0"/>
                  </a:rPr>
                  <a:t>𝜋</a:t>
                </a:r>
                <a:r>
                  <a:rPr lang="en-US" altLang="zh-CN" sz="1600" b="0" i="0" smtClean="0">
                    <a:latin typeface="Cambria Math" charset="0"/>
                  </a:rPr>
                  <a:t>≈</a:t>
                </a:r>
                <a:r>
                  <a:rPr lang="en-US" altLang="zh-CN" sz="1600" b="0" i="0" smtClean="0">
                    <a:solidFill>
                      <a:srgbClr val="C00000"/>
                    </a:solidFill>
                    <a:latin typeface="Cambria Math" charset="0"/>
                  </a:rPr>
                  <a:t>4𝑚/𝑛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可以用这个公式来近似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值。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</a:t>
                </a:r>
              </a:p>
              <a:p>
                <a:r>
                  <a:rPr lang="zh-CN" altLang="en-US" sz="1600" dirty="0" smtClean="0"/>
                  <a:t>大数定律保证了这个性质：当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趋于无穷，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4𝑚</a:t>
                </a:r>
                <a:r>
                  <a:rPr lang="en-US" altLang="zh-CN" sz="1600" i="0" smtClean="0">
                    <a:solidFill>
                      <a:srgbClr val="C00000"/>
                    </a:solidFill>
                    <a:latin typeface="Cambria Math" charset="0"/>
                  </a:rPr>
                  <a:t>/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 就会等于 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其实还能用概率不等式证明 只要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足够大，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4𝑚</a:t>
                </a:r>
                <a:r>
                  <a:rPr lang="en-US" altLang="zh-CN" sz="1600" i="0" smtClean="0">
                    <a:solidFill>
                      <a:srgbClr val="C00000"/>
                    </a:solidFill>
                    <a:latin typeface="Cambria Math" charset="0"/>
                  </a:rPr>
                  <a:t>/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 就</a:t>
                </a:r>
                <a:r>
                  <a:rPr lang="zh-CN" altLang="en-US" sz="1600" dirty="0" smtClean="0"/>
                  <a:t>会足够接近 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87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can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actually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use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concentration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inequalities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bound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approximation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error.</a:t>
                </a:r>
              </a:p>
              <a:p>
                <a:r>
                  <a:rPr lang="en-US" altLang="zh-CN" sz="1600" baseline="0" dirty="0"/>
                  <a:t>=======================</a:t>
                </a:r>
              </a:p>
              <a:p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approximation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error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inversely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proportional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square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root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----</a:t>
                </a:r>
              </a:p>
              <a:p>
                <a:r>
                  <a:rPr lang="en-US" altLang="zh-CN" sz="1600" dirty="0"/>
                  <a:t>This means</a:t>
                </a:r>
                <a:r>
                  <a:rPr lang="en-US" altLang="zh-CN" sz="1600" baseline="0" dirty="0"/>
                  <a:t> as n grows, the Monte Carlo estimate becomes more accurate.</a:t>
                </a:r>
              </a:p>
              <a:p>
                <a:r>
                  <a:rPr lang="en-US" altLang="zh-CN" sz="1600" baseline="0" dirty="0"/>
                  <a:t>But such a convergence rate is slow.</a:t>
                </a:r>
              </a:p>
              <a:p>
                <a:r>
                  <a:rPr lang="en-US" altLang="zh-CN" sz="1600" baseline="0" dirty="0"/>
                  <a:t>If n is 100 times larger, the error is only 10 times smaller.</a:t>
                </a:r>
              </a:p>
              <a:p>
                <a:r>
                  <a:rPr lang="en-US" altLang="zh-CN" sz="1600" baseline="0" dirty="0"/>
                  <a:t>----</a:t>
                </a:r>
              </a:p>
              <a:p>
                <a:r>
                  <a:rPr lang="en-US" altLang="zh-CN" sz="1600" baseline="0" dirty="0"/>
                  <a:t>In the next lecture, we will use a concentration inequality to analyze Monte Carlo.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/>
                  <a:t>其实还能进一步用“概率不等式”证明 估计值与真实</a:t>
                </a:r>
                <a:r>
                  <a:rPr lang="en-US" altLang="zh-CN" sz="1600" dirty="0"/>
                  <a:t>pi</a:t>
                </a:r>
                <a:r>
                  <a:rPr lang="zh-CN" altLang="en-US" sz="1600" dirty="0"/>
                  <a:t> 之间的 误差的上界。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/>
                  <a:t>用</a:t>
                </a:r>
                <a:r>
                  <a:rPr lang="en-US" altLang="zh-CN" sz="1600" dirty="0"/>
                  <a:t>Bernstein</a:t>
                </a:r>
                <a:r>
                  <a:rPr lang="zh-CN" altLang="en-US" sz="1600" dirty="0"/>
                  <a:t>概率不等式可以证明 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/>
                  <a:t>误差的上界反比于 根号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/>
                  <a:t>这说明 样本数量 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 越大，蒙特卡洛近似就会越准确。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/>
                  <a:t>但是这个收敛率并不快。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/>
                  <a:t>样本多一万倍，精度才能提高</a:t>
                </a:r>
                <a:r>
                  <a:rPr lang="en-US" altLang="zh-CN" sz="1600" dirty="0"/>
                  <a:t>100</a:t>
                </a:r>
                <a:r>
                  <a:rPr lang="zh-CN" altLang="en-US" sz="1600" dirty="0"/>
                  <a:t>倍。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我们随机抽样了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个点，通过使用圆的方程，我们发现一共有</a:t>
                </a:r>
                <a:r>
                  <a:rPr lang="en-US" altLang="zh-CN" sz="1600" dirty="0" smtClean="0"/>
                  <a:t>m</a:t>
                </a:r>
                <a:r>
                  <a:rPr lang="zh-CN" altLang="en-US" sz="1600" dirty="0" smtClean="0"/>
                  <a:t>个点落在圆里面。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</a:t>
                </a:r>
              </a:p>
              <a:p>
                <a:r>
                  <a:rPr lang="zh-CN" altLang="en-US" sz="1600" dirty="0" smtClean="0"/>
                  <a:t>假如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非常大，那么期望 </a:t>
                </a:r>
                <a:r>
                  <a:rPr lang="en-US" altLang="zh-CN" sz="1600" i="0">
                    <a:latin typeface="Cambria Math" charset="0"/>
                  </a:rPr>
                  <a:t>𝜋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en-US" altLang="zh-CN" sz="1600" i="0" smtClean="0">
                    <a:solidFill>
                      <a:srgbClr val="C00000"/>
                    </a:solidFill>
                    <a:latin typeface="Cambria Math" charset="0"/>
                  </a:rPr>
                  <a:t>/</a:t>
                </a:r>
                <a:r>
                  <a:rPr lang="en-US" altLang="zh-CN" sz="1600" i="0">
                    <a:latin typeface="Cambria Math" charset="0"/>
                  </a:rPr>
                  <a:t>4</a:t>
                </a:r>
                <a:r>
                  <a:rPr lang="zh-CN" altLang="en-US" sz="1600" dirty="0" smtClean="0"/>
                  <a:t> 就非常接近真实观测值 </a:t>
                </a:r>
                <a:r>
                  <a:rPr lang="en-US" altLang="zh-CN" sz="1600" dirty="0" smtClean="0"/>
                  <a:t>m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我再重复一遍，</a:t>
                </a:r>
                <a:r>
                  <a:rPr lang="en-US" altLang="zh-CN" sz="1600" i="0">
                    <a:latin typeface="Cambria Math" charset="0"/>
                  </a:rPr>
                  <a:t>𝜋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en-US" altLang="zh-CN" sz="1600" i="0" smtClean="0">
                    <a:solidFill>
                      <a:srgbClr val="C00000"/>
                    </a:solidFill>
                    <a:latin typeface="Cambria Math" charset="0"/>
                  </a:rPr>
                  <a:t>/</a:t>
                </a:r>
                <a:r>
                  <a:rPr lang="en-US" altLang="zh-CN" sz="1600" i="0">
                    <a:latin typeface="Cambria Math" charset="0"/>
                  </a:rPr>
                  <a:t>4</a:t>
                </a:r>
                <a:r>
                  <a:rPr lang="zh-CN" altLang="en-US" sz="1600" dirty="0" smtClean="0"/>
                  <a:t>是期望，而</a:t>
                </a:r>
                <a:r>
                  <a:rPr lang="en-US" altLang="zh-CN" sz="1600" dirty="0" smtClean="0"/>
                  <a:t>m</a:t>
                </a:r>
                <a:r>
                  <a:rPr lang="zh-CN" altLang="en-US" sz="1600" dirty="0" smtClean="0"/>
                  <a:t>是实际观测。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两者不一样。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但是当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非常大的时候，两者会比较接近。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</a:t>
                </a:r>
              </a:p>
              <a:p>
                <a:r>
                  <a:rPr lang="zh-CN" altLang="en-US" sz="1600" dirty="0" smtClean="0"/>
                  <a:t>把这个公式做个变换，把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移到分母上，就得到这个公式：</a:t>
                </a:r>
                <a:r>
                  <a:rPr lang="en-US" altLang="zh-CN" sz="1600" i="0" smtClean="0">
                    <a:latin typeface="Cambria Math" charset="0"/>
                  </a:rPr>
                  <a:t>𝜋</a:t>
                </a:r>
                <a:r>
                  <a:rPr lang="en-US" altLang="zh-CN" sz="1600" b="0" i="0" smtClean="0">
                    <a:latin typeface="Cambria Math" charset="0"/>
                  </a:rPr>
                  <a:t>≈</a:t>
                </a:r>
                <a:r>
                  <a:rPr lang="en-US" altLang="zh-CN" sz="1600" b="0" i="0" smtClean="0">
                    <a:solidFill>
                      <a:srgbClr val="C00000"/>
                    </a:solidFill>
                    <a:latin typeface="Cambria Math" charset="0"/>
                  </a:rPr>
                  <a:t>4𝑚/𝑛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可以用这个公式来近似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值。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</a:t>
                </a:r>
              </a:p>
              <a:p>
                <a:r>
                  <a:rPr lang="zh-CN" altLang="en-US" sz="1600" dirty="0" smtClean="0"/>
                  <a:t>大数定律保证了这个性质：当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趋于无穷，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4𝑚</a:t>
                </a:r>
                <a:r>
                  <a:rPr lang="en-US" altLang="zh-CN" sz="1600" i="0" smtClean="0">
                    <a:solidFill>
                      <a:srgbClr val="C00000"/>
                    </a:solidFill>
                    <a:latin typeface="Cambria Math" charset="0"/>
                  </a:rPr>
                  <a:t>/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 就会等于 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其实还能用概率不等式证明 只要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足够大，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4𝑚</a:t>
                </a:r>
                <a:r>
                  <a:rPr lang="en-US" altLang="zh-CN" sz="1600" i="0" smtClean="0">
                    <a:solidFill>
                      <a:srgbClr val="C00000"/>
                    </a:solidFill>
                    <a:latin typeface="Cambria Math" charset="0"/>
                  </a:rPr>
                  <a:t>/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 就</a:t>
                </a:r>
                <a:r>
                  <a:rPr lang="zh-CN" altLang="en-US" sz="1600" dirty="0" smtClean="0"/>
                  <a:t>会足够接近 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007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This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our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conclusion.</a:t>
                </a:r>
              </a:p>
              <a:p>
                <a:r>
                  <a:rPr lang="en-US" altLang="zh-CN" sz="1600" dirty="0"/>
                  <a:t>A total of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points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are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sampled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from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square.</a:t>
                </a:r>
              </a:p>
              <a:p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observe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points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circle.</a:t>
                </a:r>
              </a:p>
              <a:p>
                <a:r>
                  <a:rPr lang="en-US" altLang="zh-CN" sz="160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approximate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π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by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4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sz="1600" dirty="0"/>
                  <a:t>.</a:t>
                </a:r>
              </a:p>
              <a:p>
                <a:r>
                  <a:rPr lang="en-US" altLang="zh-CN" sz="1600" dirty="0"/>
                  <a:t>------</a:t>
                </a:r>
              </a:p>
              <a:p>
                <a:r>
                  <a:rPr lang="en-US" altLang="zh-CN" sz="1600" dirty="0"/>
                  <a:t>Note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that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sampling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must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uniform.</a:t>
                </a:r>
              </a:p>
              <a:p>
                <a:r>
                  <a:rPr lang="en-US" altLang="zh-CN" sz="1600" baseline="0" dirty="0"/>
                  <a:t>You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need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make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sure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that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everywhere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blue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square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has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probability.</a:t>
                </a:r>
              </a:p>
              <a:p>
                <a:r>
                  <a:rPr lang="en-US" altLang="zh-CN" sz="1600" baseline="0" dirty="0"/>
                  <a:t>If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sampling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not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uniform,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equation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cannot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applied.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这是我们的结论：</a:t>
                </a:r>
                <a:endParaRPr lang="en-US" altLang="zh-CN" sz="1600" dirty="0"/>
              </a:p>
              <a:p>
                <a:r>
                  <a:rPr lang="zh-CN" altLang="en-US" sz="1600" dirty="0"/>
                  <a:t>从正方形中均匀抽样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个点，观测到其中有</a:t>
                </a:r>
                <a:r>
                  <a:rPr lang="en-US" altLang="zh-CN" sz="1600" dirty="0"/>
                  <a:t>m</a:t>
                </a:r>
                <a:r>
                  <a:rPr lang="zh-CN" altLang="en-US" sz="1600" dirty="0"/>
                  <a:t>个点落在圆里面。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/>
                  <a:t>可以把</a:t>
                </a:r>
                <a:r>
                  <a:rPr lang="en-US" altLang="zh-CN" sz="1600" dirty="0"/>
                  <a:t>pi</a:t>
                </a:r>
                <a:r>
                  <a:rPr lang="zh-CN" altLang="en-US" sz="1600" dirty="0"/>
                  <a:t> 近似为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4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sz="1600" dirty="0"/>
                  <a:t>.</a:t>
                </a:r>
                <a:endParaRPr lang="en-US" sz="1600" dirty="0"/>
              </a:p>
              <a:p>
                <a:r>
                  <a:rPr lang="en-US" altLang="zh-CN" sz="1600" dirty="0"/>
                  <a:t>----</a:t>
                </a:r>
              </a:p>
              <a:p>
                <a:r>
                  <a:rPr lang="zh-CN" altLang="en-US" sz="1600" dirty="0"/>
                  <a:t>注意一下，抽样必须是均匀的，要保证点落在所有位置的概率相同。</a:t>
                </a:r>
                <a:endParaRPr lang="en-US" altLang="zh-CN" sz="1600" dirty="0"/>
              </a:p>
              <a:p>
                <a:r>
                  <a:rPr lang="zh-CN" altLang="en-US" sz="1600" dirty="0"/>
                  <a:t>否则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𝜋</m:t>
                    </m:r>
                    <m:r>
                      <a:rPr lang="en-US" altLang="zh-CN" sz="160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≈</m:t>
                    </m:r>
                    <m:f>
                      <m:f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4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altLang="en-US" sz="1600" dirty="0"/>
                  <a:t> 这个公式就不成立。</a:t>
                </a: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这是我们的结论：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从正方形中均匀抽样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个点，其中有</a:t>
                </a:r>
                <a:r>
                  <a:rPr lang="en-US" altLang="zh-CN" sz="1600" dirty="0" smtClean="0"/>
                  <a:t>m</a:t>
                </a:r>
                <a:r>
                  <a:rPr lang="zh-CN" altLang="en-US" sz="1600" dirty="0" smtClean="0"/>
                  <a:t>个在圆里面。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可以把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 近似为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4𝑚</a:t>
                </a:r>
                <a:r>
                  <a:rPr lang="en-US" altLang="zh-CN" sz="1600" i="0" smtClean="0">
                    <a:solidFill>
                      <a:srgbClr val="C00000"/>
                    </a:solidFill>
                    <a:latin typeface="Cambria Math" charset="0"/>
                  </a:rPr>
                  <a:t>/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en-US" altLang="zh-CN" sz="1600" dirty="0" smtClean="0"/>
                  <a:t>.</a:t>
                </a:r>
                <a:endParaRPr lang="en-US" sz="1600" dirty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注意一下，抽样必须是均匀的，要保证点落在所有位置的概率相同。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否则 </a:t>
                </a:r>
                <a:r>
                  <a:rPr lang="en-US" altLang="zh-CN" sz="1600" i="0" smtClean="0">
                    <a:solidFill>
                      <a:srgbClr val="C00000"/>
                    </a:solidFill>
                    <a:latin typeface="Cambria Math" charset="0"/>
                  </a:rPr>
                  <a:t>𝜋≈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4𝑚/𝑛</a:t>
                </a:r>
                <a:r>
                  <a:rPr lang="zh-CN" altLang="en-US" sz="1600" dirty="0" smtClean="0"/>
                  <a:t> 这个公式就不成立。</a:t>
                </a:r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694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With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equation,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are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ready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write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computer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program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for </a:t>
                </a:r>
                <a:r>
                  <a:rPr lang="en-US" altLang="zh-CN" sz="1600" baseline="0" dirty="0"/>
                  <a:t>estimating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pi.</a:t>
                </a:r>
              </a:p>
              <a:p>
                <a:r>
                  <a:rPr lang="en-US" altLang="zh-CN" sz="1600" baseline="0" dirty="0"/>
                  <a:t>I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going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show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pseudo-code.</a:t>
                </a:r>
              </a:p>
              <a:p>
                <a:r>
                  <a:rPr lang="en-US" altLang="zh-CN" sz="1600" dirty="0"/>
                  <a:t>============================</a:t>
                </a:r>
                <a:endParaRPr lang="en-US" altLang="zh-CN" sz="1600" baseline="0" dirty="0"/>
              </a:p>
              <a:p>
                <a:r>
                  <a:rPr lang="en-US" altLang="zh-CN" sz="1600" baseline="0" dirty="0"/>
                  <a:t>Firstly,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user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needs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specify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number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n.</a:t>
                </a:r>
              </a:p>
              <a:p>
                <a:r>
                  <a:rPr lang="en-US" altLang="zh-CN" sz="1600" baseline="0" dirty="0"/>
                  <a:t>Big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make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accuracy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high,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but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big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means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heavy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computation.</a:t>
                </a:r>
              </a:p>
              <a:p>
                <a:r>
                  <a:rPr lang="en-US" altLang="zh-CN" sz="1600" baseline="0" dirty="0"/>
                  <a:t>It’s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trade-off.</a:t>
                </a:r>
              </a:p>
              <a:p>
                <a:r>
                  <a:rPr lang="en-US" altLang="zh-CN" sz="1600" baseline="0" dirty="0"/>
                  <a:t>----</a:t>
                </a:r>
              </a:p>
              <a:p>
                <a:r>
                  <a:rPr lang="en-US" altLang="zh-CN" sz="1600" baseline="0" dirty="0"/>
                  <a:t>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used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counting.</a:t>
                </a:r>
              </a:p>
              <a:p>
                <a:r>
                  <a:rPr lang="en-US" altLang="zh-CN" sz="1600" baseline="0" dirty="0"/>
                  <a:t>Initialize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zero.</a:t>
                </a:r>
              </a:p>
              <a:p>
                <a:endParaRPr lang="en-US" altLang="zh-CN" sz="1600" baseline="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有了计算</a:t>
                </a:r>
                <a:r>
                  <a:rPr lang="en-US" altLang="zh-CN" sz="1600" dirty="0"/>
                  <a:t>pi</a:t>
                </a:r>
                <a:r>
                  <a:rPr lang="zh-CN" altLang="en-US" sz="1600" dirty="0"/>
                  <a:t>的公式，我们就可以编程计算</a:t>
                </a:r>
                <a:r>
                  <a:rPr lang="en-US" altLang="zh-CN" sz="1600" dirty="0"/>
                  <a:t>pi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下面我来解释一下伪代码。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============================</a:t>
                </a:r>
              </a:p>
              <a:p>
                <a:r>
                  <a:rPr lang="zh-CN" altLang="en-US" sz="1600" dirty="0"/>
                  <a:t>第一步要用户自己定一个 样本数量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N</a:t>
                </a:r>
                <a:r>
                  <a:rPr lang="zh-CN" altLang="en-US" sz="1600" dirty="0"/>
                  <a:t>越大，计算量越大，计算出来的</a:t>
                </a:r>
                <a:r>
                  <a:rPr lang="en-US" altLang="zh-CN" sz="1600" dirty="0"/>
                  <a:t>pi</a:t>
                </a:r>
                <a:r>
                  <a:rPr lang="zh-CN" altLang="en-US" sz="1600" dirty="0"/>
                  <a:t>越准确。</a:t>
                </a:r>
                <a:endParaRPr lang="en-US" altLang="zh-CN" sz="1600" dirty="0"/>
              </a:p>
              <a:p>
                <a:r>
                  <a:rPr lang="zh-CN" altLang="en-US" sz="1600" dirty="0"/>
                  <a:t>把</a:t>
                </a:r>
                <a:r>
                  <a:rPr lang="en-US" altLang="zh-CN" sz="1600" dirty="0"/>
                  <a:t>m</a:t>
                </a:r>
                <a:r>
                  <a:rPr lang="zh-CN" altLang="en-US" sz="1600" dirty="0"/>
                  <a:t>初始化零，用来做计数。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用了计算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的公式，我们就可以编程计算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这是伪代码。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</a:t>
                </a:r>
              </a:p>
              <a:p>
                <a:r>
                  <a:rPr lang="zh-CN" altLang="en-US" sz="1600" dirty="0" smtClean="0"/>
                  <a:t>第一步要用户自己定一个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越大，计算量越大，计算出来的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越准确。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初始的</a:t>
                </a:r>
                <a:r>
                  <a:rPr lang="en-US" altLang="zh-CN" sz="1600" dirty="0" smtClean="0"/>
                  <a:t>m</a:t>
                </a:r>
                <a:r>
                  <a:rPr lang="zh-CN" altLang="en-US" sz="1600" dirty="0" smtClean="0"/>
                  <a:t>等于零，用来做计数。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第二步是把抽样重复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次。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每次</a:t>
                </a:r>
                <a:r>
                  <a:rPr lang="zh-CN" altLang="en-US" sz="1600" baseline="0" dirty="0" smtClean="0"/>
                  <a:t>从 </a:t>
                </a:r>
                <a:r>
                  <a:rPr lang="en-US" altLang="zh-CN" sz="1600" baseline="0" dirty="0" smtClean="0"/>
                  <a:t>-1</a:t>
                </a:r>
                <a:r>
                  <a:rPr lang="zh-CN" altLang="en-US" sz="1600" baseline="0" dirty="0" smtClean="0"/>
                  <a:t> 到 </a:t>
                </a:r>
                <a:r>
                  <a:rPr lang="en-US" altLang="zh-CN" sz="1600" baseline="0" dirty="0" smtClean="0"/>
                  <a:t>+1</a:t>
                </a:r>
                <a:r>
                  <a:rPr lang="zh-CN" altLang="en-US" sz="1600" baseline="0" dirty="0" smtClean="0"/>
                  <a:t>的区间里均匀抽样 得到</a:t>
                </a:r>
                <a:r>
                  <a:rPr lang="en-US" altLang="zh-CN" sz="1600" baseline="0" dirty="0" smtClean="0"/>
                  <a:t>x</a:t>
                </a:r>
                <a:r>
                  <a:rPr lang="zh-CN" altLang="en-US" sz="1600" baseline="0" dirty="0" smtClean="0"/>
                  <a:t> 和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 smtClean="0"/>
                  <a:t>y</a:t>
                </a:r>
                <a:r>
                  <a:rPr lang="zh-CN" altLang="en-US" sz="1600" baseline="0" dirty="0" smtClean="0"/>
                  <a:t>两个实数。</a:t>
                </a:r>
                <a:endParaRPr lang="en-US" altLang="zh-CN" sz="1600" baseline="0" dirty="0" smtClean="0"/>
              </a:p>
              <a:p>
                <a:r>
                  <a:rPr lang="zh-CN" altLang="en-US" sz="1600" baseline="0" dirty="0" smtClean="0"/>
                  <a:t>然后计算一下</a:t>
                </a:r>
                <a:r>
                  <a:rPr lang="en-US" altLang="zh-CN" sz="1600" i="0">
                    <a:latin typeface="Cambria Math" charset="0"/>
                  </a:rPr>
                  <a:t>𝑥</a:t>
                </a:r>
                <a:r>
                  <a:rPr lang="en-US" altLang="zh-CN" sz="1600" i="0" smtClean="0">
                    <a:latin typeface="Cambria Math" charset="0"/>
                  </a:rPr>
                  <a:t>^</a:t>
                </a:r>
                <a:r>
                  <a:rPr lang="en-US" altLang="zh-CN" sz="1600" i="0">
                    <a:latin typeface="Cambria Math" charset="0"/>
                  </a:rPr>
                  <a:t>2+𝑦^2</a:t>
                </a:r>
                <a:r>
                  <a:rPr lang="zh-CN" altLang="en-US" sz="1600" baseline="0" dirty="0" smtClean="0"/>
                  <a:t>。</a:t>
                </a:r>
                <a:endParaRPr lang="en-US" altLang="zh-CN" sz="1600" baseline="0" dirty="0" smtClean="0"/>
              </a:p>
              <a:p>
                <a:r>
                  <a:rPr lang="zh-CN" altLang="en-US" sz="1600" baseline="0" dirty="0" smtClean="0"/>
                  <a:t>如果</a:t>
                </a:r>
                <a:r>
                  <a:rPr lang="en-US" altLang="zh-CN" sz="1600" i="0">
                    <a:latin typeface="Cambria Math" charset="0"/>
                  </a:rPr>
                  <a:t>𝑥</a:t>
                </a:r>
                <a:r>
                  <a:rPr lang="en-US" altLang="zh-CN" sz="1600" i="0" smtClean="0">
                    <a:latin typeface="Cambria Math" charset="0"/>
                  </a:rPr>
                  <a:t>^</a:t>
                </a:r>
                <a:r>
                  <a:rPr lang="en-US" altLang="zh-CN" sz="1600" i="0">
                    <a:latin typeface="Cambria Math" charset="0"/>
                  </a:rPr>
                  <a:t>2+𝑦^2</a:t>
                </a:r>
                <a:r>
                  <a:rPr lang="zh-CN" altLang="en-US" sz="1600" baseline="0" dirty="0" smtClean="0"/>
                  <a:t> 小于等于 </a:t>
                </a:r>
                <a:r>
                  <a:rPr lang="en-US" altLang="zh-CN" sz="1600" baseline="0" dirty="0" smtClean="0"/>
                  <a:t>1</a:t>
                </a:r>
                <a:r>
                  <a:rPr lang="zh-CN" altLang="en-US" sz="1600" baseline="0" dirty="0" smtClean="0"/>
                  <a:t>，那么就把</a:t>
                </a:r>
                <a:r>
                  <a:rPr lang="en-US" altLang="zh-CN" sz="1600" baseline="0" dirty="0" smtClean="0"/>
                  <a:t>m</a:t>
                </a:r>
                <a:r>
                  <a:rPr lang="zh-CN" altLang="en-US" sz="1600" baseline="0" dirty="0" smtClean="0"/>
                  <a:t>的值加一。</a:t>
                </a:r>
                <a:endParaRPr lang="en-US" altLang="zh-CN" sz="1600" baseline="0" dirty="0" smtClean="0"/>
              </a:p>
              <a:p>
                <a:r>
                  <a:rPr lang="en-US" altLang="zh-CN" sz="1600" baseline="0" dirty="0" smtClean="0"/>
                  <a:t>----</a:t>
                </a:r>
              </a:p>
              <a:p>
                <a:r>
                  <a:rPr lang="zh-CN" altLang="en-US" sz="1600" baseline="0" dirty="0" smtClean="0"/>
                  <a:t>重复这个过程</a:t>
                </a:r>
                <a:r>
                  <a:rPr lang="en-US" altLang="zh-CN" sz="1600" baseline="0" dirty="0" smtClean="0"/>
                  <a:t>n</a:t>
                </a:r>
                <a:r>
                  <a:rPr lang="zh-CN" altLang="en-US" sz="1600" baseline="0" dirty="0" smtClean="0"/>
                  <a:t>轮之后就停止。</a:t>
                </a:r>
                <a:endParaRPr lang="en-US" altLang="zh-CN" sz="1600" baseline="0" dirty="0" smtClean="0"/>
              </a:p>
              <a:p>
                <a:r>
                  <a:rPr lang="zh-CN" altLang="en-US" sz="1600" baseline="0" dirty="0" smtClean="0"/>
                  <a:t>最后返回 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4𝑚</a:t>
                </a:r>
                <a:r>
                  <a:rPr lang="en-US" altLang="zh-CN" sz="1600" i="0" smtClean="0">
                    <a:solidFill>
                      <a:srgbClr val="C00000"/>
                    </a:solidFill>
                    <a:latin typeface="Cambria Math" charset="0"/>
                  </a:rPr>
                  <a:t>/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zh-CN" altLang="en-US" sz="1600" baseline="0" dirty="0" smtClean="0"/>
                  <a:t> 作为对</a:t>
                </a:r>
                <a:r>
                  <a:rPr lang="en-US" altLang="zh-CN" sz="1600" baseline="0" dirty="0" smtClean="0"/>
                  <a:t>pi</a:t>
                </a:r>
                <a:r>
                  <a:rPr lang="zh-CN" altLang="en-US" sz="1600" baseline="0" dirty="0" smtClean="0"/>
                  <a:t>的估计。</a:t>
                </a:r>
                <a:endParaRPr lang="en-US" altLang="zh-CN" sz="1600" baseline="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087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/>
                  <a:t>Secondly,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repeat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random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sampling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times.</a:t>
                </a:r>
              </a:p>
              <a:p>
                <a:r>
                  <a:rPr lang="en-US" altLang="zh-CN" sz="1600" baseline="0" dirty="0"/>
                  <a:t>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each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round,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sample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(x,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y)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uniformly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random.</a:t>
                </a:r>
              </a:p>
              <a:p>
                <a:r>
                  <a:rPr lang="en-US" altLang="zh-CN" sz="1600" baseline="0" dirty="0"/>
                  <a:t>x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both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from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interval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between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-1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+1.</a:t>
                </a:r>
              </a:p>
              <a:p>
                <a:r>
                  <a:rPr lang="en-US" altLang="zh-CN" sz="1600" baseline="0" dirty="0"/>
                  <a:t>-----------------------</a:t>
                </a:r>
              </a:p>
              <a:p>
                <a:r>
                  <a:rPr lang="en-US" altLang="zh-CN" sz="1600" baseline="0" dirty="0"/>
                  <a:t>If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(x,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y)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increment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1.</a:t>
                </a:r>
              </a:p>
              <a:p>
                <a:r>
                  <a:rPr lang="en-US" altLang="zh-CN" sz="1600" baseline="0" dirty="0"/>
                  <a:t>After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step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2,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know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number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inside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circle.</a:t>
                </a:r>
              </a:p>
              <a:p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number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m.</a:t>
                </a:r>
              </a:p>
              <a:p>
                <a:r>
                  <a:rPr lang="en-US" altLang="zh-CN" sz="1600" baseline="0" dirty="0"/>
                  <a:t>=======================</a:t>
                </a:r>
              </a:p>
              <a:p>
                <a:r>
                  <a:rPr lang="en-US" altLang="zh-CN" sz="1600" baseline="0" dirty="0"/>
                  <a:t>Finally,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return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estimate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π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using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n.</a:t>
                </a:r>
                <a:endParaRPr lang="en-US" altLang="zh-CN" sz="1600" dirty="0"/>
              </a:p>
              <a:p>
                <a:r>
                  <a:rPr lang="en-US" altLang="zh-CN" sz="1600" dirty="0"/>
                  <a:t>π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approximately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4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over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n.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第二步是把抽样重复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次。</a:t>
                </a:r>
                <a:endParaRPr lang="en-US" altLang="zh-CN" sz="1600" dirty="0"/>
              </a:p>
              <a:p>
                <a:r>
                  <a:rPr lang="zh-CN" altLang="en-US" sz="1600" dirty="0"/>
                  <a:t>每次</a:t>
                </a:r>
                <a:r>
                  <a:rPr lang="zh-CN" altLang="en-US" sz="1600" baseline="0" dirty="0"/>
                  <a:t>从 </a:t>
                </a:r>
                <a:r>
                  <a:rPr lang="en-US" altLang="zh-CN" sz="1600" baseline="0" dirty="0"/>
                  <a:t>-1</a:t>
                </a:r>
                <a:r>
                  <a:rPr lang="zh-CN" altLang="en-US" sz="1600" baseline="0" dirty="0"/>
                  <a:t> 到 </a:t>
                </a:r>
                <a:r>
                  <a:rPr lang="en-US" altLang="zh-CN" sz="1600" baseline="0" dirty="0"/>
                  <a:t>+1</a:t>
                </a:r>
                <a:r>
                  <a:rPr lang="zh-CN" altLang="en-US" sz="1600" baseline="0" dirty="0"/>
                  <a:t>的区间里均匀抽样 得到</a:t>
                </a:r>
                <a:r>
                  <a:rPr lang="en-US" altLang="zh-CN" sz="1600" baseline="0" dirty="0"/>
                  <a:t>x</a:t>
                </a:r>
                <a:r>
                  <a:rPr lang="zh-CN" altLang="en-US" sz="1600" baseline="0" dirty="0"/>
                  <a:t> 和 </a:t>
                </a:r>
                <a:r>
                  <a:rPr lang="en-US" altLang="zh-CN" sz="1600" baseline="0" dirty="0"/>
                  <a:t>y</a:t>
                </a:r>
                <a:r>
                  <a:rPr lang="zh-CN" altLang="en-US" sz="1600" baseline="0" dirty="0"/>
                  <a:t>两个实数。</a:t>
                </a:r>
                <a:endParaRPr lang="en-US" altLang="zh-CN" sz="1600" baseline="0" dirty="0"/>
              </a:p>
              <a:p>
                <a:r>
                  <a:rPr lang="zh-CN" altLang="en-US" sz="1600" baseline="0" dirty="0"/>
                  <a:t>然后计算一下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𝑦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baseline="0" dirty="0"/>
                  <a:t>。</a:t>
                </a:r>
                <a:endParaRPr lang="en-US" altLang="zh-CN" sz="1600" baseline="0" dirty="0"/>
              </a:p>
              <a:p>
                <a:r>
                  <a:rPr lang="zh-CN" altLang="en-US" sz="1600" baseline="0" dirty="0"/>
                  <a:t>如果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𝑦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baseline="0" dirty="0"/>
                  <a:t> 小于等于 </a:t>
                </a:r>
                <a:r>
                  <a:rPr lang="en-US" altLang="zh-CN" sz="1600" baseline="0" dirty="0"/>
                  <a:t>1</a:t>
                </a:r>
                <a:r>
                  <a:rPr lang="zh-CN" altLang="en-US" sz="1600" baseline="0" dirty="0"/>
                  <a:t>，说明点落在圆里面，那么就把</a:t>
                </a:r>
                <a:r>
                  <a:rPr lang="en-US" altLang="zh-CN" sz="1600" baseline="0" dirty="0"/>
                  <a:t>m</a:t>
                </a:r>
                <a:r>
                  <a:rPr lang="zh-CN" altLang="en-US" sz="1600" baseline="0" dirty="0"/>
                  <a:t>的值加一。</a:t>
                </a:r>
                <a:endParaRPr lang="en-US" altLang="zh-CN" sz="1600" baseline="0" dirty="0"/>
              </a:p>
              <a:p>
                <a:r>
                  <a:rPr lang="zh-CN" altLang="en-US" sz="1600" baseline="0" dirty="0"/>
                  <a:t>重复这个过程</a:t>
                </a:r>
                <a:r>
                  <a:rPr lang="en-US" altLang="zh-CN" sz="1600" baseline="0" dirty="0"/>
                  <a:t>n</a:t>
                </a:r>
                <a:r>
                  <a:rPr lang="zh-CN" altLang="en-US" sz="1600" baseline="0" dirty="0"/>
                  <a:t>轮之后就停止。</a:t>
                </a:r>
                <a:endParaRPr lang="en-US" altLang="zh-CN" sz="1600" baseline="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aseline="0" dirty="0"/>
                  <a:t>这时的 </a:t>
                </a:r>
                <a:r>
                  <a:rPr lang="en-US" altLang="zh-CN" sz="1600" baseline="0" dirty="0"/>
                  <a:t>m</a:t>
                </a:r>
                <a:r>
                  <a:rPr lang="zh-CN" altLang="en-US" sz="1600" baseline="0" dirty="0"/>
                  <a:t> 就是落在圆里面的点的数量。</a:t>
                </a:r>
                <a:endParaRPr lang="en-US" altLang="zh-CN" sz="1600" baseline="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=======================</a:t>
                </a:r>
              </a:p>
              <a:p>
                <a:r>
                  <a:rPr lang="zh-CN" altLang="en-US" sz="1600" baseline="0" dirty="0"/>
                  <a:t>最后返回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4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altLang="en-US" sz="1600" baseline="0" dirty="0"/>
                  <a:t> 作为对 </a:t>
                </a:r>
                <a:r>
                  <a:rPr lang="en-US" altLang="zh-CN" sz="1600" baseline="0" dirty="0"/>
                  <a:t>π</a:t>
                </a:r>
                <a:r>
                  <a:rPr lang="zh-CN" altLang="en-US" sz="1600" baseline="0" dirty="0"/>
                  <a:t> 的估计。</a:t>
                </a:r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用了计算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的公式，我们就可以编程计算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这是伪代码。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</a:t>
                </a:r>
              </a:p>
              <a:p>
                <a:r>
                  <a:rPr lang="zh-CN" altLang="en-US" sz="1600" dirty="0" smtClean="0"/>
                  <a:t>第一步要用户自己定一个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越大，计算量越大，计算出来的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越准确。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初始的</a:t>
                </a:r>
                <a:r>
                  <a:rPr lang="en-US" altLang="zh-CN" sz="1600" dirty="0" smtClean="0"/>
                  <a:t>m</a:t>
                </a:r>
                <a:r>
                  <a:rPr lang="zh-CN" altLang="en-US" sz="1600" dirty="0" smtClean="0"/>
                  <a:t>等于零，用来做计数。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第二步是把抽样重复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次。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每次</a:t>
                </a:r>
                <a:r>
                  <a:rPr lang="zh-CN" altLang="en-US" sz="1600" baseline="0" dirty="0" smtClean="0"/>
                  <a:t>从 </a:t>
                </a:r>
                <a:r>
                  <a:rPr lang="en-US" altLang="zh-CN" sz="1600" baseline="0" dirty="0" smtClean="0"/>
                  <a:t>-1</a:t>
                </a:r>
                <a:r>
                  <a:rPr lang="zh-CN" altLang="en-US" sz="1600" baseline="0" dirty="0" smtClean="0"/>
                  <a:t> 到 </a:t>
                </a:r>
                <a:r>
                  <a:rPr lang="en-US" altLang="zh-CN" sz="1600" baseline="0" dirty="0" smtClean="0"/>
                  <a:t>+1</a:t>
                </a:r>
                <a:r>
                  <a:rPr lang="zh-CN" altLang="en-US" sz="1600" baseline="0" dirty="0" smtClean="0"/>
                  <a:t>的区间里均匀抽样 得到</a:t>
                </a:r>
                <a:r>
                  <a:rPr lang="en-US" altLang="zh-CN" sz="1600" baseline="0" dirty="0" smtClean="0"/>
                  <a:t>x</a:t>
                </a:r>
                <a:r>
                  <a:rPr lang="zh-CN" altLang="en-US" sz="1600" baseline="0" dirty="0" smtClean="0"/>
                  <a:t> 和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 smtClean="0"/>
                  <a:t>y</a:t>
                </a:r>
                <a:r>
                  <a:rPr lang="zh-CN" altLang="en-US" sz="1600" baseline="0" dirty="0" smtClean="0"/>
                  <a:t>两个实数。</a:t>
                </a:r>
                <a:endParaRPr lang="en-US" altLang="zh-CN" sz="1600" baseline="0" dirty="0" smtClean="0"/>
              </a:p>
              <a:p>
                <a:r>
                  <a:rPr lang="zh-CN" altLang="en-US" sz="1600" baseline="0" dirty="0" smtClean="0"/>
                  <a:t>然后计算一下</a:t>
                </a:r>
                <a:r>
                  <a:rPr lang="en-US" altLang="zh-CN" sz="1600" i="0">
                    <a:latin typeface="Cambria Math" charset="0"/>
                  </a:rPr>
                  <a:t>𝑥</a:t>
                </a:r>
                <a:r>
                  <a:rPr lang="en-US" altLang="zh-CN" sz="1600" i="0" smtClean="0">
                    <a:latin typeface="Cambria Math" charset="0"/>
                  </a:rPr>
                  <a:t>^</a:t>
                </a:r>
                <a:r>
                  <a:rPr lang="en-US" altLang="zh-CN" sz="1600" i="0">
                    <a:latin typeface="Cambria Math" charset="0"/>
                  </a:rPr>
                  <a:t>2+𝑦^2</a:t>
                </a:r>
                <a:r>
                  <a:rPr lang="zh-CN" altLang="en-US" sz="1600" baseline="0" dirty="0" smtClean="0"/>
                  <a:t>。</a:t>
                </a:r>
                <a:endParaRPr lang="en-US" altLang="zh-CN" sz="1600" baseline="0" dirty="0" smtClean="0"/>
              </a:p>
              <a:p>
                <a:r>
                  <a:rPr lang="zh-CN" altLang="en-US" sz="1600" baseline="0" dirty="0" smtClean="0"/>
                  <a:t>如果</a:t>
                </a:r>
                <a:r>
                  <a:rPr lang="en-US" altLang="zh-CN" sz="1600" i="0">
                    <a:latin typeface="Cambria Math" charset="0"/>
                  </a:rPr>
                  <a:t>𝑥</a:t>
                </a:r>
                <a:r>
                  <a:rPr lang="en-US" altLang="zh-CN" sz="1600" i="0" smtClean="0">
                    <a:latin typeface="Cambria Math" charset="0"/>
                  </a:rPr>
                  <a:t>^</a:t>
                </a:r>
                <a:r>
                  <a:rPr lang="en-US" altLang="zh-CN" sz="1600" i="0">
                    <a:latin typeface="Cambria Math" charset="0"/>
                  </a:rPr>
                  <a:t>2+𝑦^2</a:t>
                </a:r>
                <a:r>
                  <a:rPr lang="zh-CN" altLang="en-US" sz="1600" baseline="0" dirty="0" smtClean="0"/>
                  <a:t> 小于等于 </a:t>
                </a:r>
                <a:r>
                  <a:rPr lang="en-US" altLang="zh-CN" sz="1600" baseline="0" dirty="0" smtClean="0"/>
                  <a:t>1</a:t>
                </a:r>
                <a:r>
                  <a:rPr lang="zh-CN" altLang="en-US" sz="1600" baseline="0" dirty="0" smtClean="0"/>
                  <a:t>，那么就把</a:t>
                </a:r>
                <a:r>
                  <a:rPr lang="en-US" altLang="zh-CN" sz="1600" baseline="0" dirty="0" smtClean="0"/>
                  <a:t>m</a:t>
                </a:r>
                <a:r>
                  <a:rPr lang="zh-CN" altLang="en-US" sz="1600" baseline="0" dirty="0" smtClean="0"/>
                  <a:t>的值加一。</a:t>
                </a:r>
                <a:endParaRPr lang="en-US" altLang="zh-CN" sz="1600" baseline="0" dirty="0" smtClean="0"/>
              </a:p>
              <a:p>
                <a:r>
                  <a:rPr lang="en-US" altLang="zh-CN" sz="1600" baseline="0" dirty="0" smtClean="0"/>
                  <a:t>----</a:t>
                </a:r>
              </a:p>
              <a:p>
                <a:r>
                  <a:rPr lang="zh-CN" altLang="en-US" sz="1600" baseline="0" dirty="0" smtClean="0"/>
                  <a:t>重复这个过程</a:t>
                </a:r>
                <a:r>
                  <a:rPr lang="en-US" altLang="zh-CN" sz="1600" baseline="0" dirty="0" smtClean="0"/>
                  <a:t>n</a:t>
                </a:r>
                <a:r>
                  <a:rPr lang="zh-CN" altLang="en-US" sz="1600" baseline="0" dirty="0" smtClean="0"/>
                  <a:t>轮之后就停止。</a:t>
                </a:r>
                <a:endParaRPr lang="en-US" altLang="zh-CN" sz="1600" baseline="0" dirty="0" smtClean="0"/>
              </a:p>
              <a:p>
                <a:r>
                  <a:rPr lang="zh-CN" altLang="en-US" sz="1600" baseline="0" dirty="0" smtClean="0"/>
                  <a:t>最后返回 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4𝑚</a:t>
                </a:r>
                <a:r>
                  <a:rPr lang="en-US" altLang="zh-CN" sz="1600" i="0" smtClean="0">
                    <a:solidFill>
                      <a:srgbClr val="C00000"/>
                    </a:solidFill>
                    <a:latin typeface="Cambria Math" charset="0"/>
                  </a:rPr>
                  <a:t>/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zh-CN" altLang="en-US" sz="1600" baseline="0" dirty="0" smtClean="0"/>
                  <a:t> 作为对</a:t>
                </a:r>
                <a:r>
                  <a:rPr lang="en-US" altLang="zh-CN" sz="1600" baseline="0" dirty="0" smtClean="0"/>
                  <a:t>pi</a:t>
                </a:r>
                <a:r>
                  <a:rPr lang="zh-CN" altLang="en-US" sz="1600" baseline="0" dirty="0" smtClean="0"/>
                  <a:t>的估计。</a:t>
                </a:r>
                <a:endParaRPr lang="en-US" altLang="zh-CN" sz="1600" baseline="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430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dirty="0"/>
              <a:t>Another</a:t>
            </a:r>
            <a:r>
              <a:rPr lang="zh-CN" altLang="en-US" sz="1800" dirty="0"/>
              <a:t> </a:t>
            </a:r>
            <a:r>
              <a:rPr lang="en-US" altLang="zh-CN" sz="1800" dirty="0"/>
              <a:t>example</a:t>
            </a:r>
            <a:r>
              <a:rPr lang="zh-CN" altLang="en-US" sz="1800" dirty="0"/>
              <a:t> </a:t>
            </a:r>
            <a:r>
              <a:rPr lang="en-US" altLang="zh-CN" sz="1800" dirty="0"/>
              <a:t>is</a:t>
            </a:r>
            <a:r>
              <a:rPr lang="zh-CN" altLang="en-US" sz="1800" baseline="0" dirty="0"/>
              <a:t> </a:t>
            </a:r>
            <a:r>
              <a:rPr lang="en-US" altLang="zh-CN" sz="1800" baseline="0" dirty="0"/>
              <a:t>Buffon’s</a:t>
            </a:r>
            <a:r>
              <a:rPr lang="zh-CN" altLang="en-US" sz="1800" baseline="0" dirty="0"/>
              <a:t> </a:t>
            </a:r>
            <a:r>
              <a:rPr lang="en-US" altLang="zh-CN" sz="1800" baseline="0" dirty="0"/>
              <a:t>needle</a:t>
            </a:r>
            <a:r>
              <a:rPr lang="zh-CN" altLang="en-US" sz="1800" baseline="0" dirty="0"/>
              <a:t> </a:t>
            </a:r>
            <a:r>
              <a:rPr lang="en-US" altLang="zh-CN" sz="1800" baseline="0" dirty="0"/>
              <a:t>problem.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aseline="0" dirty="0"/>
              <a:t>It’s</a:t>
            </a:r>
            <a:r>
              <a:rPr lang="zh-CN" altLang="en-US" sz="1800" baseline="0" dirty="0"/>
              <a:t> </a:t>
            </a:r>
            <a:r>
              <a:rPr lang="en-US" altLang="zh-CN" sz="1800" baseline="0" dirty="0"/>
              <a:t>also</a:t>
            </a:r>
            <a:r>
              <a:rPr lang="zh-CN" altLang="en-US" sz="1800" baseline="0" dirty="0"/>
              <a:t> </a:t>
            </a:r>
            <a:r>
              <a:rPr lang="en-US" altLang="zh-CN" sz="1800" baseline="0" dirty="0"/>
              <a:t>a</a:t>
            </a:r>
            <a:r>
              <a:rPr lang="zh-CN" altLang="en-US" sz="1800" baseline="0" dirty="0"/>
              <a:t> </a:t>
            </a:r>
            <a:r>
              <a:rPr lang="en-US" altLang="zh-CN" sz="1800" baseline="0" dirty="0"/>
              <a:t>Monte</a:t>
            </a:r>
            <a:r>
              <a:rPr lang="zh-CN" altLang="en-US" sz="1800" baseline="0" dirty="0"/>
              <a:t> </a:t>
            </a:r>
            <a:r>
              <a:rPr lang="en-US" altLang="zh-CN" sz="1800" baseline="0" dirty="0"/>
              <a:t>Carlo</a:t>
            </a:r>
            <a:r>
              <a:rPr lang="zh-CN" altLang="en-US" sz="1800" baseline="0" dirty="0"/>
              <a:t> </a:t>
            </a:r>
            <a:r>
              <a:rPr lang="en-US" altLang="zh-CN" sz="1800" baseline="0" dirty="0"/>
              <a:t>method</a:t>
            </a:r>
            <a:r>
              <a:rPr lang="zh-CN" altLang="en-US" sz="1800" baseline="0" dirty="0"/>
              <a:t> </a:t>
            </a:r>
            <a:r>
              <a:rPr lang="en-US" altLang="zh-CN" sz="1800" baseline="0" dirty="0"/>
              <a:t>for</a:t>
            </a:r>
            <a:r>
              <a:rPr lang="zh-CN" altLang="en-US" sz="1800" baseline="0" dirty="0"/>
              <a:t> </a:t>
            </a:r>
            <a:r>
              <a:rPr lang="en-US" altLang="zh-CN" sz="1800" baseline="0" dirty="0"/>
              <a:t>calculating</a:t>
            </a:r>
            <a:r>
              <a:rPr lang="zh-CN" altLang="en-US" sz="1800" baseline="0" dirty="0"/>
              <a:t> </a:t>
            </a:r>
            <a:r>
              <a:rPr lang="en-US" altLang="zh-CN" sz="1800" baseline="0" dirty="0"/>
              <a:t>Pi.</a:t>
            </a:r>
            <a:endParaRPr lang="en-US" altLang="zh-CN" sz="18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dirty="0"/>
              <a:t>第二个蒙特卡洛的例子是 “布封投针”，也是一种计算</a:t>
            </a:r>
            <a:r>
              <a:rPr lang="en-US" altLang="zh-CN" sz="1800" dirty="0"/>
              <a:t>pi</a:t>
            </a:r>
            <a:r>
              <a:rPr lang="zh-CN" altLang="en-US" sz="1800" dirty="0"/>
              <a:t>的方法。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36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/>
              <a:t>Buffon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was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born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1707.</a:t>
            </a:r>
          </a:p>
          <a:p>
            <a:r>
              <a:rPr lang="en-US" altLang="zh-CN" sz="1600" baseline="0" dirty="0"/>
              <a:t>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was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born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about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half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century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later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than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Newton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and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Leibnitz.</a:t>
            </a:r>
            <a:r>
              <a:rPr lang="zh-CN" altLang="en-US" sz="1600" baseline="0" dirty="0"/>
              <a:t> </a:t>
            </a:r>
            <a:endParaRPr lang="en-US" altLang="zh-CN" sz="1600" baseline="0" dirty="0"/>
          </a:p>
          <a:p>
            <a:r>
              <a:rPr lang="en-US" altLang="zh-CN" sz="1600" baseline="0" dirty="0"/>
              <a:t>In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Buffon’s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time,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calculus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was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already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popular.</a:t>
            </a:r>
            <a:r>
              <a:rPr lang="zh-CN" altLang="en-US" sz="1600" baseline="0" dirty="0"/>
              <a:t> </a:t>
            </a:r>
            <a:endParaRPr lang="en-US" altLang="zh-CN" sz="1600" baseline="0" dirty="0"/>
          </a:p>
          <a:p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people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Buffon's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time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knew integrals.</a:t>
            </a:r>
          </a:p>
          <a:p>
            <a:r>
              <a:rPr lang="en-US" altLang="zh-CN" sz="1600" baseline="0" dirty="0"/>
              <a:t>----------</a:t>
            </a:r>
          </a:p>
          <a:p>
            <a:r>
              <a:rPr lang="en-US" altLang="zh-CN" sz="1600" baseline="0" dirty="0"/>
              <a:t>Buffon’s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needle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problem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about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using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Monte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Carlo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calculate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Pi.</a:t>
            </a:r>
          </a:p>
          <a:p>
            <a:r>
              <a:rPr lang="en-US" altLang="zh-CN" sz="1600" baseline="0" dirty="0"/>
              <a:t>Unlike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our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previous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example,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Buffon’s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needle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problem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does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not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rely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random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number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generator.</a:t>
            </a:r>
          </a:p>
          <a:p>
            <a:r>
              <a:rPr lang="en-US" altLang="zh-CN" sz="1600" baseline="0" dirty="0"/>
              <a:t>---------</a:t>
            </a:r>
          </a:p>
          <a:p>
            <a:r>
              <a:rPr lang="en-US" altLang="zh-CN" sz="1600" baseline="0" dirty="0"/>
              <a:t>You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can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draw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parallel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lines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paper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and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throw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needles.</a:t>
            </a:r>
          </a:p>
          <a:p>
            <a:r>
              <a:rPr lang="en-US" altLang="zh-CN" sz="1600" baseline="0" dirty="0"/>
              <a:t>Then,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count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number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needles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that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lie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across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parallel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lines.</a:t>
            </a:r>
          </a:p>
          <a:p>
            <a:r>
              <a:rPr lang="en-US" altLang="zh-CN" sz="1600" baseline="0" dirty="0"/>
              <a:t>Such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experiment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can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be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performed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without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using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computer.</a:t>
            </a:r>
          </a:p>
          <a:p>
            <a:endParaRPr lang="en-US" altLang="zh-CN" sz="1600" baseline="0" dirty="0"/>
          </a:p>
          <a:p>
            <a:endParaRPr lang="en-US" altLang="zh-CN" sz="1600" dirty="0"/>
          </a:p>
          <a:p>
            <a:r>
              <a:rPr lang="zh-CN" altLang="en-US" sz="1600" dirty="0"/>
              <a:t>布封是法国的博物学家。</a:t>
            </a:r>
            <a:endParaRPr lang="en-US" altLang="zh-CN" sz="1600" dirty="0"/>
          </a:p>
          <a:p>
            <a:r>
              <a:rPr lang="zh-CN" altLang="en-US" sz="1600" dirty="0"/>
              <a:t>布封生于</a:t>
            </a:r>
            <a:r>
              <a:rPr lang="en-US" altLang="zh-CN" sz="1600" dirty="0"/>
              <a:t>1707</a:t>
            </a:r>
            <a:r>
              <a:rPr lang="zh-CN" altLang="en-US" sz="1600" dirty="0"/>
              <a:t>年，大约比牛顿和莱布尼茨都小了</a:t>
            </a:r>
            <a:r>
              <a:rPr lang="en-US" altLang="zh-CN" sz="1600" dirty="0"/>
              <a:t>50</a:t>
            </a:r>
            <a:r>
              <a:rPr lang="zh-CN" altLang="en-US" sz="1600" dirty="0"/>
              <a:t>岁。</a:t>
            </a:r>
            <a:endParaRPr lang="en-US" altLang="zh-CN" sz="1600" dirty="0"/>
          </a:p>
          <a:p>
            <a:r>
              <a:rPr lang="zh-CN" altLang="en-US" sz="1600" dirty="0"/>
              <a:t>布封时代的人已经会用微积分了。</a:t>
            </a:r>
            <a:endParaRPr lang="en-US" altLang="zh-CN" sz="1600" dirty="0"/>
          </a:p>
          <a:p>
            <a:r>
              <a:rPr lang="en-US" altLang="zh-CN" sz="1600" dirty="0"/>
              <a:t>---------</a:t>
            </a:r>
          </a:p>
          <a:p>
            <a:r>
              <a:rPr lang="zh-CN" altLang="en-US" sz="1600" dirty="0"/>
              <a:t>布封投针 也是用蒙特卡洛来计算</a:t>
            </a:r>
            <a:r>
              <a:rPr lang="en-US" altLang="zh-CN" sz="1600" dirty="0"/>
              <a:t>pi</a:t>
            </a:r>
            <a:r>
              <a:rPr lang="zh-CN" altLang="en-US" sz="1600" dirty="0"/>
              <a:t>值。</a:t>
            </a:r>
            <a:endParaRPr lang="en-US" altLang="zh-CN" sz="1600" dirty="0"/>
          </a:p>
          <a:p>
            <a:r>
              <a:rPr lang="zh-CN" altLang="en-US" sz="1600" dirty="0"/>
              <a:t>好处在于不需要用电脑模拟，而是可以真的动手做，毕竟布封的时代没有随机数生成器。</a:t>
            </a:r>
            <a:endParaRPr lang="en-US" altLang="zh-CN" sz="1600" dirty="0"/>
          </a:p>
          <a:p>
            <a:r>
              <a:rPr lang="zh-CN" altLang="en-US" sz="1600" dirty="0"/>
              <a:t>拿一张纸，画出等距的平行线，然后撒一把针或者火柴棍，数一数有多少跟</a:t>
            </a:r>
            <a:r>
              <a:rPr lang="zh-CN" altLang="en-US" sz="1600" baseline="0" dirty="0"/>
              <a:t> 针 与平行线相交。</a:t>
            </a:r>
            <a:endParaRPr lang="en-US" altLang="zh-CN" sz="1600" baseline="0" dirty="0"/>
          </a:p>
          <a:p>
            <a:r>
              <a:rPr lang="zh-CN" altLang="en-US" sz="1600" baseline="0" dirty="0"/>
              <a:t>通过相交的针的数量就能推算出</a:t>
            </a:r>
            <a:r>
              <a:rPr lang="en-US" altLang="zh-CN" sz="1600" baseline="0" dirty="0"/>
              <a:t>pi</a:t>
            </a:r>
            <a:r>
              <a:rPr lang="zh-CN" altLang="en-US" sz="1600" baseline="0" dirty="0"/>
              <a:t>。</a:t>
            </a:r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261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/>
              <a:t>To</a:t>
            </a:r>
            <a:r>
              <a:rPr lang="zh-CN" altLang="en-US" sz="1600" dirty="0"/>
              <a:t> </a:t>
            </a:r>
            <a:r>
              <a:rPr lang="en-US" altLang="zh-CN" sz="1600" dirty="0"/>
              <a:t>perform</a:t>
            </a:r>
            <a:r>
              <a:rPr lang="zh-CN" altLang="en-US" sz="1600" dirty="0"/>
              <a:t> </a:t>
            </a:r>
            <a:r>
              <a:rPr lang="en-US" altLang="zh-CN" sz="1600" dirty="0"/>
              <a:t>the</a:t>
            </a:r>
            <a:r>
              <a:rPr lang="zh-CN" altLang="en-US" sz="1600" dirty="0"/>
              <a:t> </a:t>
            </a:r>
            <a:r>
              <a:rPr lang="en-US" altLang="zh-CN" sz="1600" dirty="0"/>
              <a:t>experiment,</a:t>
            </a:r>
            <a:r>
              <a:rPr lang="zh-CN" altLang="en-US" sz="1600" dirty="0"/>
              <a:t> </a:t>
            </a:r>
            <a:r>
              <a:rPr lang="en-US" altLang="zh-CN" sz="1600" dirty="0"/>
              <a:t>let’s</a:t>
            </a:r>
            <a:r>
              <a:rPr lang="zh-CN" altLang="en-US" sz="1600" dirty="0"/>
              <a:t> </a:t>
            </a:r>
            <a:r>
              <a:rPr lang="en-US" altLang="zh-CN" sz="1600" dirty="0"/>
              <a:t>first</a:t>
            </a:r>
            <a:r>
              <a:rPr lang="zh-CN" altLang="en-US" sz="1600" dirty="0"/>
              <a:t> </a:t>
            </a:r>
            <a:r>
              <a:rPr lang="en-US" altLang="zh-CN" sz="1600" dirty="0"/>
              <a:t>drawn</a:t>
            </a:r>
            <a:r>
              <a:rPr lang="zh-CN" altLang="en-US" sz="1600" dirty="0"/>
              <a:t> </a:t>
            </a:r>
            <a:r>
              <a:rPr lang="en-US" altLang="zh-CN" sz="1600" dirty="0"/>
              <a:t>many</a:t>
            </a:r>
            <a:r>
              <a:rPr lang="zh-CN" altLang="en-US" sz="1600" dirty="0"/>
              <a:t> </a:t>
            </a:r>
            <a:r>
              <a:rPr lang="en-US" altLang="zh-CN" sz="1600" dirty="0"/>
              <a:t>parallel</a:t>
            </a:r>
            <a:r>
              <a:rPr lang="zh-CN" altLang="en-US" sz="1600" dirty="0"/>
              <a:t> </a:t>
            </a:r>
            <a:r>
              <a:rPr lang="en-US" altLang="zh-CN" sz="1600" dirty="0"/>
              <a:t>lines.</a:t>
            </a:r>
          </a:p>
          <a:p>
            <a:r>
              <a:rPr lang="en-US" altLang="zh-CN" sz="1600" dirty="0"/>
              <a:t>=====</a:t>
            </a:r>
          </a:p>
          <a:p>
            <a:r>
              <a:rPr lang="en-US" altLang="zh-CN" sz="1600" dirty="0"/>
              <a:t>Two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neighboring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lines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have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distance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d.</a:t>
            </a:r>
          </a:p>
          <a:p>
            <a:r>
              <a:rPr lang="en-US" altLang="zh-CN" sz="1600" baseline="0" dirty="0"/>
              <a:t>=====</a:t>
            </a:r>
          </a:p>
          <a:p>
            <a:r>
              <a:rPr lang="en-US" altLang="zh-CN" sz="1600" baseline="0" dirty="0"/>
              <a:t>Prepare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some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needles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same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length.</a:t>
            </a:r>
          </a:p>
          <a:p>
            <a:r>
              <a:rPr lang="en-US" altLang="zh-CN" sz="1600" baseline="0" dirty="0"/>
              <a:t>Let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length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be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l.</a:t>
            </a:r>
          </a:p>
          <a:p>
            <a:endParaRPr lang="en-US" altLang="zh-CN" sz="1600" baseline="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想要做投针 实验，先画一些平行线。</a:t>
            </a: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/>
              <a:t>=====</a:t>
            </a:r>
          </a:p>
          <a:p>
            <a:r>
              <a:rPr lang="zh-CN" altLang="en-US" sz="1600" dirty="0"/>
              <a:t>两条平行线之间的距离等于</a:t>
            </a:r>
            <a:r>
              <a:rPr lang="en-US" altLang="zh-CN" sz="1600" dirty="0"/>
              <a:t>d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r>
              <a:rPr lang="en-US" altLang="zh-CN" sz="1600" dirty="0"/>
              <a:t>=====</a:t>
            </a:r>
          </a:p>
          <a:p>
            <a:r>
              <a:rPr lang="zh-CN" altLang="en-US" sz="1600" dirty="0"/>
              <a:t>准备一些等长的针，长度全都是 </a:t>
            </a:r>
            <a:r>
              <a:rPr lang="en-US" altLang="zh-CN" sz="1600" dirty="0"/>
              <a:t>L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375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/>
              <a:t>Randomly</a:t>
            </a:r>
            <a:r>
              <a:rPr lang="zh-CN" altLang="en-US" sz="1600" dirty="0"/>
              <a:t> </a:t>
            </a:r>
            <a:r>
              <a:rPr lang="en-US" altLang="zh-CN" sz="1600" dirty="0"/>
              <a:t>throw</a:t>
            </a:r>
            <a:r>
              <a:rPr lang="zh-CN" altLang="en-US" sz="1600" dirty="0"/>
              <a:t> </a:t>
            </a:r>
            <a:r>
              <a:rPr lang="en-US" altLang="zh-CN" sz="1600" dirty="0"/>
              <a:t>a</a:t>
            </a:r>
            <a:r>
              <a:rPr lang="zh-CN" altLang="en-US" sz="1600" dirty="0"/>
              <a:t> </a:t>
            </a:r>
            <a:r>
              <a:rPr lang="en-US" altLang="zh-CN" sz="1600" dirty="0"/>
              <a:t>needle</a:t>
            </a:r>
            <a:r>
              <a:rPr lang="zh-CN" altLang="en-US" sz="1600" dirty="0"/>
              <a:t> </a:t>
            </a:r>
            <a:r>
              <a:rPr lang="en-US" altLang="zh-CN" sz="1600" dirty="0"/>
              <a:t>on</a:t>
            </a:r>
            <a:r>
              <a:rPr lang="zh-CN" altLang="en-US" sz="1600" dirty="0"/>
              <a:t> </a:t>
            </a:r>
            <a:r>
              <a:rPr lang="en-US" altLang="zh-CN" sz="1600" dirty="0"/>
              <a:t>the</a:t>
            </a:r>
            <a:r>
              <a:rPr lang="zh-CN" altLang="en-US" sz="1600" dirty="0"/>
              <a:t> </a:t>
            </a:r>
            <a:r>
              <a:rPr lang="en-US" altLang="zh-CN" sz="1600" dirty="0"/>
              <a:t>paper.</a:t>
            </a:r>
          </a:p>
          <a:p>
            <a:r>
              <a:rPr lang="en-US" altLang="zh-CN" sz="1600" dirty="0"/>
              <a:t>=====</a:t>
            </a:r>
          </a:p>
          <a:p>
            <a:r>
              <a:rPr lang="en-US" altLang="zh-CN" sz="1600" dirty="0"/>
              <a:t>The</a:t>
            </a:r>
            <a:r>
              <a:rPr lang="zh-CN" altLang="en-US" sz="1600" dirty="0"/>
              <a:t> </a:t>
            </a:r>
            <a:r>
              <a:rPr lang="en-US" altLang="zh-CN" sz="1600" dirty="0"/>
              <a:t>needle</a:t>
            </a:r>
            <a:r>
              <a:rPr lang="zh-CN" altLang="en-US" sz="1600" dirty="0"/>
              <a:t> </a:t>
            </a:r>
            <a:r>
              <a:rPr lang="en-US" altLang="zh-CN" sz="1600" dirty="0"/>
              <a:t>has a</a:t>
            </a:r>
            <a:r>
              <a:rPr lang="zh-CN" altLang="en-US" sz="1600" dirty="0"/>
              <a:t> </a:t>
            </a:r>
            <a:r>
              <a:rPr lang="en-US" altLang="zh-CN" sz="1600" dirty="0"/>
              <a:t>length</a:t>
            </a:r>
            <a:r>
              <a:rPr lang="zh-CN" altLang="en-US" sz="1600" dirty="0"/>
              <a:t> </a:t>
            </a:r>
            <a:r>
              <a:rPr lang="en-US" altLang="zh-CN" sz="1600" dirty="0"/>
              <a:t>of l.</a:t>
            </a:r>
          </a:p>
          <a:p>
            <a:r>
              <a:rPr lang="en-US" altLang="zh-CN" sz="1600" dirty="0"/>
              <a:t>The</a:t>
            </a:r>
            <a:r>
              <a:rPr lang="zh-CN" altLang="en-US" sz="1600" dirty="0"/>
              <a:t> </a:t>
            </a:r>
            <a:r>
              <a:rPr lang="en-US" altLang="zh-CN" sz="1600" dirty="0"/>
              <a:t>needle</a:t>
            </a:r>
            <a:r>
              <a:rPr lang="zh-CN" altLang="en-US" sz="1600" dirty="0"/>
              <a:t> </a:t>
            </a:r>
            <a:r>
              <a:rPr lang="en-US" altLang="zh-CN" sz="1600" dirty="0"/>
              <a:t>may</a:t>
            </a:r>
            <a:r>
              <a:rPr lang="zh-CN" altLang="en-US" sz="1600" dirty="0"/>
              <a:t> </a:t>
            </a:r>
            <a:r>
              <a:rPr lang="en-US" altLang="zh-CN" sz="1600" dirty="0"/>
              <a:t>or</a:t>
            </a:r>
            <a:r>
              <a:rPr lang="zh-CN" altLang="en-US" sz="1600" dirty="0"/>
              <a:t> </a:t>
            </a:r>
            <a:r>
              <a:rPr lang="en-US" altLang="zh-CN" sz="1600" dirty="0"/>
              <a:t>may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not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lie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across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line.</a:t>
            </a:r>
          </a:p>
          <a:p>
            <a:endParaRPr lang="en-US" altLang="zh-CN" sz="1600" baseline="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随机把针抛到纸上。</a:t>
            </a:r>
            <a:endParaRPr lang="en-US" altLang="zh-CN" sz="1600" dirty="0"/>
          </a:p>
          <a:p>
            <a:r>
              <a:rPr lang="en-US" altLang="zh-CN" sz="1600" dirty="0"/>
              <a:t>=====</a:t>
            </a:r>
          </a:p>
          <a:p>
            <a:r>
              <a:rPr lang="zh-CN" altLang="en-US" sz="1600" dirty="0"/>
              <a:t>针的长度是</a:t>
            </a:r>
            <a:r>
              <a:rPr lang="en-US" altLang="zh-CN" sz="1600" dirty="0"/>
              <a:t>l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r>
              <a:rPr lang="zh-CN" altLang="en-US" sz="1600" dirty="0"/>
              <a:t>针可能与平行线相交，也可能不相交。</a:t>
            </a:r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21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baseline="0" dirty="0"/>
              <a:t>This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needle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lies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across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line.</a:t>
            </a:r>
          </a:p>
          <a:p>
            <a:r>
              <a:rPr lang="en-US" altLang="zh-CN" sz="1600" baseline="0" dirty="0"/>
              <a:t>=====</a:t>
            </a:r>
          </a:p>
          <a:p>
            <a:r>
              <a:rPr lang="en-US" altLang="zh-CN" sz="1600" baseline="0" dirty="0"/>
              <a:t>Throw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another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needle.</a:t>
            </a:r>
          </a:p>
          <a:p>
            <a:r>
              <a:rPr lang="en-US" altLang="zh-CN" sz="1600" baseline="0" dirty="0"/>
              <a:t>This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one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does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not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lie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across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line.</a:t>
            </a:r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这根针与平行线相交了。</a:t>
            </a:r>
            <a:endParaRPr lang="en-US" altLang="zh-CN" sz="1600" dirty="0"/>
          </a:p>
          <a:p>
            <a:r>
              <a:rPr lang="en-US" altLang="zh-CN" sz="1600" dirty="0"/>
              <a:t>=====</a:t>
            </a:r>
          </a:p>
          <a:p>
            <a:r>
              <a:rPr lang="zh-CN" altLang="en-US" sz="1600" dirty="0"/>
              <a:t>再扔一根针，可能不相交。</a:t>
            </a:r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1967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Assume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location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angle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needles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uniformly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distributed.</a:t>
                </a:r>
              </a:p>
              <a:p>
                <a:r>
                  <a:rPr lang="en-US" altLang="zh-CN" sz="1600" dirty="0"/>
                  <a:t>========================</a:t>
                </a:r>
              </a:p>
              <a:p>
                <a:r>
                  <a:rPr lang="en-US" altLang="zh-CN" sz="1600" baseline="0" dirty="0"/>
                  <a:t>Then,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with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probability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𝑃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charset="0"/>
                          </a:rPr>
                          <m:t>2</m:t>
                        </m:r>
                        <m:r>
                          <a:rPr lang="en-US" altLang="zh-CN" sz="1600" b="0" i="1" smtClean="0">
                            <a:latin typeface="Cambria Math" charset="0"/>
                          </a:rPr>
                          <m:t>𝑙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1600" b="0" i="1" smtClean="0">
                            <a:latin typeface="Cambria Math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altLang="zh-CN" sz="1600" dirty="0"/>
                  <a:t>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 needle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lies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across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line.</a:t>
                </a:r>
              </a:p>
              <a:p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probability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related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to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sz="1600" dirty="0"/>
                  <a:t>.</a:t>
                </a:r>
              </a:p>
              <a:p>
                <a:r>
                  <a:rPr lang="en-US" altLang="zh-CN" sz="1600" dirty="0"/>
                  <a:t>That’s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why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can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use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this equation</a:t>
                </a:r>
                <a:r>
                  <a:rPr lang="en-US" altLang="zh-CN" sz="1600" baseline="0" dirty="0"/>
                  <a:t> </a:t>
                </a:r>
                <a:r>
                  <a:rPr lang="en-US" altLang="zh-CN" sz="1600" dirty="0"/>
                  <a:t>to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approximate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sz="1600" dirty="0"/>
                  <a:t>.</a:t>
                </a:r>
              </a:p>
              <a:p>
                <a:r>
                  <a:rPr lang="en-US" altLang="zh-CN" sz="1600" dirty="0"/>
                  <a:t>========================</a:t>
                </a:r>
              </a:p>
              <a:p>
                <a:r>
                  <a:rPr lang="en-US" altLang="zh-CN" sz="1600" dirty="0"/>
                  <a:t>This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equation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can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be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proven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using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integrals.</a:t>
                </a:r>
              </a:p>
              <a:p>
                <a:r>
                  <a:rPr lang="en-US" altLang="zh-CN" sz="1600" baseline="0" dirty="0"/>
                  <a:t>Recall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that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calculus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was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invented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Newton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Leibnitz.</a:t>
                </a:r>
              </a:p>
              <a:p>
                <a:r>
                  <a:rPr lang="en-US" altLang="zh-CN" sz="1600" baseline="0" dirty="0"/>
                  <a:t>They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were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half a century older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Buffon.</a:t>
                </a:r>
              </a:p>
              <a:p>
                <a:r>
                  <a:rPr lang="en-US" altLang="zh-CN" sz="1600" baseline="0" dirty="0"/>
                  <a:t>Calculus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was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well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known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Buffon’s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time.</a:t>
                </a:r>
              </a:p>
              <a:p>
                <a:r>
                  <a:rPr lang="en-US" altLang="zh-CN" sz="1600" baseline="0" dirty="0"/>
                  <a:t>It’s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not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hard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find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probability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𝑃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charset="0"/>
                          </a:rPr>
                          <m:t>2</m:t>
                        </m:r>
                        <m:r>
                          <a:rPr lang="en-US" altLang="zh-CN" sz="1600" b="0" i="1" smtClean="0">
                            <a:latin typeface="Cambria Math" charset="0"/>
                          </a:rPr>
                          <m:t>𝑙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1600" b="0" i="1" smtClean="0">
                            <a:latin typeface="Cambria Math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altLang="zh-CN" sz="1600" dirty="0"/>
                  <a:t>.</a:t>
                </a:r>
              </a:p>
              <a:p>
                <a:r>
                  <a:rPr lang="en-US" altLang="zh-CN" sz="1600" dirty="0"/>
                  <a:t>----</a:t>
                </a:r>
              </a:p>
              <a:p>
                <a:r>
                  <a:rPr lang="en-US" altLang="zh-CN" sz="160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equation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very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intuitive.</a:t>
                </a:r>
              </a:p>
              <a:p>
                <a:r>
                  <a:rPr lang="en-US" altLang="zh-CN" sz="1600" baseline="0" dirty="0"/>
                  <a:t>Using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longer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needles,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probability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goes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up,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which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means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 needle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more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likely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lie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across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line.</a:t>
                </a:r>
              </a:p>
              <a:p>
                <a:r>
                  <a:rPr lang="en-US" altLang="zh-CN" sz="1600" baseline="0" dirty="0"/>
                  <a:t>If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distance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between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lines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increases,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it’s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less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likely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 needle 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lie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across a line,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probability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will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go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down.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假设针的位置和角度都是均匀随机的。</a:t>
                </a:r>
                <a:endParaRPr lang="en-US" altLang="zh-CN" sz="1600" dirty="0"/>
              </a:p>
              <a:p>
                <a:r>
                  <a:rPr lang="zh-CN" altLang="en-US" sz="1600" dirty="0"/>
                  <a:t>那么针与纸有一定概率相交。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========================</a:t>
                </a:r>
              </a:p>
              <a:p>
                <a:r>
                  <a:rPr lang="zh-CN" altLang="en-US" sz="1600" dirty="0"/>
                  <a:t>通过微积分可以算出 相交概率</a:t>
                </a:r>
                <a:r>
                  <a:rPr lang="en-US" altLang="zh-CN" sz="1600" dirty="0"/>
                  <a:t>P</a:t>
                </a:r>
                <a:r>
                  <a:rPr lang="zh-CN" altLang="en-US" sz="1600" dirty="0"/>
                  <a:t>等于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charset="0"/>
                          </a:rPr>
                          <m:t>2</m:t>
                        </m:r>
                        <m:r>
                          <a:rPr lang="en-US" altLang="zh-CN" sz="1600" b="0" i="1" smtClean="0">
                            <a:latin typeface="Cambria Math" charset="0"/>
                          </a:rPr>
                          <m:t>𝑙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1600" b="0" i="1" smtClean="0">
                            <a:latin typeface="Cambria Math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这个概率跟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/>
                  <a:t>有关，所以这个公式可以用来估算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========================</a:t>
                </a:r>
              </a:p>
              <a:p>
                <a:r>
                  <a:rPr lang="zh-CN" altLang="en-US" sz="1600" dirty="0"/>
                  <a:t>这个公式可以用积分给推导出来。</a:t>
                </a:r>
                <a:endParaRPr lang="en-US" altLang="zh-CN" sz="1600" dirty="0"/>
              </a:p>
              <a:p>
                <a:r>
                  <a:rPr lang="zh-CN" altLang="en-US" sz="1600" dirty="0"/>
                  <a:t>微积分是牛顿和莱布尼茨发明的。</a:t>
                </a:r>
                <a:endParaRPr lang="en-US" altLang="zh-CN" sz="1600" dirty="0"/>
              </a:p>
              <a:p>
                <a:r>
                  <a:rPr lang="zh-CN" altLang="en-US" sz="1600" dirty="0"/>
                  <a:t>我前面强调 布封 比  牛顿和莱布尼茨  小</a:t>
                </a:r>
                <a:r>
                  <a:rPr lang="en-US" altLang="zh-CN" sz="1600" dirty="0"/>
                  <a:t>50</a:t>
                </a:r>
                <a:r>
                  <a:rPr lang="zh-CN" altLang="en-US" sz="1600" dirty="0"/>
                  <a:t>岁，就是为了说明布封时代已经有了微积分，他们有能力算出这个公式。</a:t>
                </a:r>
                <a:endParaRPr lang="en-US" altLang="zh-CN" sz="1600" dirty="0"/>
              </a:p>
              <a:p>
                <a:r>
                  <a:rPr lang="en-US" altLang="zh-CN" sz="1600" dirty="0"/>
                  <a:t>----</a:t>
                </a:r>
              </a:p>
              <a:p>
                <a:r>
                  <a:rPr lang="zh-CN" altLang="en-US" sz="1600" dirty="0"/>
                  <a:t>这个公式有很直观的含义。</a:t>
                </a:r>
                <a:endParaRPr lang="en-US" altLang="zh-CN" sz="1600" dirty="0"/>
              </a:p>
              <a:p>
                <a:r>
                  <a:rPr lang="zh-CN" altLang="en-US" sz="1600" dirty="0"/>
                  <a:t>用更长的针，就越容易相交，相交的概率就会变大。</a:t>
                </a:r>
                <a:endParaRPr lang="en-US" altLang="zh-CN" sz="1600" dirty="0"/>
              </a:p>
              <a:p>
                <a:r>
                  <a:rPr lang="zh-CN" altLang="en-US" sz="1600" dirty="0"/>
                  <a:t>用更短的针，相交概率就会减小。</a:t>
                </a:r>
                <a:endParaRPr lang="en-US" altLang="zh-CN" sz="1600" dirty="0"/>
              </a:p>
              <a:p>
                <a:r>
                  <a:rPr lang="zh-CN" altLang="en-US" sz="1600" dirty="0"/>
                  <a:t>所以呢，针的长度</a:t>
                </a:r>
                <a:r>
                  <a:rPr lang="en-US" altLang="zh-CN" sz="1600" dirty="0"/>
                  <a:t>L</a:t>
                </a:r>
                <a:r>
                  <a:rPr lang="zh-CN" altLang="en-US" sz="1600" dirty="0"/>
                  <a:t>在分子上。</a:t>
                </a:r>
                <a:endParaRPr lang="en-US" sz="1600" dirty="0"/>
              </a:p>
              <a:p>
                <a:r>
                  <a:rPr lang="en-US" altLang="zh-CN" sz="1600" dirty="0"/>
                  <a:t>---</a:t>
                </a:r>
              </a:p>
              <a:p>
                <a:r>
                  <a:rPr lang="zh-CN" altLang="en-US" sz="1600" dirty="0"/>
                  <a:t>如果平行线之间的距离越远，就越不容易相交。</a:t>
                </a:r>
                <a:endParaRPr lang="en-US" altLang="zh-CN" sz="1600" dirty="0"/>
              </a:p>
              <a:p>
                <a:r>
                  <a:rPr lang="zh-CN" altLang="en-US" sz="1600" dirty="0"/>
                  <a:t>反之，平行线距离越近，就越容易相交。</a:t>
                </a:r>
                <a:endParaRPr lang="en-US" altLang="zh-CN" sz="1600" dirty="0"/>
              </a:p>
              <a:p>
                <a:r>
                  <a:rPr lang="zh-CN" altLang="en-US" sz="1600" dirty="0"/>
                  <a:t>所以距离</a:t>
                </a:r>
                <a:r>
                  <a:rPr lang="en-US" altLang="zh-CN" sz="1600" dirty="0"/>
                  <a:t>D</a:t>
                </a:r>
                <a:r>
                  <a:rPr lang="zh-CN" altLang="en-US" sz="1600" dirty="0"/>
                  <a:t>在分母上。</a:t>
                </a:r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假设针的位置和角度都是均匀随机的。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那么针与纸有一定概率相交。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针越长，相交概率越大。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两条平行线离得越远。相交概率越小。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通过微积分可以算出 相交概率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等于</a:t>
                </a:r>
                <a:r>
                  <a:rPr lang="en-US" altLang="zh-CN" sz="1600" b="0" i="0" smtClean="0">
                    <a:latin typeface="Cambria Math" charset="0"/>
                  </a:rPr>
                  <a:t>2𝑙</a:t>
                </a:r>
                <a:r>
                  <a:rPr lang="en-US" altLang="zh-CN" sz="1600" b="0" i="0" smtClean="0">
                    <a:latin typeface="Cambria Math" charset="0"/>
                  </a:rPr>
                  <a:t>/</a:t>
                </a:r>
                <a:r>
                  <a:rPr lang="en-US" altLang="zh-CN" sz="1600" b="0" i="0" smtClean="0">
                    <a:latin typeface="Cambria Math" charset="0"/>
                  </a:rPr>
                  <a:t>𝜋𝑑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微积分是牛顿和莱布尼茨发明的。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我前面强调 布封 比  牛顿和莱布尼茨  小</a:t>
                </a:r>
                <a:r>
                  <a:rPr lang="en-US" altLang="zh-CN" sz="1600" dirty="0" smtClean="0"/>
                  <a:t>50</a:t>
                </a:r>
                <a:r>
                  <a:rPr lang="zh-CN" altLang="en-US" sz="1600" dirty="0" smtClean="0"/>
                  <a:t>岁，就是为了说明布封时代已经有了微积分，他们有能力算出这个公式。</a:t>
                </a:r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47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know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probability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𝑃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charset="0"/>
                          </a:rPr>
                          <m:t>2</m:t>
                        </m:r>
                        <m:r>
                          <a:rPr lang="en-US" altLang="zh-CN" sz="1600" b="0" i="1" smtClean="0">
                            <a:latin typeface="Cambria Math" charset="0"/>
                          </a:rPr>
                          <m:t>𝑙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1600" b="0" i="1" smtClean="0">
                            <a:latin typeface="Cambria Math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altLang="zh-CN" sz="1600" dirty="0"/>
                  <a:t>.</a:t>
                </a:r>
              </a:p>
              <a:p>
                <a:r>
                  <a:rPr lang="en-US" altLang="zh-CN" sz="1600" dirty="0"/>
                  <a:t>Now,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let’s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use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this equation </a:t>
                </a:r>
                <a:r>
                  <a:rPr lang="en-US" altLang="zh-CN" sz="1600" baseline="0" dirty="0"/>
                  <a:t>for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calculating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pi.</a:t>
                </a:r>
              </a:p>
              <a:p>
                <a:endParaRPr lang="en-US" altLang="zh-CN" sz="1600" baseline="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我们知道针与平行线相交的概率是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𝑃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charset="0"/>
                          </a:rPr>
                          <m:t>2</m:t>
                        </m:r>
                        <m:r>
                          <a:rPr lang="en-US" altLang="zh-CN" sz="1600" b="0" i="1" smtClean="0">
                            <a:latin typeface="Cambria Math" charset="0"/>
                          </a:rPr>
                          <m:t>𝑙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1600" b="0" i="1" smtClean="0">
                            <a:latin typeface="Cambria Math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接下来用这个公式来近似求</a:t>
                </a:r>
                <a:r>
                  <a:rPr lang="en-US" altLang="zh-CN" sz="1600" dirty="0"/>
                  <a:t>pi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have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derived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probability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𝑃=</a:t>
                </a:r>
                <a:r>
                  <a:rPr lang="en-US" altLang="zh-CN" sz="1600" b="0" i="0" smtClean="0">
                    <a:latin typeface="Cambria Math" charset="0"/>
                  </a:rPr>
                  <a:t>2𝑙/𝜋𝑑</a:t>
                </a:r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Now,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let’s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use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calculating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pi.</a:t>
                </a:r>
              </a:p>
              <a:p>
                <a:r>
                  <a:rPr lang="en-US" altLang="zh-CN" sz="1600" baseline="0" dirty="0" smtClean="0"/>
                  <a:t>=======</a:t>
                </a:r>
              </a:p>
              <a:p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throw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needles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paper.</a:t>
                </a:r>
              </a:p>
              <a:p>
                <a:r>
                  <a:rPr lang="en-US" altLang="zh-CN" sz="1600" baseline="0" dirty="0" smtClean="0"/>
                  <a:t>=======</a:t>
                </a:r>
              </a:p>
              <a:p>
                <a:r>
                  <a:rPr lang="en-US" altLang="zh-CN" sz="1600" baseline="0" dirty="0" smtClean="0"/>
                  <a:t>Each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needle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lie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across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line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with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experiment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repeated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times.</a:t>
                </a:r>
              </a:p>
              <a:p>
                <a:r>
                  <a:rPr lang="en-US" altLang="zh-CN" sz="1600" baseline="0" dirty="0" smtClean="0"/>
                  <a:t>Thus,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expectation,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err="1" smtClean="0"/>
                  <a:t>Pn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needles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lie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across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lines.</a:t>
                </a:r>
              </a:p>
              <a:p>
                <a:r>
                  <a:rPr lang="en-US" altLang="zh-CN" sz="1600" baseline="0" dirty="0" smtClean="0"/>
                  <a:t>Using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derived,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have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i="0" smtClean="0">
                    <a:latin typeface="Cambria Math" charset="0"/>
                  </a:rPr>
                  <a:t>𝑃</a:t>
                </a:r>
                <a:r>
                  <a:rPr lang="en-US" altLang="zh-CN" sz="1600" i="0" dirty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en-US" altLang="zh-CN" sz="1600" i="0" smtClean="0">
                    <a:latin typeface="Cambria Math" charset="0"/>
                  </a:rPr>
                  <a:t>=</a:t>
                </a:r>
                <a:r>
                  <a:rPr lang="en-US" altLang="zh-CN" sz="1600" i="0">
                    <a:latin typeface="Cambria Math" charset="0"/>
                  </a:rPr>
                  <a:t>2𝑙𝑛/𝜋𝑑</a:t>
                </a:r>
                <a:r>
                  <a:rPr lang="en-US" altLang="zh-CN" sz="1600" baseline="0" dirty="0" smtClean="0"/>
                  <a:t>.</a:t>
                </a:r>
              </a:p>
              <a:p>
                <a:r>
                  <a:rPr lang="en-US" altLang="zh-CN" sz="1600" baseline="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expectation.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我们刚才推导出了这个概率</a:t>
                </a:r>
                <a:r>
                  <a:rPr lang="en-US" altLang="zh-CN" sz="1600" b="0" i="0" smtClean="0">
                    <a:latin typeface="Cambria Math" charset="0"/>
                  </a:rPr>
                  <a:t>𝑃=</a:t>
                </a:r>
                <a:r>
                  <a:rPr lang="en-US" altLang="zh-CN" sz="1600" b="0" i="0" smtClean="0">
                    <a:latin typeface="Cambria Math" charset="0"/>
                  </a:rPr>
                  <a:t>2𝑙/𝜋𝑑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接下来</a:t>
                </a:r>
                <a:r>
                  <a:rPr lang="zh-CN" altLang="en-US" sz="1600" dirty="0" smtClean="0"/>
                  <a:t>用这个公式来近似求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</a:t>
                </a:r>
              </a:p>
              <a:p>
                <a:r>
                  <a:rPr lang="zh-CN" altLang="en-US" sz="1600" dirty="0" smtClean="0"/>
                  <a:t>随机往纸上扔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根针。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</a:t>
                </a:r>
              </a:p>
              <a:p>
                <a:r>
                  <a:rPr lang="zh-CN" altLang="en-US" sz="1600" dirty="0" smtClean="0"/>
                  <a:t>每根针 与平行线相交的概率都是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，所以 期望有 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 乘以 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 根针与平行线相交。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当然，这只是期望，与真实观测可能不一样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9664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randomly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throw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 needle onto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paper, and repeat this process n times.</a:t>
                </a:r>
              </a:p>
              <a:p>
                <a:r>
                  <a:rPr lang="en-US" altLang="zh-CN" sz="1600" baseline="0" dirty="0"/>
                  <a:t>===============</a:t>
                </a:r>
              </a:p>
              <a:p>
                <a:r>
                  <a:rPr lang="en-US" altLang="zh-CN" sz="1600" baseline="0" dirty="0"/>
                  <a:t>Each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needle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lies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across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line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with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probability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P.</a:t>
                </a:r>
              </a:p>
              <a:p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experiment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repeated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times, </a:t>
                </a:r>
              </a:p>
              <a:p>
                <a:r>
                  <a:rPr lang="en-US" altLang="zh-CN" sz="1600" baseline="0" dirty="0"/>
                  <a:t>===============</a:t>
                </a:r>
              </a:p>
              <a:p>
                <a:r>
                  <a:rPr lang="en-US" altLang="zh-CN" sz="1600" baseline="0" dirty="0"/>
                  <a:t>so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expectation,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 err="1"/>
                  <a:t>Pn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needles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lie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across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lines.</a:t>
                </a:r>
              </a:p>
              <a:p>
                <a:r>
                  <a:rPr lang="en-US" altLang="zh-CN" sz="1600" baseline="0" dirty="0"/>
                  <a:t>Using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probability P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derived,</a:t>
                </a:r>
                <a:r>
                  <a:rPr lang="zh-CN" altLang="en-US" sz="1600" baseline="0" dirty="0"/>
                  <a:t> </a:t>
                </a:r>
                <a:endParaRPr lang="en-US" altLang="zh-CN" sz="1600" baseline="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</a:t>
                </a:r>
              </a:p>
              <a:p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have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𝑃</m:t>
                    </m:r>
                    <m:r>
                      <a:rPr lang="en-US" altLang="zh-CN" sz="1600" i="1" dirty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  <m:r>
                      <a:rPr lang="en-US" altLang="zh-CN" sz="160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  <m:r>
                          <a:rPr lang="en-US" altLang="zh-CN" sz="1600" i="1">
                            <a:latin typeface="Cambria Math" charset="0"/>
                          </a:rPr>
                          <m:t>𝑙𝑛</m:t>
                        </m:r>
                      </m:num>
                      <m:den>
                        <m:r>
                          <a:rPr lang="en-US" altLang="zh-CN" sz="1600" i="1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1600" i="1">
                            <a:latin typeface="Cambria Math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altLang="zh-CN" sz="1600" baseline="0" dirty="0"/>
                  <a:t>.</a:t>
                </a:r>
              </a:p>
              <a:p>
                <a:r>
                  <a:rPr lang="en-US" altLang="zh-CN" sz="1600" baseline="0" dirty="0"/>
                  <a:t>This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expectation.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随机往纸上扔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根针。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</a:t>
                </a:r>
              </a:p>
              <a:p>
                <a:r>
                  <a:rPr lang="zh-CN" altLang="en-US" sz="1600" dirty="0"/>
                  <a:t>每根针 与平行线相交的概率都是</a:t>
                </a:r>
                <a:r>
                  <a:rPr lang="en-US" altLang="zh-CN" sz="1600" dirty="0"/>
                  <a:t>P</a:t>
                </a:r>
                <a:r>
                  <a:rPr lang="zh-CN" altLang="en-US" sz="1600" dirty="0"/>
                  <a:t>，所以 期望有 </a:t>
                </a:r>
                <a:r>
                  <a:rPr lang="en-US" altLang="zh-CN" sz="1600" dirty="0"/>
                  <a:t>P</a:t>
                </a:r>
                <a:r>
                  <a:rPr lang="zh-CN" altLang="en-US" sz="1600" dirty="0"/>
                  <a:t> 乘以 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 根针与平行线相交。</a:t>
                </a:r>
                <a:endParaRPr lang="en-US" altLang="zh-CN" sz="1600" dirty="0"/>
              </a:p>
              <a:p>
                <a:r>
                  <a:rPr lang="zh-CN" altLang="en-US" sz="1600" dirty="0"/>
                  <a:t>当然，这只是期望，与真实观测可能不一样。</a:t>
                </a: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have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derived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probability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𝑃=</a:t>
                </a:r>
                <a:r>
                  <a:rPr lang="en-US" altLang="zh-CN" sz="1600" b="0" i="0" smtClean="0">
                    <a:latin typeface="Cambria Math" charset="0"/>
                  </a:rPr>
                  <a:t>2𝑙/𝜋𝑑</a:t>
                </a:r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Now,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let’s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use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calculating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pi.</a:t>
                </a:r>
              </a:p>
              <a:p>
                <a:r>
                  <a:rPr lang="en-US" altLang="zh-CN" sz="1600" baseline="0" dirty="0" smtClean="0"/>
                  <a:t>=======</a:t>
                </a:r>
              </a:p>
              <a:p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throw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needles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paper.</a:t>
                </a:r>
              </a:p>
              <a:p>
                <a:r>
                  <a:rPr lang="en-US" altLang="zh-CN" sz="1600" baseline="0" dirty="0" smtClean="0"/>
                  <a:t>=======</a:t>
                </a:r>
              </a:p>
              <a:p>
                <a:r>
                  <a:rPr lang="en-US" altLang="zh-CN" sz="1600" baseline="0" dirty="0" smtClean="0"/>
                  <a:t>Each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needle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lie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across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line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with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experiment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repeated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times.</a:t>
                </a:r>
              </a:p>
              <a:p>
                <a:r>
                  <a:rPr lang="en-US" altLang="zh-CN" sz="1600" baseline="0" dirty="0" smtClean="0"/>
                  <a:t>Thus,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expectation,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err="1" smtClean="0"/>
                  <a:t>Pn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needles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lie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across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lines.</a:t>
                </a:r>
              </a:p>
              <a:p>
                <a:r>
                  <a:rPr lang="en-US" altLang="zh-CN" sz="1600" baseline="0" dirty="0" smtClean="0"/>
                  <a:t>Using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derived,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have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i="0" smtClean="0">
                    <a:latin typeface="Cambria Math" charset="0"/>
                  </a:rPr>
                  <a:t>𝑃</a:t>
                </a:r>
                <a:r>
                  <a:rPr lang="en-US" altLang="zh-CN" sz="1600" i="0" dirty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en-US" altLang="zh-CN" sz="1600" i="0" smtClean="0">
                    <a:latin typeface="Cambria Math" charset="0"/>
                  </a:rPr>
                  <a:t>=</a:t>
                </a:r>
                <a:r>
                  <a:rPr lang="en-US" altLang="zh-CN" sz="1600" i="0">
                    <a:latin typeface="Cambria Math" charset="0"/>
                  </a:rPr>
                  <a:t>2𝑙𝑛/𝜋𝑑</a:t>
                </a:r>
                <a:r>
                  <a:rPr lang="en-US" altLang="zh-CN" sz="1600" baseline="0" dirty="0" smtClean="0"/>
                  <a:t>.</a:t>
                </a:r>
              </a:p>
              <a:p>
                <a:r>
                  <a:rPr lang="en-US" altLang="zh-CN" sz="1600" baseline="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expectation.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我们刚才推导出了这个概率</a:t>
                </a:r>
                <a:r>
                  <a:rPr lang="en-US" altLang="zh-CN" sz="1600" b="0" i="0" smtClean="0">
                    <a:latin typeface="Cambria Math" charset="0"/>
                  </a:rPr>
                  <a:t>𝑃=</a:t>
                </a:r>
                <a:r>
                  <a:rPr lang="en-US" altLang="zh-CN" sz="1600" b="0" i="0" smtClean="0">
                    <a:latin typeface="Cambria Math" charset="0"/>
                  </a:rPr>
                  <a:t>2𝑙/𝜋𝑑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接下来</a:t>
                </a:r>
                <a:r>
                  <a:rPr lang="zh-CN" altLang="en-US" sz="1600" dirty="0" smtClean="0"/>
                  <a:t>用这个公式来近似求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</a:t>
                </a:r>
              </a:p>
              <a:p>
                <a:r>
                  <a:rPr lang="zh-CN" altLang="en-US" sz="1600" dirty="0" smtClean="0"/>
                  <a:t>随机往纸上扔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根针。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</a:t>
                </a:r>
              </a:p>
              <a:p>
                <a:r>
                  <a:rPr lang="zh-CN" altLang="en-US" sz="1600" dirty="0" smtClean="0"/>
                  <a:t>每根针 与平行线相交的概率都是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，所以 期望有 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 乘以 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 根针与平行线相交。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当然，这只是期望，与真实观测可能不一样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173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Suppose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observe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needles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across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lines.</a:t>
                </a:r>
              </a:p>
              <a:p>
                <a:r>
                  <a:rPr lang="en-US" altLang="zh-CN" sz="1600" dirty="0"/>
                  <a:t>======</a:t>
                </a:r>
              </a:p>
              <a:p>
                <a:r>
                  <a:rPr lang="en-US" altLang="zh-CN" sz="1600" dirty="0"/>
                  <a:t>If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big,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actual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observation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should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be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close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expectation.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</a:t>
                </a:r>
              </a:p>
              <a:p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expectation is the </a:t>
                </a:r>
                <a:r>
                  <a:rPr lang="en-US" altLang="zh-CN" sz="1600" dirty="0"/>
                  <a:t>right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side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equation.</a:t>
                </a:r>
                <a:endParaRPr lang="en-US" altLang="zh-CN" sz="1600" dirty="0"/>
              </a:p>
              <a:p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use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equation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for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estimating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pi.</a:t>
                </a:r>
              </a:p>
              <a:p>
                <a:r>
                  <a:rPr lang="en-US" altLang="zh-CN" sz="1600" dirty="0"/>
                  <a:t>------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Let’s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move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denominator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Pi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numerator.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扔完针之后自己去数一下，发现一共有</a:t>
                </a:r>
                <a:r>
                  <a:rPr lang="en-US" altLang="zh-CN" sz="1600" dirty="0"/>
                  <a:t>m</a:t>
                </a:r>
                <a:r>
                  <a:rPr lang="zh-CN" altLang="en-US" sz="1600" dirty="0"/>
                  <a:t>跟针与平行线相交。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</a:t>
                </a:r>
              </a:p>
              <a:p>
                <a:r>
                  <a:rPr lang="zh-CN" altLang="en-US" sz="1600" dirty="0"/>
                  <a:t>如果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足够大，那么真实观测值</a:t>
                </a:r>
                <a:r>
                  <a:rPr lang="en-US" altLang="zh-CN" sz="1600" dirty="0"/>
                  <a:t>m</a:t>
                </a:r>
                <a:r>
                  <a:rPr lang="zh-CN" altLang="en-US" sz="1600" dirty="0"/>
                  <a:t> 就会很接近期望值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  <m:r>
                          <a:rPr lang="zh-CN" altLang="en-US" sz="16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1600" i="1">
                            <a:latin typeface="Cambria Math" charset="0"/>
                          </a:rPr>
                          <m:t>𝑙</m:t>
                        </m:r>
                        <m:r>
                          <a:rPr lang="zh-CN" altLang="en-US" sz="16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1600" i="1">
                            <a:latin typeface="Cambria Math" charset="0"/>
                          </a:rPr>
                          <m:t>𝜋</m:t>
                        </m:r>
                        <m:r>
                          <a:rPr lang="zh-CN" altLang="en-US" sz="16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1600" i="1">
                            <a:latin typeface="Cambria Math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可以拿这个公式来近似</a:t>
                </a:r>
                <a:r>
                  <a:rPr lang="en-US" altLang="zh-CN" sz="1600" dirty="0"/>
                  <a:t>pi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扔完针之后自己去数一下，发现一共有</a:t>
                </a:r>
                <a:r>
                  <a:rPr lang="en-US" altLang="zh-CN" sz="1600" dirty="0" smtClean="0"/>
                  <a:t>m</a:t>
                </a:r>
                <a:r>
                  <a:rPr lang="zh-CN" altLang="en-US" sz="1600" dirty="0" smtClean="0"/>
                  <a:t>跟针与平行线相交。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</a:t>
                </a:r>
              </a:p>
              <a:p>
                <a:r>
                  <a:rPr lang="zh-CN" altLang="en-US" sz="1600" dirty="0" smtClean="0"/>
                  <a:t>如果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足够大，那么真实观测值</a:t>
                </a:r>
                <a:r>
                  <a:rPr lang="en-US" altLang="zh-CN" sz="1600" dirty="0" smtClean="0"/>
                  <a:t>m</a:t>
                </a:r>
                <a:r>
                  <a:rPr lang="zh-CN" altLang="en-US" sz="1600" dirty="0" smtClean="0"/>
                  <a:t> 就会很接近期望值。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越大，两者越接近。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可以拿这个公式来近似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</a:t>
                </a:r>
              </a:p>
              <a:p>
                <a:r>
                  <a:rPr lang="zh-CN" altLang="en-US" sz="1600" dirty="0" smtClean="0"/>
                  <a:t>把公式变换一下，把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从分母 移到等式左边，得到这个求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公式：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i="0" smtClean="0">
                    <a:latin typeface="Cambria Math" charset="0"/>
                  </a:rPr>
                  <a:t>𝜋</a:t>
                </a:r>
                <a:r>
                  <a:rPr lang="en-US" altLang="zh-CN" sz="1600" b="0" i="0" smtClean="0">
                    <a:latin typeface="Cambria Math" charset="0"/>
                  </a:rPr>
                  <a:t>≈(𝑑</a:t>
                </a:r>
                <a:r>
                  <a:rPr lang="zh-CN" altLang="en-US" sz="1600" b="0" i="0" smtClean="0">
                    <a:latin typeface="Cambria Math" charset="0"/>
                  </a:rPr>
                  <a:t> </a:t>
                </a:r>
                <a:r>
                  <a:rPr lang="en-US" altLang="zh-CN" sz="1600" b="0" i="0" smtClean="0">
                    <a:solidFill>
                      <a:srgbClr val="C00000"/>
                    </a:solidFill>
                    <a:latin typeface="Cambria Math" charset="0"/>
                  </a:rPr>
                  <a:t>𝑚)/(</a:t>
                </a:r>
                <a:r>
                  <a:rPr lang="en-US" altLang="zh-CN" sz="1600" b="0" i="0" smtClean="0">
                    <a:latin typeface="Cambria Math" charset="0"/>
                  </a:rPr>
                  <a:t>2</a:t>
                </a:r>
                <a:r>
                  <a:rPr lang="zh-CN" altLang="en-US" sz="1600" b="0" i="0" smtClean="0">
                    <a:latin typeface="Cambria Math" charset="0"/>
                  </a:rPr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𝑙</a:t>
                </a:r>
                <a:r>
                  <a:rPr lang="zh-CN" altLang="en-US" sz="1600" b="0" i="0" smtClean="0">
                    <a:latin typeface="Cambria Math" charset="0"/>
                  </a:rPr>
                  <a:t> </a:t>
                </a:r>
                <a:r>
                  <a:rPr lang="en-US" altLang="zh-CN" sz="1600" b="0" i="0" smtClean="0">
                    <a:solidFill>
                      <a:srgbClr val="C00000"/>
                    </a:solidFill>
                    <a:latin typeface="Cambria Math" charset="0"/>
                  </a:rPr>
                  <a:t>𝑛)</a:t>
                </a:r>
                <a:r>
                  <a:rPr lang="zh-CN" altLang="en-US" sz="1600" dirty="0" smtClean="0"/>
                  <a:t> 。</a:t>
                </a:r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021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/>
                  <a:t>Then,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obtain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equation.</a:t>
                </a:r>
              </a:p>
              <a:p>
                <a:r>
                  <a:rPr lang="en-US" altLang="zh-CN" sz="1600" i="0" dirty="0">
                    <a:latin typeface="Cambria Math" charset="0"/>
                  </a:rPr>
                  <a:t>𝜋</a:t>
                </a:r>
                <a:r>
                  <a:rPr lang="zh-CN" altLang="en-US" sz="1600" i="0" dirty="0">
                    <a:latin typeface="Cambria Math" charset="0"/>
                  </a:rPr>
                  <a:t> </a:t>
                </a:r>
                <a:r>
                  <a:rPr lang="en-US" altLang="zh-CN" sz="1600" i="0" dirty="0">
                    <a:latin typeface="Cambria Math" charset="0"/>
                  </a:rPr>
                  <a:t>is</a:t>
                </a:r>
                <a:r>
                  <a:rPr lang="zh-CN" altLang="en-US" sz="1600" i="0" dirty="0">
                    <a:latin typeface="Cambria Math" charset="0"/>
                  </a:rPr>
                  <a:t> </a:t>
                </a:r>
                <a:r>
                  <a:rPr lang="en-US" altLang="zh-CN" sz="1600" i="0" dirty="0">
                    <a:latin typeface="Cambria Math" charset="0"/>
                  </a:rPr>
                  <a:t>approximately</a:t>
                </a:r>
                <a:r>
                  <a:rPr lang="zh-CN" altLang="en-US" sz="1600" i="0" baseline="0" dirty="0">
                    <a:latin typeface="Cambria Math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  <m:r>
                          <a:rPr lang="zh-CN" altLang="en-US" sz="1600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1600" i="1">
                            <a:latin typeface="Cambria Math" charset="0"/>
                          </a:rPr>
                          <m:t>𝑙</m:t>
                        </m:r>
                        <m:r>
                          <a:rPr lang="zh-CN" altLang="en-US" sz="1600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1600" i="1">
                            <a:latin typeface="Cambria Math" charset="0"/>
                          </a:rPr>
                          <m:t>𝑑</m:t>
                        </m:r>
                        <m:r>
                          <a:rPr lang="zh-CN" altLang="en-US" sz="16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1600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altLang="zh-CN" sz="1600" baseline="0" dirty="0"/>
                  <a:t>.</a:t>
                </a:r>
              </a:p>
              <a:p>
                <a:r>
                  <a:rPr lang="en-US" altLang="zh-CN" sz="1600" baseline="0" dirty="0"/>
                  <a:t>Using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obtain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estimate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Pi.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把公式变换一下，把</a:t>
                </a:r>
                <a:r>
                  <a:rPr lang="en-US" altLang="zh-CN" sz="1600" dirty="0"/>
                  <a:t>pi</a:t>
                </a:r>
                <a:r>
                  <a:rPr lang="zh-CN" altLang="en-US" sz="1600" dirty="0"/>
                  <a:t>从分母 移到等式左边，得到这个求</a:t>
                </a:r>
                <a:r>
                  <a:rPr lang="en-US" altLang="zh-CN" sz="1600" dirty="0"/>
                  <a:t>pi</a:t>
                </a:r>
                <a:r>
                  <a:rPr lang="zh-CN" altLang="en-US" sz="1600" dirty="0"/>
                  <a:t>公式：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𝜋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≈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  <m:r>
                          <a:rPr lang="zh-CN" altLang="en-US" sz="1600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1600" i="1">
                            <a:latin typeface="Cambria Math" charset="0"/>
                          </a:rPr>
                          <m:t>𝑙</m:t>
                        </m:r>
                        <m:r>
                          <a:rPr lang="zh-CN" altLang="en-US" sz="1600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1600" i="1">
                            <a:latin typeface="Cambria Math" charset="0"/>
                          </a:rPr>
                          <m:t>𝑑</m:t>
                        </m:r>
                        <m:r>
                          <a:rPr lang="zh-CN" altLang="en-US" sz="16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1600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我们知道距离</a:t>
                </a:r>
                <a:r>
                  <a:rPr lang="en-US" altLang="zh-CN" sz="1600" dirty="0"/>
                  <a:t>d</a:t>
                </a:r>
                <a:r>
                  <a:rPr lang="zh-CN" altLang="en-US" sz="1600" dirty="0"/>
                  <a:t>、针的长度 </a:t>
                </a:r>
                <a:r>
                  <a:rPr lang="en-US" altLang="zh-CN" sz="1600" dirty="0"/>
                  <a:t>l</a:t>
                </a:r>
                <a:r>
                  <a:rPr lang="zh-CN" altLang="en-US" sz="1600" dirty="0"/>
                  <a:t>、观测值 </a:t>
                </a:r>
                <a:r>
                  <a:rPr lang="en-US" altLang="zh-CN" sz="1600" dirty="0"/>
                  <a:t>m</a:t>
                </a:r>
                <a:r>
                  <a:rPr lang="zh-CN" altLang="en-US" sz="1600" dirty="0"/>
                  <a:t>、以及针的总数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所以，</a:t>
                </a:r>
                <a:r>
                  <a:rPr lang="zh-CN" altLang="en-US" sz="1600" baseline="0" dirty="0"/>
                  <a:t>我们可以估算出</a:t>
                </a:r>
                <a:r>
                  <a:rPr lang="en-US" altLang="zh-CN" sz="1600" baseline="0" dirty="0"/>
                  <a:t>Pi</a:t>
                </a:r>
                <a:r>
                  <a:rPr lang="zh-CN" altLang="en-US" sz="1600" baseline="0" dirty="0"/>
                  <a:t>值。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扔完针之后自己去数一下，发现一共有</a:t>
                </a:r>
                <a:r>
                  <a:rPr lang="en-US" altLang="zh-CN" sz="1600" dirty="0" smtClean="0"/>
                  <a:t>m</a:t>
                </a:r>
                <a:r>
                  <a:rPr lang="zh-CN" altLang="en-US" sz="1600" dirty="0" smtClean="0"/>
                  <a:t>跟针与平行线相交。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</a:t>
                </a:r>
              </a:p>
              <a:p>
                <a:r>
                  <a:rPr lang="zh-CN" altLang="en-US" sz="1600" dirty="0" smtClean="0"/>
                  <a:t>如果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足够大，那么真实观测值</a:t>
                </a:r>
                <a:r>
                  <a:rPr lang="en-US" altLang="zh-CN" sz="1600" dirty="0" smtClean="0"/>
                  <a:t>m</a:t>
                </a:r>
                <a:r>
                  <a:rPr lang="zh-CN" altLang="en-US" sz="1600" dirty="0" smtClean="0"/>
                  <a:t> 就会很接近期望值。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越大，两者越接近。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可以拿这个公式来近似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</a:t>
                </a:r>
              </a:p>
              <a:p>
                <a:r>
                  <a:rPr lang="zh-CN" altLang="en-US" sz="1600" dirty="0" smtClean="0"/>
                  <a:t>把公式变换一下，把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从分母 移到等式左边，得到这个求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公式：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i="0" smtClean="0">
                    <a:latin typeface="Cambria Math" charset="0"/>
                  </a:rPr>
                  <a:t>𝜋</a:t>
                </a:r>
                <a:r>
                  <a:rPr lang="en-US" altLang="zh-CN" sz="1600" b="0" i="0" smtClean="0">
                    <a:latin typeface="Cambria Math" charset="0"/>
                  </a:rPr>
                  <a:t>≈(𝑑</a:t>
                </a:r>
                <a:r>
                  <a:rPr lang="zh-CN" altLang="en-US" sz="1600" b="0" i="0" smtClean="0">
                    <a:latin typeface="Cambria Math" charset="0"/>
                  </a:rPr>
                  <a:t> </a:t>
                </a:r>
                <a:r>
                  <a:rPr lang="en-US" altLang="zh-CN" sz="1600" b="0" i="0" smtClean="0">
                    <a:solidFill>
                      <a:srgbClr val="C00000"/>
                    </a:solidFill>
                    <a:latin typeface="Cambria Math" charset="0"/>
                  </a:rPr>
                  <a:t>𝑚)/(</a:t>
                </a:r>
                <a:r>
                  <a:rPr lang="en-US" altLang="zh-CN" sz="1600" b="0" i="0" smtClean="0">
                    <a:latin typeface="Cambria Math" charset="0"/>
                  </a:rPr>
                  <a:t>2</a:t>
                </a:r>
                <a:r>
                  <a:rPr lang="zh-CN" altLang="en-US" sz="1600" b="0" i="0" smtClean="0">
                    <a:latin typeface="Cambria Math" charset="0"/>
                  </a:rPr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𝑙</a:t>
                </a:r>
                <a:r>
                  <a:rPr lang="zh-CN" altLang="en-US" sz="1600" b="0" i="0" smtClean="0">
                    <a:latin typeface="Cambria Math" charset="0"/>
                  </a:rPr>
                  <a:t> </a:t>
                </a:r>
                <a:r>
                  <a:rPr lang="en-US" altLang="zh-CN" sz="1600" b="0" i="0" smtClean="0">
                    <a:solidFill>
                      <a:srgbClr val="C00000"/>
                    </a:solidFill>
                    <a:latin typeface="Cambria Math" charset="0"/>
                  </a:rPr>
                  <a:t>𝑛)</a:t>
                </a:r>
                <a:r>
                  <a:rPr lang="zh-CN" altLang="en-US" sz="1600" dirty="0" smtClean="0"/>
                  <a:t> 。</a:t>
                </a:r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008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/>
              <a:t>Many </a:t>
            </a:r>
            <a:r>
              <a:rPr lang="en-US" altLang="zh-CN" sz="1600" baseline="0" dirty="0"/>
              <a:t>people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have conducted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experiments.</a:t>
            </a:r>
          </a:p>
          <a:p>
            <a:r>
              <a:rPr lang="en-US" altLang="zh-CN" sz="1600" baseline="0" dirty="0"/>
              <a:t>They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have thrown hundreds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even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thousands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needles.</a:t>
            </a:r>
          </a:p>
          <a:p>
            <a:r>
              <a:rPr lang="en-US" altLang="zh-CN" sz="1600" baseline="0" dirty="0"/>
              <a:t>Their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estimates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of π are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not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far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from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3.14.</a:t>
            </a:r>
          </a:p>
          <a:p>
            <a:r>
              <a:rPr lang="en-US" altLang="zh-CN" sz="1600" baseline="0" dirty="0"/>
              <a:t>-----</a:t>
            </a:r>
          </a:p>
          <a:p>
            <a:r>
              <a:rPr lang="en-US" altLang="zh-CN" sz="1600" baseline="0" dirty="0"/>
              <a:t>I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guess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were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rich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people.</a:t>
            </a:r>
          </a:p>
          <a:p>
            <a:r>
              <a:rPr lang="en-US" altLang="zh-CN" sz="1600" baseline="0" dirty="0"/>
              <a:t>They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don’t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need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work,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have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time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throw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thousands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needles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verify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known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result.</a:t>
            </a:r>
          </a:p>
          <a:p>
            <a:r>
              <a:rPr lang="en-US" altLang="zh-CN" sz="1600" baseline="0" dirty="0"/>
              <a:t>If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were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even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richer,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could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hire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more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people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throw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needles,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maybe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for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million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times.</a:t>
            </a:r>
          </a:p>
          <a:p>
            <a:r>
              <a:rPr lang="en-US" altLang="zh-CN" sz="1600" baseline="0" dirty="0"/>
              <a:t>Then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estimate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will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be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more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accurate.</a:t>
            </a:r>
          </a:p>
          <a:p>
            <a:r>
              <a:rPr lang="en-US" altLang="zh-CN" sz="1600" baseline="0" dirty="0"/>
              <a:t>======================</a:t>
            </a:r>
          </a:p>
          <a:p>
            <a:r>
              <a:rPr lang="en-US" altLang="zh-CN" sz="1600" baseline="0" dirty="0"/>
              <a:t>Among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them,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guy’s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result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too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good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believe.</a:t>
            </a:r>
            <a:r>
              <a:rPr lang="zh-CN" altLang="en-US" sz="1600" baseline="0" dirty="0"/>
              <a:t> </a:t>
            </a:r>
            <a:endParaRPr lang="en-US" altLang="zh-CN" sz="1600" baseline="0" dirty="0"/>
          </a:p>
          <a:p>
            <a:r>
              <a:rPr lang="en-US" altLang="zh-CN" sz="1600" baseline="0" dirty="0"/>
              <a:t>People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don’t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trust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his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result.</a:t>
            </a:r>
          </a:p>
          <a:p>
            <a:r>
              <a:rPr lang="en-US" altLang="zh-CN" sz="1600" baseline="0" dirty="0"/>
              <a:t>Concentration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inequalities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show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that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convergence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rate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square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root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n.</a:t>
            </a:r>
          </a:p>
          <a:p>
            <a:r>
              <a:rPr lang="en-US" altLang="zh-CN" sz="1600" baseline="0" dirty="0"/>
              <a:t>It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means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becomes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one million times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larger,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error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one thousand times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smaller.</a:t>
            </a:r>
          </a:p>
          <a:p>
            <a:r>
              <a:rPr lang="en-US" altLang="zh-CN" sz="1600" baseline="0" dirty="0"/>
              <a:t>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repeated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experiment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only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34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hundred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times.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/>
              <a:t>======================</a:t>
            </a:r>
          </a:p>
          <a:p>
            <a:r>
              <a:rPr lang="en-US" altLang="zh-CN" sz="1600" baseline="0" dirty="0"/>
              <a:t>Even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repeated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experiment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billion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times,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precision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could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not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be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that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high.</a:t>
            </a:r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历史上真的有很多闲的蛋疼的人，不用去工作，成天在家里投针。</a:t>
            </a:r>
            <a:endParaRPr lang="en-US" altLang="zh-CN" sz="1600" dirty="0"/>
          </a:p>
          <a:p>
            <a:r>
              <a:rPr lang="zh-CN" altLang="en-US" sz="1600" dirty="0"/>
              <a:t>这些人做了好几千次试验，然后用实验结果计算</a:t>
            </a:r>
            <a:r>
              <a:rPr lang="en-US" altLang="zh-CN" sz="1600" dirty="0"/>
              <a:t>pi</a:t>
            </a:r>
            <a:r>
              <a:rPr lang="zh-CN" altLang="en-US" sz="1600" dirty="0"/>
              <a:t>，得到这些数值。</a:t>
            </a:r>
            <a:endParaRPr lang="en-US" altLang="zh-CN" sz="1600" dirty="0"/>
          </a:p>
          <a:p>
            <a:r>
              <a:rPr lang="zh-CN" altLang="en-US" sz="1600" dirty="0"/>
              <a:t>他们发现算出来的结果真的很接近</a:t>
            </a:r>
            <a:r>
              <a:rPr lang="en-US" altLang="zh-CN" sz="1600" dirty="0"/>
              <a:t>pi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r>
              <a:rPr lang="en-US" altLang="zh-CN" sz="1600" baseline="0" dirty="0"/>
              <a:t>======================</a:t>
            </a:r>
          </a:p>
          <a:p>
            <a:r>
              <a:rPr lang="zh-CN" altLang="en-US" sz="1600" dirty="0"/>
              <a:t>这个人的结果是</a:t>
            </a:r>
            <a:r>
              <a:rPr lang="hr-HR" sz="1600" i="0" dirty="0">
                <a:solidFill>
                  <a:srgbClr val="333333"/>
                </a:solidFill>
                <a:effectLst/>
              </a:rPr>
              <a:t>3.1415929</a:t>
            </a:r>
            <a:r>
              <a:rPr lang="zh-CN" altLang="en-US" sz="1600" i="0" dirty="0">
                <a:solidFill>
                  <a:srgbClr val="333333"/>
                </a:solidFill>
                <a:effectLst/>
              </a:rPr>
              <a:t>，过于接近 </a:t>
            </a:r>
            <a:r>
              <a:rPr lang="en-US" altLang="zh-CN" sz="1600" i="0" dirty="0">
                <a:solidFill>
                  <a:srgbClr val="333333"/>
                </a:solidFill>
                <a:effectLst/>
              </a:rPr>
              <a:t>Pi</a:t>
            </a:r>
            <a:r>
              <a:rPr lang="zh-CN" altLang="en-US" sz="1600" i="0" dirty="0">
                <a:solidFill>
                  <a:srgbClr val="333333"/>
                </a:solidFill>
                <a:effectLst/>
              </a:rPr>
              <a:t>，大家不信他的结果。</a:t>
            </a:r>
            <a:endParaRPr lang="en-US" altLang="zh-CN" sz="1600" dirty="0"/>
          </a:p>
          <a:p>
            <a:r>
              <a:rPr lang="zh-CN" altLang="en-US" sz="1600" dirty="0"/>
              <a:t>现在有概率不等式，我们知道精度反比于根号</a:t>
            </a:r>
            <a:r>
              <a:rPr lang="en-US" altLang="zh-CN" sz="1600" dirty="0"/>
              <a:t>n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r>
              <a:rPr lang="en-US" altLang="zh-CN" sz="1600" dirty="0"/>
              <a:t>----</a:t>
            </a:r>
          </a:p>
          <a:p>
            <a:r>
              <a:rPr lang="zh-CN" altLang="en-US" sz="1600" dirty="0"/>
              <a:t>重复实验 </a:t>
            </a:r>
            <a:r>
              <a:rPr lang="en-US" altLang="zh-CN" sz="1600" dirty="0"/>
              <a:t>n</a:t>
            </a:r>
            <a:r>
              <a:rPr lang="zh-CN" altLang="en-US" sz="1600" dirty="0"/>
              <a:t> 等于 </a:t>
            </a:r>
            <a:r>
              <a:rPr lang="is-IS" sz="1600" i="0" dirty="0">
                <a:solidFill>
                  <a:srgbClr val="333333"/>
                </a:solidFill>
                <a:effectLst/>
              </a:rPr>
              <a:t>3408</a:t>
            </a:r>
            <a:r>
              <a:rPr lang="zh-CN" altLang="en-US" sz="1600" i="0" dirty="0">
                <a:solidFill>
                  <a:srgbClr val="333333"/>
                </a:solidFill>
                <a:effectLst/>
              </a:rPr>
              <a:t>次，那么根号</a:t>
            </a:r>
            <a:r>
              <a:rPr lang="en-US" altLang="zh-CN" sz="1600" i="0" dirty="0">
                <a:solidFill>
                  <a:srgbClr val="333333"/>
                </a:solidFill>
                <a:effectLst/>
              </a:rPr>
              <a:t>n</a:t>
            </a:r>
            <a:r>
              <a:rPr lang="zh-CN" altLang="en-US" sz="1600" i="0" dirty="0">
                <a:solidFill>
                  <a:srgbClr val="333333"/>
                </a:solidFill>
                <a:effectLst/>
              </a:rPr>
              <a:t>等于不到</a:t>
            </a:r>
            <a:r>
              <a:rPr lang="en-US" altLang="zh-CN" sz="1600" i="0" dirty="0">
                <a:solidFill>
                  <a:srgbClr val="333333"/>
                </a:solidFill>
                <a:effectLst/>
              </a:rPr>
              <a:t>60</a:t>
            </a:r>
            <a:r>
              <a:rPr lang="zh-CN" altLang="en-US" sz="1600" i="0" dirty="0">
                <a:solidFill>
                  <a:srgbClr val="333333"/>
                </a:solidFill>
                <a:effectLst/>
              </a:rPr>
              <a:t>。</a:t>
            </a:r>
            <a:endParaRPr lang="en-US" altLang="zh-CN" sz="1600" i="0" dirty="0">
              <a:solidFill>
                <a:srgbClr val="333333"/>
              </a:solidFill>
              <a:effectLst/>
            </a:endParaRPr>
          </a:p>
          <a:p>
            <a:r>
              <a:rPr lang="zh-CN" altLang="en-US" sz="1600" i="0" dirty="0">
                <a:solidFill>
                  <a:srgbClr val="333333"/>
                </a:solidFill>
                <a:effectLst/>
              </a:rPr>
              <a:t>根号</a:t>
            </a:r>
            <a:r>
              <a:rPr lang="en-US" altLang="zh-CN" sz="1600" i="0" dirty="0">
                <a:solidFill>
                  <a:srgbClr val="333333"/>
                </a:solidFill>
                <a:effectLst/>
              </a:rPr>
              <a:t>n</a:t>
            </a:r>
            <a:r>
              <a:rPr lang="zh-CN" altLang="en-US" sz="1600" i="0" dirty="0">
                <a:solidFill>
                  <a:srgbClr val="333333"/>
                </a:solidFill>
                <a:effectLst/>
              </a:rPr>
              <a:t>分之一的精度，顶多也就是小数点后一两位的精度，不可能像他那样到小数点后</a:t>
            </a:r>
            <a:r>
              <a:rPr lang="en-US" altLang="zh-CN" sz="1600" i="0" dirty="0">
                <a:solidFill>
                  <a:srgbClr val="333333"/>
                </a:solidFill>
                <a:effectLst/>
              </a:rPr>
              <a:t>6</a:t>
            </a:r>
            <a:r>
              <a:rPr lang="zh-CN" altLang="en-US" sz="1600" i="0" dirty="0">
                <a:solidFill>
                  <a:srgbClr val="333333"/>
                </a:solidFill>
                <a:effectLst/>
              </a:rPr>
              <a:t>位。</a:t>
            </a:r>
            <a:endParaRPr lang="en-US" altLang="zh-CN" sz="1600" i="0" dirty="0">
              <a:solidFill>
                <a:srgbClr val="333333"/>
              </a:solidFill>
              <a:effectLst/>
            </a:endParaRPr>
          </a:p>
          <a:p>
            <a:r>
              <a:rPr lang="zh-CN" altLang="en-US" sz="1600" i="0" dirty="0">
                <a:solidFill>
                  <a:srgbClr val="333333"/>
                </a:solidFill>
                <a:effectLst/>
              </a:rPr>
              <a:t>就算重复实验一亿次也达不到他这么高的精度。</a:t>
            </a:r>
            <a:endParaRPr lang="en-US" sz="1600" dirty="0"/>
          </a:p>
          <a:p>
            <a:r>
              <a:rPr lang="en-US" altLang="zh-CN" sz="1600" dirty="0"/>
              <a:t>-----</a:t>
            </a:r>
          </a:p>
          <a:p>
            <a:r>
              <a:rPr lang="zh-CN" altLang="en-US" sz="1600" dirty="0"/>
              <a:t>这告诉我们学好概率不等式非常有用。</a:t>
            </a:r>
            <a:endParaRPr lang="en-US" altLang="zh-CN" sz="1600" dirty="0"/>
          </a:p>
          <a:p>
            <a:r>
              <a:rPr lang="zh-CN" altLang="en-US" sz="1600" dirty="0"/>
              <a:t>如果你姿势水平很高，会用概率不等式，那么你造假也可以按照基本法来，不会被识破。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8121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/>
              <a:t>You</a:t>
            </a:r>
            <a:r>
              <a:rPr lang="zh-CN" altLang="en-US" sz="1600" dirty="0"/>
              <a:t> </a:t>
            </a:r>
            <a:r>
              <a:rPr lang="en-US" altLang="zh-CN" sz="1600" dirty="0"/>
              <a:t>can</a:t>
            </a:r>
            <a:r>
              <a:rPr lang="zh-CN" altLang="en-US" sz="1600" dirty="0"/>
              <a:t> </a:t>
            </a:r>
            <a:r>
              <a:rPr lang="en-US" altLang="zh-CN" sz="1600" dirty="0"/>
              <a:t>write</a:t>
            </a:r>
            <a:r>
              <a:rPr lang="zh-CN" altLang="en-US" sz="1600" dirty="0"/>
              <a:t> </a:t>
            </a:r>
            <a:r>
              <a:rPr lang="en-US" altLang="zh-CN" sz="1600" dirty="0"/>
              <a:t>a</a:t>
            </a:r>
            <a:r>
              <a:rPr lang="zh-CN" altLang="en-US" sz="1600" dirty="0"/>
              <a:t> </a:t>
            </a:r>
            <a:r>
              <a:rPr lang="en-US" altLang="zh-CN" sz="1600" dirty="0"/>
              <a:t>Python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program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simulate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experiment.</a:t>
            </a:r>
          </a:p>
          <a:p>
            <a:r>
              <a:rPr lang="en-US" altLang="zh-CN" sz="1600" baseline="0" dirty="0"/>
              <a:t>-----</a:t>
            </a:r>
          </a:p>
          <a:p>
            <a:r>
              <a:rPr lang="en-US" altLang="zh-CN" sz="1600" baseline="0" dirty="0"/>
              <a:t>You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can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sample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point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uniformly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random.</a:t>
            </a:r>
          </a:p>
          <a:p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needle’s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head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random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point.</a:t>
            </a:r>
          </a:p>
          <a:p>
            <a:r>
              <a:rPr lang="en-US" altLang="zh-CN" sz="1600" baseline="0" dirty="0"/>
              <a:t>Then,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randomly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sample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number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between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0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and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360.</a:t>
            </a:r>
          </a:p>
          <a:p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random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number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needle’s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angle.</a:t>
            </a:r>
          </a:p>
          <a:p>
            <a:r>
              <a:rPr lang="en-US" altLang="zh-CN" sz="1600" baseline="0" dirty="0"/>
              <a:t>Using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point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and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angle,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needle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uniquely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determined.</a:t>
            </a:r>
          </a:p>
          <a:p>
            <a:r>
              <a:rPr lang="en-US" altLang="zh-CN" sz="1600" baseline="0" dirty="0"/>
              <a:t>-----</a:t>
            </a:r>
            <a:endParaRPr lang="en-US" altLang="zh-CN" sz="1600" dirty="0"/>
          </a:p>
          <a:p>
            <a:r>
              <a:rPr lang="en-US" altLang="zh-CN" sz="1600" dirty="0"/>
              <a:t>The</a:t>
            </a:r>
            <a:r>
              <a:rPr lang="zh-CN" altLang="en-US" sz="1600" dirty="0"/>
              <a:t> </a:t>
            </a:r>
            <a:r>
              <a:rPr lang="en-US" altLang="zh-CN" sz="1600" dirty="0"/>
              <a:t>figure</a:t>
            </a:r>
            <a:r>
              <a:rPr lang="zh-CN" altLang="en-US" sz="1600" dirty="0"/>
              <a:t> </a:t>
            </a:r>
            <a:r>
              <a:rPr lang="en-US" altLang="zh-CN" sz="1600" dirty="0"/>
              <a:t>is</a:t>
            </a:r>
            <a:r>
              <a:rPr lang="zh-CN" altLang="en-US" sz="1600" dirty="0"/>
              <a:t> </a:t>
            </a:r>
            <a:r>
              <a:rPr lang="en-US" altLang="zh-CN" sz="1600" dirty="0"/>
              <a:t>the</a:t>
            </a:r>
            <a:r>
              <a:rPr lang="zh-CN" altLang="en-US" sz="1600" dirty="0"/>
              <a:t> </a:t>
            </a:r>
            <a:r>
              <a:rPr lang="en-US" altLang="zh-CN" sz="1600" dirty="0"/>
              <a:t>outcome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simulation.</a:t>
            </a:r>
          </a:p>
          <a:p>
            <a:r>
              <a:rPr lang="en-US" altLang="zh-CN" sz="1600" baseline="0" dirty="0"/>
              <a:t>It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shows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convergence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with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number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simulations.</a:t>
            </a:r>
          </a:p>
          <a:p>
            <a:endParaRPr lang="en-US" altLang="zh-CN" sz="1600" baseline="0" dirty="0"/>
          </a:p>
          <a:p>
            <a:endParaRPr lang="en-US" altLang="zh-CN" sz="1600" dirty="0"/>
          </a:p>
          <a:p>
            <a:r>
              <a:rPr lang="zh-CN" altLang="en-US" sz="1600" dirty="0"/>
              <a:t>你可以自己写个</a:t>
            </a:r>
            <a:r>
              <a:rPr lang="en-US" altLang="zh-CN" sz="1600" dirty="0"/>
              <a:t>Python</a:t>
            </a:r>
            <a:r>
              <a:rPr lang="zh-CN" altLang="en-US" sz="1600" dirty="0"/>
              <a:t>程序来模拟布封投针。</a:t>
            </a:r>
            <a:endParaRPr lang="en-US" altLang="zh-CN" sz="1600" dirty="0"/>
          </a:p>
          <a:p>
            <a:r>
              <a:rPr lang="en-US" altLang="zh-CN" sz="1600" dirty="0"/>
              <a:t>----</a:t>
            </a:r>
          </a:p>
          <a:p>
            <a:r>
              <a:rPr lang="zh-CN" altLang="en-US" sz="1600" dirty="0"/>
              <a:t>你从平面坐标系上均匀采样一个点作为针头的位置。</a:t>
            </a:r>
            <a:endParaRPr lang="en-US" altLang="zh-CN" sz="1600" dirty="0"/>
          </a:p>
          <a:p>
            <a:r>
              <a:rPr lang="zh-CN" altLang="en-US" sz="1600" dirty="0"/>
              <a:t>再从</a:t>
            </a:r>
            <a:r>
              <a:rPr lang="en-US" altLang="zh-CN" sz="1600" dirty="0"/>
              <a:t>0</a:t>
            </a:r>
            <a:r>
              <a:rPr lang="zh-CN" altLang="en-US" sz="1600" dirty="0"/>
              <a:t>到</a:t>
            </a:r>
            <a:r>
              <a:rPr lang="en-US" altLang="zh-CN" sz="1600" dirty="0"/>
              <a:t>360</a:t>
            </a:r>
            <a:r>
              <a:rPr lang="zh-CN" altLang="en-US" sz="1600" dirty="0"/>
              <a:t>度均匀采样一个角度。</a:t>
            </a:r>
            <a:endParaRPr lang="en-US" altLang="zh-CN" sz="1600" dirty="0"/>
          </a:p>
          <a:p>
            <a:r>
              <a:rPr lang="zh-CN" altLang="en-US" sz="1600" dirty="0"/>
              <a:t>这样就可以确定针的位置。</a:t>
            </a:r>
            <a:endParaRPr lang="en-US" altLang="zh-CN" sz="1600" dirty="0"/>
          </a:p>
          <a:p>
            <a:r>
              <a:rPr lang="en-US" altLang="zh-CN" sz="1600" dirty="0"/>
              <a:t>----</a:t>
            </a:r>
          </a:p>
          <a:p>
            <a:r>
              <a:rPr lang="zh-CN" altLang="en-US" sz="1600" dirty="0"/>
              <a:t>然后判断 针是否与平行线相交，从而得到相交的数量</a:t>
            </a:r>
            <a:r>
              <a:rPr lang="en-US" altLang="zh-CN" sz="1600" dirty="0"/>
              <a:t>m</a:t>
            </a:r>
            <a:r>
              <a:rPr lang="zh-CN" altLang="en-US" sz="1600" dirty="0"/>
              <a:t>，计算出</a:t>
            </a:r>
            <a:r>
              <a:rPr lang="en-US" altLang="zh-CN" sz="1600" dirty="0"/>
              <a:t>pi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r>
              <a:rPr lang="en-US" altLang="zh-CN" sz="1600" dirty="0"/>
              <a:t>----</a:t>
            </a:r>
          </a:p>
          <a:p>
            <a:r>
              <a:rPr lang="zh-CN" altLang="en-US" sz="1600" dirty="0"/>
              <a:t>这是别人模拟出来的结果。</a:t>
            </a:r>
            <a:endParaRPr lang="en-US" altLang="zh-CN" sz="1600" dirty="0"/>
          </a:p>
          <a:p>
            <a:r>
              <a:rPr lang="zh-CN" altLang="en-US" sz="1600" dirty="0"/>
              <a:t>只需要</a:t>
            </a:r>
            <a:r>
              <a:rPr lang="zh-CN" altLang="en-US" sz="1600" baseline="0" dirty="0"/>
              <a:t> 一百多次，就能得到</a:t>
            </a:r>
            <a:r>
              <a:rPr lang="en-US" altLang="zh-CN" sz="1600" baseline="0" dirty="0"/>
              <a:t>pi</a:t>
            </a:r>
            <a:r>
              <a:rPr lang="zh-CN" altLang="en-US" sz="1600" baseline="0" dirty="0"/>
              <a:t>约等于</a:t>
            </a:r>
            <a:r>
              <a:rPr lang="en-US" altLang="zh-CN" sz="1600" baseline="0" dirty="0"/>
              <a:t>3.</a:t>
            </a:r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334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dirty="0"/>
              <a:t>The</a:t>
            </a:r>
            <a:r>
              <a:rPr lang="zh-CN" altLang="en-US" sz="1800" dirty="0"/>
              <a:t> </a:t>
            </a:r>
            <a:r>
              <a:rPr lang="en-US" altLang="zh-CN" sz="1800" dirty="0"/>
              <a:t>third</a:t>
            </a:r>
            <a:r>
              <a:rPr lang="zh-CN" altLang="en-US" sz="1800" dirty="0"/>
              <a:t> </a:t>
            </a:r>
            <a:r>
              <a:rPr lang="en-US" altLang="zh-CN" sz="1800" dirty="0"/>
              <a:t>application</a:t>
            </a:r>
            <a:r>
              <a:rPr lang="zh-CN" altLang="en-US" sz="1800" dirty="0"/>
              <a:t> </a:t>
            </a:r>
            <a:r>
              <a:rPr lang="en-US" altLang="zh-CN" sz="1800" dirty="0"/>
              <a:t>is</a:t>
            </a:r>
            <a:r>
              <a:rPr lang="zh-CN" altLang="en-US" sz="1800" dirty="0"/>
              <a:t> </a:t>
            </a:r>
            <a:r>
              <a:rPr lang="en-US" altLang="zh-CN" sz="1800" dirty="0"/>
              <a:t>to</a:t>
            </a:r>
            <a:r>
              <a:rPr lang="zh-CN" altLang="en-US" sz="1800" dirty="0"/>
              <a:t> </a:t>
            </a:r>
            <a:r>
              <a:rPr lang="en-US" altLang="zh-CN" sz="1800" dirty="0"/>
              <a:t>calculate</a:t>
            </a:r>
            <a:r>
              <a:rPr lang="zh-CN" altLang="en-US" sz="1800" dirty="0"/>
              <a:t> </a:t>
            </a:r>
            <a:r>
              <a:rPr lang="en-US" altLang="zh-CN" sz="1800" dirty="0"/>
              <a:t>the</a:t>
            </a:r>
            <a:r>
              <a:rPr lang="zh-CN" altLang="en-US" sz="1800" dirty="0"/>
              <a:t> </a:t>
            </a:r>
            <a:r>
              <a:rPr lang="en-US" altLang="zh-CN" sz="1800" dirty="0"/>
              <a:t>area</a:t>
            </a:r>
            <a:r>
              <a:rPr lang="zh-CN" altLang="en-US" sz="1800" dirty="0"/>
              <a:t> </a:t>
            </a:r>
            <a:r>
              <a:rPr lang="en-US" altLang="zh-CN" sz="1800" dirty="0"/>
              <a:t>of</a:t>
            </a:r>
            <a:r>
              <a:rPr lang="zh-CN" altLang="en-US" sz="1800" dirty="0"/>
              <a:t> </a:t>
            </a:r>
            <a:r>
              <a:rPr lang="en-US" altLang="zh-CN" sz="1800" dirty="0"/>
              <a:t>a</a:t>
            </a:r>
            <a:r>
              <a:rPr lang="zh-CN" altLang="en-US" sz="1800" dirty="0"/>
              <a:t> </a:t>
            </a:r>
            <a:r>
              <a:rPr lang="en-US" altLang="zh-CN" sz="1800" dirty="0"/>
              <a:t>region</a:t>
            </a:r>
            <a:r>
              <a:rPr lang="en-US" altLang="zh-CN" sz="1800" baseline="0" dirty="0"/>
              <a:t>.</a:t>
            </a:r>
            <a:endParaRPr lang="en-US" altLang="zh-CN" sz="18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dirty="0"/>
              <a:t>下一个应用是估计阴影部分的面积。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8046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/>
              <a:t>You</a:t>
            </a:r>
            <a:r>
              <a:rPr lang="zh-CN" altLang="en-US" sz="1600" dirty="0"/>
              <a:t> </a:t>
            </a:r>
            <a:r>
              <a:rPr lang="en-US" altLang="zh-CN" sz="1600" dirty="0"/>
              <a:t>may</a:t>
            </a:r>
            <a:r>
              <a:rPr lang="zh-CN" altLang="en-US" sz="1600" dirty="0"/>
              <a:t> </a:t>
            </a:r>
            <a:r>
              <a:rPr lang="en-US" altLang="zh-CN" sz="1600" dirty="0"/>
              <a:t>have</a:t>
            </a:r>
            <a:r>
              <a:rPr lang="zh-CN" altLang="en-US" sz="1600" dirty="0"/>
              <a:t> </a:t>
            </a:r>
            <a:r>
              <a:rPr lang="en-US" altLang="zh-CN" sz="1600" dirty="0"/>
              <a:t>seen</a:t>
            </a:r>
            <a:r>
              <a:rPr lang="zh-CN" altLang="en-US" sz="1600" dirty="0"/>
              <a:t> </a:t>
            </a:r>
            <a:r>
              <a:rPr lang="en-US" altLang="zh-CN" sz="1600" dirty="0"/>
              <a:t>this</a:t>
            </a:r>
            <a:r>
              <a:rPr lang="zh-CN" altLang="en-US" sz="1600" dirty="0"/>
              <a:t> </a:t>
            </a:r>
            <a:r>
              <a:rPr lang="en-US" altLang="zh-CN" sz="1600" dirty="0"/>
              <a:t>high-school</a:t>
            </a:r>
            <a:r>
              <a:rPr lang="zh-CN" altLang="en-US" sz="1600" dirty="0"/>
              <a:t> </a:t>
            </a:r>
            <a:r>
              <a:rPr lang="en-US" altLang="zh-CN" sz="1600" dirty="0"/>
              <a:t>math</a:t>
            </a:r>
            <a:r>
              <a:rPr lang="zh-CN" altLang="en-US" sz="1600" dirty="0"/>
              <a:t> </a:t>
            </a:r>
            <a:r>
              <a:rPr lang="en-US" altLang="zh-CN" sz="1600" dirty="0"/>
              <a:t>problem.</a:t>
            </a:r>
          </a:p>
          <a:p>
            <a:r>
              <a:rPr lang="en-US" altLang="zh-CN" sz="1600" dirty="0"/>
              <a:t>===========</a:t>
            </a:r>
          </a:p>
          <a:p>
            <a:r>
              <a:rPr lang="en-US" altLang="zh-CN" sz="1600" dirty="0"/>
              <a:t>There</a:t>
            </a:r>
            <a:r>
              <a:rPr lang="zh-CN" altLang="en-US" sz="1600" dirty="0"/>
              <a:t> </a:t>
            </a:r>
            <a:r>
              <a:rPr lang="en-US" altLang="zh-CN" sz="1600" dirty="0"/>
              <a:t>is</a:t>
            </a:r>
            <a:r>
              <a:rPr lang="zh-CN" altLang="en-US" sz="1600" dirty="0"/>
              <a:t> </a:t>
            </a:r>
            <a:r>
              <a:rPr lang="en-US" altLang="zh-CN" sz="1600" dirty="0"/>
              <a:t>a</a:t>
            </a:r>
            <a:r>
              <a:rPr lang="zh-CN" altLang="en-US" sz="1600" dirty="0"/>
              <a:t> </a:t>
            </a:r>
            <a:r>
              <a:rPr lang="en-US" altLang="zh-CN" sz="1600" dirty="0"/>
              <a:t>square,</a:t>
            </a:r>
            <a:r>
              <a:rPr lang="zh-CN" altLang="en-US" sz="1600" dirty="0"/>
              <a:t> </a:t>
            </a: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/>
              <a:t>===========</a:t>
            </a:r>
          </a:p>
          <a:p>
            <a:r>
              <a:rPr lang="en-US" altLang="zh-CN" sz="1600" dirty="0"/>
              <a:t>a</a:t>
            </a:r>
            <a:r>
              <a:rPr lang="zh-CN" altLang="en-US" sz="1600" dirty="0"/>
              <a:t> </a:t>
            </a:r>
            <a:r>
              <a:rPr lang="en-US" altLang="zh-CN" sz="1600" dirty="0"/>
              <a:t>circle,</a:t>
            </a:r>
            <a:r>
              <a:rPr lang="zh-CN" altLang="en-US" sz="1600" dirty="0"/>
              <a:t> </a:t>
            </a: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/>
              <a:t>===========</a:t>
            </a:r>
          </a:p>
          <a:p>
            <a:r>
              <a:rPr lang="en-US" altLang="zh-CN" sz="1600" dirty="0"/>
              <a:t>and</a:t>
            </a:r>
            <a:r>
              <a:rPr lang="zh-CN" altLang="en-US" sz="1600" dirty="0"/>
              <a:t> </a:t>
            </a:r>
            <a:r>
              <a:rPr lang="en-US" altLang="zh-CN" sz="1600" dirty="0"/>
              <a:t>a</a:t>
            </a:r>
            <a:r>
              <a:rPr lang="zh-CN" altLang="en-US" sz="1600" dirty="0"/>
              <a:t> </a:t>
            </a:r>
            <a:r>
              <a:rPr lang="en-US" altLang="zh-CN" sz="1600" dirty="0"/>
              <a:t>sector.</a:t>
            </a:r>
          </a:p>
          <a:p>
            <a:r>
              <a:rPr lang="en-US" altLang="zh-CN" sz="1600" dirty="0"/>
              <a:t>You</a:t>
            </a:r>
            <a:r>
              <a:rPr lang="zh-CN" altLang="en-US" sz="1600" dirty="0"/>
              <a:t> </a:t>
            </a:r>
            <a:r>
              <a:rPr lang="en-US" altLang="zh-CN" sz="1600" dirty="0"/>
              <a:t>are</a:t>
            </a:r>
            <a:r>
              <a:rPr lang="zh-CN" altLang="en-US" sz="1600" dirty="0"/>
              <a:t> </a:t>
            </a:r>
            <a:r>
              <a:rPr lang="en-US" altLang="zh-CN" sz="1600" dirty="0"/>
              <a:t>asked</a:t>
            </a:r>
            <a:r>
              <a:rPr lang="zh-CN" altLang="en-US" sz="1600" dirty="0"/>
              <a:t> </a:t>
            </a:r>
            <a:r>
              <a:rPr lang="en-US" altLang="zh-CN" sz="1600" dirty="0"/>
              <a:t>to</a:t>
            </a:r>
            <a:r>
              <a:rPr lang="zh-CN" altLang="en-US" sz="1600" dirty="0"/>
              <a:t> </a:t>
            </a:r>
            <a:r>
              <a:rPr lang="en-US" altLang="zh-CN" sz="1600" dirty="0"/>
              <a:t>calculate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area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grey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region.</a:t>
            </a:r>
          </a:p>
          <a:p>
            <a:r>
              <a:rPr lang="en-US" altLang="zh-CN" sz="1600" baseline="0" dirty="0"/>
              <a:t>---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/>
              <a:t>I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don’t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know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how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directly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calculate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area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without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using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calculus.</a:t>
            </a:r>
          </a:p>
          <a:p>
            <a:r>
              <a:rPr lang="en-US" altLang="zh-CN" sz="1600" dirty="0"/>
              <a:t>But</a:t>
            </a:r>
            <a:r>
              <a:rPr lang="zh-CN" altLang="en-US" sz="1600" dirty="0"/>
              <a:t> </a:t>
            </a:r>
            <a:r>
              <a:rPr lang="en-US" altLang="zh-CN" sz="1600" dirty="0"/>
              <a:t>I</a:t>
            </a:r>
            <a:r>
              <a:rPr lang="zh-CN" altLang="en-US" sz="1600" dirty="0"/>
              <a:t> </a:t>
            </a:r>
            <a:r>
              <a:rPr lang="en-US" altLang="zh-CN" sz="1600" dirty="0"/>
              <a:t>can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approximately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find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area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using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Monte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Carlo.</a:t>
            </a:r>
          </a:p>
          <a:p>
            <a:endParaRPr lang="en-US" altLang="zh-CN" sz="1600" baseline="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你初中时候可能见过类似数学题。</a:t>
            </a:r>
            <a:endParaRPr lang="en-US" altLang="zh-CN" sz="1600" dirty="0"/>
          </a:p>
          <a:p>
            <a:r>
              <a:rPr lang="zh-CN" altLang="en-US" sz="1600" dirty="0"/>
              <a:t>图里有个正方形，有个圆，有个扇形。</a:t>
            </a:r>
            <a:endParaRPr lang="en-US" altLang="zh-CN" sz="1600" dirty="0"/>
          </a:p>
          <a:p>
            <a:r>
              <a:rPr lang="zh-CN" altLang="en-US" sz="1600" dirty="0"/>
              <a:t>几个形状相交。</a:t>
            </a:r>
            <a:endParaRPr lang="en-US" altLang="zh-CN" sz="1600" dirty="0"/>
          </a:p>
          <a:p>
            <a:r>
              <a:rPr lang="zh-CN" altLang="en-US" sz="1600" dirty="0"/>
              <a:t>要求计算阴影部分面积。</a:t>
            </a:r>
            <a:endParaRPr lang="en-US" altLang="zh-CN" sz="1600" dirty="0"/>
          </a:p>
          <a:p>
            <a:r>
              <a:rPr lang="en-US" altLang="zh-CN" sz="1600" dirty="0"/>
              <a:t>----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/>
              <a:t>我不知道怎么样直接计算阴影部分面积，但是我会用蒙特卡洛近似计算。</a:t>
            </a:r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7956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Monte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Carlo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based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random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sampling.</a:t>
                </a:r>
              </a:p>
              <a:p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sample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uniformly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random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from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square.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=============================</a:t>
                </a:r>
              </a:p>
              <a:p>
                <a:r>
                  <a:rPr lang="en-US" altLang="zh-CN" sz="160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square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inside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outside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circle.</a:t>
                </a:r>
              </a:p>
              <a:p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use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circle’s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equation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find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whether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 point 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inside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outside.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在正方形里面做随机均匀抽样，得到很多点。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=============================</a:t>
                </a:r>
              </a:p>
              <a:p>
                <a:r>
                  <a:rPr lang="zh-CN" altLang="en-US" sz="1600" dirty="0"/>
                  <a:t>一个点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1600" dirty="0"/>
                  <a:t> 可能在绿色圆</a:t>
                </a:r>
                <a:r>
                  <a:rPr lang="zh-CN" altLang="en-US" sz="1600" b="1" dirty="0"/>
                  <a:t>里面</a:t>
                </a:r>
                <a:r>
                  <a:rPr lang="zh-CN" altLang="en-US" sz="1600" dirty="0"/>
                  <a:t>，也可能在圆</a:t>
                </a:r>
                <a:r>
                  <a:rPr lang="zh-CN" altLang="en-US" sz="1600" b="1" dirty="0"/>
                  <a:t>外面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通过圆的方程可以判断出来。</a:t>
                </a:r>
                <a:endParaRPr lang="en-US" altLang="zh-CN" sz="160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don’t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know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how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directly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calculating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without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using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calculus.</a:t>
                </a:r>
              </a:p>
              <a:p>
                <a:r>
                  <a:rPr lang="en-US" altLang="zh-CN" sz="1600" dirty="0" smtClean="0"/>
                  <a:t>But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approximately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find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using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Monte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Carlo.</a:t>
                </a:r>
              </a:p>
              <a:p>
                <a:r>
                  <a:rPr lang="en-US" altLang="zh-CN" sz="1600" dirty="0" smtClean="0"/>
                  <a:t>-------</a:t>
                </a:r>
              </a:p>
              <a:p>
                <a:r>
                  <a:rPr lang="en-US" altLang="zh-CN" sz="1600" dirty="0" smtClean="0"/>
                  <a:t>Monte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Carlo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based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sampling.</a:t>
                </a:r>
              </a:p>
              <a:p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points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uniformly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square.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en-US" altLang="zh-CN" sz="160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point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square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inside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outside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circle.</a:t>
                </a:r>
              </a:p>
              <a:p>
                <a:r>
                  <a:rPr lang="en-US" altLang="zh-CN" sz="1600" baseline="0" dirty="0" smtClean="0"/>
                  <a:t>If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circle,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must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satisfy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equation: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(</a:t>
                </a:r>
                <a:r>
                  <a:rPr lang="en-US" altLang="zh-CN" sz="1600" b="0" i="0" smtClean="0">
                    <a:solidFill>
                      <a:srgbClr val="FF0000"/>
                    </a:solidFill>
                    <a:latin typeface="Cambria Math" charset="0"/>
                  </a:rPr>
                  <a:t>𝑥</a:t>
                </a:r>
                <a:r>
                  <a:rPr lang="en-US" altLang="zh-CN" sz="1600" b="0" i="0" smtClean="0">
                    <a:latin typeface="Cambria Math" charset="0"/>
                  </a:rPr>
                  <a:t>−1)</a:t>
                </a:r>
                <a:r>
                  <a:rPr lang="en-US" altLang="zh-CN" sz="1600" b="0" i="0" smtClean="0">
                    <a:latin typeface="Cambria Math" charset="0"/>
                  </a:rPr>
                  <a:t>^</a:t>
                </a:r>
                <a:r>
                  <a:rPr lang="en-US" altLang="zh-CN" sz="1600" b="0" i="0" smtClean="0">
                    <a:latin typeface="Cambria Math" charset="0"/>
                  </a:rPr>
                  <a:t>2+(</a:t>
                </a:r>
                <a:r>
                  <a:rPr lang="en-US" altLang="zh-CN" sz="1600" b="0" i="0" smtClean="0">
                    <a:solidFill>
                      <a:srgbClr val="FF0000"/>
                    </a:solidFill>
                    <a:latin typeface="Cambria Math" charset="0"/>
                  </a:rPr>
                  <a:t>𝑦</a:t>
                </a:r>
                <a:r>
                  <a:rPr lang="en-US" altLang="zh-CN" sz="1600" b="0" i="0" smtClean="0">
                    <a:latin typeface="Cambria Math" charset="0"/>
                  </a:rPr>
                  <a:t>−1)^2≤1</a:t>
                </a:r>
                <a:endParaRPr lang="en-US" altLang="zh-CN" sz="1600" baseline="0" dirty="0" smtClean="0"/>
              </a:p>
              <a:p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circle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centered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(1,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1)</a:t>
                </a:r>
                <a:r>
                  <a:rPr lang="en-US" altLang="zh-CN" sz="1600" dirty="0" smtClean="0"/>
                  <a:t>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radius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我</a:t>
                </a:r>
                <a:r>
                  <a:rPr lang="zh-CN" altLang="en-US" sz="1600" dirty="0" smtClean="0"/>
                  <a:t>不会直接计算阴影部分面积，但是我会用蒙特卡洛近似计算。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在正方形里面做随机均匀抽样，得到很多样本。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一个点</a:t>
                </a:r>
                <a:r>
                  <a:rPr lang="en-US" altLang="zh-CN" sz="1600" b="0" i="0" smtClean="0">
                    <a:solidFill>
                      <a:srgbClr val="FF0000"/>
                    </a:solidFill>
                    <a:latin typeface="Cambria Math" charset="0"/>
                  </a:rPr>
                  <a:t>(</a:t>
                </a:r>
                <a:r>
                  <a:rPr lang="en-US" altLang="zh-CN" sz="1600" b="0" i="0" smtClean="0">
                    <a:solidFill>
                      <a:srgbClr val="FF0000"/>
                    </a:solidFill>
                    <a:latin typeface="Cambria Math" charset="0"/>
                  </a:rPr>
                  <a:t>𝑥, 𝑦)</a:t>
                </a:r>
                <a:r>
                  <a:rPr lang="zh-CN" altLang="en-US" sz="1600" dirty="0" smtClean="0"/>
                  <a:t> </a:t>
                </a:r>
                <a:r>
                  <a:rPr lang="zh-CN" altLang="en-US" sz="1600" dirty="0" smtClean="0"/>
                  <a:t>可能在圆里面，也可能在圆外面。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如果</a:t>
                </a:r>
                <a:r>
                  <a:rPr lang="zh-CN" altLang="en-US" sz="1600" dirty="0" smtClean="0"/>
                  <a:t>一个点</a:t>
                </a:r>
                <a:r>
                  <a:rPr lang="en-US" altLang="zh-CN" sz="1600" dirty="0" smtClean="0"/>
                  <a:t>(x,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y)</a:t>
                </a:r>
                <a:r>
                  <a:rPr lang="zh-CN" altLang="en-US" sz="1600" dirty="0" smtClean="0"/>
                  <a:t>在这个绿色的圆里面，那么这个点需要满足这个方程：</a:t>
                </a:r>
                <a:r>
                  <a:rPr lang="en-US" altLang="zh-CN" sz="1600" b="0" i="0" smtClean="0">
                    <a:latin typeface="Cambria Math" charset="0"/>
                  </a:rPr>
                  <a:t>(</a:t>
                </a:r>
                <a:r>
                  <a:rPr lang="en-US" altLang="zh-CN" sz="1600" b="0" i="0" smtClean="0">
                    <a:solidFill>
                      <a:srgbClr val="FF0000"/>
                    </a:solidFill>
                    <a:latin typeface="Cambria Math" charset="0"/>
                  </a:rPr>
                  <a:t>𝑥</a:t>
                </a:r>
                <a:r>
                  <a:rPr lang="en-US" altLang="zh-CN" sz="1600" b="0" i="0" smtClean="0">
                    <a:latin typeface="Cambria Math" charset="0"/>
                  </a:rPr>
                  <a:t>−1)</a:t>
                </a:r>
                <a:r>
                  <a:rPr lang="en-US" altLang="zh-CN" sz="1600" b="0" i="0" smtClean="0">
                    <a:latin typeface="Cambria Math" charset="0"/>
                  </a:rPr>
                  <a:t>^</a:t>
                </a:r>
                <a:r>
                  <a:rPr lang="en-US" altLang="zh-CN" sz="1600" b="0" i="0" smtClean="0">
                    <a:latin typeface="Cambria Math" charset="0"/>
                  </a:rPr>
                  <a:t>2+(</a:t>
                </a:r>
                <a:r>
                  <a:rPr lang="en-US" altLang="zh-CN" sz="1600" b="0" i="0" smtClean="0">
                    <a:solidFill>
                      <a:srgbClr val="FF0000"/>
                    </a:solidFill>
                    <a:latin typeface="Cambria Math" charset="0"/>
                  </a:rPr>
                  <a:t>𝑦</a:t>
                </a:r>
                <a:r>
                  <a:rPr lang="en-US" altLang="zh-CN" sz="1600" b="0" i="0" smtClean="0">
                    <a:latin typeface="Cambria Math" charset="0"/>
                  </a:rPr>
                  <a:t>−1)^2≤1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圆心的坐标是</a:t>
                </a:r>
                <a:r>
                  <a:rPr lang="en-US" altLang="zh-CN" sz="1600" dirty="0" smtClean="0"/>
                  <a:t>(1,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1)</a:t>
                </a:r>
                <a:r>
                  <a:rPr lang="zh-CN" altLang="en-US" sz="1600" baseline="0" dirty="0" smtClean="0"/>
                  <a:t>，半径是</a:t>
                </a:r>
                <a:r>
                  <a:rPr lang="en-US" altLang="zh-CN" sz="1600" baseline="0" dirty="0" smtClean="0"/>
                  <a:t>1</a:t>
                </a:r>
                <a:r>
                  <a:rPr lang="zh-CN" altLang="en-US" sz="1600" baseline="0" dirty="0" smtClean="0"/>
                  <a:t>。</a:t>
                </a:r>
                <a:endParaRPr lang="en-US" altLang="zh-CN" sz="1600" baseline="0" dirty="0" smtClean="0"/>
              </a:p>
              <a:p>
                <a:r>
                  <a:rPr lang="zh-CN" altLang="en-US" sz="1600" baseline="0" dirty="0" smtClean="0"/>
                  <a:t>通过这个方程就能筛选出圆中的点</a:t>
                </a:r>
                <a:r>
                  <a:rPr lang="zh-CN" altLang="en-US" sz="1600" baseline="0" dirty="0" smtClean="0"/>
                  <a:t>。</a:t>
                </a:r>
                <a:endParaRPr lang="en-US" altLang="zh-CN" sz="1600" baseline="0" dirty="0" smtClean="0"/>
              </a:p>
              <a:p>
                <a:endParaRPr lang="en-US" sz="1600" baseline="0" dirty="0" smtClean="0"/>
              </a:p>
              <a:p>
                <a:endParaRPr lang="en-US" sz="1600" baseline="0" dirty="0" smtClean="0"/>
              </a:p>
              <a:p>
                <a:endParaRPr lang="en-US" sz="1600" baseline="0" dirty="0" smtClean="0"/>
              </a:p>
              <a:p>
                <a:endParaRPr lang="en-US" sz="1600" baseline="0" dirty="0" smtClean="0"/>
              </a:p>
              <a:p>
                <a:endParaRPr lang="en-US" sz="1600" baseline="0" dirty="0" smtClean="0"/>
              </a:p>
              <a:p>
                <a:endParaRPr lang="en-US" sz="1600" baseline="0" dirty="0" smtClean="0"/>
              </a:p>
              <a:p>
                <a:endParaRPr lang="en-US" sz="1600" baseline="0" dirty="0" smtClean="0"/>
              </a:p>
              <a:p>
                <a:endParaRPr lang="en-US" sz="1600" baseline="0" dirty="0" smtClean="0"/>
              </a:p>
              <a:p>
                <a:endParaRPr lang="en-US" sz="1600" baseline="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48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circle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centered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point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(1,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1)</a:t>
                </a:r>
                <a:r>
                  <a:rPr lang="en-US" altLang="zh-CN" sz="1600" dirty="0"/>
                  <a:t>,</a:t>
                </a:r>
                <a:r>
                  <a:rPr lang="zh-CN" altLang="en-US" sz="1600" baseline="0" dirty="0"/>
                  <a:t> </a:t>
                </a:r>
                <a:endParaRPr lang="en-US" altLang="zh-CN" sz="1600" baseline="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its radius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1.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So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equation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one: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  <m:r>
                              <a:rPr lang="en-US" altLang="zh-CN" sz="1600" b="0" i="1" smtClean="0">
                                <a:latin typeface="Cambria Math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charset="0"/>
                      </a:rPr>
                      <m:t>≤1</m:t>
                    </m:r>
                  </m:oMath>
                </a14:m>
                <a:r>
                  <a:rPr lang="en-US" altLang="zh-CN" sz="1600" baseline="0" dirty="0"/>
                  <a:t>.</a:t>
                </a:r>
              </a:p>
              <a:p>
                <a:r>
                  <a:rPr lang="en-US" altLang="zh-CN" sz="1600" baseline="0" dirty="0"/>
                  <a:t>If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must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satisfy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equation.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Using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equation,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tell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/>
                  <a:t>圆心的坐标是</a:t>
                </a:r>
                <a:r>
                  <a:rPr lang="en-US" altLang="zh-CN" sz="1600" dirty="0"/>
                  <a:t>(1,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1)</a:t>
                </a:r>
                <a:r>
                  <a:rPr lang="zh-CN" altLang="en-US" sz="1600" baseline="0" dirty="0"/>
                  <a:t>，</a:t>
                </a:r>
                <a:endParaRPr lang="en-US" altLang="zh-CN" sz="1600" baseline="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aseline="0" dirty="0"/>
                  <a:t>半径是</a:t>
                </a:r>
                <a:r>
                  <a:rPr lang="en-US" altLang="zh-CN" sz="1600" baseline="0" dirty="0"/>
                  <a:t>1</a:t>
                </a:r>
                <a:r>
                  <a:rPr lang="zh-CN" altLang="en-US" sz="1600" baseline="0" dirty="0"/>
                  <a:t>。</a:t>
                </a:r>
                <a:endParaRPr lang="en-US" altLang="zh-CN" sz="1600" baseline="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/>
                  <a:t>所以这个圆的方程是：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  <m:r>
                              <a:rPr lang="en-US" altLang="zh-CN" sz="1600" b="0" i="1" smtClean="0">
                                <a:latin typeface="Cambria Math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charset="0"/>
                      </a:rPr>
                      <m:t>≤1</m:t>
                    </m:r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----</a:t>
                </a:r>
              </a:p>
              <a:p>
                <a:r>
                  <a:rPr lang="zh-CN" altLang="en-US" sz="1600" dirty="0"/>
                  <a:t>如果一个点</a:t>
                </a:r>
                <a:r>
                  <a:rPr lang="en-US" altLang="zh-CN" sz="1600" dirty="0"/>
                  <a:t>(x,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y)</a:t>
                </a:r>
                <a:r>
                  <a:rPr lang="zh-CN" altLang="en-US" sz="1600" dirty="0"/>
                  <a:t>在这个绿色的圆里面，那么这个点需要满足这个方程。</a:t>
                </a:r>
                <a:endParaRPr lang="en-US" altLang="zh-CN" sz="1600" dirty="0"/>
              </a:p>
              <a:p>
                <a:r>
                  <a:rPr lang="zh-CN" altLang="en-US" sz="1600" baseline="0" dirty="0"/>
                  <a:t>通过这个方程就能筛选出圆中的点。</a:t>
                </a:r>
                <a:endParaRPr lang="en-US" altLang="zh-CN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I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don’t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know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how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directly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calculating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without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using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calculus.</a:t>
                </a:r>
              </a:p>
              <a:p>
                <a:r>
                  <a:rPr lang="en-US" altLang="zh-CN" sz="1600" dirty="0" smtClean="0"/>
                  <a:t>But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approximately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find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using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Monte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Carlo.</a:t>
                </a:r>
              </a:p>
              <a:p>
                <a:r>
                  <a:rPr lang="en-US" altLang="zh-CN" sz="1600" dirty="0" smtClean="0"/>
                  <a:t>-------</a:t>
                </a:r>
              </a:p>
              <a:p>
                <a:r>
                  <a:rPr lang="en-US" altLang="zh-CN" sz="1600" dirty="0" smtClean="0"/>
                  <a:t>Monte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Carlo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based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sampling.</a:t>
                </a:r>
              </a:p>
              <a:p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points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uniformly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square.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en-US" altLang="zh-CN" sz="160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point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square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inside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outside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circle.</a:t>
                </a:r>
              </a:p>
              <a:p>
                <a:r>
                  <a:rPr lang="en-US" altLang="zh-CN" sz="1600" baseline="0" dirty="0" smtClean="0"/>
                  <a:t>If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circle,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must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satisfy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equation: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(</a:t>
                </a:r>
                <a:r>
                  <a:rPr lang="en-US" altLang="zh-CN" sz="1600" b="0" i="0" smtClean="0">
                    <a:solidFill>
                      <a:srgbClr val="FF0000"/>
                    </a:solidFill>
                    <a:latin typeface="Cambria Math" charset="0"/>
                  </a:rPr>
                  <a:t>𝑥</a:t>
                </a:r>
                <a:r>
                  <a:rPr lang="en-US" altLang="zh-CN" sz="1600" b="0" i="0" smtClean="0">
                    <a:latin typeface="Cambria Math" charset="0"/>
                  </a:rPr>
                  <a:t>−1)</a:t>
                </a:r>
                <a:r>
                  <a:rPr lang="en-US" altLang="zh-CN" sz="1600" b="0" i="0" smtClean="0">
                    <a:latin typeface="Cambria Math" charset="0"/>
                  </a:rPr>
                  <a:t>^</a:t>
                </a:r>
                <a:r>
                  <a:rPr lang="en-US" altLang="zh-CN" sz="1600" b="0" i="0" smtClean="0">
                    <a:latin typeface="Cambria Math" charset="0"/>
                  </a:rPr>
                  <a:t>2+(</a:t>
                </a:r>
                <a:r>
                  <a:rPr lang="en-US" altLang="zh-CN" sz="1600" b="0" i="0" smtClean="0">
                    <a:solidFill>
                      <a:srgbClr val="FF0000"/>
                    </a:solidFill>
                    <a:latin typeface="Cambria Math" charset="0"/>
                  </a:rPr>
                  <a:t>𝑦</a:t>
                </a:r>
                <a:r>
                  <a:rPr lang="en-US" altLang="zh-CN" sz="1600" b="0" i="0" smtClean="0">
                    <a:latin typeface="Cambria Math" charset="0"/>
                  </a:rPr>
                  <a:t>−1)^2≤1</a:t>
                </a:r>
                <a:endParaRPr lang="en-US" altLang="zh-CN" sz="1600" baseline="0" dirty="0" smtClean="0"/>
              </a:p>
              <a:p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circle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centered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(1,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1)</a:t>
                </a:r>
                <a:r>
                  <a:rPr lang="en-US" altLang="zh-CN" sz="1600" dirty="0" smtClean="0"/>
                  <a:t>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radius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我</a:t>
                </a:r>
                <a:r>
                  <a:rPr lang="zh-CN" altLang="en-US" sz="1600" dirty="0" smtClean="0"/>
                  <a:t>不会直接计算阴影部分面积，但是我会用蒙特卡洛近似计算。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在正方形里面做随机均匀抽样，得到很多样本。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一个点</a:t>
                </a:r>
                <a:r>
                  <a:rPr lang="en-US" altLang="zh-CN" sz="1600" b="0" i="0" smtClean="0">
                    <a:solidFill>
                      <a:srgbClr val="FF0000"/>
                    </a:solidFill>
                    <a:latin typeface="Cambria Math" charset="0"/>
                  </a:rPr>
                  <a:t>(</a:t>
                </a:r>
                <a:r>
                  <a:rPr lang="en-US" altLang="zh-CN" sz="1600" b="0" i="0" smtClean="0">
                    <a:solidFill>
                      <a:srgbClr val="FF0000"/>
                    </a:solidFill>
                    <a:latin typeface="Cambria Math" charset="0"/>
                  </a:rPr>
                  <a:t>𝑥, 𝑦)</a:t>
                </a:r>
                <a:r>
                  <a:rPr lang="zh-CN" altLang="en-US" sz="1600" dirty="0" smtClean="0"/>
                  <a:t> </a:t>
                </a:r>
                <a:r>
                  <a:rPr lang="zh-CN" altLang="en-US" sz="1600" dirty="0" smtClean="0"/>
                  <a:t>可能在圆里面，也可能在圆外面。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如果</a:t>
                </a:r>
                <a:r>
                  <a:rPr lang="zh-CN" altLang="en-US" sz="1600" dirty="0" smtClean="0"/>
                  <a:t>一个点</a:t>
                </a:r>
                <a:r>
                  <a:rPr lang="en-US" altLang="zh-CN" sz="1600" dirty="0" smtClean="0"/>
                  <a:t>(x,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y)</a:t>
                </a:r>
                <a:r>
                  <a:rPr lang="zh-CN" altLang="en-US" sz="1600" dirty="0" smtClean="0"/>
                  <a:t>在这个绿色的圆里面，那么这个点需要满足这个方程：</a:t>
                </a:r>
                <a:r>
                  <a:rPr lang="en-US" altLang="zh-CN" sz="1600" b="0" i="0" smtClean="0">
                    <a:latin typeface="Cambria Math" charset="0"/>
                  </a:rPr>
                  <a:t>(</a:t>
                </a:r>
                <a:r>
                  <a:rPr lang="en-US" altLang="zh-CN" sz="1600" b="0" i="0" smtClean="0">
                    <a:solidFill>
                      <a:srgbClr val="FF0000"/>
                    </a:solidFill>
                    <a:latin typeface="Cambria Math" charset="0"/>
                  </a:rPr>
                  <a:t>𝑥</a:t>
                </a:r>
                <a:r>
                  <a:rPr lang="en-US" altLang="zh-CN" sz="1600" b="0" i="0" smtClean="0">
                    <a:latin typeface="Cambria Math" charset="0"/>
                  </a:rPr>
                  <a:t>−1)</a:t>
                </a:r>
                <a:r>
                  <a:rPr lang="en-US" altLang="zh-CN" sz="1600" b="0" i="0" smtClean="0">
                    <a:latin typeface="Cambria Math" charset="0"/>
                  </a:rPr>
                  <a:t>^</a:t>
                </a:r>
                <a:r>
                  <a:rPr lang="en-US" altLang="zh-CN" sz="1600" b="0" i="0" smtClean="0">
                    <a:latin typeface="Cambria Math" charset="0"/>
                  </a:rPr>
                  <a:t>2+(</a:t>
                </a:r>
                <a:r>
                  <a:rPr lang="en-US" altLang="zh-CN" sz="1600" b="0" i="0" smtClean="0">
                    <a:solidFill>
                      <a:srgbClr val="FF0000"/>
                    </a:solidFill>
                    <a:latin typeface="Cambria Math" charset="0"/>
                  </a:rPr>
                  <a:t>𝑦</a:t>
                </a:r>
                <a:r>
                  <a:rPr lang="en-US" altLang="zh-CN" sz="1600" b="0" i="0" smtClean="0">
                    <a:latin typeface="Cambria Math" charset="0"/>
                  </a:rPr>
                  <a:t>−1)^2≤1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圆心的坐标是</a:t>
                </a:r>
                <a:r>
                  <a:rPr lang="en-US" altLang="zh-CN" sz="1600" dirty="0" smtClean="0"/>
                  <a:t>(1,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1)</a:t>
                </a:r>
                <a:r>
                  <a:rPr lang="zh-CN" altLang="en-US" sz="1600" baseline="0" dirty="0" smtClean="0"/>
                  <a:t>，半径是</a:t>
                </a:r>
                <a:r>
                  <a:rPr lang="en-US" altLang="zh-CN" sz="1600" baseline="0" dirty="0" smtClean="0"/>
                  <a:t>1</a:t>
                </a:r>
                <a:r>
                  <a:rPr lang="zh-CN" altLang="en-US" sz="1600" baseline="0" dirty="0" smtClean="0"/>
                  <a:t>。</a:t>
                </a:r>
                <a:endParaRPr lang="en-US" altLang="zh-CN" sz="1600" baseline="0" dirty="0" smtClean="0"/>
              </a:p>
              <a:p>
                <a:r>
                  <a:rPr lang="zh-CN" altLang="en-US" sz="1600" baseline="0" dirty="0" smtClean="0"/>
                  <a:t>通过这个方程就能筛选出圆中的点</a:t>
                </a:r>
                <a:r>
                  <a:rPr lang="zh-CN" altLang="en-US" sz="1600" baseline="0" dirty="0" smtClean="0"/>
                  <a:t>。</a:t>
                </a:r>
                <a:endParaRPr lang="en-US" altLang="zh-CN" sz="1600" baseline="0" dirty="0" smtClean="0"/>
              </a:p>
              <a:p>
                <a:endParaRPr lang="en-US" sz="1600" baseline="0" dirty="0" smtClean="0"/>
              </a:p>
              <a:p>
                <a:endParaRPr lang="en-US" sz="1600" baseline="0" dirty="0" smtClean="0"/>
              </a:p>
              <a:p>
                <a:endParaRPr lang="en-US" sz="1600" baseline="0" dirty="0" smtClean="0"/>
              </a:p>
              <a:p>
                <a:endParaRPr lang="en-US" sz="1600" baseline="0" dirty="0" smtClean="0"/>
              </a:p>
              <a:p>
                <a:endParaRPr lang="en-US" sz="1600" baseline="0" dirty="0" smtClean="0"/>
              </a:p>
              <a:p>
                <a:endParaRPr lang="en-US" sz="1600" baseline="0" dirty="0" smtClean="0"/>
              </a:p>
              <a:p>
                <a:endParaRPr lang="en-US" sz="1600" baseline="0" dirty="0" smtClean="0"/>
              </a:p>
              <a:p>
                <a:endParaRPr lang="en-US" sz="1600" baseline="0" dirty="0" smtClean="0"/>
              </a:p>
              <a:p>
                <a:endParaRPr lang="en-US" sz="1600" baseline="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163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Note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that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if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point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grey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region,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must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outside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blue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sector.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All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points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sector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must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satisfy</a:t>
                </a:r>
                <a:r>
                  <a:rPr lang="zh-CN" altLang="en-US" sz="1600" dirty="0"/>
                  <a:t> 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this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equation: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charset="0"/>
                      </a:rPr>
                      <m:t>≤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2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600" dirty="0"/>
                  <a:t>.</a:t>
                </a:r>
              </a:p>
              <a:p>
                <a:r>
                  <a:rPr lang="en-US" altLang="zh-CN" sz="1600" dirty="0"/>
                  <a:t>It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centered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origin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with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radius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2.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我们还需要排除蓝色扇形里的点。</a:t>
                </a:r>
                <a:endParaRPr lang="en-US" altLang="zh-CN" sz="1600" dirty="0"/>
              </a:p>
              <a:p>
                <a:r>
                  <a:rPr lang="zh-CN" altLang="en-US" sz="1600" dirty="0"/>
                  <a:t>扇形里的点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</a:t>
                </a:r>
              </a:p>
              <a:p>
                <a:r>
                  <a:rPr lang="zh-CN" altLang="en-US" sz="1600" dirty="0"/>
                  <a:t>满足这个方程：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charset="0"/>
                      </a:rPr>
                      <m:t>≤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2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这其实是个圆的方程；圆心在原点，半径是</a:t>
                </a:r>
                <a:r>
                  <a:rPr lang="en-US" altLang="zh-CN" sz="1600" dirty="0"/>
                  <a:t>2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如果一个点在这个扇形里，那么点必须满足这个方程：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𝑥</a:t>
                </a:r>
                <a:r>
                  <a:rPr lang="en-US" altLang="zh-CN" sz="1600" i="0" smtClean="0">
                    <a:solidFill>
                      <a:srgbClr val="FF0000"/>
                    </a:solidFill>
                    <a:latin typeface="Cambria Math" charset="0"/>
                  </a:rPr>
                  <a:t>^</a:t>
                </a:r>
                <a:r>
                  <a:rPr lang="en-US" altLang="zh-CN" sz="1600" i="0">
                    <a:latin typeface="Cambria Math" charset="0"/>
                  </a:rPr>
                  <a:t>2+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𝑦^</a:t>
                </a:r>
                <a:r>
                  <a:rPr lang="en-US" altLang="zh-CN" sz="1600" i="0">
                    <a:latin typeface="Cambria Math" charset="0"/>
                  </a:rPr>
                  <a:t>2≤</a:t>
                </a:r>
                <a:r>
                  <a:rPr lang="en-US" altLang="zh-CN" sz="1600" b="0" i="0" smtClean="0">
                    <a:latin typeface="Cambria Math" charset="0"/>
                  </a:rPr>
                  <a:t>2^2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圆心是原点，半径是</a:t>
                </a:r>
                <a:r>
                  <a:rPr lang="en-US" altLang="zh-CN" sz="1600" dirty="0" smtClean="0"/>
                  <a:t>2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01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A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point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in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shadow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must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satisfy</a:t>
                </a:r>
                <a:r>
                  <a:rPr lang="zh-CN" altLang="en-US" sz="160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two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conditions.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First,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must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inside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circle.</a:t>
                </a:r>
                <a:endParaRPr lang="en-US" altLang="zh-CN" sz="1600" dirty="0"/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(x,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y)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satisfies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that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altLang="zh-CN" sz="1600" i="1">
                                <a:latin typeface="Cambria Math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  <m:r>
                              <a:rPr lang="en-US" altLang="zh-CN" sz="1600" i="1">
                                <a:latin typeface="Cambria Math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charset="0"/>
                      </a:rPr>
                      <m:t>≤1</m:t>
                    </m:r>
                  </m:oMath>
                </a14:m>
                <a:r>
                  <a:rPr lang="en-US" altLang="zh-CN" sz="1600" dirty="0"/>
                  <a:t>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阴影部分中的点必须满足两个条件。</a:t>
                </a:r>
                <a:endParaRPr lang="en-US" altLang="zh-CN" sz="1600" dirty="0"/>
              </a:p>
              <a:p>
                <a:r>
                  <a:rPr lang="zh-CN" altLang="en-US" sz="1600" dirty="0"/>
                  <a:t>第一，必须在这个半径等于</a:t>
                </a:r>
                <a:r>
                  <a:rPr lang="en-US" altLang="zh-CN" sz="1600" dirty="0"/>
                  <a:t>1</a:t>
                </a:r>
                <a:r>
                  <a:rPr lang="zh-CN" altLang="en-US" sz="1600" dirty="0"/>
                  <a:t>的圆形里面，</a:t>
                </a:r>
                <a:endParaRPr lang="en-US" altLang="zh-CN" sz="1600" dirty="0"/>
              </a:p>
              <a:p>
                <a:r>
                  <a:rPr lang="zh-CN" altLang="en-US" sz="1600" dirty="0"/>
                  <a:t>所以要满足方程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altLang="zh-CN" sz="1600" i="1">
                                <a:latin typeface="Cambria Math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  <m:r>
                              <a:rPr lang="en-US" altLang="zh-CN" sz="1600" i="1">
                                <a:latin typeface="Cambria Math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charset="0"/>
                      </a:rPr>
                      <m:t>≤1</m:t>
                    </m:r>
                  </m:oMath>
                </a14:m>
                <a:r>
                  <a:rPr lang="zh-CN" altLang="en-US" sz="1600" dirty="0"/>
                  <a:t>。</a:t>
                </a:r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阴影部分中的点必须满足两个条件。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第一，必须在这个半径等于</a:t>
                </a:r>
                <a:r>
                  <a:rPr lang="en-US" altLang="zh-CN" sz="1600" dirty="0" smtClean="0"/>
                  <a:t>1</a:t>
                </a:r>
                <a:r>
                  <a:rPr lang="zh-CN" altLang="en-US" sz="1600" dirty="0" smtClean="0"/>
                  <a:t>的圆形里面，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所以要满足方程</a:t>
                </a:r>
                <a:r>
                  <a:rPr lang="en-US" altLang="zh-CN" sz="1600" i="0">
                    <a:latin typeface="Cambria Math" charset="0"/>
                  </a:rPr>
                  <a:t>(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𝑥</a:t>
                </a:r>
                <a:r>
                  <a:rPr lang="en-US" altLang="zh-CN" sz="1600" i="0">
                    <a:latin typeface="Cambria Math" charset="0"/>
                  </a:rPr>
                  <a:t>−1)</a:t>
                </a:r>
                <a:r>
                  <a:rPr lang="en-US" altLang="zh-CN" sz="1600" i="0" smtClean="0">
                    <a:latin typeface="Cambria Math" charset="0"/>
                  </a:rPr>
                  <a:t>^</a:t>
                </a:r>
                <a:r>
                  <a:rPr lang="en-US" altLang="zh-CN" sz="1600" i="0">
                    <a:latin typeface="Cambria Math" charset="0"/>
                  </a:rPr>
                  <a:t>2+(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𝑦</a:t>
                </a:r>
                <a:r>
                  <a:rPr lang="en-US" altLang="zh-CN" sz="1600" i="0">
                    <a:latin typeface="Cambria Math" charset="0"/>
                  </a:rPr>
                  <a:t>−1)^2≤1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</a:t>
                </a:r>
              </a:p>
              <a:p>
                <a:r>
                  <a:rPr lang="zh-CN" altLang="en-US" sz="1600" dirty="0" smtClean="0"/>
                  <a:t>第二，不能在扇形里。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所以要满足方程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𝑥</a:t>
                </a:r>
                <a:r>
                  <a:rPr lang="en-US" altLang="zh-CN" sz="1600" i="0" smtClean="0">
                    <a:solidFill>
                      <a:srgbClr val="FF0000"/>
                    </a:solidFill>
                    <a:latin typeface="Cambria Math" charset="0"/>
                  </a:rPr>
                  <a:t>^</a:t>
                </a:r>
                <a:r>
                  <a:rPr lang="en-US" altLang="zh-CN" sz="1600" i="0">
                    <a:latin typeface="Cambria Math" charset="0"/>
                  </a:rPr>
                  <a:t>2+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𝑦^</a:t>
                </a:r>
                <a:r>
                  <a:rPr lang="en-US" altLang="zh-CN" sz="1600" i="0">
                    <a:latin typeface="Cambria Math" charset="0"/>
                  </a:rPr>
                  <a:t>2</a:t>
                </a:r>
                <a:r>
                  <a:rPr lang="en-US" altLang="zh-CN" sz="1600" b="0" i="0" smtClean="0">
                    <a:latin typeface="Cambria Math" charset="0"/>
                  </a:rPr>
                  <a:t>&gt;</a:t>
                </a:r>
                <a:r>
                  <a:rPr lang="en-US" altLang="zh-CN" sz="1600" i="0">
                    <a:latin typeface="Cambria Math" charset="0"/>
                  </a:rPr>
                  <a:t>2^2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阴影部分包括所有 同时满足两个条件的点。</a:t>
                </a:r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7606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Second,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point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must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be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outside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quarter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circle.</a:t>
                </a:r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Thus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(x,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y)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satisfies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that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charset="0"/>
                      </a:rPr>
                      <m:t>&gt;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600" dirty="0"/>
                  <a:t>.</a:t>
                </a:r>
              </a:p>
              <a:p>
                <a:r>
                  <a:rPr lang="en-US" altLang="zh-CN" sz="1600" dirty="0"/>
                  <a:t>----</a:t>
                </a:r>
              </a:p>
              <a:p>
                <a:r>
                  <a:rPr lang="en-US" altLang="zh-CN" sz="1600" dirty="0"/>
                  <a:t>All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points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satisfying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two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conditions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grey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region.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第二，不能在扇形里。</a:t>
                </a:r>
                <a:endParaRPr lang="en-US" altLang="zh-CN" sz="1600" dirty="0"/>
              </a:p>
              <a:p>
                <a:r>
                  <a:rPr lang="zh-CN" altLang="en-US" sz="1600" dirty="0"/>
                  <a:t>所以要满足方程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charset="0"/>
                      </a:rPr>
                      <m:t>&gt;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-----</a:t>
                </a:r>
              </a:p>
              <a:p>
                <a:r>
                  <a:rPr lang="zh-CN" altLang="en-US" sz="1600" dirty="0"/>
                  <a:t>阴影部分</a:t>
                </a:r>
                <a:r>
                  <a:rPr lang="zh-CN" altLang="en-US" sz="1600" baseline="0" dirty="0"/>
                  <a:t> 由</a:t>
                </a:r>
                <a:r>
                  <a:rPr lang="zh-CN" altLang="en-US" sz="1600" dirty="0"/>
                  <a:t> 同时满足两个方程的点 组成。</a:t>
                </a: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阴影部分中的点必须满足两个条件。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第一，必须在这个半径等于</a:t>
                </a:r>
                <a:r>
                  <a:rPr lang="en-US" altLang="zh-CN" sz="1600" dirty="0" smtClean="0"/>
                  <a:t>1</a:t>
                </a:r>
                <a:r>
                  <a:rPr lang="zh-CN" altLang="en-US" sz="1600" dirty="0" smtClean="0"/>
                  <a:t>的圆形里面，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所以要满足方程</a:t>
                </a:r>
                <a:r>
                  <a:rPr lang="en-US" altLang="zh-CN" sz="1600" i="0">
                    <a:latin typeface="Cambria Math" charset="0"/>
                  </a:rPr>
                  <a:t>(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𝑥</a:t>
                </a:r>
                <a:r>
                  <a:rPr lang="en-US" altLang="zh-CN" sz="1600" i="0">
                    <a:latin typeface="Cambria Math" charset="0"/>
                  </a:rPr>
                  <a:t>−1)</a:t>
                </a:r>
                <a:r>
                  <a:rPr lang="en-US" altLang="zh-CN" sz="1600" i="0" smtClean="0">
                    <a:latin typeface="Cambria Math" charset="0"/>
                  </a:rPr>
                  <a:t>^</a:t>
                </a:r>
                <a:r>
                  <a:rPr lang="en-US" altLang="zh-CN" sz="1600" i="0">
                    <a:latin typeface="Cambria Math" charset="0"/>
                  </a:rPr>
                  <a:t>2+(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𝑦</a:t>
                </a:r>
                <a:r>
                  <a:rPr lang="en-US" altLang="zh-CN" sz="1600" i="0">
                    <a:latin typeface="Cambria Math" charset="0"/>
                  </a:rPr>
                  <a:t>−1)^2≤1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</a:t>
                </a:r>
              </a:p>
              <a:p>
                <a:r>
                  <a:rPr lang="zh-CN" altLang="en-US" sz="1600" dirty="0" smtClean="0"/>
                  <a:t>第二，不能在扇形里。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所以要满足方程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𝑥</a:t>
                </a:r>
                <a:r>
                  <a:rPr lang="en-US" altLang="zh-CN" sz="1600" i="0" smtClean="0">
                    <a:solidFill>
                      <a:srgbClr val="FF0000"/>
                    </a:solidFill>
                    <a:latin typeface="Cambria Math" charset="0"/>
                  </a:rPr>
                  <a:t>^</a:t>
                </a:r>
                <a:r>
                  <a:rPr lang="en-US" altLang="zh-CN" sz="1600" i="0">
                    <a:latin typeface="Cambria Math" charset="0"/>
                  </a:rPr>
                  <a:t>2+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𝑦^</a:t>
                </a:r>
                <a:r>
                  <a:rPr lang="en-US" altLang="zh-CN" sz="1600" i="0">
                    <a:latin typeface="Cambria Math" charset="0"/>
                  </a:rPr>
                  <a:t>2</a:t>
                </a:r>
                <a:r>
                  <a:rPr lang="en-US" altLang="zh-CN" sz="1600" b="0" i="0" smtClean="0">
                    <a:latin typeface="Cambria Math" charset="0"/>
                  </a:rPr>
                  <a:t>&gt;</a:t>
                </a:r>
                <a:r>
                  <a:rPr lang="en-US" altLang="zh-CN" sz="1600" i="0">
                    <a:latin typeface="Cambria Math" charset="0"/>
                  </a:rPr>
                  <a:t>2^2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阴影部分包括所有 同时满足两个条件的点。</a:t>
                </a:r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5180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sample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from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square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uniformly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random.</a:t>
                </a:r>
              </a:p>
              <a:p>
                <a:r>
                  <a:rPr lang="en-US" altLang="zh-CN" sz="1600" baseline="0" dirty="0"/>
                  <a:t>Everywhere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square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sampled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with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probability.</a:t>
                </a:r>
              </a:p>
              <a:p>
                <a:r>
                  <a:rPr lang="en-US" altLang="zh-CN" sz="1600" baseline="0" dirty="0"/>
                  <a:t>Let’s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calculate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probability.</a:t>
                </a:r>
              </a:p>
              <a:p>
                <a:r>
                  <a:rPr lang="en-US" altLang="zh-CN" sz="1600" baseline="0" dirty="0"/>
                  <a:t>=====================</a:t>
                </a:r>
              </a:p>
              <a:p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sides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square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have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lengths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2.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=====================</a:t>
                </a:r>
              </a:p>
              <a:p>
                <a:r>
                  <a:rPr lang="en-US" altLang="zh-CN" sz="1600" dirty="0"/>
                  <a:t>So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dirty="0"/>
                  <a:t>area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of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square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charset="0"/>
                      </a:rPr>
                      <m:t>=4</m:t>
                    </m:r>
                  </m:oMath>
                </a14:m>
                <a:r>
                  <a:rPr lang="en-US" altLang="zh-CN" sz="1600" dirty="0"/>
                  <a:t>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我们从正方形区域内 随机均匀抽样，得到的点有一定概率会落在阴影部分。</a:t>
                </a:r>
                <a:endParaRPr lang="en-US" altLang="zh-CN" sz="1600" dirty="0"/>
              </a:p>
              <a:p>
                <a:r>
                  <a:rPr lang="zh-CN" altLang="en-US" sz="1600" dirty="0"/>
                  <a:t>我们来计算这个概率。</a:t>
                </a:r>
                <a:endParaRPr lang="en-US" altLang="zh-CN" sz="1600" dirty="0"/>
              </a:p>
              <a:p>
                <a:r>
                  <a:rPr lang="en-US" altLang="zh-CN" sz="1600" baseline="0" dirty="0"/>
                  <a:t>=====================</a:t>
                </a:r>
                <a:endParaRPr lang="en-US" altLang="zh-CN" sz="1600" dirty="0"/>
              </a:p>
              <a:p>
                <a:r>
                  <a:rPr lang="zh-CN" altLang="en-US" sz="1600" dirty="0"/>
                  <a:t>这个边长等于</a:t>
                </a:r>
                <a:r>
                  <a:rPr lang="en-US" altLang="zh-CN" sz="1600" dirty="0"/>
                  <a:t>2</a:t>
                </a:r>
                <a:r>
                  <a:rPr lang="zh-CN" altLang="en-US" sz="1600" dirty="0"/>
                  <a:t>的正方形面积是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charset="0"/>
                      </a:rPr>
                      <m:t>=4</m:t>
                    </m:r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=====================</a:t>
                </a:r>
              </a:p>
              <a:p>
                <a:r>
                  <a:rPr lang="zh-CN" altLang="en-US" sz="1600" dirty="0"/>
                  <a:t>设阴影部分面积为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这个边长等于</a:t>
                </a:r>
                <a:r>
                  <a:rPr lang="en-US" altLang="zh-CN" sz="1600" dirty="0" smtClean="0"/>
                  <a:t>2</a:t>
                </a:r>
                <a:r>
                  <a:rPr lang="zh-CN" altLang="en-US" sz="1600" dirty="0" smtClean="0"/>
                  <a:t>的正方形面积是</a:t>
                </a:r>
                <a:r>
                  <a:rPr lang="en-US" altLang="zh-CN" sz="1600" i="0">
                    <a:latin typeface="Cambria Math" charset="0"/>
                  </a:rPr>
                  <a:t>𝐴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1=2^2=4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设阴影部分面积为</a:t>
                </a:r>
                <a:r>
                  <a:rPr lang="en-US" altLang="zh-CN" sz="1600" i="0">
                    <a:latin typeface="Cambria Math" charset="0"/>
                  </a:rPr>
                  <a:t>𝐴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2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</a:t>
                </a:r>
              </a:p>
              <a:p>
                <a:r>
                  <a:rPr lang="zh-CN" altLang="en-US" sz="1600" dirty="0" smtClean="0"/>
                  <a:t>如果我们做</a:t>
                </a:r>
                <a:r>
                  <a:rPr lang="zh-CN" altLang="en-US" sz="1600" dirty="0" smtClean="0"/>
                  <a:t>随机</a:t>
                </a:r>
                <a:r>
                  <a:rPr lang="zh-CN" altLang="en-US" sz="1600" dirty="0" smtClean="0"/>
                  <a:t>均匀抽样，从正方形区域内 </a:t>
                </a:r>
                <a:r>
                  <a:rPr lang="zh-CN" altLang="en-US" sz="1600" dirty="0" smtClean="0"/>
                  <a:t>随机抽一个点，那么这个点落在阴影部分的概率是</a:t>
                </a:r>
                <a:r>
                  <a:rPr lang="en-US" altLang="zh-CN" sz="1600" b="0" i="0" smtClean="0">
                    <a:latin typeface="Cambria Math" charset="0"/>
                  </a:rPr>
                  <a:t>𝑃=</a:t>
                </a:r>
                <a:r>
                  <a:rPr lang="en-US" altLang="zh-CN" sz="1600" b="0" i="0" smtClean="0">
                    <a:latin typeface="Cambria Math" charset="0"/>
                  </a:rPr>
                  <a:t>𝐴_2/𝐴_1 =𝐴_2/4</a:t>
                </a:r>
                <a:r>
                  <a:rPr lang="zh-CN" altLang="en-US" sz="1600" dirty="0" smtClean="0"/>
                  <a:t>。</a:t>
                </a:r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870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Denote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area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of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grey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region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by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what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seek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find.</a:t>
                </a:r>
              </a:p>
              <a:p>
                <a:r>
                  <a:rPr lang="en-US" altLang="zh-CN" sz="1600" baseline="0" dirty="0"/>
                  <a:t>=====================</a:t>
                </a:r>
                <a:endParaRPr lang="en-US" altLang="zh-CN" sz="1600" dirty="0"/>
              </a:p>
              <a:p>
                <a:pPr>
                  <a:spcAft>
                    <a:spcPts val="600"/>
                  </a:spcAft>
                </a:pPr>
                <a:r>
                  <a:rPr lang="en-US" altLang="zh-CN" sz="1600" dirty="0"/>
                  <a:t>A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point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uniformly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sampled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from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square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falls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inside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grey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region</a:t>
                </a:r>
                <a:r>
                  <a:rPr lang="zh-CN" altLang="en-US" sz="1600" dirty="0"/>
                  <a:t> 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=====================</a:t>
                </a:r>
                <a:endParaRPr lang="en-US" altLang="zh-CN" sz="1600" dirty="0"/>
              </a:p>
              <a:p>
                <a:pPr>
                  <a:spcAft>
                    <a:spcPts val="600"/>
                  </a:spcAft>
                </a:pPr>
                <a:r>
                  <a:rPr lang="en-US" altLang="zh-CN" sz="1600" dirty="0" err="1"/>
                  <a:t>w.p</a:t>
                </a:r>
                <a:r>
                  <a:rPr lang="en-US" altLang="zh-CN" sz="1600" dirty="0"/>
                  <a:t>.</a:t>
                </a:r>
                <a:r>
                  <a:rPr lang="zh-CN" altLang="en-US" sz="1600" baseline="0" dirty="0"/>
                  <a:t> 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𝑃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16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1600" b="0" i="1" smtClean="0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1600" dirty="0"/>
                  <a:t>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设阴影部分面积为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baseline="0" dirty="0"/>
                  <a:t>=====================</a:t>
                </a:r>
                <a:endParaRPr lang="en-US" altLang="zh-CN" sz="1600" dirty="0"/>
              </a:p>
              <a:p>
                <a:r>
                  <a:rPr lang="zh-CN" altLang="en-US" sz="1600" dirty="0"/>
                  <a:t>随机均匀抽样得到的点  落在阴影区域的  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=====================</a:t>
                </a:r>
                <a:endParaRPr lang="en-US" altLang="zh-CN" sz="1600" dirty="0"/>
              </a:p>
              <a:p>
                <a:r>
                  <a:rPr lang="zh-CN" altLang="en-US" sz="1600" dirty="0"/>
                  <a:t>概率是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𝑃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16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1600" b="0" i="1" smtClean="0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这个边长等于</a:t>
                </a:r>
                <a:r>
                  <a:rPr lang="en-US" altLang="zh-CN" sz="1600" dirty="0" smtClean="0"/>
                  <a:t>2</a:t>
                </a:r>
                <a:r>
                  <a:rPr lang="zh-CN" altLang="en-US" sz="1600" dirty="0" smtClean="0"/>
                  <a:t>的正方形面积是</a:t>
                </a:r>
                <a:r>
                  <a:rPr lang="en-US" altLang="zh-CN" sz="1600" i="0">
                    <a:latin typeface="Cambria Math" charset="0"/>
                  </a:rPr>
                  <a:t>𝐴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1=2^2=4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设阴影部分面积为</a:t>
                </a:r>
                <a:r>
                  <a:rPr lang="en-US" altLang="zh-CN" sz="1600" i="0">
                    <a:latin typeface="Cambria Math" charset="0"/>
                  </a:rPr>
                  <a:t>𝐴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2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</a:t>
                </a:r>
              </a:p>
              <a:p>
                <a:r>
                  <a:rPr lang="zh-CN" altLang="en-US" sz="1600" dirty="0" smtClean="0"/>
                  <a:t>如果我们做</a:t>
                </a:r>
                <a:r>
                  <a:rPr lang="zh-CN" altLang="en-US" sz="1600" dirty="0" smtClean="0"/>
                  <a:t>随机</a:t>
                </a:r>
                <a:r>
                  <a:rPr lang="zh-CN" altLang="en-US" sz="1600" dirty="0" smtClean="0"/>
                  <a:t>均匀抽样，从正方形区域内 </a:t>
                </a:r>
                <a:r>
                  <a:rPr lang="zh-CN" altLang="en-US" sz="1600" dirty="0" smtClean="0"/>
                  <a:t>随机抽一个点，那么这个点落在阴影部分的概率是</a:t>
                </a:r>
                <a:r>
                  <a:rPr lang="en-US" altLang="zh-CN" sz="1600" b="0" i="0" smtClean="0">
                    <a:latin typeface="Cambria Math" charset="0"/>
                  </a:rPr>
                  <a:t>𝑃=</a:t>
                </a:r>
                <a:r>
                  <a:rPr lang="en-US" altLang="zh-CN" sz="1600" b="0" i="0" smtClean="0">
                    <a:latin typeface="Cambria Math" charset="0"/>
                  </a:rPr>
                  <a:t>𝐴_2/𝐴_1 =𝐴_2/4</a:t>
                </a:r>
                <a:r>
                  <a:rPr lang="zh-CN" altLang="en-US" sz="1600" dirty="0" smtClean="0"/>
                  <a:t>。</a:t>
                </a:r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679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Let’s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uniformly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sample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points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from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square.</a:t>
                </a:r>
              </a:p>
              <a:p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number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up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user.</a:t>
                </a:r>
              </a:p>
              <a:p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big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good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accuracy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but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bad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computation.</a:t>
                </a:r>
              </a:p>
              <a:p>
                <a:r>
                  <a:rPr lang="en-US" altLang="zh-CN" sz="1600" baseline="0" dirty="0"/>
                  <a:t>========</a:t>
                </a:r>
              </a:p>
              <a:p>
                <a:r>
                  <a:rPr lang="en-US" altLang="zh-CN" sz="1600" baseline="0" dirty="0"/>
                  <a:t>There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total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randomly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sampled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points.</a:t>
                </a:r>
              </a:p>
              <a:p>
                <a:r>
                  <a:rPr lang="en-US" altLang="zh-CN" sz="1600" baseline="0" dirty="0"/>
                  <a:t>Every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falls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grey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region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with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probability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</a:t>
                </a:r>
              </a:p>
              <a:p>
                <a:r>
                  <a:rPr lang="en-US" altLang="zh-CN" sz="1600" baseline="0" dirty="0"/>
                  <a:t>Thus,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dirty="0"/>
                  <a:t>In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expectation,</a:t>
                </a:r>
                <a:r>
                  <a:rPr lang="zh-CN" altLang="en-US" sz="1600" dirty="0"/>
                  <a:t> </a:t>
                </a:r>
                <a:r>
                  <a:rPr lang="en-US" altLang="zh-CN" sz="1600" dirty="0" err="1"/>
                  <a:t>nP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points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fall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grey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region.</a:t>
                </a:r>
              </a:p>
              <a:p>
                <a:r>
                  <a:rPr lang="en-US" altLang="zh-CN" sz="160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probability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equal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1600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1600" dirty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</a:t>
                </a:r>
              </a:p>
              <a:p>
                <a:r>
                  <a:rPr lang="en-US" altLang="zh-CN" sz="1600" dirty="0"/>
                  <a:t>So</a:t>
                </a:r>
                <a:r>
                  <a:rPr lang="zh-CN" altLang="en-US" sz="1600" dirty="0"/>
                  <a:t> </a:t>
                </a:r>
                <a:r>
                  <a:rPr lang="en-US" altLang="zh-CN" sz="1600" dirty="0" err="1"/>
                  <a:t>nP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equal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  <m:r>
                          <a:rPr lang="zh-CN" altLang="en-US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1600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1600" dirty="0"/>
                  <a:t>.</a:t>
                </a:r>
              </a:p>
              <a:p>
                <a:r>
                  <a:rPr lang="en-US" altLang="zh-CN" sz="1600" dirty="0"/>
                  <a:t>It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expected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number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of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points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grey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region.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我们从这个正方形里随机抽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个点。</a:t>
                </a:r>
                <a:endParaRPr lang="en-US" altLang="zh-CN" sz="1600" dirty="0"/>
              </a:p>
              <a:p>
                <a:r>
                  <a:rPr lang="en-US" altLang="zh-CN" sz="1600" dirty="0"/>
                  <a:t>N</a:t>
                </a:r>
                <a:r>
                  <a:rPr lang="zh-CN" altLang="en-US" sz="1600" dirty="0"/>
                  <a:t>越大越好，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越大 则 估计越准确。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</a:t>
                </a:r>
              </a:p>
              <a:p>
                <a:r>
                  <a:rPr lang="zh-CN" altLang="en-US" sz="1600" dirty="0"/>
                  <a:t>一共有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个点，每个点落在阴影部分的概率是</a:t>
                </a:r>
                <a:r>
                  <a:rPr lang="en-US" altLang="zh-CN" sz="1600" dirty="0"/>
                  <a:t>P</a:t>
                </a:r>
                <a:r>
                  <a:rPr lang="zh-CN" altLang="en-US" sz="1600" dirty="0"/>
                  <a:t>，所以期望一共有</a:t>
                </a:r>
                <a:r>
                  <a:rPr lang="en-US" altLang="zh-CN" sz="1600" dirty="0" err="1"/>
                  <a:t>nP</a:t>
                </a:r>
                <a:r>
                  <a:rPr lang="zh-CN" altLang="en-US" sz="1600" dirty="0"/>
                  <a:t>个点落在阴影区域。</a:t>
                </a:r>
                <a:endParaRPr lang="en-US" altLang="zh-CN" sz="1600" dirty="0"/>
              </a:p>
              <a:p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𝑃</m:t>
                    </m:r>
                  </m:oMath>
                </a14:m>
                <a:r>
                  <a:rPr lang="zh-CN" altLang="en-US" sz="1600" dirty="0"/>
                  <a:t> 等于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  <m:r>
                          <a:rPr lang="zh-CN" altLang="en-US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1600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我们从这个正方形里随机抽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个点。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越大越好，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越大 则 估计越准确。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</a:t>
                </a:r>
              </a:p>
              <a:p>
                <a:r>
                  <a:rPr lang="zh-CN" altLang="en-US" sz="1600" dirty="0" smtClean="0"/>
                  <a:t>一共有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个点，每个点落在阴影部分的概率是</a:t>
                </a:r>
                <a:r>
                  <a:rPr lang="en-US" altLang="zh-CN" sz="1600" dirty="0" smtClean="0"/>
                  <a:t>P</a:t>
                </a:r>
                <a:r>
                  <a:rPr lang="zh-CN" altLang="en-US" sz="1600" dirty="0" smtClean="0"/>
                  <a:t>，所以期望一共有</a:t>
                </a:r>
                <a:r>
                  <a:rPr lang="en-US" altLang="zh-CN" sz="1600" dirty="0" err="1" smtClean="0"/>
                  <a:t>nP</a:t>
                </a:r>
                <a:r>
                  <a:rPr lang="zh-CN" altLang="en-US" sz="1600" dirty="0" smtClean="0"/>
                  <a:t>个点落在阴影区域。</a:t>
                </a:r>
                <a:endParaRPr lang="en-US" altLang="zh-CN" sz="1600" dirty="0" smtClean="0"/>
              </a:p>
              <a:p>
                <a:r>
                  <a:rPr lang="en-US" altLang="zh-CN" sz="1600" i="0" smtClean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en-US" altLang="zh-CN" sz="1600" b="0" i="0" smtClean="0">
                    <a:latin typeface="Cambria Math" charset="0"/>
                  </a:rPr>
                  <a:t>𝑃</a:t>
                </a:r>
                <a:r>
                  <a:rPr lang="zh-CN" altLang="en-US" sz="1600" dirty="0" smtClean="0"/>
                  <a:t> 等于 </a:t>
                </a:r>
                <a:r>
                  <a:rPr lang="en-US" altLang="zh-CN" sz="1600" i="0" smtClean="0">
                    <a:latin typeface="Cambria Math" charset="0"/>
                  </a:rPr>
                  <a:t>(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zh-CN" altLang="en-US" sz="1600" b="0" i="0" smtClean="0">
                    <a:solidFill>
                      <a:srgbClr val="C00000"/>
                    </a:solidFill>
                    <a:latin typeface="Cambria Math" charset="0"/>
                  </a:rPr>
                  <a:t> </a:t>
                </a:r>
                <a:r>
                  <a:rPr lang="en-US" altLang="zh-CN" sz="1600" i="0">
                    <a:latin typeface="Cambria Math" charset="0"/>
                  </a:rPr>
                  <a:t>𝐴_2</a:t>
                </a:r>
                <a:r>
                  <a:rPr lang="en-US" altLang="zh-CN" sz="1600" i="0" smtClean="0">
                    <a:latin typeface="Cambria Math" charset="0"/>
                  </a:rPr>
                  <a:t>)/</a:t>
                </a:r>
                <a:r>
                  <a:rPr lang="en-US" altLang="zh-CN" sz="1600" i="0">
                    <a:latin typeface="Cambria Math" charset="0"/>
                  </a:rPr>
                  <a:t>4</a:t>
                </a:r>
                <a:r>
                  <a:rPr lang="zh-CN" altLang="en-US" sz="1600" dirty="0" smtClean="0"/>
                  <a:t>。</a:t>
                </a:r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636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can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write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program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randomly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sample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points.</a:t>
                </a:r>
              </a:p>
              <a:p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observe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points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grey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region.</a:t>
                </a:r>
              </a:p>
              <a:p>
                <a:r>
                  <a:rPr lang="en-US" altLang="zh-CN" sz="1600" dirty="0"/>
                  <a:t>=======</a:t>
                </a:r>
              </a:p>
              <a:p>
                <a:r>
                  <a:rPr lang="en-US" altLang="zh-CN" sz="1600" dirty="0"/>
                  <a:t>If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big,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close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  <m:r>
                          <a:rPr lang="zh-CN" altLang="en-US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1600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1600" dirty="0"/>
                  <a:t>.</a:t>
                </a:r>
              </a:p>
              <a:p>
                <a:r>
                  <a:rPr lang="en-US" altLang="zh-CN" sz="1600" dirty="0"/>
                  <a:t>Recall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that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actual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observation,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  <m:r>
                          <a:rPr lang="zh-CN" altLang="en-US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1600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expectation.</a:t>
                </a:r>
              </a:p>
              <a:p>
                <a:r>
                  <a:rPr lang="en-US" altLang="zh-CN" sz="1600" dirty="0"/>
                  <a:t>=======</a:t>
                </a:r>
              </a:p>
              <a:p>
                <a:r>
                  <a:rPr lang="en-US" altLang="zh-CN" sz="1600" dirty="0"/>
                  <a:t>Equivalently,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grey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region,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/>
                  <a:t>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approximately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charset="0"/>
                          </a:rPr>
                          <m:t>4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sz="1600" dirty="0"/>
                  <a:t>.</a:t>
                </a:r>
              </a:p>
              <a:p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use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estimate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area.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/>
                  <a:t>我们可以用前面定义的两个方程来判断点在不在阴影部分。</a:t>
                </a:r>
                <a:endParaRPr lang="en-US" altLang="zh-CN" sz="1600" dirty="0"/>
              </a:p>
              <a:p>
                <a:r>
                  <a:rPr lang="zh-CN" altLang="en-US" sz="1600" dirty="0"/>
                  <a:t>我们运行程序，发现实际上有</a:t>
                </a:r>
                <a:r>
                  <a:rPr lang="en-US" altLang="zh-CN" sz="1600" dirty="0"/>
                  <a:t>m</a:t>
                </a:r>
                <a:r>
                  <a:rPr lang="zh-CN" altLang="en-US" sz="1600" dirty="0"/>
                  <a:t>个点落在阴影区域里。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============</a:t>
                </a:r>
              </a:p>
              <a:p>
                <a:r>
                  <a:rPr lang="zh-CN" altLang="en-US" sz="1600" dirty="0"/>
                  <a:t>如果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很大，那么</a:t>
                </a:r>
                <a:r>
                  <a:rPr lang="en-US" altLang="zh-CN" sz="1600" dirty="0"/>
                  <a:t>m</a:t>
                </a:r>
                <a:r>
                  <a:rPr lang="zh-CN" altLang="en-US" sz="1600" dirty="0"/>
                  <a:t>应该接近 期望。</a:t>
                </a:r>
                <a:endParaRPr lang="en-US" altLang="zh-CN" sz="1600" dirty="0"/>
              </a:p>
              <a:p>
                <a:r>
                  <a:rPr lang="zh-CN" altLang="en-US" sz="1600" dirty="0"/>
                  <a:t>前面计算出的期望等于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  <m:r>
                          <a:rPr lang="zh-CN" altLang="en-US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1600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所以我们得到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𝑚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≈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  <m:r>
                          <a:rPr lang="zh-CN" altLang="en-US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1600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===========</a:t>
                </a:r>
              </a:p>
              <a:p>
                <a:r>
                  <a:rPr lang="zh-CN" altLang="en-US" sz="1600" dirty="0"/>
                  <a:t>把等式变换一下，得到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charset="0"/>
                      </a:rPr>
                      <m:t>≈</m:t>
                    </m:r>
                    <m:f>
                      <m:f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charset="0"/>
                          </a:rPr>
                          <m:t>4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这就是对阴影部分面积的估计。</a:t>
                </a: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我们运行程序，发现实际上有</a:t>
                </a:r>
                <a:r>
                  <a:rPr lang="en-US" altLang="zh-CN" sz="1600" dirty="0" smtClean="0"/>
                  <a:t>m</a:t>
                </a:r>
                <a:r>
                  <a:rPr lang="zh-CN" altLang="en-US" sz="1600" dirty="0" smtClean="0"/>
                  <a:t>个点落在阴影部分里。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我们可以用前面定义的两个方程来判断点在不在阴影部分。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</a:t>
                </a:r>
              </a:p>
              <a:p>
                <a:r>
                  <a:rPr lang="zh-CN" altLang="en-US" sz="1600" dirty="0" smtClean="0"/>
                  <a:t>如果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很大，那么</a:t>
                </a:r>
                <a:r>
                  <a:rPr lang="en-US" altLang="zh-CN" sz="1600" dirty="0" smtClean="0"/>
                  <a:t>m</a:t>
                </a:r>
                <a:r>
                  <a:rPr lang="zh-CN" altLang="en-US" sz="1600" dirty="0" smtClean="0"/>
                  <a:t>应该接近 期望。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前面计算出的期望等于 </a:t>
                </a:r>
                <a:r>
                  <a:rPr lang="en-US" altLang="zh-CN" sz="1600" i="0" smtClean="0">
                    <a:latin typeface="Cambria Math" charset="0"/>
                  </a:rPr>
                  <a:t>(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zh-CN" altLang="en-US" sz="1600" b="0" i="0" smtClean="0">
                    <a:solidFill>
                      <a:srgbClr val="C00000"/>
                    </a:solidFill>
                    <a:latin typeface="Cambria Math" charset="0"/>
                  </a:rPr>
                  <a:t> </a:t>
                </a:r>
                <a:r>
                  <a:rPr lang="en-US" altLang="zh-CN" sz="1600" i="0">
                    <a:latin typeface="Cambria Math" charset="0"/>
                  </a:rPr>
                  <a:t>𝐴_2</a:t>
                </a:r>
                <a:r>
                  <a:rPr lang="en-US" altLang="zh-CN" sz="1600" i="0" smtClean="0">
                    <a:latin typeface="Cambria Math" charset="0"/>
                  </a:rPr>
                  <a:t>)/</a:t>
                </a:r>
                <a:r>
                  <a:rPr lang="en-US" altLang="zh-CN" sz="1600" i="0">
                    <a:latin typeface="Cambria Math" charset="0"/>
                  </a:rPr>
                  <a:t>4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所以我们得到</a:t>
                </a:r>
                <a:r>
                  <a:rPr lang="en-US" altLang="zh-CN" sz="1600" b="0" i="0" smtClean="0">
                    <a:solidFill>
                      <a:srgbClr val="C00000"/>
                    </a:solidFill>
                    <a:latin typeface="Cambria Math" charset="0"/>
                  </a:rPr>
                  <a:t>𝑚</a:t>
                </a:r>
                <a:r>
                  <a:rPr lang="en-US" altLang="zh-CN" sz="1600" b="0" i="0" smtClean="0">
                    <a:latin typeface="Cambria Math" charset="0"/>
                  </a:rPr>
                  <a:t>≈</a:t>
                </a:r>
                <a:r>
                  <a:rPr lang="en-US" altLang="zh-CN" sz="1600" i="0">
                    <a:latin typeface="Cambria Math" charset="0"/>
                  </a:rPr>
                  <a:t>(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zh-CN" altLang="en-US" sz="1600" b="0" i="0" smtClean="0">
                    <a:solidFill>
                      <a:srgbClr val="C00000"/>
                    </a:solidFill>
                    <a:latin typeface="Cambria Math" charset="0"/>
                  </a:rPr>
                  <a:t> </a:t>
                </a:r>
                <a:r>
                  <a:rPr lang="en-US" altLang="zh-CN" sz="1600" i="0">
                    <a:latin typeface="Cambria Math" charset="0"/>
                  </a:rPr>
                  <a:t>𝐴_2)/4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把</a:t>
                </a:r>
                <a:r>
                  <a:rPr lang="en-US" altLang="zh-CN" sz="1600" i="0">
                    <a:latin typeface="Cambria Math" charset="0"/>
                  </a:rPr>
                  <a:t>𝐴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2</a:t>
                </a:r>
                <a:r>
                  <a:rPr lang="zh-CN" altLang="en-US" sz="1600" dirty="0" smtClean="0"/>
                  <a:t>移到等式左边，得到</a:t>
                </a:r>
                <a:r>
                  <a:rPr lang="en-US" altLang="zh-CN" sz="1600" i="0">
                    <a:latin typeface="Cambria Math" charset="0"/>
                  </a:rPr>
                  <a:t>𝐴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2</a:t>
                </a:r>
                <a:r>
                  <a:rPr lang="en-US" altLang="zh-CN" sz="1600" b="0" i="0" smtClean="0">
                    <a:latin typeface="Cambria Math" charset="0"/>
                  </a:rPr>
                  <a:t>≈4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𝑚</a:t>
                </a:r>
                <a:r>
                  <a:rPr lang="en-US" altLang="zh-CN" sz="1600" b="0" i="0" smtClean="0">
                    <a:solidFill>
                      <a:schemeClr val="tx1"/>
                    </a:solidFill>
                    <a:latin typeface="Cambria Math" charset="0"/>
                  </a:rPr>
                  <a:t>/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这就是对阴影部分面积的估计。</a:t>
                </a:r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34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I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going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explain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pseudo-code.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===========================</a:t>
                </a:r>
              </a:p>
              <a:p>
                <a:r>
                  <a:rPr lang="en-US" altLang="zh-CN" sz="1600" baseline="0" dirty="0"/>
                  <a:t>Firstly,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specify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number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n.</a:t>
                </a:r>
              </a:p>
              <a:p>
                <a:r>
                  <a:rPr lang="en-US" altLang="zh-CN" sz="1600" baseline="0" dirty="0"/>
                  <a:t>Bigger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will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make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result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more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accurate,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but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will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incur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heavier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computation.</a:t>
                </a:r>
              </a:p>
              <a:p>
                <a:r>
                  <a:rPr lang="en-US" altLang="zh-CN" sz="1600" baseline="0" dirty="0"/>
                  <a:t>===========================</a:t>
                </a:r>
              </a:p>
              <a:p>
                <a:r>
                  <a:rPr lang="en-US" altLang="zh-CN" sz="1600" baseline="0" dirty="0"/>
                  <a:t>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counter.</a:t>
                </a:r>
              </a:p>
              <a:p>
                <a:r>
                  <a:rPr lang="en-US" altLang="zh-CN" sz="1600" baseline="0" dirty="0"/>
                  <a:t>Initially,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reset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zero.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如果你写代码实现，可以这样写代码。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===========================</a:t>
                </a:r>
              </a:p>
              <a:p>
                <a:r>
                  <a:rPr lang="zh-CN" altLang="en-US" sz="1600" dirty="0"/>
                  <a:t>首先需要设置一个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值。</a:t>
                </a:r>
                <a:endParaRPr lang="en-US" altLang="zh-CN" sz="1600" dirty="0"/>
              </a:p>
              <a:p>
                <a:r>
                  <a:rPr lang="en-US" altLang="zh-CN" sz="1600" dirty="0"/>
                  <a:t>N</a:t>
                </a:r>
                <a:r>
                  <a:rPr lang="zh-CN" altLang="en-US" sz="1600" dirty="0"/>
                  <a:t>越大的话结果就越准确，但是计算量也会变大。</a:t>
                </a:r>
                <a:endParaRPr lang="en-US" altLang="zh-CN" sz="1600" dirty="0"/>
              </a:p>
              <a:p>
                <a:r>
                  <a:rPr lang="en-US" altLang="zh-CN" sz="1600" baseline="0" dirty="0"/>
                  <a:t>===========================</a:t>
                </a:r>
                <a:endParaRPr lang="en-US" altLang="zh-CN" sz="1600" dirty="0"/>
              </a:p>
              <a:p>
                <a:r>
                  <a:rPr lang="en-US" altLang="zh-CN" sz="1600" dirty="0"/>
                  <a:t>m</a:t>
                </a:r>
                <a:r>
                  <a:rPr lang="zh-CN" altLang="en-US" sz="1600" dirty="0"/>
                  <a:t> 用来计数。</a:t>
                </a:r>
                <a:endParaRPr lang="en-US" altLang="zh-CN" sz="1600" dirty="0"/>
              </a:p>
              <a:p>
                <a:r>
                  <a:rPr lang="zh-CN" altLang="en-US" sz="1600" dirty="0"/>
                  <a:t>把它初始化为零。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You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actual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write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code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way.</a:t>
                </a:r>
              </a:p>
              <a:p>
                <a:r>
                  <a:rPr lang="en-US" altLang="zh-CN" sz="1600" baseline="0" dirty="0" smtClean="0"/>
                  <a:t>Firstly,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specify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number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n.</a:t>
                </a:r>
              </a:p>
              <a:p>
                <a:r>
                  <a:rPr lang="en-US" altLang="zh-CN" sz="1600" baseline="0" dirty="0" smtClean="0"/>
                  <a:t>Big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make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result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accuracy,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but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incurs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heavy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computation.</a:t>
                </a:r>
              </a:p>
              <a:p>
                <a:r>
                  <a:rPr lang="en-US" altLang="zh-CN" sz="1600" baseline="0" dirty="0" smtClean="0"/>
                  <a:t>-------</a:t>
                </a:r>
              </a:p>
              <a:p>
                <a:r>
                  <a:rPr lang="en-US" altLang="zh-CN" sz="1600" baseline="0" dirty="0" smtClean="0"/>
                  <a:t>Secondly,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repeat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simulations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times.</a:t>
                </a:r>
              </a:p>
              <a:p>
                <a:r>
                  <a:rPr lang="en-US" altLang="zh-CN" sz="1600" baseline="0" dirty="0" smtClean="0"/>
                  <a:t>Sample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x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2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uniformly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random.</a:t>
                </a:r>
              </a:p>
              <a:p>
                <a:r>
                  <a:rPr lang="en-US" altLang="zh-CN" sz="1600" baseline="0" dirty="0" smtClean="0"/>
                  <a:t>So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point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(x,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y)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uniformly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square.</a:t>
                </a:r>
              </a:p>
              <a:p>
                <a:r>
                  <a:rPr lang="en-US" altLang="zh-CN" sz="1600" baseline="0" dirty="0" smtClean="0"/>
                  <a:t>-----</a:t>
                </a:r>
              </a:p>
              <a:p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judge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point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grey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region.</a:t>
                </a:r>
              </a:p>
              <a:p>
                <a:r>
                  <a:rPr lang="en-US" altLang="zh-CN" sz="1600" baseline="0" dirty="0" smtClean="0"/>
                  <a:t>If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circle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outside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quarter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circle,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grey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region.</a:t>
                </a:r>
              </a:p>
              <a:p>
                <a:r>
                  <a:rPr lang="en-US" altLang="zh-CN" sz="1600" baseline="0" dirty="0" smtClean="0"/>
                  <a:t>If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both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two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equations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satisfied,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increment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1.</a:t>
                </a:r>
              </a:p>
              <a:p>
                <a:r>
                  <a:rPr lang="en-US" altLang="zh-CN" sz="1600" baseline="0" dirty="0" smtClean="0"/>
                  <a:t>-----</a:t>
                </a:r>
              </a:p>
              <a:p>
                <a:r>
                  <a:rPr lang="en-US" altLang="zh-CN" sz="1600" baseline="0" dirty="0" smtClean="0"/>
                  <a:t>Finally,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4𝑚</a:t>
                </a:r>
                <a:r>
                  <a:rPr lang="en-US" altLang="zh-CN" sz="1600" i="0" smtClean="0">
                    <a:solidFill>
                      <a:srgbClr val="C00000"/>
                    </a:solidFill>
                    <a:latin typeface="Cambria Math" charset="0"/>
                  </a:rPr>
                  <a:t>/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estimate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grey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region.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如果</a:t>
                </a:r>
                <a:r>
                  <a:rPr lang="zh-CN" altLang="en-US" sz="1600" dirty="0" smtClean="0"/>
                  <a:t>你写代码实现，可以这样写代码。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首先需要设置一个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值。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越大的话结果就越准确，但是计算量也会变大。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---------</a:t>
                </a:r>
              </a:p>
              <a:p>
                <a:r>
                  <a:rPr lang="zh-CN" altLang="en-US" sz="1600" dirty="0" smtClean="0"/>
                  <a:t>然后重复下面的随机模拟。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随机均匀抽样</a:t>
                </a:r>
                <a:r>
                  <a:rPr lang="en-US" altLang="zh-CN" sz="1600" dirty="0" smtClean="0"/>
                  <a:t>x</a:t>
                </a:r>
                <a:r>
                  <a:rPr lang="zh-CN" altLang="en-US" sz="1600" dirty="0" smtClean="0"/>
                  <a:t>和</a:t>
                </a:r>
                <a:r>
                  <a:rPr lang="en-US" altLang="zh-CN" sz="1600" dirty="0" smtClean="0"/>
                  <a:t>y</a:t>
                </a:r>
                <a:r>
                  <a:rPr lang="zh-CN" altLang="en-US" sz="1600" dirty="0" smtClean="0"/>
                  <a:t>，都在</a:t>
                </a:r>
                <a:r>
                  <a:rPr lang="en-US" altLang="zh-CN" sz="1600" dirty="0" smtClean="0"/>
                  <a:t>[0,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2]</a:t>
                </a:r>
                <a:r>
                  <a:rPr lang="zh-CN" altLang="en-US" sz="1600" dirty="0" smtClean="0"/>
                  <a:t>之间。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所以点</a:t>
                </a:r>
                <a:r>
                  <a:rPr lang="en-US" altLang="zh-CN" sz="1600" dirty="0" smtClean="0"/>
                  <a:t>(x,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y)</a:t>
                </a:r>
                <a:r>
                  <a:rPr lang="zh-CN" altLang="en-US" sz="1600" dirty="0" smtClean="0"/>
                  <a:t>在这个正方形里面。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然后用这两个方程来判断点是否在阴影区域里。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如果点</a:t>
                </a:r>
                <a:r>
                  <a:rPr lang="en-US" altLang="zh-CN" sz="1600" dirty="0" smtClean="0"/>
                  <a:t>(x,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y)</a:t>
                </a:r>
                <a:r>
                  <a:rPr lang="zh-CN" altLang="en-US" sz="1600" dirty="0" smtClean="0"/>
                  <a:t>同时满足两个方程，那么就认为点在阴影区域，把</a:t>
                </a:r>
                <a:r>
                  <a:rPr lang="en-US" altLang="zh-CN" sz="1600" dirty="0" smtClean="0"/>
                  <a:t>m</a:t>
                </a:r>
                <a:r>
                  <a:rPr lang="zh-CN" altLang="en-US" sz="1600" dirty="0" smtClean="0"/>
                  <a:t>的值加一。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把 </a:t>
                </a:r>
                <a:r>
                  <a:rPr lang="en-US" altLang="zh-CN" sz="1600" dirty="0" smtClean="0"/>
                  <a:t>4m/n</a:t>
                </a:r>
                <a:r>
                  <a:rPr lang="zh-CN" altLang="en-US" sz="1600" dirty="0" smtClean="0"/>
                  <a:t> 作为估算出的面积，并输出这个值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9298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/>
                  <a:t>Secondly,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repeat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simulations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times.</a:t>
                </a:r>
              </a:p>
              <a:p>
                <a:r>
                  <a:rPr lang="en-US" altLang="zh-CN" sz="1600" baseline="0" dirty="0"/>
                  <a:t>====================</a:t>
                </a:r>
              </a:p>
              <a:p>
                <a:r>
                  <a:rPr lang="en-US" altLang="zh-CN" sz="1600" baseline="0" dirty="0"/>
                  <a:t>Uniformly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sample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x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from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interval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between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0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2.</a:t>
                </a:r>
              </a:p>
              <a:p>
                <a:r>
                  <a:rPr lang="en-US" altLang="zh-CN" sz="1600" baseline="0" dirty="0"/>
                  <a:t>Equivalently,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(x,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y)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uniformly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sampled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from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square.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</a:t>
                </a:r>
              </a:p>
              <a:p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need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judge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grey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region.</a:t>
                </a:r>
              </a:p>
              <a:p>
                <a:r>
                  <a:rPr lang="en-US" altLang="zh-CN" sz="1600" baseline="0" dirty="0"/>
                  <a:t>If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outside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quarter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grey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region.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</a:t>
                </a:r>
              </a:p>
              <a:p>
                <a:r>
                  <a:rPr lang="en-US" altLang="zh-CN" sz="1600" baseline="0" dirty="0"/>
                  <a:t>If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both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equations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satisfied,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know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grey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region,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increment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1.</a:t>
                </a:r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然后重复下面的随机模拟。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</a:t>
                </a:r>
              </a:p>
              <a:p>
                <a:r>
                  <a:rPr lang="zh-CN" altLang="en-US" sz="1600" dirty="0"/>
                  <a:t>随机均匀抽样</a:t>
                </a:r>
                <a:r>
                  <a:rPr lang="en-US" altLang="zh-CN" sz="1600" dirty="0"/>
                  <a:t>x</a:t>
                </a:r>
                <a:r>
                  <a:rPr lang="zh-CN" altLang="en-US" sz="1600" dirty="0"/>
                  <a:t>和</a:t>
                </a:r>
                <a:r>
                  <a:rPr lang="en-US" altLang="zh-CN" sz="1600" dirty="0"/>
                  <a:t>y</a:t>
                </a:r>
                <a:r>
                  <a:rPr lang="zh-CN" altLang="en-US" sz="1600" dirty="0"/>
                  <a:t>，都在</a:t>
                </a:r>
                <a:r>
                  <a:rPr lang="en-US" altLang="zh-CN" sz="1600" dirty="0"/>
                  <a:t>[0,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2]</a:t>
                </a:r>
                <a:r>
                  <a:rPr lang="zh-CN" altLang="en-US" sz="1600" dirty="0"/>
                  <a:t>之间。</a:t>
                </a:r>
                <a:endParaRPr lang="en-US" altLang="zh-CN" sz="1600" dirty="0"/>
              </a:p>
              <a:p>
                <a:r>
                  <a:rPr lang="zh-CN" altLang="en-US" sz="1600" dirty="0"/>
                  <a:t>所以点</a:t>
                </a:r>
                <a:r>
                  <a:rPr lang="en-US" altLang="zh-CN" sz="1600" dirty="0"/>
                  <a:t>(x,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y)</a:t>
                </a:r>
                <a:r>
                  <a:rPr lang="zh-CN" altLang="en-US" sz="1600" dirty="0"/>
                  <a:t>在这个正方形里面。</a:t>
                </a:r>
                <a:endParaRPr lang="en-US" altLang="zh-CN" sz="1600" dirty="0"/>
              </a:p>
              <a:p>
                <a:r>
                  <a:rPr lang="en-US" altLang="zh-CN" sz="1600" baseline="0" dirty="0"/>
                  <a:t>====================</a:t>
                </a:r>
              </a:p>
              <a:p>
                <a:r>
                  <a:rPr lang="zh-CN" altLang="en-US" sz="1600" dirty="0"/>
                  <a:t>然后用这两个方程来判断点是否在阴影区域里。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</a:t>
                </a:r>
              </a:p>
              <a:p>
                <a:r>
                  <a:rPr lang="zh-CN" altLang="en-US" sz="1600" dirty="0"/>
                  <a:t>如果点</a:t>
                </a:r>
                <a:r>
                  <a:rPr lang="en-US" altLang="zh-CN" sz="1600" dirty="0"/>
                  <a:t>(x,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y)</a:t>
                </a:r>
                <a:r>
                  <a:rPr lang="zh-CN" altLang="en-US" sz="1600" dirty="0"/>
                  <a:t>同时满足两个方程，那么就认为点在阴影区域，把</a:t>
                </a:r>
                <a:r>
                  <a:rPr lang="en-US" altLang="zh-CN" sz="1600" dirty="0"/>
                  <a:t>m</a:t>
                </a:r>
                <a:r>
                  <a:rPr lang="zh-CN" altLang="en-US" sz="1600" dirty="0"/>
                  <a:t>的值加一。</a:t>
                </a: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You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actual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write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code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way.</a:t>
                </a:r>
              </a:p>
              <a:p>
                <a:r>
                  <a:rPr lang="en-US" altLang="zh-CN" sz="1600" baseline="0" dirty="0" smtClean="0"/>
                  <a:t>Firstly,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specify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number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n.</a:t>
                </a:r>
              </a:p>
              <a:p>
                <a:r>
                  <a:rPr lang="en-US" altLang="zh-CN" sz="1600" baseline="0" dirty="0" smtClean="0"/>
                  <a:t>Big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make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result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accuracy,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but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incurs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heavy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computation.</a:t>
                </a:r>
              </a:p>
              <a:p>
                <a:r>
                  <a:rPr lang="en-US" altLang="zh-CN" sz="1600" baseline="0" dirty="0" smtClean="0"/>
                  <a:t>-------</a:t>
                </a:r>
              </a:p>
              <a:p>
                <a:r>
                  <a:rPr lang="en-US" altLang="zh-CN" sz="1600" baseline="0" dirty="0" smtClean="0"/>
                  <a:t>Secondly,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repeat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simulations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times.</a:t>
                </a:r>
              </a:p>
              <a:p>
                <a:r>
                  <a:rPr lang="en-US" altLang="zh-CN" sz="1600" baseline="0" dirty="0" smtClean="0"/>
                  <a:t>Sample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x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2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uniformly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random.</a:t>
                </a:r>
              </a:p>
              <a:p>
                <a:r>
                  <a:rPr lang="en-US" altLang="zh-CN" sz="1600" baseline="0" dirty="0" smtClean="0"/>
                  <a:t>So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point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(x,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y)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uniformly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square.</a:t>
                </a:r>
              </a:p>
              <a:p>
                <a:r>
                  <a:rPr lang="en-US" altLang="zh-CN" sz="1600" baseline="0" dirty="0" smtClean="0"/>
                  <a:t>-----</a:t>
                </a:r>
              </a:p>
              <a:p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judge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point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grey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region.</a:t>
                </a:r>
              </a:p>
              <a:p>
                <a:r>
                  <a:rPr lang="en-US" altLang="zh-CN" sz="1600" baseline="0" dirty="0" smtClean="0"/>
                  <a:t>If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circle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outside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quarter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circle,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grey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region.</a:t>
                </a:r>
              </a:p>
              <a:p>
                <a:r>
                  <a:rPr lang="en-US" altLang="zh-CN" sz="1600" baseline="0" dirty="0" smtClean="0"/>
                  <a:t>If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both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two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equations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satisfied,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increment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1.</a:t>
                </a:r>
              </a:p>
              <a:p>
                <a:r>
                  <a:rPr lang="en-US" altLang="zh-CN" sz="1600" baseline="0" dirty="0" smtClean="0"/>
                  <a:t>-----</a:t>
                </a:r>
              </a:p>
              <a:p>
                <a:r>
                  <a:rPr lang="en-US" altLang="zh-CN" sz="1600" baseline="0" dirty="0" smtClean="0"/>
                  <a:t>Finally,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4𝑚</a:t>
                </a:r>
                <a:r>
                  <a:rPr lang="en-US" altLang="zh-CN" sz="1600" i="0" smtClean="0">
                    <a:solidFill>
                      <a:srgbClr val="C00000"/>
                    </a:solidFill>
                    <a:latin typeface="Cambria Math" charset="0"/>
                  </a:rPr>
                  <a:t>/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estimate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grey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region.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如果</a:t>
                </a:r>
                <a:r>
                  <a:rPr lang="zh-CN" altLang="en-US" sz="1600" dirty="0" smtClean="0"/>
                  <a:t>你写代码实现，可以这样写代码。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首先需要设置一个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值。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越大的话结果就越准确，但是计算量也会变大。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---------</a:t>
                </a:r>
              </a:p>
              <a:p>
                <a:r>
                  <a:rPr lang="zh-CN" altLang="en-US" sz="1600" dirty="0" smtClean="0"/>
                  <a:t>然后重复下面的随机模拟。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随机均匀抽样</a:t>
                </a:r>
                <a:r>
                  <a:rPr lang="en-US" altLang="zh-CN" sz="1600" dirty="0" smtClean="0"/>
                  <a:t>x</a:t>
                </a:r>
                <a:r>
                  <a:rPr lang="zh-CN" altLang="en-US" sz="1600" dirty="0" smtClean="0"/>
                  <a:t>和</a:t>
                </a:r>
                <a:r>
                  <a:rPr lang="en-US" altLang="zh-CN" sz="1600" dirty="0" smtClean="0"/>
                  <a:t>y</a:t>
                </a:r>
                <a:r>
                  <a:rPr lang="zh-CN" altLang="en-US" sz="1600" dirty="0" smtClean="0"/>
                  <a:t>，都在</a:t>
                </a:r>
                <a:r>
                  <a:rPr lang="en-US" altLang="zh-CN" sz="1600" dirty="0" smtClean="0"/>
                  <a:t>[0,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2]</a:t>
                </a:r>
                <a:r>
                  <a:rPr lang="zh-CN" altLang="en-US" sz="1600" dirty="0" smtClean="0"/>
                  <a:t>之间。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所以点</a:t>
                </a:r>
                <a:r>
                  <a:rPr lang="en-US" altLang="zh-CN" sz="1600" dirty="0" smtClean="0"/>
                  <a:t>(x,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y)</a:t>
                </a:r>
                <a:r>
                  <a:rPr lang="zh-CN" altLang="en-US" sz="1600" dirty="0" smtClean="0"/>
                  <a:t>在这个正方形里面。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然后用这两个方程来判断点是否在阴影区域里。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如果点</a:t>
                </a:r>
                <a:r>
                  <a:rPr lang="en-US" altLang="zh-CN" sz="1600" dirty="0" smtClean="0"/>
                  <a:t>(x,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y)</a:t>
                </a:r>
                <a:r>
                  <a:rPr lang="zh-CN" altLang="en-US" sz="1600" dirty="0" smtClean="0"/>
                  <a:t>同时满足两个方程，那么就认为点在阴影区域，把</a:t>
                </a:r>
                <a:r>
                  <a:rPr lang="en-US" altLang="zh-CN" sz="1600" dirty="0" smtClean="0"/>
                  <a:t>m</a:t>
                </a:r>
                <a:r>
                  <a:rPr lang="zh-CN" altLang="en-US" sz="1600" dirty="0" smtClean="0"/>
                  <a:t>的值加一。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把 </a:t>
                </a:r>
                <a:r>
                  <a:rPr lang="en-US" altLang="zh-CN" sz="1600" dirty="0" smtClean="0"/>
                  <a:t>4m/n</a:t>
                </a:r>
                <a:r>
                  <a:rPr lang="zh-CN" altLang="en-US" sz="1600" dirty="0" smtClean="0"/>
                  <a:t> 作为估算出的面积，并输出这个值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9768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/>
                  <a:t>Finally,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return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4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estimate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grey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region.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把 </a:t>
                </a:r>
                <a:r>
                  <a:rPr lang="en-US" altLang="zh-CN" sz="1600" dirty="0"/>
                  <a:t>4m/n</a:t>
                </a:r>
                <a:r>
                  <a:rPr lang="zh-CN" altLang="en-US" sz="1600" dirty="0"/>
                  <a:t> 作为估算出的面积，并输出这个值。</a:t>
                </a: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You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actual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write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code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way.</a:t>
                </a:r>
              </a:p>
              <a:p>
                <a:r>
                  <a:rPr lang="en-US" altLang="zh-CN" sz="1600" baseline="0" dirty="0" smtClean="0"/>
                  <a:t>Firstly,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specify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number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n.</a:t>
                </a:r>
              </a:p>
              <a:p>
                <a:r>
                  <a:rPr lang="en-US" altLang="zh-CN" sz="1600" baseline="0" dirty="0" smtClean="0"/>
                  <a:t>Big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will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make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result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accuracy,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but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incurs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heavy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computation.</a:t>
                </a:r>
              </a:p>
              <a:p>
                <a:r>
                  <a:rPr lang="en-US" altLang="zh-CN" sz="1600" baseline="0" dirty="0" smtClean="0"/>
                  <a:t>-------</a:t>
                </a:r>
              </a:p>
              <a:p>
                <a:r>
                  <a:rPr lang="en-US" altLang="zh-CN" sz="1600" baseline="0" dirty="0" smtClean="0"/>
                  <a:t>Secondly,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repeat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simulations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times.</a:t>
                </a:r>
              </a:p>
              <a:p>
                <a:r>
                  <a:rPr lang="en-US" altLang="zh-CN" sz="1600" baseline="0" dirty="0" smtClean="0"/>
                  <a:t>Sample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x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0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2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uniformly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random.</a:t>
                </a:r>
              </a:p>
              <a:p>
                <a:r>
                  <a:rPr lang="en-US" altLang="zh-CN" sz="1600" baseline="0" dirty="0" smtClean="0"/>
                  <a:t>So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point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(x,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y)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uniformly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square.</a:t>
                </a:r>
              </a:p>
              <a:p>
                <a:r>
                  <a:rPr lang="en-US" altLang="zh-CN" sz="1600" baseline="0" dirty="0" smtClean="0"/>
                  <a:t>-----</a:t>
                </a:r>
              </a:p>
              <a:p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need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judge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point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grey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region.</a:t>
                </a:r>
              </a:p>
              <a:p>
                <a:r>
                  <a:rPr lang="en-US" altLang="zh-CN" sz="1600" baseline="0" dirty="0" smtClean="0"/>
                  <a:t>If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circle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outside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quarter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circle,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grey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region.</a:t>
                </a:r>
              </a:p>
              <a:p>
                <a:r>
                  <a:rPr lang="en-US" altLang="zh-CN" sz="1600" baseline="0" dirty="0" smtClean="0"/>
                  <a:t>If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both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two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equations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satisfied,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increment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1.</a:t>
                </a:r>
              </a:p>
              <a:p>
                <a:r>
                  <a:rPr lang="en-US" altLang="zh-CN" sz="1600" baseline="0" dirty="0" smtClean="0"/>
                  <a:t>-----</a:t>
                </a:r>
              </a:p>
              <a:p>
                <a:r>
                  <a:rPr lang="en-US" altLang="zh-CN" sz="1600" baseline="0" dirty="0" smtClean="0"/>
                  <a:t>Finally,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return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4𝑚</a:t>
                </a:r>
                <a:r>
                  <a:rPr lang="en-US" altLang="zh-CN" sz="1600" i="0" smtClean="0">
                    <a:solidFill>
                      <a:srgbClr val="C00000"/>
                    </a:solidFill>
                    <a:latin typeface="Cambria Math" charset="0"/>
                  </a:rPr>
                  <a:t>/</a:t>
                </a:r>
                <a:r>
                  <a:rPr lang="en-US" altLang="zh-CN" sz="1600" i="0">
                    <a:solidFill>
                      <a:srgbClr val="C00000"/>
                    </a:solidFill>
                    <a:latin typeface="Cambria Math" charset="0"/>
                  </a:rPr>
                  <a:t>𝑛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estimate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grey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region.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如果</a:t>
                </a:r>
                <a:r>
                  <a:rPr lang="zh-CN" altLang="en-US" sz="1600" dirty="0" smtClean="0"/>
                  <a:t>你写代码实现，可以这样写代码。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首先需要设置一个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值。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越大的话结果就越准确，但是计算量也会变大。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---------</a:t>
                </a:r>
              </a:p>
              <a:p>
                <a:r>
                  <a:rPr lang="zh-CN" altLang="en-US" sz="1600" dirty="0" smtClean="0"/>
                  <a:t>然后重复下面的随机模拟。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随机均匀抽样</a:t>
                </a:r>
                <a:r>
                  <a:rPr lang="en-US" altLang="zh-CN" sz="1600" dirty="0" smtClean="0"/>
                  <a:t>x</a:t>
                </a:r>
                <a:r>
                  <a:rPr lang="zh-CN" altLang="en-US" sz="1600" dirty="0" smtClean="0"/>
                  <a:t>和</a:t>
                </a:r>
                <a:r>
                  <a:rPr lang="en-US" altLang="zh-CN" sz="1600" dirty="0" smtClean="0"/>
                  <a:t>y</a:t>
                </a:r>
                <a:r>
                  <a:rPr lang="zh-CN" altLang="en-US" sz="1600" dirty="0" smtClean="0"/>
                  <a:t>，都在</a:t>
                </a:r>
                <a:r>
                  <a:rPr lang="en-US" altLang="zh-CN" sz="1600" dirty="0" smtClean="0"/>
                  <a:t>[0,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2]</a:t>
                </a:r>
                <a:r>
                  <a:rPr lang="zh-CN" altLang="en-US" sz="1600" dirty="0" smtClean="0"/>
                  <a:t>之间。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所以点</a:t>
                </a:r>
                <a:r>
                  <a:rPr lang="en-US" altLang="zh-CN" sz="1600" dirty="0" smtClean="0"/>
                  <a:t>(x,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y)</a:t>
                </a:r>
                <a:r>
                  <a:rPr lang="zh-CN" altLang="en-US" sz="1600" dirty="0" smtClean="0"/>
                  <a:t>在这个正方形里面。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然后用这两个方程来判断点是否在阴影区域里。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如果点</a:t>
                </a:r>
                <a:r>
                  <a:rPr lang="en-US" altLang="zh-CN" sz="1600" dirty="0" smtClean="0"/>
                  <a:t>(x,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y)</a:t>
                </a:r>
                <a:r>
                  <a:rPr lang="zh-CN" altLang="en-US" sz="1600" dirty="0" smtClean="0"/>
                  <a:t>同时满足两个方程，那么就认为点在阴影区域，把</a:t>
                </a:r>
                <a:r>
                  <a:rPr lang="en-US" altLang="zh-CN" sz="1600" dirty="0" smtClean="0"/>
                  <a:t>m</a:t>
                </a:r>
                <a:r>
                  <a:rPr lang="zh-CN" altLang="en-US" sz="1600" dirty="0" smtClean="0"/>
                  <a:t>的值加一。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把 </a:t>
                </a:r>
                <a:r>
                  <a:rPr lang="en-US" altLang="zh-CN" sz="1600" dirty="0" smtClean="0"/>
                  <a:t>4m/n</a:t>
                </a:r>
                <a:r>
                  <a:rPr lang="zh-CN" altLang="en-US" sz="1600" dirty="0" smtClean="0"/>
                  <a:t> 作为估算出的面积，并输出这个值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58964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/>
              <a:t>The</a:t>
            </a:r>
            <a:r>
              <a:rPr lang="zh-CN" altLang="en-US" sz="1600" dirty="0"/>
              <a:t> </a:t>
            </a:r>
            <a:r>
              <a:rPr lang="en-US" altLang="zh-CN" sz="1600" dirty="0"/>
              <a:t>4</a:t>
            </a:r>
            <a:r>
              <a:rPr lang="en-US" altLang="zh-CN" sz="1600" baseline="30000" dirty="0"/>
              <a:t>th</a:t>
            </a:r>
            <a:r>
              <a:rPr lang="zh-CN" altLang="en-US" sz="1600" dirty="0"/>
              <a:t> </a:t>
            </a:r>
            <a:r>
              <a:rPr lang="en-US" altLang="zh-CN" sz="1600" dirty="0"/>
              <a:t>application</a:t>
            </a:r>
            <a:r>
              <a:rPr lang="zh-CN" altLang="en-US" sz="1600" dirty="0"/>
              <a:t> </a:t>
            </a:r>
            <a:r>
              <a:rPr lang="en-US" altLang="zh-CN" sz="1600" dirty="0"/>
              <a:t>is</a:t>
            </a:r>
            <a:r>
              <a:rPr lang="zh-CN" altLang="en-US" sz="1600" dirty="0"/>
              <a:t> </a:t>
            </a:r>
            <a:r>
              <a:rPr lang="en-US" altLang="zh-CN" sz="1600" dirty="0"/>
              <a:t>Monte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Carlo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Integration.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/>
              <a:t>It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has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extensive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applications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science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and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engineering.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/>
              <a:t>近似求积分 是 蒙特卡洛最重要的应用之一。</a:t>
            </a: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/>
              <a:t>它在科学和工程中有广泛的应用。</a:t>
            </a: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843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Here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example.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===========================</a:t>
                </a:r>
              </a:p>
              <a:p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are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given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sophisticated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function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like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one.</a:t>
                </a:r>
              </a:p>
              <a:p>
                <a:r>
                  <a:rPr lang="en-US" altLang="zh-CN" sz="1600" baseline="0" dirty="0"/>
                  <a:t>f(x)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equal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1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over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1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plus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(sin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x)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times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(log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x)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square.</a:t>
                </a:r>
              </a:p>
              <a:p>
                <a:r>
                  <a:rPr lang="en-US" altLang="zh-CN" sz="1600" baseline="0" dirty="0"/>
                  <a:t>===========================</a:t>
                </a:r>
              </a:p>
              <a:p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asked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calculate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definite integral.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===========================</a:t>
                </a:r>
              </a:p>
              <a:p>
                <a:r>
                  <a:rPr lang="en-US" altLang="zh-CN" sz="1600" baseline="0" dirty="0"/>
                  <a:t>It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integral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function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f(x)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interval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from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0.8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3.</a:t>
                </a:r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我举个例子。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===========================</a:t>
                </a:r>
              </a:p>
              <a:p>
                <a:r>
                  <a:rPr lang="zh-CN" altLang="en-US" sz="1600" dirty="0"/>
                  <a:t>给你函数，比如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charset="0"/>
                          </a:rPr>
                          <m:t>1+</m:t>
                        </m:r>
                        <m:func>
                          <m:func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600" b="0" i="0" smtClean="0">
                                <a:latin typeface="Cambria Math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0" i="1" smtClean="0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lang="en-US" altLang="zh-CN" sz="1600" b="0" i="1" smtClean="0">
                            <a:latin typeface="Cambria Math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600">
                                            <a:latin typeface="Cambria Math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600">
                                            <a:latin typeface="Cambria Math" charset="0"/>
                                          </a:rPr>
                                          <m:t>e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altLang="zh-CN" sz="1600" i="1">
                                        <a:latin typeface="Cambria Math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en-US" altLang="zh-CN" sz="1600" b="0" i="1" smtClean="0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===========================</a:t>
                </a:r>
              </a:p>
              <a:p>
                <a:r>
                  <a:rPr lang="zh-CN" altLang="en-US" sz="1600" dirty="0"/>
                  <a:t>让你计算 这个定积分：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===========================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600" dirty="0"/>
                  <a:t>在区间</a:t>
                </a:r>
                <a:r>
                  <a:rPr lang="en-US" altLang="zh-CN" sz="1600" dirty="0"/>
                  <a:t>0.8</a:t>
                </a:r>
                <a:r>
                  <a:rPr lang="zh-CN" altLang="en-US" sz="1600" dirty="0"/>
                  <a:t>到</a:t>
                </a:r>
                <a:r>
                  <a:rPr lang="en-US" altLang="zh-CN" sz="1600" dirty="0"/>
                  <a:t>3</a:t>
                </a:r>
                <a:r>
                  <a:rPr lang="zh-CN" altLang="en-US" sz="1600" dirty="0"/>
                  <a:t>上的定积分，。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我举个例子。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给你函数，比如</a:t>
                </a:r>
                <a:r>
                  <a:rPr lang="en-US" altLang="zh-CN" sz="1600" b="0" i="0" smtClean="0">
                    <a:latin typeface="Cambria Math" charset="0"/>
                  </a:rPr>
                  <a:t>𝑓</a:t>
                </a:r>
                <a:r>
                  <a:rPr lang="en-US" altLang="zh-CN" sz="1600" b="0" i="0" smtClean="0">
                    <a:latin typeface="Cambria Math" charset="0"/>
                  </a:rPr>
                  <a:t>(𝑥)=1/(1+sin⁡(𝑥)⋅(</a:t>
                </a:r>
                <a:r>
                  <a:rPr lang="en-US" altLang="zh-CN" sz="1600" i="0">
                    <a:latin typeface="Cambria Math" charset="0"/>
                  </a:rPr>
                  <a:t>log_e</a:t>
                </a:r>
                <a:r>
                  <a:rPr lang="zh-CN" altLang="en-US" sz="1600" i="0">
                    <a:latin typeface="Cambria Math" charset="0"/>
                  </a:rPr>
                  <a:t>⁡</a:t>
                </a:r>
                <a:r>
                  <a:rPr lang="en-US" altLang="zh-CN" sz="1600" i="0">
                    <a:latin typeface="Cambria Math" charset="0"/>
                  </a:rPr>
                  <a:t>𝑥 )</a:t>
                </a:r>
                <a:r>
                  <a:rPr lang="en-US" altLang="zh-CN" sz="1600" b="0" i="0" smtClean="0">
                    <a:latin typeface="Cambria Math" charset="0"/>
                  </a:rPr>
                  <a:t>^2 )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让你计算 这个定积分：对</a:t>
                </a:r>
                <a:r>
                  <a:rPr lang="en-US" altLang="zh-CN" sz="1600" b="0" i="0" smtClean="0">
                    <a:latin typeface="Cambria Math" charset="0"/>
                  </a:rPr>
                  <a:t>𝑓</a:t>
                </a:r>
                <a:r>
                  <a:rPr lang="en-US" altLang="zh-CN" sz="1600" b="0" i="0" smtClean="0">
                    <a:latin typeface="Cambria Math" charset="0"/>
                  </a:rPr>
                  <a:t>(𝑥)</a:t>
                </a:r>
                <a:r>
                  <a:rPr lang="zh-CN" altLang="en-US" sz="1600" dirty="0" smtClean="0"/>
                  <a:t>做定积分，从</a:t>
                </a:r>
                <a:r>
                  <a:rPr lang="en-US" altLang="zh-CN" sz="1600" dirty="0" smtClean="0"/>
                  <a:t>0.8</a:t>
                </a:r>
                <a:r>
                  <a:rPr lang="zh-CN" altLang="en-US" sz="1600" dirty="0" smtClean="0"/>
                  <a:t>到</a:t>
                </a:r>
                <a:r>
                  <a:rPr lang="en-US" altLang="zh-CN" sz="1600" dirty="0" smtClean="0"/>
                  <a:t>3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反正我是算不出来，这个函数太复杂了。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</a:t>
                </a:r>
              </a:p>
              <a:p>
                <a:r>
                  <a:rPr lang="zh-CN" altLang="en-US" sz="1600" dirty="0" smtClean="0"/>
                  <a:t>而且不是所有函数的积分 都有解析表达式。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尤其是复杂函数的积分，通常没有解析的表达式。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</a:t>
                </a:r>
              </a:p>
              <a:p>
                <a:r>
                  <a:rPr lang="zh-CN" altLang="en-US" sz="1600" dirty="0" smtClean="0"/>
                  <a:t>机器学习的问题中就有很多需要求定积分。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而机器学习的函数都超级复杂，比如深度神经网络，根本不可能求出解析的积分。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想求复杂函数的定积分，只能用数值方法求出一个近似值。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蒙特卡洛就是最常用的数值方法。</a:t>
                </a:r>
                <a:endParaRPr lang="en-US" altLang="zh-CN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9671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/>
                  <a:t>Honestly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speaking,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don’t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know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how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calculate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integral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analytically.</a:t>
                </a:r>
              </a:p>
              <a:p>
                <a:r>
                  <a:rPr lang="en-US" altLang="zh-CN" sz="1600" baseline="0" dirty="0"/>
                  <a:t>I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don’t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even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know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whether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analytical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solution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exists.</a:t>
                </a:r>
              </a:p>
              <a:p>
                <a:r>
                  <a:rPr lang="en-US" altLang="zh-CN" sz="1600" baseline="0" dirty="0"/>
                  <a:t>=====</a:t>
                </a:r>
              </a:p>
              <a:p>
                <a:r>
                  <a:rPr lang="en-US" altLang="zh-CN" sz="1600" baseline="0" dirty="0"/>
                  <a:t>Many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science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engineering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problems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require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integration.</a:t>
                </a:r>
              </a:p>
              <a:p>
                <a:r>
                  <a:rPr lang="en-US" altLang="zh-CN" sz="1600" baseline="0" dirty="0"/>
                  <a:t>Oftentimes,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function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highly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involved.</a:t>
                </a:r>
                <a:r>
                  <a:rPr lang="zh-CN" altLang="en-US" sz="1600" baseline="0" dirty="0"/>
                  <a:t> </a:t>
                </a:r>
                <a:endParaRPr lang="en-US" altLang="zh-CN" sz="1600" baseline="0" dirty="0"/>
              </a:p>
              <a:p>
                <a:r>
                  <a:rPr lang="en-US" altLang="zh-CN" sz="1600" baseline="0" dirty="0"/>
                  <a:t>Sometimes,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way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dirty="0"/>
                  <a:t>analytically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calculate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integral.</a:t>
                </a:r>
                <a:endParaRPr lang="en-US" altLang="zh-CN" sz="1600" baseline="0" dirty="0"/>
              </a:p>
              <a:p>
                <a:r>
                  <a:rPr lang="en-US" altLang="zh-CN" sz="1600" baseline="0" dirty="0"/>
                  <a:t>So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people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resort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Monte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Carlo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approximate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solution.</a:t>
                </a:r>
              </a:p>
              <a:p>
                <a:endParaRPr lang="en-US" altLang="zh-CN" sz="1600" baseline="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/>
                  <a:t>反正我是算不出来，这个函数太复杂了。</a:t>
                </a:r>
                <a:endParaRPr lang="en-US" altLang="zh-CN" sz="1600" dirty="0"/>
              </a:p>
              <a:p>
                <a:r>
                  <a:rPr lang="zh-CN" altLang="en-US" sz="1600" dirty="0"/>
                  <a:t>有可能这个函数的积分 没有解析表达式。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</a:t>
                </a:r>
              </a:p>
              <a:p>
                <a:r>
                  <a:rPr lang="zh-CN" altLang="en-US" sz="1600" dirty="0"/>
                  <a:t>有很多科学和工程问题</a:t>
                </a:r>
                <a:r>
                  <a:rPr lang="zh-CN" altLang="en-US" sz="1600" baseline="0" dirty="0"/>
                  <a:t> </a:t>
                </a:r>
                <a:r>
                  <a:rPr lang="zh-CN" altLang="en-US" sz="1600" dirty="0"/>
                  <a:t>需要求定积分。</a:t>
                </a:r>
                <a:endParaRPr lang="en-US" altLang="zh-CN" sz="1600" dirty="0"/>
              </a:p>
              <a:p>
                <a:r>
                  <a:rPr lang="zh-CN" altLang="en-US" sz="1600" dirty="0"/>
                  <a:t>但是 复杂的函数 通常没有解析的积分，所以只能用数值方法求出一个近似值。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/>
                  <a:t>蒙特卡洛就是最常用的数值方法。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我举个例子。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给你函数，比如</a:t>
                </a:r>
                <a:r>
                  <a:rPr lang="en-US" altLang="zh-CN" sz="1600" b="0" i="0" smtClean="0">
                    <a:latin typeface="Cambria Math" charset="0"/>
                  </a:rPr>
                  <a:t>𝑓</a:t>
                </a:r>
                <a:r>
                  <a:rPr lang="en-US" altLang="zh-CN" sz="1600" b="0" i="0" smtClean="0">
                    <a:latin typeface="Cambria Math" charset="0"/>
                  </a:rPr>
                  <a:t>(𝑥)=1/(1+sin⁡(𝑥)⋅(</a:t>
                </a:r>
                <a:r>
                  <a:rPr lang="en-US" altLang="zh-CN" sz="1600" i="0">
                    <a:latin typeface="Cambria Math" charset="0"/>
                  </a:rPr>
                  <a:t>log_e</a:t>
                </a:r>
                <a:r>
                  <a:rPr lang="zh-CN" altLang="en-US" sz="1600" i="0">
                    <a:latin typeface="Cambria Math" charset="0"/>
                  </a:rPr>
                  <a:t>⁡</a:t>
                </a:r>
                <a:r>
                  <a:rPr lang="en-US" altLang="zh-CN" sz="1600" i="0">
                    <a:latin typeface="Cambria Math" charset="0"/>
                  </a:rPr>
                  <a:t>𝑥 )</a:t>
                </a:r>
                <a:r>
                  <a:rPr lang="en-US" altLang="zh-CN" sz="1600" b="0" i="0" smtClean="0">
                    <a:latin typeface="Cambria Math" charset="0"/>
                  </a:rPr>
                  <a:t>^2 )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让你计算 这个定积分：对</a:t>
                </a:r>
                <a:r>
                  <a:rPr lang="en-US" altLang="zh-CN" sz="1600" b="0" i="0" smtClean="0">
                    <a:latin typeface="Cambria Math" charset="0"/>
                  </a:rPr>
                  <a:t>𝑓</a:t>
                </a:r>
                <a:r>
                  <a:rPr lang="en-US" altLang="zh-CN" sz="1600" b="0" i="0" smtClean="0">
                    <a:latin typeface="Cambria Math" charset="0"/>
                  </a:rPr>
                  <a:t>(𝑥)</a:t>
                </a:r>
                <a:r>
                  <a:rPr lang="zh-CN" altLang="en-US" sz="1600" dirty="0" smtClean="0"/>
                  <a:t>做定积分，从</a:t>
                </a:r>
                <a:r>
                  <a:rPr lang="en-US" altLang="zh-CN" sz="1600" dirty="0" smtClean="0"/>
                  <a:t>0.8</a:t>
                </a:r>
                <a:r>
                  <a:rPr lang="zh-CN" altLang="en-US" sz="1600" dirty="0" smtClean="0"/>
                  <a:t>到</a:t>
                </a:r>
                <a:r>
                  <a:rPr lang="en-US" altLang="zh-CN" sz="1600" dirty="0" smtClean="0"/>
                  <a:t>3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反正我是算不出来，这个函数太复杂了。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</a:t>
                </a:r>
              </a:p>
              <a:p>
                <a:r>
                  <a:rPr lang="zh-CN" altLang="en-US" sz="1600" dirty="0" smtClean="0"/>
                  <a:t>而且不是所有函数的积分 都有解析表达式。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尤其是复杂函数的积分，通常没有解析的表达式。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</a:t>
                </a:r>
              </a:p>
              <a:p>
                <a:r>
                  <a:rPr lang="zh-CN" altLang="en-US" sz="1600" dirty="0" smtClean="0"/>
                  <a:t>机器学习的问题中就有很多需要求定积分。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而机器学习的函数都超级复杂，比如深度神经网络，根本不可能求出解析的积分。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想求复杂函数的定积分，只能用数值方法求出一个近似值。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蒙特卡洛就是最常用的数值方法。</a:t>
                </a:r>
                <a:endParaRPr lang="en-US" altLang="zh-CN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29034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Let’s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begin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with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easiest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dirty="0"/>
                  <a:t>problem: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Monte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Carlo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integration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for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univariate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functions.</a:t>
                </a:r>
              </a:p>
              <a:p>
                <a:r>
                  <a:rPr lang="en-US" altLang="zh-CN" sz="1600" dirty="0"/>
                  <a:t>Univariate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function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means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that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variable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x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scalar.</a:t>
                </a:r>
              </a:p>
              <a:p>
                <a:r>
                  <a:rPr lang="en-US" altLang="zh-CN" sz="1600" baseline="0" dirty="0"/>
                  <a:t>Given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univariate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function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f(x),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asked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calculate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integral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f(x)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interval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from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Denote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integral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Monte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Carlo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integration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approximately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calculates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integral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3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steps.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我们先来解决一个比较简单的问题：用蒙特卡洛求</a:t>
                </a:r>
                <a:r>
                  <a:rPr lang="zh-CN" altLang="en-US" sz="1600" baseline="0" dirty="0"/>
                  <a:t> 一元函数的定积分。</a:t>
                </a:r>
                <a:endParaRPr lang="en-US" altLang="zh-CN" sz="1600" baseline="0" dirty="0"/>
              </a:p>
              <a:p>
                <a:r>
                  <a:rPr lang="zh-CN" altLang="en-US" sz="1600" baseline="0" dirty="0"/>
                  <a:t>一元函数 的意思是 变量 </a:t>
                </a:r>
                <a:r>
                  <a:rPr lang="en-US" altLang="zh-CN" sz="1600" baseline="0" dirty="0"/>
                  <a:t>x</a:t>
                </a:r>
                <a:r>
                  <a:rPr lang="zh-CN" altLang="en-US" sz="1600" baseline="0" dirty="0"/>
                  <a:t> 是个标量 。</a:t>
                </a:r>
                <a:endParaRPr lang="en-US" altLang="zh-CN" sz="1600" baseline="0" dirty="0"/>
              </a:p>
              <a:p>
                <a:r>
                  <a:rPr lang="zh-CN" altLang="en-US" sz="1600" baseline="0" dirty="0"/>
                  <a:t>给定一元函数 </a:t>
                </a:r>
                <a:r>
                  <a:rPr lang="en-US" altLang="zh-CN" sz="1600" baseline="0" dirty="0"/>
                  <a:t>f(x)</a:t>
                </a:r>
                <a:r>
                  <a:rPr lang="zh-CN" altLang="en-US" sz="1600" baseline="0" dirty="0"/>
                  <a:t>，</a:t>
                </a:r>
                <a:endParaRPr lang="en-US" altLang="zh-CN" sz="1600" baseline="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</a:t>
                </a:r>
              </a:p>
              <a:p>
                <a:r>
                  <a:rPr lang="zh-CN" altLang="en-US" sz="1600" baseline="0" dirty="0"/>
                  <a:t>任务是 求函数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600" baseline="0" dirty="0"/>
                  <a:t> 在</a:t>
                </a:r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到</a:t>
                </a:r>
                <a:r>
                  <a:rPr lang="en-US" altLang="zh-CN" sz="1600" baseline="0" dirty="0"/>
                  <a:t>b</a:t>
                </a:r>
                <a:r>
                  <a:rPr lang="zh-CN" altLang="en-US" sz="1600" baseline="0" dirty="0"/>
                  <a:t>区间上的 定积分。</a:t>
                </a:r>
                <a:endParaRPr lang="en-US" altLang="zh-CN" sz="1600" baseline="0" dirty="0"/>
              </a:p>
              <a:p>
                <a:r>
                  <a:rPr lang="zh-CN" altLang="en-US" sz="1600" baseline="0" dirty="0"/>
                  <a:t>把定积分结果记作 </a:t>
                </a:r>
                <a:r>
                  <a:rPr lang="en-US" altLang="zh-CN" sz="1600" baseline="0" dirty="0"/>
                  <a:t>I</a:t>
                </a:r>
                <a:r>
                  <a:rPr lang="zh-CN" altLang="en-US" sz="1600" baseline="0" dirty="0"/>
                  <a:t>。</a:t>
                </a:r>
                <a:endParaRPr lang="en-US" altLang="zh-CN" sz="1600" baseline="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/>
                  <a:t>具体这么做。</a:t>
                </a: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Let’s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begin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with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simplest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problem: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Monte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Carlo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integration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for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univariate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functions.</a:t>
                </a:r>
              </a:p>
              <a:p>
                <a:r>
                  <a:rPr lang="en-US" altLang="zh-CN" sz="1600" dirty="0" smtClean="0"/>
                  <a:t>Univariate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means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that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variable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x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scalar.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asked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calculate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integral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f(x)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interval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我们先来解决一个比较简单的问题：用蒙特卡洛求</a:t>
                </a:r>
                <a:r>
                  <a:rPr lang="zh-CN" altLang="en-US" sz="1600" baseline="0" dirty="0" smtClean="0"/>
                  <a:t> 一元函数的定积分。</a:t>
                </a:r>
                <a:endParaRPr lang="en-US" altLang="zh-CN" sz="1600" baseline="0" dirty="0" smtClean="0"/>
              </a:p>
              <a:p>
                <a:r>
                  <a:rPr lang="zh-CN" altLang="en-US" sz="1600" baseline="0" dirty="0" smtClean="0"/>
                  <a:t>一元函数 的意思是 变量 </a:t>
                </a:r>
                <a:r>
                  <a:rPr lang="en-US" altLang="zh-CN" sz="1600" baseline="0" dirty="0" smtClean="0"/>
                  <a:t>x</a:t>
                </a:r>
                <a:r>
                  <a:rPr lang="zh-CN" altLang="en-US" sz="1600" baseline="0" dirty="0" smtClean="0"/>
                  <a:t> 是个标量 。</a:t>
                </a:r>
                <a:endParaRPr lang="en-US" altLang="zh-CN" sz="1600" baseline="0" dirty="0" smtClean="0"/>
              </a:p>
              <a:p>
                <a:r>
                  <a:rPr lang="zh-CN" altLang="en-US" sz="1600" baseline="0" dirty="0" smtClean="0"/>
                  <a:t>任务是 求函数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(𝑥)</a:t>
                </a:r>
                <a:r>
                  <a:rPr lang="zh-CN" altLang="en-US" sz="1600" baseline="0" dirty="0" smtClean="0"/>
                  <a:t> 在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到</a:t>
                </a:r>
                <a:r>
                  <a:rPr lang="en-US" altLang="zh-CN" sz="1600" baseline="0" dirty="0" smtClean="0"/>
                  <a:t>b</a:t>
                </a:r>
                <a:r>
                  <a:rPr lang="zh-CN" altLang="en-US" sz="1600" baseline="0" dirty="0" smtClean="0"/>
                  <a:t>区间上的 定积分。</a:t>
                </a:r>
                <a:endParaRPr lang="en-US" altLang="zh-CN" sz="1600" baseline="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3270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First,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draw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random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samples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from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interval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[a,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b]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uniformly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random.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Let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samples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scalars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charset="0"/>
                      </a:rPr>
                      <m:t>,</m:t>
                    </m:r>
                    <m:r>
                      <a:rPr lang="zh-CN" altLang="en-US" sz="1600" b="0" i="1" smtClean="0">
                        <a:latin typeface="Cambria Math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⋯,</m:t>
                    </m:r>
                    <m:r>
                      <a:rPr lang="zh-CN" altLang="en-US" sz="1600" b="0" i="1" smtClean="0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dirty="0"/>
                  <a:t>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首先做随机均匀抽样，从区间 </a:t>
                </a:r>
                <a:r>
                  <a:rPr lang="en-US" altLang="zh-CN" sz="1600" dirty="0"/>
                  <a:t>a</a:t>
                </a:r>
                <a:r>
                  <a:rPr lang="zh-CN" altLang="en-US" sz="1600" dirty="0"/>
                  <a:t> 到 </a:t>
                </a:r>
                <a:r>
                  <a:rPr lang="en-US" altLang="zh-CN" sz="1600" dirty="0"/>
                  <a:t>b</a:t>
                </a:r>
                <a:r>
                  <a:rPr lang="zh-CN" altLang="en-US" sz="1600" dirty="0"/>
                  <a:t> 中抽出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个样本，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=============================</a:t>
                </a:r>
              </a:p>
              <a:p>
                <a:r>
                  <a:rPr lang="zh-CN" altLang="en-US" sz="1600" dirty="0"/>
                  <a:t>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charset="0"/>
                      </a:rPr>
                      <m:t>,</m:t>
                    </m:r>
                    <m:r>
                      <a:rPr lang="zh-CN" altLang="en-US" sz="1600" b="0" i="1" smtClean="0">
                        <a:latin typeface="Cambria Math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⋯,</m:t>
                    </m:r>
                    <m:r>
                      <a:rPr lang="zh-CN" altLang="en-US" sz="1600" b="0" i="1" smtClean="0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具体这么做。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首先做随机均匀抽样，从区间 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 到 </a:t>
                </a:r>
                <a:r>
                  <a:rPr lang="en-US" altLang="zh-CN" sz="1600" dirty="0" smtClean="0"/>
                  <a:t>b</a:t>
                </a:r>
                <a:r>
                  <a:rPr lang="zh-CN" altLang="en-US" sz="1600" dirty="0" smtClean="0"/>
                  <a:t> 中抽出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个样本，记为</a:t>
                </a:r>
                <a:r>
                  <a:rPr lang="en-US" altLang="zh-CN" sz="1600" b="0" i="0" smtClean="0">
                    <a:latin typeface="Cambria Math" charset="0"/>
                  </a:rPr>
                  <a:t>𝑥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1,</a:t>
                </a:r>
                <a:r>
                  <a:rPr lang="zh-CN" altLang="en-US" sz="1600" b="0" i="0" smtClean="0">
                    <a:latin typeface="Cambria Math" charset="0"/>
                  </a:rPr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⋯,</a:t>
                </a:r>
                <a:r>
                  <a:rPr lang="zh-CN" altLang="en-US" sz="1600" b="0" i="0" smtClean="0">
                    <a:latin typeface="Cambria Math" charset="0"/>
                  </a:rPr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𝑥_𝑛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</a:t>
                </a:r>
              </a:p>
              <a:p>
                <a:r>
                  <a:rPr lang="zh-CN" altLang="en-US" sz="1600" dirty="0" smtClean="0"/>
                  <a:t>第二，计算每个 </a:t>
                </a:r>
                <a:r>
                  <a:rPr lang="en-US" altLang="zh-CN" sz="1600" i="0">
                    <a:latin typeface="Cambria Math" charset="0"/>
                  </a:rPr>
                  <a:t>𝑥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 的函数值 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(𝑥_𝑖 )</a:t>
                </a:r>
                <a:r>
                  <a:rPr lang="zh-CN" altLang="en-US" sz="1600" dirty="0" smtClean="0"/>
                  <a:t>，把这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个函数值求平均，再乘以定积分区间的大小 </a:t>
                </a:r>
                <a:r>
                  <a:rPr lang="en-US" altLang="zh-CN" sz="1600" i="0" smtClean="0">
                    <a:latin typeface="Cambria Math" charset="0"/>
                  </a:rPr>
                  <a:t>(</a:t>
                </a:r>
                <a:r>
                  <a:rPr lang="en-US" altLang="zh-CN" sz="1600" i="0">
                    <a:latin typeface="Cambria Math" charset="0"/>
                  </a:rPr>
                  <a:t>𝑏−𝑎)</a:t>
                </a:r>
                <a:r>
                  <a:rPr lang="zh-CN" altLang="en-US" sz="1600" dirty="0" smtClean="0"/>
                  <a:t> 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把得到的结果记为</a:t>
                </a:r>
                <a:r>
                  <a:rPr lang="en-US" altLang="zh-CN" sz="1600" b="0" i="0" smtClean="0">
                    <a:latin typeface="Cambria Math" charset="0"/>
                  </a:rPr>
                  <a:t>𝑄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</a:t>
                </a:r>
              </a:p>
              <a:p>
                <a:r>
                  <a:rPr lang="zh-CN" altLang="en-US" sz="1600" dirty="0" smtClean="0"/>
                  <a:t>可以拿 </a:t>
                </a:r>
                <a:r>
                  <a:rPr lang="en-US" altLang="zh-CN" sz="1600" b="0" i="0" smtClean="0">
                    <a:latin typeface="Cambria Math" charset="0"/>
                  </a:rPr>
                  <a:t>𝑄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 来近似   </a:t>
                </a:r>
                <a:r>
                  <a:rPr lang="zh-CN" altLang="en-US" sz="1600" baseline="0" dirty="0" smtClean="0"/>
                  <a:t>函数</a:t>
                </a:r>
                <a:r>
                  <a:rPr lang="en-US" altLang="zh-CN" sz="1600" baseline="0" dirty="0" smtClean="0"/>
                  <a:t>f</a:t>
                </a:r>
                <a:r>
                  <a:rPr lang="zh-CN" altLang="en-US" sz="1600" baseline="0" dirty="0" smtClean="0"/>
                  <a:t> 在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到</a:t>
                </a:r>
                <a:r>
                  <a:rPr lang="en-US" altLang="zh-CN" sz="1600" baseline="0" dirty="0" smtClean="0"/>
                  <a:t>b</a:t>
                </a:r>
                <a:r>
                  <a:rPr lang="zh-CN" altLang="en-US" sz="1600" baseline="0" dirty="0" smtClean="0"/>
                  <a:t>区间上的 定积分</a:t>
                </a:r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850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Second,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evaluate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function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for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all</a:t>
                </a:r>
                <a:r>
                  <a:rPr lang="zh-CN" altLang="en-US" sz="1600" dirty="0"/>
                  <a:t> </a:t>
                </a:r>
                <a:r>
                  <a:rPr lang="en-US" altLang="zh-CN" sz="1600" dirty="0" err="1"/>
                  <a:t>i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from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1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=============================</a:t>
                </a:r>
              </a:p>
              <a:p>
                <a:r>
                  <a:rPr lang="en-US" altLang="zh-CN" sz="1600" baseline="0" dirty="0"/>
                  <a:t>Take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average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function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values.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=============================</a:t>
                </a:r>
              </a:p>
              <a:p>
                <a:r>
                  <a:rPr lang="en-US" altLang="zh-CN" sz="1600" baseline="0" dirty="0"/>
                  <a:t>Scale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result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(b-a).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=============================</a:t>
                </a:r>
              </a:p>
              <a:p>
                <a:r>
                  <a:rPr lang="en-US" altLang="zh-CN" sz="1600" baseline="0" dirty="0"/>
                  <a:t>denote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outcome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by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dirty="0"/>
                  <a:t>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第二，计算每个样本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/>
                  <a:t> 的函数值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600" dirty="0"/>
                  <a:t>，把这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个函数值求平均，再乘以定积分区间的大小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𝑏</m:t>
                        </m:r>
                        <m:r>
                          <a:rPr lang="en-US" altLang="zh-CN" sz="1600" i="1">
                            <a:latin typeface="Cambria Math" charset="0"/>
                          </a:rPr>
                          <m:t>−</m:t>
                        </m:r>
                        <m:r>
                          <a:rPr lang="en-US" altLang="zh-CN" sz="1600" i="1">
                            <a:latin typeface="Cambria Math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1600" dirty="0"/>
                  <a:t> 。</a:t>
                </a:r>
                <a:endParaRPr lang="en-US" altLang="zh-CN" sz="1600" dirty="0"/>
              </a:p>
              <a:p>
                <a:r>
                  <a:rPr lang="zh-CN" altLang="en-US" sz="1600" dirty="0"/>
                  <a:t>把得到的结果记为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具体这么做。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首先做随机均匀抽样，从区间 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 到 </a:t>
                </a:r>
                <a:r>
                  <a:rPr lang="en-US" altLang="zh-CN" sz="1600" dirty="0" smtClean="0"/>
                  <a:t>b</a:t>
                </a:r>
                <a:r>
                  <a:rPr lang="zh-CN" altLang="en-US" sz="1600" dirty="0" smtClean="0"/>
                  <a:t> 中抽出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个样本，记为</a:t>
                </a:r>
                <a:r>
                  <a:rPr lang="en-US" altLang="zh-CN" sz="1600" b="0" i="0" smtClean="0">
                    <a:latin typeface="Cambria Math" charset="0"/>
                  </a:rPr>
                  <a:t>𝑥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1,</a:t>
                </a:r>
                <a:r>
                  <a:rPr lang="zh-CN" altLang="en-US" sz="1600" b="0" i="0" smtClean="0">
                    <a:latin typeface="Cambria Math" charset="0"/>
                  </a:rPr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⋯,</a:t>
                </a:r>
                <a:r>
                  <a:rPr lang="zh-CN" altLang="en-US" sz="1600" b="0" i="0" smtClean="0">
                    <a:latin typeface="Cambria Math" charset="0"/>
                  </a:rPr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𝑥_𝑛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</a:t>
                </a:r>
              </a:p>
              <a:p>
                <a:r>
                  <a:rPr lang="zh-CN" altLang="en-US" sz="1600" dirty="0" smtClean="0"/>
                  <a:t>第二，计算每个 </a:t>
                </a:r>
                <a:r>
                  <a:rPr lang="en-US" altLang="zh-CN" sz="1600" i="0">
                    <a:latin typeface="Cambria Math" charset="0"/>
                  </a:rPr>
                  <a:t>𝑥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 的函数值 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(𝑥_𝑖 )</a:t>
                </a:r>
                <a:r>
                  <a:rPr lang="zh-CN" altLang="en-US" sz="1600" dirty="0" smtClean="0"/>
                  <a:t>，把这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个函数值求平均，再乘以定积分区间的大小 </a:t>
                </a:r>
                <a:r>
                  <a:rPr lang="en-US" altLang="zh-CN" sz="1600" i="0" smtClean="0">
                    <a:latin typeface="Cambria Math" charset="0"/>
                  </a:rPr>
                  <a:t>(</a:t>
                </a:r>
                <a:r>
                  <a:rPr lang="en-US" altLang="zh-CN" sz="1600" i="0">
                    <a:latin typeface="Cambria Math" charset="0"/>
                  </a:rPr>
                  <a:t>𝑏−𝑎)</a:t>
                </a:r>
                <a:r>
                  <a:rPr lang="zh-CN" altLang="en-US" sz="1600" dirty="0" smtClean="0"/>
                  <a:t> 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把得到的结果记为</a:t>
                </a:r>
                <a:r>
                  <a:rPr lang="en-US" altLang="zh-CN" sz="1600" b="0" i="0" smtClean="0">
                    <a:latin typeface="Cambria Math" charset="0"/>
                  </a:rPr>
                  <a:t>𝑄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</a:t>
                </a:r>
              </a:p>
              <a:p>
                <a:r>
                  <a:rPr lang="zh-CN" altLang="en-US" sz="1600" dirty="0" smtClean="0"/>
                  <a:t>可以拿 </a:t>
                </a:r>
                <a:r>
                  <a:rPr lang="en-US" altLang="zh-CN" sz="1600" b="0" i="0" smtClean="0">
                    <a:latin typeface="Cambria Math" charset="0"/>
                  </a:rPr>
                  <a:t>𝑄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 来近似   </a:t>
                </a:r>
                <a:r>
                  <a:rPr lang="zh-CN" altLang="en-US" sz="1600" baseline="0" dirty="0" smtClean="0"/>
                  <a:t>函数</a:t>
                </a:r>
                <a:r>
                  <a:rPr lang="en-US" altLang="zh-CN" sz="1600" baseline="0" dirty="0" smtClean="0"/>
                  <a:t>f</a:t>
                </a:r>
                <a:r>
                  <a:rPr lang="zh-CN" altLang="en-US" sz="1600" baseline="0" dirty="0" smtClean="0"/>
                  <a:t> 在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到</a:t>
                </a:r>
                <a:r>
                  <a:rPr lang="en-US" altLang="zh-CN" sz="1600" baseline="0" dirty="0" smtClean="0"/>
                  <a:t>b</a:t>
                </a:r>
                <a:r>
                  <a:rPr lang="zh-CN" altLang="en-US" sz="1600" baseline="0" dirty="0" smtClean="0"/>
                  <a:t>区间上的 定积分</a:t>
                </a:r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1077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Finally,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return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as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approximation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integral</a:t>
                </a:r>
                <a:r>
                  <a:rPr lang="zh-CN" altLang="en-US" sz="1600" dirty="0"/>
                  <a:t> 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charset="0"/>
                      </a:rPr>
                      <m:t>𝐼</m:t>
                    </m:r>
                  </m:oMath>
                </a14:m>
                <a:r>
                  <a:rPr lang="en-US" altLang="zh-CN" sz="1600" dirty="0"/>
                  <a:t>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aseline="0" dirty="0"/>
                  <a:t>函数</a:t>
                </a:r>
                <a:r>
                  <a:rPr lang="en-US" altLang="zh-CN" sz="1600" baseline="0" dirty="0"/>
                  <a:t>f</a:t>
                </a:r>
                <a:r>
                  <a:rPr lang="zh-CN" altLang="en-US" sz="1600" baseline="0" dirty="0"/>
                  <a:t> 在</a:t>
                </a:r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到</a:t>
                </a:r>
                <a:r>
                  <a:rPr lang="en-US" altLang="zh-CN" sz="1600" baseline="0" dirty="0"/>
                  <a:t>b</a:t>
                </a:r>
                <a:r>
                  <a:rPr lang="zh-CN" altLang="en-US" sz="1600" baseline="0" dirty="0"/>
                  <a:t>区间上的 定积分 </a:t>
                </a:r>
                <a:r>
                  <a:rPr lang="zh-CN" altLang="en-US" sz="1600" i="1" baseline="0" dirty="0"/>
                  <a:t>记做 </a:t>
                </a:r>
                <a:r>
                  <a:rPr lang="en-US" altLang="zh-CN" sz="1600" i="1" baseline="0" dirty="0"/>
                  <a:t>I</a:t>
                </a:r>
                <a:r>
                  <a:rPr lang="zh-CN" altLang="en-US" sz="1600" baseline="0" dirty="0"/>
                  <a:t>。</a:t>
                </a:r>
                <a:endParaRPr lang="en-US" altLang="zh-CN" sz="1600" baseline="0" dirty="0"/>
              </a:p>
              <a:p>
                <a:r>
                  <a:rPr lang="zh-CN" altLang="en-US" sz="1600" dirty="0"/>
                  <a:t>可以拿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 来近似 </a:t>
                </a:r>
                <a:r>
                  <a:rPr lang="en-US" altLang="zh-CN" sz="1600" dirty="0"/>
                  <a:t>I</a:t>
                </a:r>
                <a:r>
                  <a:rPr lang="zh-CN" altLang="en-US" sz="1600" dirty="0"/>
                  <a:t>。</a:t>
                </a:r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baseline="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具体这么做。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首先做随机均匀抽样，从区间 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 到 </a:t>
                </a:r>
                <a:r>
                  <a:rPr lang="en-US" altLang="zh-CN" sz="1600" dirty="0" smtClean="0"/>
                  <a:t>b</a:t>
                </a:r>
                <a:r>
                  <a:rPr lang="zh-CN" altLang="en-US" sz="1600" dirty="0" smtClean="0"/>
                  <a:t> 中抽出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个样本，记为</a:t>
                </a:r>
                <a:r>
                  <a:rPr lang="en-US" altLang="zh-CN" sz="1600" b="0" i="0" smtClean="0">
                    <a:latin typeface="Cambria Math" charset="0"/>
                  </a:rPr>
                  <a:t>𝑥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1,</a:t>
                </a:r>
                <a:r>
                  <a:rPr lang="zh-CN" altLang="en-US" sz="1600" b="0" i="0" smtClean="0">
                    <a:latin typeface="Cambria Math" charset="0"/>
                  </a:rPr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⋯,</a:t>
                </a:r>
                <a:r>
                  <a:rPr lang="zh-CN" altLang="en-US" sz="1600" b="0" i="0" smtClean="0">
                    <a:latin typeface="Cambria Math" charset="0"/>
                  </a:rPr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𝑥_𝑛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</a:t>
                </a:r>
              </a:p>
              <a:p>
                <a:r>
                  <a:rPr lang="zh-CN" altLang="en-US" sz="1600" dirty="0" smtClean="0"/>
                  <a:t>第二，计算每个 </a:t>
                </a:r>
                <a:r>
                  <a:rPr lang="en-US" altLang="zh-CN" sz="1600" i="0">
                    <a:latin typeface="Cambria Math" charset="0"/>
                  </a:rPr>
                  <a:t>𝑥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 的函数值 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(𝑥_𝑖 )</a:t>
                </a:r>
                <a:r>
                  <a:rPr lang="zh-CN" altLang="en-US" sz="1600" dirty="0" smtClean="0"/>
                  <a:t>，把这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个函数值求平均，再乘以定积分区间的大小 </a:t>
                </a:r>
                <a:r>
                  <a:rPr lang="en-US" altLang="zh-CN" sz="1600" i="0" smtClean="0">
                    <a:latin typeface="Cambria Math" charset="0"/>
                  </a:rPr>
                  <a:t>(</a:t>
                </a:r>
                <a:r>
                  <a:rPr lang="en-US" altLang="zh-CN" sz="1600" i="0">
                    <a:latin typeface="Cambria Math" charset="0"/>
                  </a:rPr>
                  <a:t>𝑏−𝑎)</a:t>
                </a:r>
                <a:r>
                  <a:rPr lang="zh-CN" altLang="en-US" sz="1600" dirty="0" smtClean="0"/>
                  <a:t> 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把得到的结果记为</a:t>
                </a:r>
                <a:r>
                  <a:rPr lang="en-US" altLang="zh-CN" sz="1600" b="0" i="0" smtClean="0">
                    <a:latin typeface="Cambria Math" charset="0"/>
                  </a:rPr>
                  <a:t>𝑄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</a:t>
                </a:r>
              </a:p>
              <a:p>
                <a:r>
                  <a:rPr lang="zh-CN" altLang="en-US" sz="1600" dirty="0" smtClean="0"/>
                  <a:t>可以拿 </a:t>
                </a:r>
                <a:r>
                  <a:rPr lang="en-US" altLang="zh-CN" sz="1600" b="0" i="0" smtClean="0">
                    <a:latin typeface="Cambria Math" charset="0"/>
                  </a:rPr>
                  <a:t>𝑄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 来近似   </a:t>
                </a:r>
                <a:r>
                  <a:rPr lang="zh-CN" altLang="en-US" sz="1600" baseline="0" dirty="0" smtClean="0"/>
                  <a:t>函数</a:t>
                </a:r>
                <a:r>
                  <a:rPr lang="en-US" altLang="zh-CN" sz="1600" baseline="0" dirty="0" smtClean="0"/>
                  <a:t>f</a:t>
                </a:r>
                <a:r>
                  <a:rPr lang="zh-CN" altLang="en-US" sz="1600" baseline="0" dirty="0" smtClean="0"/>
                  <a:t> 在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到</a:t>
                </a:r>
                <a:r>
                  <a:rPr lang="en-US" altLang="zh-CN" sz="1600" baseline="0" dirty="0" smtClean="0"/>
                  <a:t>b</a:t>
                </a:r>
                <a:r>
                  <a:rPr lang="zh-CN" altLang="en-US" sz="1600" baseline="0" dirty="0" smtClean="0"/>
                  <a:t>区间上的 定积分</a:t>
                </a:r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4614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correctness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of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Monte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Carlo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integration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guaranteed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by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baseline="0" dirty="0"/>
                  <a:t>law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large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numbers.</a:t>
                </a:r>
              </a:p>
              <a:p>
                <a:r>
                  <a:rPr lang="en-US" altLang="zh-CN" sz="1600" baseline="0" dirty="0"/>
                  <a:t>=================</a:t>
                </a:r>
              </a:p>
              <a:p>
                <a:r>
                  <a:rPr lang="en-US" altLang="zh-CN" sz="1600" baseline="0" dirty="0"/>
                  <a:t>As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number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samples,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grows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infinity,</a:t>
                </a:r>
                <a:r>
                  <a:rPr lang="zh-CN" altLang="en-US" sz="1600" baseline="0" dirty="0"/>
                  <a:t> </a:t>
                </a:r>
                <a:endParaRPr lang="en-US" altLang="zh-CN" sz="1600" baseline="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</a:t>
                </a:r>
              </a:p>
              <a:p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estimate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equal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actual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integral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𝐼</m:t>
                    </m:r>
                  </m:oMath>
                </a14:m>
                <a:r>
                  <a:rPr lang="en-US" altLang="zh-CN" sz="1600" baseline="0" dirty="0"/>
                  <a:t>.</a:t>
                </a:r>
              </a:p>
              <a:p>
                <a:r>
                  <a:rPr lang="en-US" altLang="zh-CN" sz="1600" baseline="0" dirty="0"/>
                  <a:t>-----</a:t>
                </a:r>
              </a:p>
              <a:p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further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use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concentration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inequalities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find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convergence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rate.</a:t>
                </a:r>
              </a:p>
              <a:p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show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that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difference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between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and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𝐼</m:t>
                    </m:r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inversely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dirty="0"/>
                  <a:t>proportional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square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root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n.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大数定率 可以保证 蒙特卡洛的正确性。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</a:t>
                </a:r>
              </a:p>
              <a:p>
                <a:r>
                  <a:rPr lang="zh-CN" altLang="en-US" sz="1600" dirty="0"/>
                  <a:t>当样本数量 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 趋于无穷的时候，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</a:t>
                </a:r>
              </a:p>
              <a:p>
                <a:r>
                  <a:rPr lang="zh-CN" altLang="en-US" sz="1600" dirty="0"/>
                  <a:t>蒙特卡洛的结果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 等于 定积分的值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𝐼</m:t>
                    </m:r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------</a:t>
                </a:r>
              </a:p>
              <a:p>
                <a:r>
                  <a:rPr lang="zh-CN" altLang="en-US" sz="1600" dirty="0"/>
                  <a:t>其实还可以进一步拿概率不等式来</a:t>
                </a:r>
                <a:r>
                  <a:rPr lang="zh-CN" altLang="en-US" sz="1600" baseline="0" dirty="0"/>
                  <a:t> 求出收敛率。</a:t>
                </a:r>
                <a:endParaRPr lang="en-US" altLang="zh-CN" sz="1600" baseline="0" dirty="0"/>
              </a:p>
              <a:p>
                <a:r>
                  <a:rPr lang="zh-CN" altLang="en-US" sz="1600" baseline="0" dirty="0"/>
                  <a:t>可以证明 误差 反比与 根号</a:t>
                </a:r>
                <a:r>
                  <a:rPr lang="en-US" altLang="zh-CN" sz="1600" baseline="0" dirty="0"/>
                  <a:t>N</a:t>
                </a:r>
                <a:r>
                  <a:rPr lang="zh-CN" altLang="en-US" sz="1600" baseline="0" dirty="0"/>
                  <a:t>。</a:t>
                </a:r>
                <a:endParaRPr lang="en-US" altLang="zh-CN" sz="1600" baseline="0" dirty="0"/>
              </a:p>
              <a:p>
                <a:r>
                  <a:rPr lang="en-US" altLang="zh-CN" sz="1600" baseline="0" dirty="0"/>
                  <a:t>N</a:t>
                </a:r>
                <a:r>
                  <a:rPr lang="zh-CN" altLang="en-US" sz="1600" baseline="0" dirty="0"/>
                  <a:t>越大，误差越小。</a:t>
                </a: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大数定理 可以保证 蒙特卡洛的正确性。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有这个理论性质：当样本数量 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 趋于无穷的时候，蒙特卡洛的结果 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 等于 定积分的值 </a:t>
                </a:r>
                <a:r>
                  <a:rPr lang="en-US" altLang="zh-CN" sz="1600" i="0" smtClean="0">
                    <a:latin typeface="Cambria Math" charset="0"/>
                  </a:rPr>
                  <a:t>𝐼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其实还可以进一步拿概率不等式来</a:t>
                </a:r>
                <a:r>
                  <a:rPr lang="zh-CN" altLang="en-US" sz="1600" baseline="0" dirty="0" smtClean="0"/>
                  <a:t> 求出收敛率。</a:t>
                </a:r>
                <a:endParaRPr lang="en-US" altLang="zh-CN" sz="1600" baseline="0" dirty="0" smtClean="0"/>
              </a:p>
              <a:p>
                <a:r>
                  <a:rPr lang="zh-CN" altLang="en-US" sz="1600" baseline="0" dirty="0" smtClean="0"/>
                  <a:t>误差 反比与 根号</a:t>
                </a:r>
                <a:r>
                  <a:rPr lang="en-US" altLang="zh-CN" sz="1600" baseline="0" dirty="0" smtClean="0"/>
                  <a:t>N</a:t>
                </a:r>
                <a:r>
                  <a:rPr lang="zh-CN" altLang="en-US" sz="1600" baseline="0" dirty="0" smtClean="0"/>
                  <a:t>。</a:t>
                </a:r>
                <a:endParaRPr lang="en-US" altLang="zh-CN" sz="1600" baseline="0" dirty="0" smtClean="0"/>
              </a:p>
              <a:p>
                <a:r>
                  <a:rPr lang="en-US" altLang="zh-CN" sz="1600" baseline="0" dirty="0" smtClean="0"/>
                  <a:t>N</a:t>
                </a:r>
                <a:r>
                  <a:rPr lang="zh-CN" altLang="en-US" sz="1600" baseline="0" dirty="0" smtClean="0"/>
                  <a:t>越大，误差越小。</a:t>
                </a:r>
                <a:endParaRPr lang="en-US" altLang="zh-CN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7688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Let's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study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problem:</a:t>
                </a:r>
                <a:r>
                  <a:rPr lang="zh-CN" altLang="en-US" sz="1600" baseline="0" dirty="0"/>
                  <a:t> </a:t>
                </a:r>
                <a:endParaRPr lang="en-US" altLang="zh-CN" sz="1600" baseline="0" dirty="0"/>
              </a:p>
              <a:p>
                <a:r>
                  <a:rPr lang="en-US" altLang="zh-CN" sz="1600" baseline="0" dirty="0"/>
                  <a:t>=======================</a:t>
                </a:r>
              </a:p>
              <a:p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given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 </a:t>
                </a:r>
                <a:r>
                  <a:rPr lang="en-US" altLang="zh-CN" sz="1600" baseline="0" dirty="0"/>
                  <a:t>function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which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dirty="0"/>
                  <a:t>very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involved.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=======================</a:t>
                </a:r>
              </a:p>
              <a:p>
                <a:r>
                  <a:rPr lang="en-US" altLang="zh-CN" sz="160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want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calculate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integral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interval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from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0.8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3.</a:t>
                </a:r>
              </a:p>
              <a:p>
                <a:r>
                  <a:rPr lang="en-US" altLang="zh-CN" sz="1600" baseline="0" dirty="0"/>
                  <a:t>It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very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hard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calculation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analytically.</a:t>
                </a:r>
              </a:p>
              <a:p>
                <a:r>
                  <a:rPr lang="en-US" altLang="zh-CN" sz="1600" baseline="0" dirty="0"/>
                  <a:t>Perhaps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analytical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solution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does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not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even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exist.</a:t>
                </a:r>
              </a:p>
              <a:p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feasible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approach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Monte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Carlo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integration.</a:t>
                </a:r>
              </a:p>
              <a:p>
                <a:endParaRPr lang="en-US" altLang="zh-CN" sz="1600" baseline="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来看一个具体的例子。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=======================</a:t>
                </a:r>
                <a:endParaRPr lang="en-US" altLang="zh-CN" sz="1600" dirty="0"/>
              </a:p>
              <a:p>
                <a:r>
                  <a:rPr lang="zh-CN" altLang="en-US" sz="1600" dirty="0"/>
                  <a:t>给定函数 </a:t>
                </a:r>
                <a:r>
                  <a:rPr lang="en-US" altLang="zh-CN" sz="1600" dirty="0"/>
                  <a:t>f(x)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这个函数很复杂，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=======================</a:t>
                </a:r>
              </a:p>
              <a:p>
                <a:r>
                  <a:rPr lang="zh-CN" altLang="en-US" sz="1600" dirty="0"/>
                  <a:t>我们想要求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600" dirty="0"/>
                  <a:t> 在区间 </a:t>
                </a:r>
                <a:r>
                  <a:rPr lang="en-US" altLang="zh-CN" sz="1600" dirty="0"/>
                  <a:t>0.8</a:t>
                </a:r>
                <a:r>
                  <a:rPr lang="zh-CN" altLang="en-US" sz="1600" dirty="0"/>
                  <a:t>到</a:t>
                </a:r>
                <a:r>
                  <a:rPr lang="en-US" altLang="zh-CN" sz="1600" dirty="0"/>
                  <a:t>3</a:t>
                </a:r>
                <a:r>
                  <a:rPr lang="zh-CN" altLang="en-US" sz="1600" dirty="0"/>
                  <a:t>上的定积分。</a:t>
                </a:r>
                <a:endParaRPr lang="en-US" altLang="zh-CN" sz="1600" dirty="0"/>
              </a:p>
              <a:p>
                <a:r>
                  <a:rPr lang="zh-CN" altLang="en-US" sz="1600" dirty="0"/>
                  <a:t>直接求定积分很困难，我不会求这个定积分。</a:t>
                </a:r>
                <a:endParaRPr lang="en-US" altLang="zh-CN" sz="1600" dirty="0"/>
              </a:p>
              <a:p>
                <a:r>
                  <a:rPr lang="zh-CN" altLang="en-US" sz="1600" dirty="0"/>
                  <a:t>有可能这个积分根本没有解析解。</a:t>
                </a:r>
                <a:endParaRPr lang="en-US" altLang="zh-CN" sz="1600" dirty="0"/>
              </a:p>
              <a:p>
                <a:r>
                  <a:rPr lang="zh-CN" altLang="en-US" sz="1600" dirty="0"/>
                  <a:t>于是我用蒙特卡洛近似。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来看一个</a:t>
                </a:r>
                <a:r>
                  <a:rPr lang="zh-CN" altLang="en-US" sz="1600" dirty="0" smtClean="0"/>
                  <a:t>具体的</a:t>
                </a:r>
                <a:r>
                  <a:rPr lang="zh-CN" altLang="en-US" sz="1600" dirty="0" smtClean="0"/>
                  <a:t>例子。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这个函数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(𝑥)</a:t>
                </a:r>
                <a:r>
                  <a:rPr lang="zh-CN" altLang="en-US" sz="1600" dirty="0" smtClean="0"/>
                  <a:t>很复杂，我们想要求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(𝑥)</a:t>
                </a:r>
                <a:r>
                  <a:rPr lang="zh-CN" altLang="en-US" sz="1600" dirty="0" smtClean="0"/>
                  <a:t> 在区间 </a:t>
                </a:r>
                <a:r>
                  <a:rPr lang="en-US" altLang="zh-CN" sz="1600" dirty="0" smtClean="0"/>
                  <a:t>0.8</a:t>
                </a:r>
                <a:r>
                  <a:rPr lang="zh-CN" altLang="en-US" sz="1600" dirty="0" smtClean="0"/>
                  <a:t>到</a:t>
                </a:r>
                <a:r>
                  <a:rPr lang="en-US" altLang="zh-CN" sz="1600" dirty="0" smtClean="0"/>
                  <a:t>3</a:t>
                </a:r>
                <a:r>
                  <a:rPr lang="zh-CN" altLang="en-US" sz="1600" dirty="0" smtClean="0"/>
                  <a:t>上的定积分。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直接求定积分很困难，我不会求这个定积分。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有可能这个积分根本没有解析解。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于是我用蒙特卡洛近似。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第一步是做随机抽样，从 </a:t>
                </a:r>
                <a:r>
                  <a:rPr lang="en-US" altLang="zh-CN" sz="1600" dirty="0" smtClean="0"/>
                  <a:t>0.8</a:t>
                </a:r>
                <a:r>
                  <a:rPr lang="zh-CN" altLang="en-US" sz="1600" baseline="0" dirty="0" smtClean="0"/>
                  <a:t> 到 </a:t>
                </a:r>
                <a:r>
                  <a:rPr lang="en-US" altLang="zh-CN" sz="1600" baseline="0" dirty="0" smtClean="0"/>
                  <a:t>3</a:t>
                </a:r>
                <a:r>
                  <a:rPr lang="zh-CN" altLang="en-US" sz="1600" baseline="0" dirty="0" smtClean="0"/>
                  <a:t>这个区间上随机均匀抽 </a:t>
                </a:r>
                <a:r>
                  <a:rPr lang="en-US" altLang="zh-CN" sz="1600" baseline="0" dirty="0" smtClean="0"/>
                  <a:t>n</a:t>
                </a:r>
                <a:r>
                  <a:rPr lang="zh-CN" altLang="en-US" sz="1600" baseline="0" dirty="0" smtClean="0"/>
                  <a:t> 个样本，记做 </a:t>
                </a:r>
                <a:r>
                  <a:rPr lang="en-US" altLang="zh-CN" sz="1600" i="0">
                    <a:latin typeface="Cambria Math" charset="0"/>
                  </a:rPr>
                  <a:t>𝑥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1,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i="0">
                    <a:latin typeface="Cambria Math" charset="0"/>
                  </a:rPr>
                  <a:t>⋯,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i="0">
                    <a:latin typeface="Cambria Math" charset="0"/>
                  </a:rPr>
                  <a:t>𝑥_𝑛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</a:t>
                </a:r>
              </a:p>
              <a:p>
                <a:r>
                  <a:rPr lang="zh-CN" altLang="en-US" sz="1600" dirty="0" smtClean="0"/>
                  <a:t>第二步是计算每个</a:t>
                </a:r>
                <a:r>
                  <a:rPr lang="en-US" altLang="zh-CN" sz="1600" i="0">
                    <a:latin typeface="Cambria Math" charset="0"/>
                  </a:rPr>
                  <a:t>𝑥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的函数值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(𝑥_𝑖 )</a:t>
                </a:r>
                <a:r>
                  <a:rPr lang="zh-CN" altLang="en-US" sz="1600" dirty="0" smtClean="0"/>
                  <a:t>，求平均，再乘以 </a:t>
                </a:r>
                <a:r>
                  <a:rPr lang="en-US" altLang="zh-CN" sz="1600" dirty="0" smtClean="0"/>
                  <a:t>2.2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2.2</a:t>
                </a:r>
                <a:r>
                  <a:rPr lang="zh-CN" altLang="en-US" sz="1600" dirty="0" smtClean="0"/>
                  <a:t>这个数是区间 </a:t>
                </a:r>
                <a:r>
                  <a:rPr lang="en-US" altLang="zh-CN" sz="1600" dirty="0" smtClean="0"/>
                  <a:t>0.8</a:t>
                </a:r>
                <a:r>
                  <a:rPr lang="zh-CN" altLang="en-US" sz="1600" dirty="0" smtClean="0"/>
                  <a:t>到</a:t>
                </a:r>
                <a:r>
                  <a:rPr lang="en-US" altLang="zh-CN" sz="1600" dirty="0" smtClean="0"/>
                  <a:t>3</a:t>
                </a:r>
                <a:r>
                  <a:rPr lang="zh-CN" altLang="en-US" sz="1600" dirty="0" smtClean="0"/>
                  <a:t>的大小。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把结果记做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</a:t>
                </a:r>
              </a:p>
              <a:p>
                <a:r>
                  <a:rPr lang="zh-CN" altLang="en-US" sz="1600" dirty="0" smtClean="0"/>
                  <a:t>最后输出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，作为对定积分的近似。</a:t>
                </a:r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6527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/>
                  <a:t>First,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draw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random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samples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from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interval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between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0.8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3.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============================</a:t>
                </a:r>
              </a:p>
              <a:p>
                <a:r>
                  <a:rPr lang="en-US" altLang="zh-CN" sz="1600" baseline="0" dirty="0"/>
                  <a:t>Denote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samples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by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charset="0"/>
                      </a:rPr>
                      <m:t>,</m:t>
                    </m:r>
                    <m:r>
                      <a:rPr lang="zh-CN" altLang="en-US" sz="1600" i="1">
                        <a:latin typeface="Cambria Math" charset="0"/>
                      </a:rPr>
                      <m:t> </m:t>
                    </m:r>
                    <m:r>
                      <a:rPr lang="en-US" altLang="zh-CN" sz="1600" i="1">
                        <a:latin typeface="Cambria Math" charset="0"/>
                      </a:rPr>
                      <m:t>⋯,</m:t>
                    </m:r>
                    <m:r>
                      <a:rPr lang="zh-CN" altLang="en-US" sz="1600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dirty="0"/>
                  <a:t>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第一步是做随机抽样，在 </a:t>
                </a:r>
                <a:r>
                  <a:rPr lang="en-US" altLang="zh-CN" sz="1600" dirty="0"/>
                  <a:t>0.8</a:t>
                </a:r>
                <a:r>
                  <a:rPr lang="zh-CN" altLang="en-US" sz="1600" baseline="0" dirty="0"/>
                  <a:t> 到 </a:t>
                </a:r>
                <a:r>
                  <a:rPr lang="en-US" altLang="zh-CN" sz="1600" baseline="0" dirty="0"/>
                  <a:t>3</a:t>
                </a:r>
                <a:r>
                  <a:rPr lang="zh-CN" altLang="en-US" sz="1600" baseline="0" dirty="0"/>
                  <a:t>这个区间上随机均匀抽样，得到 </a:t>
                </a:r>
                <a:r>
                  <a:rPr lang="en-US" altLang="zh-CN" sz="1600" baseline="0" dirty="0"/>
                  <a:t>n</a:t>
                </a:r>
                <a:r>
                  <a:rPr lang="zh-CN" altLang="en-US" sz="1600" baseline="0" dirty="0"/>
                  <a:t> 个样本，</a:t>
                </a:r>
                <a:endParaRPr lang="en-US" altLang="zh-CN" sz="1600" baseline="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============================</a:t>
                </a:r>
              </a:p>
              <a:p>
                <a:r>
                  <a:rPr lang="zh-CN" altLang="en-US" sz="1600" baseline="0" dirty="0"/>
                  <a:t>记做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charset="0"/>
                      </a:rPr>
                      <m:t>,</m:t>
                    </m:r>
                    <m:r>
                      <a:rPr lang="zh-CN" altLang="en-US" sz="1600" i="1">
                        <a:latin typeface="Cambria Math" charset="0"/>
                      </a:rPr>
                      <m:t> </m:t>
                    </m:r>
                    <m:r>
                      <a:rPr lang="en-US" altLang="zh-CN" sz="1600" i="1">
                        <a:latin typeface="Cambria Math" charset="0"/>
                      </a:rPr>
                      <m:t>⋯,</m:t>
                    </m:r>
                    <m:r>
                      <a:rPr lang="zh-CN" altLang="en-US" sz="1600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常用的编程语言 都有 随机数生成器，全都支持这种均匀抽样。</a:t>
                </a: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来看一个</a:t>
                </a:r>
                <a:r>
                  <a:rPr lang="zh-CN" altLang="en-US" sz="1600" dirty="0" smtClean="0"/>
                  <a:t>具体的</a:t>
                </a:r>
                <a:r>
                  <a:rPr lang="zh-CN" altLang="en-US" sz="1600" dirty="0" smtClean="0"/>
                  <a:t>例子。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这个函数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(𝑥)</a:t>
                </a:r>
                <a:r>
                  <a:rPr lang="zh-CN" altLang="en-US" sz="1600" dirty="0" smtClean="0"/>
                  <a:t>很复杂，我们想要求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(𝑥)</a:t>
                </a:r>
                <a:r>
                  <a:rPr lang="zh-CN" altLang="en-US" sz="1600" dirty="0" smtClean="0"/>
                  <a:t> 在区间 </a:t>
                </a:r>
                <a:r>
                  <a:rPr lang="en-US" altLang="zh-CN" sz="1600" dirty="0" smtClean="0"/>
                  <a:t>0.8</a:t>
                </a:r>
                <a:r>
                  <a:rPr lang="zh-CN" altLang="en-US" sz="1600" dirty="0" smtClean="0"/>
                  <a:t>到</a:t>
                </a:r>
                <a:r>
                  <a:rPr lang="en-US" altLang="zh-CN" sz="1600" dirty="0" smtClean="0"/>
                  <a:t>3</a:t>
                </a:r>
                <a:r>
                  <a:rPr lang="zh-CN" altLang="en-US" sz="1600" dirty="0" smtClean="0"/>
                  <a:t>上的定积分。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直接求定积分很困难，我不会求这个定积分。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有可能这个积分根本没有解析解。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于是我用蒙特卡洛近似。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第一步是做随机抽样，从 </a:t>
                </a:r>
                <a:r>
                  <a:rPr lang="en-US" altLang="zh-CN" sz="1600" dirty="0" smtClean="0"/>
                  <a:t>0.8</a:t>
                </a:r>
                <a:r>
                  <a:rPr lang="zh-CN" altLang="en-US" sz="1600" baseline="0" dirty="0" smtClean="0"/>
                  <a:t> 到 </a:t>
                </a:r>
                <a:r>
                  <a:rPr lang="en-US" altLang="zh-CN" sz="1600" baseline="0" dirty="0" smtClean="0"/>
                  <a:t>3</a:t>
                </a:r>
                <a:r>
                  <a:rPr lang="zh-CN" altLang="en-US" sz="1600" baseline="0" dirty="0" smtClean="0"/>
                  <a:t>这个区间上随机均匀抽 </a:t>
                </a:r>
                <a:r>
                  <a:rPr lang="en-US" altLang="zh-CN" sz="1600" baseline="0" dirty="0" smtClean="0"/>
                  <a:t>n</a:t>
                </a:r>
                <a:r>
                  <a:rPr lang="zh-CN" altLang="en-US" sz="1600" baseline="0" dirty="0" smtClean="0"/>
                  <a:t> 个样本，记做 </a:t>
                </a:r>
                <a:r>
                  <a:rPr lang="en-US" altLang="zh-CN" sz="1600" i="0">
                    <a:latin typeface="Cambria Math" charset="0"/>
                  </a:rPr>
                  <a:t>𝑥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1,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i="0">
                    <a:latin typeface="Cambria Math" charset="0"/>
                  </a:rPr>
                  <a:t>⋯,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i="0">
                    <a:latin typeface="Cambria Math" charset="0"/>
                  </a:rPr>
                  <a:t>𝑥_𝑛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</a:t>
                </a:r>
              </a:p>
              <a:p>
                <a:r>
                  <a:rPr lang="zh-CN" altLang="en-US" sz="1600" dirty="0" smtClean="0"/>
                  <a:t>第二步是计算每个</a:t>
                </a:r>
                <a:r>
                  <a:rPr lang="en-US" altLang="zh-CN" sz="1600" i="0">
                    <a:latin typeface="Cambria Math" charset="0"/>
                  </a:rPr>
                  <a:t>𝑥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的函数值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(𝑥_𝑖 )</a:t>
                </a:r>
                <a:r>
                  <a:rPr lang="zh-CN" altLang="en-US" sz="1600" dirty="0" smtClean="0"/>
                  <a:t>，求平均，再乘以 </a:t>
                </a:r>
                <a:r>
                  <a:rPr lang="en-US" altLang="zh-CN" sz="1600" dirty="0" smtClean="0"/>
                  <a:t>2.2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2.2</a:t>
                </a:r>
                <a:r>
                  <a:rPr lang="zh-CN" altLang="en-US" sz="1600" dirty="0" smtClean="0"/>
                  <a:t>这个数是区间 </a:t>
                </a:r>
                <a:r>
                  <a:rPr lang="en-US" altLang="zh-CN" sz="1600" dirty="0" smtClean="0"/>
                  <a:t>0.8</a:t>
                </a:r>
                <a:r>
                  <a:rPr lang="zh-CN" altLang="en-US" sz="1600" dirty="0" smtClean="0"/>
                  <a:t>到</a:t>
                </a:r>
                <a:r>
                  <a:rPr lang="en-US" altLang="zh-CN" sz="1600" dirty="0" smtClean="0"/>
                  <a:t>3</a:t>
                </a:r>
                <a:r>
                  <a:rPr lang="zh-CN" altLang="en-US" sz="1600" dirty="0" smtClean="0"/>
                  <a:t>的大小。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把结果记做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</a:t>
                </a:r>
              </a:p>
              <a:p>
                <a:r>
                  <a:rPr lang="zh-CN" altLang="en-US" sz="1600" dirty="0" smtClean="0"/>
                  <a:t>最后输出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，作为对定积分的近似。</a:t>
                </a:r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14028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Second,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evaluate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function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values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for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all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============================</a:t>
                </a:r>
              </a:p>
              <a:p>
                <a:r>
                  <a:rPr lang="en-US" altLang="zh-CN" sz="1600" dirty="0"/>
                  <a:t>Average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function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values,</a:t>
                </a:r>
                <a:r>
                  <a:rPr lang="zh-CN" altLang="en-US" sz="1600" baseline="0" dirty="0"/>
                  <a:t> </a:t>
                </a:r>
                <a:endParaRPr lang="en-US" altLang="zh-CN" sz="1600" baseline="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============================</a:t>
                </a:r>
              </a:p>
              <a:p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scale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2.2.</a:t>
                </a:r>
              </a:p>
              <a:p>
                <a:r>
                  <a:rPr lang="en-US" altLang="zh-CN" sz="1600" baseline="0" dirty="0"/>
                  <a:t>Here,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2.2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size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interval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between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0.8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3.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第二步是计算每个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/>
                  <a:t>的函数值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600" dirty="0"/>
                  <a:t>，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============================</a:t>
                </a:r>
              </a:p>
              <a:p>
                <a:r>
                  <a:rPr lang="zh-CN" altLang="en-US" sz="1600" dirty="0"/>
                  <a:t>求平均，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============================</a:t>
                </a:r>
              </a:p>
              <a:p>
                <a:r>
                  <a:rPr lang="zh-CN" altLang="en-US" sz="1600" dirty="0"/>
                  <a:t>再乘以 </a:t>
                </a:r>
                <a:r>
                  <a:rPr lang="en-US" altLang="zh-CN" sz="1600" dirty="0"/>
                  <a:t>2.2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2.2</a:t>
                </a:r>
                <a:r>
                  <a:rPr lang="zh-CN" altLang="en-US" sz="1600" dirty="0"/>
                  <a:t>这个数是区间 </a:t>
                </a:r>
                <a:r>
                  <a:rPr lang="en-US" altLang="zh-CN" sz="1600" dirty="0"/>
                  <a:t>0.8</a:t>
                </a:r>
                <a:r>
                  <a:rPr lang="zh-CN" altLang="en-US" sz="1600" dirty="0"/>
                  <a:t>到</a:t>
                </a:r>
                <a:r>
                  <a:rPr lang="en-US" altLang="zh-CN" sz="1600" dirty="0"/>
                  <a:t>3</a:t>
                </a:r>
                <a:r>
                  <a:rPr lang="zh-CN" altLang="en-US" sz="1600" dirty="0"/>
                  <a:t>的大小。</a:t>
                </a:r>
                <a:endParaRPr lang="en-US" altLang="zh-CN" sz="1600" dirty="0"/>
              </a:p>
              <a:p>
                <a:r>
                  <a:rPr lang="zh-CN" altLang="en-US" sz="1600" dirty="0"/>
                  <a:t>把结果记做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来看一个</a:t>
                </a:r>
                <a:r>
                  <a:rPr lang="zh-CN" altLang="en-US" sz="1600" dirty="0" smtClean="0"/>
                  <a:t>具体的</a:t>
                </a:r>
                <a:r>
                  <a:rPr lang="zh-CN" altLang="en-US" sz="1600" dirty="0" smtClean="0"/>
                  <a:t>例子。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这个函数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(𝑥)</a:t>
                </a:r>
                <a:r>
                  <a:rPr lang="zh-CN" altLang="en-US" sz="1600" dirty="0" smtClean="0"/>
                  <a:t>很复杂，我们想要求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(𝑥)</a:t>
                </a:r>
                <a:r>
                  <a:rPr lang="zh-CN" altLang="en-US" sz="1600" dirty="0" smtClean="0"/>
                  <a:t> 在区间 </a:t>
                </a:r>
                <a:r>
                  <a:rPr lang="en-US" altLang="zh-CN" sz="1600" dirty="0" smtClean="0"/>
                  <a:t>0.8</a:t>
                </a:r>
                <a:r>
                  <a:rPr lang="zh-CN" altLang="en-US" sz="1600" dirty="0" smtClean="0"/>
                  <a:t>到</a:t>
                </a:r>
                <a:r>
                  <a:rPr lang="en-US" altLang="zh-CN" sz="1600" dirty="0" smtClean="0"/>
                  <a:t>3</a:t>
                </a:r>
                <a:r>
                  <a:rPr lang="zh-CN" altLang="en-US" sz="1600" dirty="0" smtClean="0"/>
                  <a:t>上的定积分。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直接求定积分很困难，我不会求这个定积分。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有可能这个积分根本没有解析解。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于是我用蒙特卡洛近似。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第一步是做随机抽样，从 </a:t>
                </a:r>
                <a:r>
                  <a:rPr lang="en-US" altLang="zh-CN" sz="1600" dirty="0" smtClean="0"/>
                  <a:t>0.8</a:t>
                </a:r>
                <a:r>
                  <a:rPr lang="zh-CN" altLang="en-US" sz="1600" baseline="0" dirty="0" smtClean="0"/>
                  <a:t> 到 </a:t>
                </a:r>
                <a:r>
                  <a:rPr lang="en-US" altLang="zh-CN" sz="1600" baseline="0" dirty="0" smtClean="0"/>
                  <a:t>3</a:t>
                </a:r>
                <a:r>
                  <a:rPr lang="zh-CN" altLang="en-US" sz="1600" baseline="0" dirty="0" smtClean="0"/>
                  <a:t>这个区间上随机均匀抽 </a:t>
                </a:r>
                <a:r>
                  <a:rPr lang="en-US" altLang="zh-CN" sz="1600" baseline="0" dirty="0" smtClean="0"/>
                  <a:t>n</a:t>
                </a:r>
                <a:r>
                  <a:rPr lang="zh-CN" altLang="en-US" sz="1600" baseline="0" dirty="0" smtClean="0"/>
                  <a:t> 个样本，记做 </a:t>
                </a:r>
                <a:r>
                  <a:rPr lang="en-US" altLang="zh-CN" sz="1600" i="0">
                    <a:latin typeface="Cambria Math" charset="0"/>
                  </a:rPr>
                  <a:t>𝑥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1,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i="0">
                    <a:latin typeface="Cambria Math" charset="0"/>
                  </a:rPr>
                  <a:t>⋯,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i="0">
                    <a:latin typeface="Cambria Math" charset="0"/>
                  </a:rPr>
                  <a:t>𝑥_𝑛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</a:t>
                </a:r>
              </a:p>
              <a:p>
                <a:r>
                  <a:rPr lang="zh-CN" altLang="en-US" sz="1600" dirty="0" smtClean="0"/>
                  <a:t>第二步是计算每个</a:t>
                </a:r>
                <a:r>
                  <a:rPr lang="en-US" altLang="zh-CN" sz="1600" i="0">
                    <a:latin typeface="Cambria Math" charset="0"/>
                  </a:rPr>
                  <a:t>𝑥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的函数值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(𝑥_𝑖 )</a:t>
                </a:r>
                <a:r>
                  <a:rPr lang="zh-CN" altLang="en-US" sz="1600" dirty="0" smtClean="0"/>
                  <a:t>，求平均，再乘以 </a:t>
                </a:r>
                <a:r>
                  <a:rPr lang="en-US" altLang="zh-CN" sz="1600" dirty="0" smtClean="0"/>
                  <a:t>2.2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2.2</a:t>
                </a:r>
                <a:r>
                  <a:rPr lang="zh-CN" altLang="en-US" sz="1600" dirty="0" smtClean="0"/>
                  <a:t>这个数是区间 </a:t>
                </a:r>
                <a:r>
                  <a:rPr lang="en-US" altLang="zh-CN" sz="1600" dirty="0" smtClean="0"/>
                  <a:t>0.8</a:t>
                </a:r>
                <a:r>
                  <a:rPr lang="zh-CN" altLang="en-US" sz="1600" dirty="0" smtClean="0"/>
                  <a:t>到</a:t>
                </a:r>
                <a:r>
                  <a:rPr lang="en-US" altLang="zh-CN" sz="1600" dirty="0" smtClean="0"/>
                  <a:t>3</a:t>
                </a:r>
                <a:r>
                  <a:rPr lang="zh-CN" altLang="en-US" sz="1600" dirty="0" smtClean="0"/>
                  <a:t>的大小。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把结果记做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</a:t>
                </a:r>
              </a:p>
              <a:p>
                <a:r>
                  <a:rPr lang="zh-CN" altLang="en-US" sz="1600" dirty="0" smtClean="0"/>
                  <a:t>最后输出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，作为对定积分的近似。</a:t>
                </a:r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76141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/>
                  <a:t>Finally,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return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as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approximation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integral.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最后输出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，作为对定积分的近似。</a:t>
                </a: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来看一个</a:t>
                </a:r>
                <a:r>
                  <a:rPr lang="zh-CN" altLang="en-US" sz="1600" dirty="0" smtClean="0"/>
                  <a:t>具体的</a:t>
                </a:r>
                <a:r>
                  <a:rPr lang="zh-CN" altLang="en-US" sz="1600" dirty="0" smtClean="0"/>
                  <a:t>例子。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这个函数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(𝑥)</a:t>
                </a:r>
                <a:r>
                  <a:rPr lang="zh-CN" altLang="en-US" sz="1600" dirty="0" smtClean="0"/>
                  <a:t>很复杂，我们想要求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(𝑥)</a:t>
                </a:r>
                <a:r>
                  <a:rPr lang="zh-CN" altLang="en-US" sz="1600" dirty="0" smtClean="0"/>
                  <a:t> 在区间 </a:t>
                </a:r>
                <a:r>
                  <a:rPr lang="en-US" altLang="zh-CN" sz="1600" dirty="0" smtClean="0"/>
                  <a:t>0.8</a:t>
                </a:r>
                <a:r>
                  <a:rPr lang="zh-CN" altLang="en-US" sz="1600" dirty="0" smtClean="0"/>
                  <a:t>到</a:t>
                </a:r>
                <a:r>
                  <a:rPr lang="en-US" altLang="zh-CN" sz="1600" dirty="0" smtClean="0"/>
                  <a:t>3</a:t>
                </a:r>
                <a:r>
                  <a:rPr lang="zh-CN" altLang="en-US" sz="1600" dirty="0" smtClean="0"/>
                  <a:t>上的定积分。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直接求定积分很困难，我不会求这个定积分。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有可能这个积分根本没有解析解。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于是我用蒙特卡洛近似。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第一步是做随机抽样，从 </a:t>
                </a:r>
                <a:r>
                  <a:rPr lang="en-US" altLang="zh-CN" sz="1600" dirty="0" smtClean="0"/>
                  <a:t>0.8</a:t>
                </a:r>
                <a:r>
                  <a:rPr lang="zh-CN" altLang="en-US" sz="1600" baseline="0" dirty="0" smtClean="0"/>
                  <a:t> 到 </a:t>
                </a:r>
                <a:r>
                  <a:rPr lang="en-US" altLang="zh-CN" sz="1600" baseline="0" dirty="0" smtClean="0"/>
                  <a:t>3</a:t>
                </a:r>
                <a:r>
                  <a:rPr lang="zh-CN" altLang="en-US" sz="1600" baseline="0" dirty="0" smtClean="0"/>
                  <a:t>这个区间上随机均匀抽 </a:t>
                </a:r>
                <a:r>
                  <a:rPr lang="en-US" altLang="zh-CN" sz="1600" baseline="0" dirty="0" smtClean="0"/>
                  <a:t>n</a:t>
                </a:r>
                <a:r>
                  <a:rPr lang="zh-CN" altLang="en-US" sz="1600" baseline="0" dirty="0" smtClean="0"/>
                  <a:t> 个样本，记做 </a:t>
                </a:r>
                <a:r>
                  <a:rPr lang="en-US" altLang="zh-CN" sz="1600" i="0">
                    <a:latin typeface="Cambria Math" charset="0"/>
                  </a:rPr>
                  <a:t>𝑥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1,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i="0">
                    <a:latin typeface="Cambria Math" charset="0"/>
                  </a:rPr>
                  <a:t>⋯,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i="0">
                    <a:latin typeface="Cambria Math" charset="0"/>
                  </a:rPr>
                  <a:t>𝑥_𝑛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</a:t>
                </a:r>
              </a:p>
              <a:p>
                <a:r>
                  <a:rPr lang="zh-CN" altLang="en-US" sz="1600" dirty="0" smtClean="0"/>
                  <a:t>第二步是计算每个</a:t>
                </a:r>
                <a:r>
                  <a:rPr lang="en-US" altLang="zh-CN" sz="1600" i="0">
                    <a:latin typeface="Cambria Math" charset="0"/>
                  </a:rPr>
                  <a:t>𝑥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的函数值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(𝑥_𝑖 )</a:t>
                </a:r>
                <a:r>
                  <a:rPr lang="zh-CN" altLang="en-US" sz="1600" dirty="0" smtClean="0"/>
                  <a:t>，求平均，再乘以 </a:t>
                </a:r>
                <a:r>
                  <a:rPr lang="en-US" altLang="zh-CN" sz="1600" dirty="0" smtClean="0"/>
                  <a:t>2.2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2.2</a:t>
                </a:r>
                <a:r>
                  <a:rPr lang="zh-CN" altLang="en-US" sz="1600" dirty="0" smtClean="0"/>
                  <a:t>这个数是区间 </a:t>
                </a:r>
                <a:r>
                  <a:rPr lang="en-US" altLang="zh-CN" sz="1600" dirty="0" smtClean="0"/>
                  <a:t>0.8</a:t>
                </a:r>
                <a:r>
                  <a:rPr lang="zh-CN" altLang="en-US" sz="1600" dirty="0" smtClean="0"/>
                  <a:t>到</a:t>
                </a:r>
                <a:r>
                  <a:rPr lang="en-US" altLang="zh-CN" sz="1600" dirty="0" smtClean="0"/>
                  <a:t>3</a:t>
                </a:r>
                <a:r>
                  <a:rPr lang="zh-CN" altLang="en-US" sz="1600" dirty="0" smtClean="0"/>
                  <a:t>的大小。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把结果记做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</a:t>
                </a:r>
              </a:p>
              <a:p>
                <a:r>
                  <a:rPr lang="zh-CN" altLang="en-US" sz="1600" dirty="0" smtClean="0"/>
                  <a:t>最后输出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，作为对定积分的近似。</a:t>
                </a:r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19270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have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learned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Monte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Carlo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Integration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for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univariate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functions.</a:t>
                </a:r>
              </a:p>
              <a:p>
                <a:r>
                  <a:rPr lang="en-US" altLang="zh-CN" sz="1600" dirty="0"/>
                  <a:t>Now,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let’s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do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for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multivariate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functions.</a:t>
                </a:r>
              </a:p>
              <a:p>
                <a:r>
                  <a:rPr lang="en-US" altLang="zh-CN" sz="1600" baseline="0" dirty="0"/>
                  <a:t>Multivariate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functions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functions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vector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variables.</a:t>
                </a:r>
              </a:p>
              <a:p>
                <a:r>
                  <a:rPr lang="en-US" altLang="zh-CN" sz="1600" dirty="0"/>
                  <a:t>============================</a:t>
                </a:r>
              </a:p>
              <a:p>
                <a:r>
                  <a:rPr lang="en-US" altLang="zh-CN" sz="1600" baseline="0" dirty="0"/>
                  <a:t>Denote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variable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vector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x.</a:t>
                </a:r>
              </a:p>
              <a:p>
                <a:r>
                  <a:rPr lang="en-US" altLang="zh-CN" sz="1600" dirty="0"/>
                  <a:t>============================</a:t>
                </a:r>
              </a:p>
              <a:p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want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calculate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integral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set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smtClean="0">
                        <a:solidFill>
                          <a:schemeClr val="tx1"/>
                        </a:solidFill>
                        <a:latin typeface="Cambria Math" charset="0"/>
                      </a:rPr>
                      <m:t>Ω</m:t>
                    </m:r>
                  </m:oMath>
                </a14:m>
                <a:r>
                  <a:rPr lang="en-US" altLang="zh-CN" sz="1600" dirty="0"/>
                  <a:t>.</a:t>
                </a:r>
              </a:p>
              <a:p>
                <a:r>
                  <a:rPr lang="en-US" altLang="zh-CN" sz="1600" baseline="0" dirty="0"/>
                  <a:t>Analytically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calculating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integral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multivariate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functions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way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harder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univariate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functions.</a:t>
                </a:r>
              </a:p>
              <a:p>
                <a:r>
                  <a:rPr lang="en-US" altLang="zh-CN" sz="1600" baseline="0" dirty="0"/>
                  <a:t>Oftentimes,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analytical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solution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does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not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exist.</a:t>
                </a:r>
              </a:p>
              <a:p>
                <a:r>
                  <a:rPr lang="en-US" altLang="zh-CN" sz="1600" baseline="0" dirty="0"/>
                  <a:t>Monte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Carlo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perhaps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most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useful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method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computing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high-dimensional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integrals.</a:t>
                </a:r>
              </a:p>
              <a:p>
                <a:endParaRPr lang="en-US" altLang="zh-CN" sz="1600" baseline="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刚才讲了一元函数的蒙特卡洛积分，现在来看多元函数的积分。</a:t>
                </a:r>
                <a:endParaRPr lang="en-US" altLang="zh-CN" sz="1600" dirty="0"/>
              </a:p>
              <a:p>
                <a:r>
                  <a:rPr lang="zh-CN" altLang="en-US" sz="1600" dirty="0"/>
                  <a:t>函数</a:t>
                </a:r>
                <a:r>
                  <a:rPr lang="en-US" altLang="zh-CN" sz="1600" dirty="0"/>
                  <a:t>f</a:t>
                </a:r>
                <a:r>
                  <a:rPr lang="zh-CN" altLang="en-US" sz="1600" dirty="0"/>
                  <a:t>是个多元函数，变量是向量</a:t>
                </a:r>
                <a:r>
                  <a:rPr lang="en-US" altLang="zh-CN" sz="1600" dirty="0"/>
                  <a:t>x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要求计算 函数</a:t>
                </a:r>
                <a:r>
                  <a:rPr lang="en-US" altLang="zh-CN" sz="1600" dirty="0"/>
                  <a:t>f</a:t>
                </a:r>
                <a:r>
                  <a:rPr lang="zh-CN" altLang="en-US" sz="1600" dirty="0"/>
                  <a:t> 在集合 </a:t>
                </a:r>
                <a:r>
                  <a:rPr lang="en-US" altLang="zh-CN" sz="1600" dirty="0"/>
                  <a:t>Omega</a:t>
                </a:r>
                <a:r>
                  <a:rPr lang="zh-CN" altLang="en-US" sz="1600" dirty="0"/>
                  <a:t>上的定积分。</a:t>
                </a:r>
                <a:endParaRPr lang="en-US" altLang="zh-CN" sz="1600" dirty="0"/>
              </a:p>
              <a:p>
                <a:r>
                  <a:rPr lang="en-US" altLang="zh-CN" sz="1600" dirty="0"/>
                  <a:t>----</a:t>
                </a:r>
              </a:p>
              <a:p>
                <a:r>
                  <a:rPr lang="zh-CN" altLang="en-US" sz="1600" dirty="0"/>
                  <a:t>与刚才的一元函数相比，多元函数的定积分</a:t>
                </a:r>
                <a:r>
                  <a:rPr lang="zh-CN" altLang="en-US" sz="1600" baseline="0" dirty="0"/>
                  <a:t> </a:t>
                </a:r>
                <a:r>
                  <a:rPr lang="zh-CN" altLang="en-US" sz="1600" dirty="0"/>
                  <a:t>更直接难求，很难找到积分的解析形式。</a:t>
                </a:r>
                <a:endParaRPr lang="en-US" altLang="zh-CN" sz="1600" dirty="0"/>
              </a:p>
              <a:p>
                <a:r>
                  <a:rPr lang="zh-CN" altLang="en-US" sz="1600" dirty="0"/>
                  <a:t>所以通常用蒙特卡洛来近似计算这个定积分。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have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learned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Monte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Carlo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Integration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for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univariate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functions.</a:t>
                </a:r>
              </a:p>
              <a:p>
                <a:r>
                  <a:rPr lang="en-US" altLang="zh-CN" sz="1600" dirty="0" smtClean="0"/>
                  <a:t>Now,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let’s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do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for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multivariate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functions.</a:t>
                </a:r>
              </a:p>
              <a:p>
                <a:r>
                  <a:rPr lang="en-US" altLang="zh-CN" sz="1600" baseline="0" dirty="0" smtClean="0"/>
                  <a:t>Multivariate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vector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variables.</a:t>
                </a:r>
              </a:p>
              <a:p>
                <a:r>
                  <a:rPr lang="en-US" altLang="zh-CN" sz="1600" baseline="0" dirty="0" smtClean="0"/>
                  <a:t>Denote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variable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vector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x.</a:t>
                </a:r>
              </a:p>
              <a:p>
                <a:r>
                  <a:rPr lang="en-US" altLang="zh-CN" sz="1600" baseline="0" dirty="0" smtClean="0"/>
                  <a:t>We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asked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calculate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integral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</a:t>
                </a:r>
                <a:r>
                  <a:rPr lang="en-US" altLang="zh-CN" sz="1600" b="1" i="0">
                    <a:latin typeface="Cambria Math" charset="0"/>
                  </a:rPr>
                  <a:t>𝐱)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set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i="0" smtClean="0">
                    <a:solidFill>
                      <a:schemeClr val="tx1"/>
                    </a:solidFill>
                    <a:latin typeface="Cambria Math" charset="0"/>
                  </a:rPr>
                  <a:t>Ω</a:t>
                </a:r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--------</a:t>
                </a:r>
              </a:p>
              <a:p>
                <a:r>
                  <a:rPr lang="en-US" altLang="zh-CN" sz="1600" baseline="0" dirty="0" smtClean="0"/>
                  <a:t>Analytically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calculating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integral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multivariate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way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harder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univariate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functions.</a:t>
                </a:r>
              </a:p>
              <a:p>
                <a:r>
                  <a:rPr lang="en-US" altLang="zh-CN" sz="1600" baseline="0" dirty="0" smtClean="0"/>
                  <a:t>Oftentimes,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analytical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solution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does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not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existing.</a:t>
                </a:r>
              </a:p>
              <a:p>
                <a:r>
                  <a:rPr lang="en-US" altLang="zh-CN" sz="1600" baseline="0" dirty="0" smtClean="0"/>
                  <a:t>Monte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Carlo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perhaps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most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useful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method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computing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high-dimensional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integrals.</a:t>
                </a:r>
              </a:p>
              <a:p>
                <a:endParaRPr lang="en-US" altLang="zh-CN" sz="1600" baseline="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刚才</a:t>
                </a:r>
                <a:r>
                  <a:rPr lang="zh-CN" altLang="en-US" sz="1600" dirty="0" smtClean="0"/>
                  <a:t>讲了一元函数</a:t>
                </a:r>
                <a:r>
                  <a:rPr lang="zh-CN" altLang="en-US" sz="1600" dirty="0" smtClean="0"/>
                  <a:t>的蒙特卡洛积分</a:t>
                </a:r>
                <a:r>
                  <a:rPr lang="zh-CN" altLang="en-US" sz="1600" dirty="0" smtClean="0"/>
                  <a:t>，现在来看多元函数的积分。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函数</a:t>
                </a:r>
                <a:r>
                  <a:rPr lang="en-US" altLang="zh-CN" sz="1600" dirty="0" smtClean="0"/>
                  <a:t>f</a:t>
                </a:r>
                <a:r>
                  <a:rPr lang="zh-CN" altLang="en-US" sz="1600" dirty="0" smtClean="0"/>
                  <a:t>是个多元函数，变量是向量</a:t>
                </a:r>
                <a:r>
                  <a:rPr lang="en-US" altLang="zh-CN" sz="1600" dirty="0" smtClean="0"/>
                  <a:t>x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要求计算 函数</a:t>
                </a:r>
                <a:r>
                  <a:rPr lang="en-US" altLang="zh-CN" sz="1600" dirty="0" smtClean="0"/>
                  <a:t>f</a:t>
                </a:r>
                <a:r>
                  <a:rPr lang="zh-CN" altLang="en-US" sz="1600" dirty="0" smtClean="0"/>
                  <a:t> 在集合 </a:t>
                </a:r>
                <a:r>
                  <a:rPr lang="en-US" altLang="zh-CN" sz="1600" dirty="0" smtClean="0"/>
                  <a:t>Omega</a:t>
                </a:r>
                <a:r>
                  <a:rPr lang="zh-CN" altLang="en-US" sz="1600" dirty="0" smtClean="0"/>
                  <a:t>上的定积分。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</a:t>
                </a:r>
              </a:p>
              <a:p>
                <a:r>
                  <a:rPr lang="zh-CN" altLang="en-US" sz="1600" dirty="0" smtClean="0"/>
                  <a:t>多元函数的定积分就更难求了。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所以通常用蒙特卡洛来近似计算这个定积分。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551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do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Monte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Carlo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integration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4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steps.</a:t>
                </a:r>
              </a:p>
              <a:p>
                <a:r>
                  <a:rPr lang="en-US" altLang="zh-CN" sz="1600" baseline="0" dirty="0"/>
                  <a:t>Firstly,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</a:t>
                </a:r>
                <a:r>
                  <a:rPr lang="en-US" altLang="zh-CN" sz="1600" dirty="0"/>
                  <a:t>raw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samples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from</a:t>
                </a:r>
                <a:r>
                  <a:rPr lang="zh-CN" altLang="en-US" sz="1600" dirty="0"/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set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solidFill>
                          <a:schemeClr val="tx1"/>
                        </a:solidFill>
                        <a:latin typeface="Cambria Math" charset="0"/>
                      </a:rPr>
                      <m:t>Ω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uniformly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/>
                  <a:t>at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random.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Denote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vectors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0" smtClean="0">
                            <a:latin typeface="Cambria Math" charset="0"/>
                          </a:rPr>
                          <m:t>𝐱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charset="0"/>
                      </a:rPr>
                      <m:t>,</m:t>
                    </m:r>
                    <m:r>
                      <a:rPr lang="zh-CN" altLang="en-US" sz="1600" b="0" i="1" smtClean="0">
                        <a:latin typeface="Cambria Math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⋯,</m:t>
                    </m:r>
                    <m:r>
                      <a:rPr lang="zh-CN" altLang="en-US" sz="1600" b="0" i="1" smtClean="0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0" smtClean="0">
                            <a:latin typeface="Cambria Math" charset="0"/>
                          </a:rPr>
                          <m:t>𝐱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dirty="0"/>
                  <a:t>.</a:t>
                </a:r>
              </a:p>
              <a:p>
                <a:r>
                  <a:rPr lang="en-US" altLang="zh-CN" sz="1600" dirty="0"/>
                  <a:t>===========================</a:t>
                </a:r>
              </a:p>
              <a:p>
                <a:r>
                  <a:rPr lang="en-US" altLang="zh-CN" sz="1600" dirty="0"/>
                  <a:t>Secondly,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find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volume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of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set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smtClean="0">
                        <a:latin typeface="Cambria Math" charset="0"/>
                      </a:rPr>
                      <m:t>Ω</m:t>
                    </m:r>
                  </m:oMath>
                </a14:m>
                <a:r>
                  <a:rPr lang="en-US" altLang="zh-CN" sz="1600" dirty="0"/>
                  <a:t>;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denote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volume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by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V.</a:t>
                </a:r>
              </a:p>
              <a:p>
                <a:r>
                  <a:rPr lang="en-US" altLang="zh-CN" sz="1600" dirty="0"/>
                  <a:t>In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general,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takes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another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definite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integral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calculating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volume,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which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hard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original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problem.</a:t>
                </a:r>
              </a:p>
              <a:p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must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avoid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calculating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integral.</a:t>
                </a:r>
              </a:p>
              <a:p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make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set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smtClean="0">
                        <a:latin typeface="Cambria Math" charset="0"/>
                      </a:rPr>
                      <m:t>Ω</m:t>
                    </m:r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a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simple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shape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such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cube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ball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that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volume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easily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found.</a:t>
                </a:r>
              </a:p>
              <a:p>
                <a:endParaRPr lang="en-US" altLang="zh-CN" sz="1600" baseline="0" dirty="0"/>
              </a:p>
              <a:p>
                <a:endParaRPr lang="en-US" altLang="zh-CN" sz="1600" baseline="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具体这样做蒙特卡洛积分。</a:t>
                </a:r>
                <a:endParaRPr lang="en-US" altLang="zh-CN" sz="1600" dirty="0"/>
              </a:p>
              <a:p>
                <a:r>
                  <a:rPr lang="zh-CN" altLang="en-US" sz="1600" dirty="0"/>
                  <a:t>第一步是随机抽样。</a:t>
                </a:r>
                <a:endParaRPr lang="en-US" altLang="zh-CN" sz="1600" dirty="0"/>
              </a:p>
              <a:p>
                <a:r>
                  <a:rPr lang="zh-CN" altLang="en-US" sz="1600" dirty="0"/>
                  <a:t>从集合</a:t>
                </a:r>
                <a:r>
                  <a:rPr lang="en-US" altLang="zh-CN" sz="1600" dirty="0"/>
                  <a:t>Omega</a:t>
                </a:r>
                <a:r>
                  <a:rPr lang="zh-CN" altLang="en-US" sz="1600" dirty="0"/>
                  <a:t>中随机均匀抽取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个样本，记做向量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0" smtClean="0">
                            <a:latin typeface="Cambria Math" charset="0"/>
                          </a:rPr>
                          <m:t>𝐱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charset="0"/>
                      </a:rPr>
                      <m:t>,</m:t>
                    </m:r>
                    <m:r>
                      <a:rPr lang="zh-CN" altLang="en-US" sz="1600" b="0" i="1" smtClean="0">
                        <a:latin typeface="Cambria Math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⋯,</m:t>
                    </m:r>
                    <m:r>
                      <a:rPr lang="zh-CN" altLang="en-US" sz="1600" b="0" i="1" smtClean="0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0" smtClean="0">
                            <a:latin typeface="Cambria Math" charset="0"/>
                          </a:rPr>
                          <m:t>𝐱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===========================</a:t>
                </a:r>
              </a:p>
              <a:p>
                <a:r>
                  <a:rPr lang="zh-CN" altLang="en-US" sz="1600" dirty="0"/>
                  <a:t>第二步计算</a:t>
                </a:r>
                <a:r>
                  <a:rPr lang="en-US" altLang="zh-CN" sz="1600" dirty="0"/>
                  <a:t>Omega</a:t>
                </a:r>
                <a:r>
                  <a:rPr lang="zh-CN" altLang="en-US" sz="1600" dirty="0"/>
                  <a:t>集合的体积。</a:t>
                </a:r>
                <a:endParaRPr lang="en-US" altLang="zh-CN" sz="1600" dirty="0"/>
              </a:p>
              <a:p>
                <a:r>
                  <a:rPr lang="zh-CN" altLang="en-US" sz="1600" dirty="0"/>
                  <a:t>这个定积分中的函数是常数</a:t>
                </a:r>
                <a:r>
                  <a:rPr lang="en-US" altLang="zh-CN" sz="1600" dirty="0"/>
                  <a:t>1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常数</a:t>
                </a:r>
                <a:r>
                  <a:rPr lang="en-US" altLang="zh-CN" sz="1600" dirty="0"/>
                  <a:t>1</a:t>
                </a:r>
                <a:r>
                  <a:rPr lang="zh-CN" altLang="en-US" sz="1600" dirty="0"/>
                  <a:t>在集合</a:t>
                </a:r>
                <a:r>
                  <a:rPr lang="en-US" altLang="zh-CN" sz="1600" dirty="0"/>
                  <a:t>Omega</a:t>
                </a:r>
                <a:r>
                  <a:rPr lang="zh-CN" altLang="en-US" sz="1600" dirty="0"/>
                  <a:t>上的定积分就是</a:t>
                </a:r>
                <a:r>
                  <a:rPr lang="en-US" altLang="zh-CN" sz="1600" dirty="0"/>
                  <a:t>Omega</a:t>
                </a:r>
                <a:r>
                  <a:rPr lang="zh-CN" altLang="en-US" sz="1600" dirty="0"/>
                  <a:t>的体积，记做</a:t>
                </a:r>
                <a:r>
                  <a:rPr lang="en-US" altLang="zh-CN" sz="1600" dirty="0"/>
                  <a:t>V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---</a:t>
                </a:r>
              </a:p>
              <a:p>
                <a:r>
                  <a:rPr lang="zh-CN" altLang="en-US" sz="1600" dirty="0"/>
                  <a:t>注意，求体积</a:t>
                </a:r>
                <a:r>
                  <a:rPr lang="en-US" altLang="zh-CN" sz="1600" dirty="0"/>
                  <a:t>V</a:t>
                </a:r>
                <a:r>
                  <a:rPr lang="zh-CN" altLang="en-US" sz="1600" dirty="0"/>
                  <a:t>也需要定积分，这有可能与原问题同样困难。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/>
                  <a:t>假如</a:t>
                </a:r>
                <a:r>
                  <a:rPr lang="en-US" altLang="zh-CN" sz="1600" dirty="0"/>
                  <a:t>Omega</a:t>
                </a:r>
                <a:r>
                  <a:rPr lang="zh-CN" altLang="en-US" sz="1600" dirty="0"/>
                  <a:t>的形状很复杂，我们不知道</a:t>
                </a:r>
                <a:r>
                  <a:rPr lang="en-US" altLang="zh-CN" sz="1600" dirty="0"/>
                  <a:t>Omega</a:t>
                </a:r>
                <a:r>
                  <a:rPr lang="zh-CN" altLang="en-US" sz="1600" dirty="0"/>
                  <a:t>的体积</a:t>
                </a:r>
                <a:r>
                  <a:rPr lang="en-US" altLang="zh-CN" sz="1600" dirty="0"/>
                  <a:t>V</a:t>
                </a:r>
                <a:r>
                  <a:rPr lang="zh-CN" altLang="en-US" sz="1600" dirty="0"/>
                  <a:t>，于是就没办法求蒙特卡洛近似。</a:t>
                </a:r>
                <a:endParaRPr lang="en-US" altLang="zh-CN" sz="1600" dirty="0"/>
              </a:p>
              <a:p>
                <a:r>
                  <a:rPr lang="zh-CN" altLang="en-US" sz="1600" dirty="0"/>
                  <a:t>为了避免求这个定积分，必须让集合</a:t>
                </a:r>
                <a:r>
                  <a:rPr lang="en-US" altLang="zh-CN" sz="1600" dirty="0"/>
                  <a:t>Omega</a:t>
                </a:r>
                <a:r>
                  <a:rPr lang="zh-CN" altLang="en-US" sz="1600" dirty="0"/>
                  <a:t>是简单的形状，比如长方体、球体等等。</a:t>
                </a:r>
                <a:endParaRPr lang="en-US" altLang="zh-CN" sz="1600" dirty="0"/>
              </a:p>
              <a:p>
                <a:r>
                  <a:rPr lang="zh-CN" altLang="en-US" sz="1600" dirty="0"/>
                  <a:t>我们可以直接拿公式算出长方体、球体的体积，不用做积分求</a:t>
                </a:r>
                <a:r>
                  <a:rPr lang="en-US" altLang="zh-CN" sz="1600" dirty="0"/>
                  <a:t>V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具体这么做。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第一步是随机抽样。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从集合</a:t>
                </a:r>
                <a:r>
                  <a:rPr lang="en-US" altLang="zh-CN" sz="1600" dirty="0" smtClean="0"/>
                  <a:t>Omega</a:t>
                </a:r>
                <a:r>
                  <a:rPr lang="zh-CN" altLang="en-US" sz="1600" dirty="0" smtClean="0"/>
                  <a:t>中随机均匀抽取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个样本，记做向量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="1" i="0" smtClean="0">
                    <a:latin typeface="Cambria Math" charset="0"/>
                  </a:rPr>
                  <a:t>𝐱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1,</a:t>
                </a:r>
                <a:r>
                  <a:rPr lang="zh-CN" altLang="en-US" sz="1600" b="0" i="0" smtClean="0">
                    <a:latin typeface="Cambria Math" charset="0"/>
                  </a:rPr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⋯,</a:t>
                </a:r>
                <a:r>
                  <a:rPr lang="zh-CN" altLang="en-US" sz="1600" b="0" i="0" smtClean="0">
                    <a:latin typeface="Cambria Math" charset="0"/>
                  </a:rPr>
                  <a:t> </a:t>
                </a:r>
                <a:r>
                  <a:rPr lang="en-US" altLang="zh-CN" sz="1600" b="1" i="0" smtClean="0">
                    <a:latin typeface="Cambria Math" charset="0"/>
                  </a:rPr>
                  <a:t>𝐱</a:t>
                </a:r>
                <a:r>
                  <a:rPr lang="en-US" altLang="zh-CN" sz="1600" b="0" i="0" smtClean="0">
                    <a:latin typeface="Cambria Math" charset="0"/>
                  </a:rPr>
                  <a:t>_𝑛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第二步计算</a:t>
                </a:r>
                <a:r>
                  <a:rPr lang="en-US" altLang="zh-CN" sz="1600" dirty="0" smtClean="0"/>
                  <a:t>Omega</a:t>
                </a:r>
                <a:r>
                  <a:rPr lang="zh-CN" altLang="en-US" sz="1600" dirty="0" smtClean="0"/>
                  <a:t>集合的体积。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这个定积分中的函数是常数</a:t>
                </a:r>
                <a:r>
                  <a:rPr lang="en-US" altLang="zh-CN" sz="1600" dirty="0" smtClean="0"/>
                  <a:t>1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常数</a:t>
                </a:r>
                <a:r>
                  <a:rPr lang="en-US" altLang="zh-CN" sz="1600" dirty="0" smtClean="0"/>
                  <a:t>1</a:t>
                </a:r>
                <a:r>
                  <a:rPr lang="zh-CN" altLang="en-US" sz="1600" dirty="0" smtClean="0"/>
                  <a:t>在集合</a:t>
                </a:r>
                <a:r>
                  <a:rPr lang="en-US" altLang="zh-CN" sz="1600" dirty="0" smtClean="0"/>
                  <a:t>Omega</a:t>
                </a:r>
                <a:r>
                  <a:rPr lang="zh-CN" altLang="en-US" sz="1600" dirty="0" smtClean="0"/>
                  <a:t>上的定积分就是</a:t>
                </a:r>
                <a:r>
                  <a:rPr lang="en-US" altLang="zh-CN" sz="1600" dirty="0" smtClean="0"/>
                  <a:t>Omega</a:t>
                </a:r>
                <a:r>
                  <a:rPr lang="zh-CN" altLang="en-US" sz="1600" dirty="0" smtClean="0"/>
                  <a:t>的体积，记做</a:t>
                </a:r>
                <a:r>
                  <a:rPr lang="en-US" altLang="zh-CN" sz="1600" dirty="0" smtClean="0"/>
                  <a:t>V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</a:t>
                </a:r>
              </a:p>
              <a:p>
                <a:r>
                  <a:rPr lang="zh-CN" altLang="en-US" sz="1600" dirty="0" smtClean="0"/>
                  <a:t>注意，求体积</a:t>
                </a:r>
                <a:r>
                  <a:rPr lang="en-US" altLang="zh-CN" sz="1600" dirty="0" smtClean="0"/>
                  <a:t>V</a:t>
                </a:r>
                <a:r>
                  <a:rPr lang="zh-CN" altLang="en-US" sz="1600" dirty="0" smtClean="0"/>
                  <a:t>也需要定积分。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为了能求出体积，集合</a:t>
                </a:r>
                <a:r>
                  <a:rPr lang="en-US" altLang="zh-CN" sz="1600" dirty="0" smtClean="0"/>
                  <a:t>Omega</a:t>
                </a:r>
                <a:r>
                  <a:rPr lang="zh-CN" altLang="en-US" sz="1600" dirty="0" smtClean="0"/>
                  <a:t>必须是简单的形状，比如长方体、球体等等。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假如</a:t>
                </a:r>
                <a:r>
                  <a:rPr lang="en-US" altLang="zh-CN" sz="1600" dirty="0" smtClean="0"/>
                  <a:t>Omega</a:t>
                </a:r>
                <a:r>
                  <a:rPr lang="zh-CN" altLang="en-US" sz="1600" dirty="0" smtClean="0"/>
                  <a:t>的形状很复杂，我们求不出来</a:t>
                </a:r>
                <a:r>
                  <a:rPr lang="en-US" altLang="zh-CN" sz="1600" dirty="0" smtClean="0"/>
                  <a:t>Omega</a:t>
                </a:r>
                <a:r>
                  <a:rPr lang="zh-CN" altLang="en-US" sz="1600" dirty="0" smtClean="0"/>
                  <a:t>的体积，所以也没办法求蒙特卡洛近似。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接下来计算每个样本</a:t>
                </a:r>
                <a:r>
                  <a:rPr lang="en-US" altLang="zh-CN" sz="1600" b="1" i="0">
                    <a:latin typeface="Cambria Math" charset="0"/>
                  </a:rPr>
                  <a:t>𝐱</a:t>
                </a:r>
                <a:r>
                  <a:rPr lang="en-US" altLang="zh-CN" sz="1600" b="1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的函数值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</a:t>
                </a:r>
                <a:r>
                  <a:rPr lang="en-US" altLang="zh-CN" sz="1600" b="1" i="0">
                    <a:latin typeface="Cambria Math" charset="0"/>
                  </a:rPr>
                  <a:t>𝐱_</a:t>
                </a:r>
                <a:r>
                  <a:rPr lang="en-US" altLang="zh-CN" sz="1600" i="0">
                    <a:latin typeface="Cambria Math" charset="0"/>
                  </a:rPr>
                  <a:t>𝑖 )</a:t>
                </a:r>
                <a:r>
                  <a:rPr lang="zh-CN" altLang="en-US" sz="1600" dirty="0" smtClean="0"/>
                  <a:t>，然后求所有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个函数值的平均，再乘以集合的体积</a:t>
                </a:r>
                <a:r>
                  <a:rPr lang="en-US" altLang="zh-CN" sz="1600" dirty="0" smtClean="0"/>
                  <a:t>V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把计算出的结果记做</a:t>
                </a:r>
                <a:r>
                  <a:rPr lang="en-US" altLang="zh-CN" sz="1600" b="0" i="0" smtClean="0">
                    <a:latin typeface="Cambria Math" charset="0"/>
                  </a:rPr>
                  <a:t>𝑄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最后拿</a:t>
                </a:r>
                <a:r>
                  <a:rPr lang="en-US" altLang="zh-CN" sz="1600" b="0" i="0" smtClean="0">
                    <a:latin typeface="Cambria Math" charset="0"/>
                  </a:rPr>
                  <a:t>𝑄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 作为定积分的近似估计。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36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/>
                  <a:t>Thirdly,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evaluate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functions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all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0">
                            <a:latin typeface="Cambria Math" charset="0"/>
                          </a:rPr>
                          <m:t>𝐱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/>
                  <a:t> 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===========================</a:t>
                </a:r>
                <a:endParaRPr lang="en-US" altLang="zh-CN" sz="1600" baseline="0" dirty="0"/>
              </a:p>
              <a:p>
                <a:r>
                  <a:rPr lang="en-US" altLang="zh-CN" sz="1600" dirty="0"/>
                  <a:t>and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take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average.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===========================</a:t>
                </a:r>
                <a:endParaRPr lang="en-US" altLang="zh-CN" sz="1600" baseline="0" dirty="0"/>
              </a:p>
              <a:p>
                <a:r>
                  <a:rPr lang="en-US" altLang="zh-CN" sz="1600" dirty="0"/>
                  <a:t>Then</a:t>
                </a:r>
                <a:r>
                  <a:rPr lang="en-US" altLang="zh-CN" sz="1600" baseline="0" dirty="0"/>
                  <a:t>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scale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average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volume,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===========================</a:t>
                </a:r>
                <a:endParaRPr lang="en-US" altLang="zh-CN" sz="1600" baseline="0" dirty="0"/>
              </a:p>
              <a:p>
                <a:r>
                  <a:rPr lang="en-US" altLang="zh-CN" sz="1600" baseline="0" dirty="0"/>
                  <a:t>Denote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outcome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by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baseline="0" dirty="0"/>
                  <a:t>.</a:t>
                </a:r>
              </a:p>
              <a:p>
                <a:r>
                  <a:rPr lang="en-US" altLang="zh-CN" sz="1600" dirty="0"/>
                  <a:t>===========================</a:t>
                </a:r>
                <a:endParaRPr lang="en-US" altLang="zh-CN" sz="1600" baseline="0" dirty="0"/>
              </a:p>
              <a:p>
                <a:r>
                  <a:rPr lang="en-US" altLang="zh-CN" sz="1600" baseline="0" dirty="0"/>
                  <a:t>Finally,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</a:t>
                </a:r>
                <a:r>
                  <a:rPr lang="en-US" altLang="zh-CN" sz="1600" dirty="0"/>
                  <a:t>eturn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as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approximation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integral</a:t>
                </a:r>
                <a:r>
                  <a:rPr lang="zh-CN" altLang="en-US" sz="1600" dirty="0"/>
                  <a:t> 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charset="0"/>
                      </a:rPr>
                      <m:t>𝐼</m:t>
                    </m:r>
                  </m:oMath>
                </a14:m>
                <a:r>
                  <a:rPr lang="en-US" altLang="zh-CN" sz="1600" dirty="0"/>
                  <a:t>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接下来计算每个样本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0">
                            <a:latin typeface="Cambria Math" charset="0"/>
                          </a:rPr>
                          <m:t>𝐱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/>
                  <a:t>的函数值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0">
                                <a:latin typeface="Cambria Math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600" dirty="0"/>
                  <a:t>，然后求所有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个函数值的平均，再乘以集合的体积</a:t>
                </a:r>
                <a:r>
                  <a:rPr lang="en-US" altLang="zh-CN" sz="1600" dirty="0"/>
                  <a:t>V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把计算出的结果记做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===========================</a:t>
                </a:r>
              </a:p>
              <a:p>
                <a:r>
                  <a:rPr lang="zh-CN" altLang="en-US" sz="1600" dirty="0"/>
                  <a:t>最后拿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 作为定积分的近似估计。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具体这么做。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第一步是随机抽样。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从集合</a:t>
                </a:r>
                <a:r>
                  <a:rPr lang="en-US" altLang="zh-CN" sz="1600" dirty="0" smtClean="0"/>
                  <a:t>Omega</a:t>
                </a:r>
                <a:r>
                  <a:rPr lang="zh-CN" altLang="en-US" sz="1600" dirty="0" smtClean="0"/>
                  <a:t>中随机均匀抽取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个样本，记做向量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="1" i="0" smtClean="0">
                    <a:latin typeface="Cambria Math" charset="0"/>
                  </a:rPr>
                  <a:t>𝐱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1,</a:t>
                </a:r>
                <a:r>
                  <a:rPr lang="zh-CN" altLang="en-US" sz="1600" b="0" i="0" smtClean="0">
                    <a:latin typeface="Cambria Math" charset="0"/>
                  </a:rPr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⋯,</a:t>
                </a:r>
                <a:r>
                  <a:rPr lang="zh-CN" altLang="en-US" sz="1600" b="0" i="0" smtClean="0">
                    <a:latin typeface="Cambria Math" charset="0"/>
                  </a:rPr>
                  <a:t> </a:t>
                </a:r>
                <a:r>
                  <a:rPr lang="en-US" altLang="zh-CN" sz="1600" b="1" i="0" smtClean="0">
                    <a:latin typeface="Cambria Math" charset="0"/>
                  </a:rPr>
                  <a:t>𝐱</a:t>
                </a:r>
                <a:r>
                  <a:rPr lang="en-US" altLang="zh-CN" sz="1600" b="0" i="0" smtClean="0">
                    <a:latin typeface="Cambria Math" charset="0"/>
                  </a:rPr>
                  <a:t>_𝑛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第二步计算</a:t>
                </a:r>
                <a:r>
                  <a:rPr lang="en-US" altLang="zh-CN" sz="1600" dirty="0" smtClean="0"/>
                  <a:t>Omega</a:t>
                </a:r>
                <a:r>
                  <a:rPr lang="zh-CN" altLang="en-US" sz="1600" dirty="0" smtClean="0"/>
                  <a:t>集合的体积。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这个定积分中的函数是常数</a:t>
                </a:r>
                <a:r>
                  <a:rPr lang="en-US" altLang="zh-CN" sz="1600" dirty="0" smtClean="0"/>
                  <a:t>1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常数</a:t>
                </a:r>
                <a:r>
                  <a:rPr lang="en-US" altLang="zh-CN" sz="1600" dirty="0" smtClean="0"/>
                  <a:t>1</a:t>
                </a:r>
                <a:r>
                  <a:rPr lang="zh-CN" altLang="en-US" sz="1600" dirty="0" smtClean="0"/>
                  <a:t>在集合</a:t>
                </a:r>
                <a:r>
                  <a:rPr lang="en-US" altLang="zh-CN" sz="1600" dirty="0" smtClean="0"/>
                  <a:t>Omega</a:t>
                </a:r>
                <a:r>
                  <a:rPr lang="zh-CN" altLang="en-US" sz="1600" dirty="0" smtClean="0"/>
                  <a:t>上的定积分就是</a:t>
                </a:r>
                <a:r>
                  <a:rPr lang="en-US" altLang="zh-CN" sz="1600" dirty="0" smtClean="0"/>
                  <a:t>Omega</a:t>
                </a:r>
                <a:r>
                  <a:rPr lang="zh-CN" altLang="en-US" sz="1600" dirty="0" smtClean="0"/>
                  <a:t>的体积，记做</a:t>
                </a:r>
                <a:r>
                  <a:rPr lang="en-US" altLang="zh-CN" sz="1600" dirty="0" smtClean="0"/>
                  <a:t>V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</a:t>
                </a:r>
              </a:p>
              <a:p>
                <a:r>
                  <a:rPr lang="zh-CN" altLang="en-US" sz="1600" dirty="0" smtClean="0"/>
                  <a:t>注意，求体积</a:t>
                </a:r>
                <a:r>
                  <a:rPr lang="en-US" altLang="zh-CN" sz="1600" dirty="0" smtClean="0"/>
                  <a:t>V</a:t>
                </a:r>
                <a:r>
                  <a:rPr lang="zh-CN" altLang="en-US" sz="1600" dirty="0" smtClean="0"/>
                  <a:t>也需要定积分。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为了能求出体积，集合</a:t>
                </a:r>
                <a:r>
                  <a:rPr lang="en-US" altLang="zh-CN" sz="1600" dirty="0" smtClean="0"/>
                  <a:t>Omega</a:t>
                </a:r>
                <a:r>
                  <a:rPr lang="zh-CN" altLang="en-US" sz="1600" dirty="0" smtClean="0"/>
                  <a:t>必须是简单的形状，比如长方体、球体等等。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假如</a:t>
                </a:r>
                <a:r>
                  <a:rPr lang="en-US" altLang="zh-CN" sz="1600" dirty="0" smtClean="0"/>
                  <a:t>Omega</a:t>
                </a:r>
                <a:r>
                  <a:rPr lang="zh-CN" altLang="en-US" sz="1600" dirty="0" smtClean="0"/>
                  <a:t>的形状很复杂，我们求不出来</a:t>
                </a:r>
                <a:r>
                  <a:rPr lang="en-US" altLang="zh-CN" sz="1600" dirty="0" smtClean="0"/>
                  <a:t>Omega</a:t>
                </a:r>
                <a:r>
                  <a:rPr lang="zh-CN" altLang="en-US" sz="1600" dirty="0" smtClean="0"/>
                  <a:t>的体积，所以也没办法求蒙特卡洛近似。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接下来计算每个样本</a:t>
                </a:r>
                <a:r>
                  <a:rPr lang="en-US" altLang="zh-CN" sz="1600" b="1" i="0">
                    <a:latin typeface="Cambria Math" charset="0"/>
                  </a:rPr>
                  <a:t>𝐱</a:t>
                </a:r>
                <a:r>
                  <a:rPr lang="en-US" altLang="zh-CN" sz="1600" b="1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的函数值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</a:t>
                </a:r>
                <a:r>
                  <a:rPr lang="en-US" altLang="zh-CN" sz="1600" b="1" i="0">
                    <a:latin typeface="Cambria Math" charset="0"/>
                  </a:rPr>
                  <a:t>𝐱_</a:t>
                </a:r>
                <a:r>
                  <a:rPr lang="en-US" altLang="zh-CN" sz="1600" i="0">
                    <a:latin typeface="Cambria Math" charset="0"/>
                  </a:rPr>
                  <a:t>𝑖 )</a:t>
                </a:r>
                <a:r>
                  <a:rPr lang="zh-CN" altLang="en-US" sz="1600" dirty="0" smtClean="0"/>
                  <a:t>，然后求所有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个函数值的平均，再乘以集合的体积</a:t>
                </a:r>
                <a:r>
                  <a:rPr lang="en-US" altLang="zh-CN" sz="1600" dirty="0" smtClean="0"/>
                  <a:t>V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把计算出的结果记做</a:t>
                </a:r>
                <a:r>
                  <a:rPr lang="en-US" altLang="zh-CN" sz="1600" b="0" i="0" smtClean="0">
                    <a:latin typeface="Cambria Math" charset="0"/>
                  </a:rPr>
                  <a:t>𝑄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最后拿</a:t>
                </a:r>
                <a:r>
                  <a:rPr lang="en-US" altLang="zh-CN" sz="1600" b="0" i="0" smtClean="0">
                    <a:latin typeface="Cambria Math" charset="0"/>
                  </a:rPr>
                  <a:t>𝑄</a:t>
                </a:r>
                <a:r>
                  <a:rPr lang="en-US" altLang="zh-CN" sz="1600" b="0" i="0" smtClean="0">
                    <a:latin typeface="Cambria Math" charset="0"/>
                  </a:rPr>
                  <a:t>_</a:t>
                </a:r>
                <a:r>
                  <a:rPr lang="en-US" altLang="zh-CN" sz="1600" b="0" i="0" smtClean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 作为定积分的近似估计。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2472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I</a:t>
                </a:r>
                <a:r>
                  <a:rPr lang="en-US" altLang="zh-CN" sz="1600" baseline="0" dirty="0"/>
                  <a:t>’d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like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use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bivariate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example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demonstrate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Monte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Carlo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integration.</a:t>
                </a:r>
              </a:p>
              <a:p>
                <a:r>
                  <a:rPr lang="en-US" altLang="zh-CN" sz="1600" baseline="0" dirty="0"/>
                  <a:t>I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will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use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Monte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Carlo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integration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derive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algorithm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calculating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π.</a:t>
                </a:r>
              </a:p>
              <a:p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have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done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exactly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approximating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Pi.</a:t>
                </a:r>
              </a:p>
              <a:p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derived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algorithms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same,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but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derivations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different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.</a:t>
                </a:r>
              </a:p>
              <a:p>
                <a:r>
                  <a:rPr lang="en-US" altLang="zh-CN" sz="1600" dirty="0"/>
                  <a:t>==============</a:t>
                </a:r>
                <a:endParaRPr lang="en-US" altLang="zh-CN" sz="1600" baseline="0" dirty="0"/>
              </a:p>
              <a:p>
                <a:r>
                  <a:rPr lang="en-US" altLang="zh-CN" sz="1600" baseline="0" dirty="0"/>
                  <a:t>Define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bivariate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function.</a:t>
                </a:r>
              </a:p>
              <a:p>
                <a:r>
                  <a:rPr lang="en-US" altLang="zh-CN" sz="1600" baseline="0" dirty="0"/>
                  <a:t>It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has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two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variables: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x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y.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</a:t>
                </a:r>
                <a:endParaRPr lang="en-US" altLang="zh-CN" sz="1600" baseline="0" dirty="0"/>
              </a:p>
              <a:p>
                <a:r>
                  <a:rPr lang="en-US" altLang="zh-CN" sz="1600" baseline="0" dirty="0"/>
                  <a:t>If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(x,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y)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green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function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value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1.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</a:t>
                </a:r>
                <a:endParaRPr lang="en-US" altLang="zh-CN" sz="1600" baseline="0" dirty="0"/>
              </a:p>
              <a:p>
                <a:r>
                  <a:rPr lang="en-US" altLang="zh-CN" sz="1600" baseline="0" dirty="0"/>
                  <a:t>Otherwise,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function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value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zero.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我们来看一个</a:t>
                </a:r>
                <a:r>
                  <a:rPr lang="zh-CN" altLang="en-US" sz="1600" baseline="0" dirty="0"/>
                  <a:t> 二元函数 </a:t>
                </a:r>
                <a:r>
                  <a:rPr lang="zh-CN" altLang="en-US" sz="1600" dirty="0"/>
                  <a:t>的例子。</a:t>
                </a:r>
                <a:endParaRPr lang="en-US" altLang="zh-CN" sz="1600" dirty="0"/>
              </a:p>
              <a:p>
                <a:r>
                  <a:rPr lang="zh-CN" altLang="en-US" sz="1600" dirty="0"/>
                  <a:t>这是从另一个角度来解释 蒙特卡洛近似求 </a:t>
                </a:r>
                <a:r>
                  <a:rPr lang="en-US" altLang="zh-CN" sz="1600" dirty="0"/>
                  <a:t>pi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==============</a:t>
                </a:r>
              </a:p>
              <a:p>
                <a:r>
                  <a:rPr lang="zh-CN" altLang="en-US" sz="1600" dirty="0"/>
                  <a:t>函数</a:t>
                </a:r>
                <a:r>
                  <a:rPr lang="en-US" altLang="zh-CN" sz="1600" dirty="0"/>
                  <a:t>f</a:t>
                </a:r>
                <a:r>
                  <a:rPr lang="zh-CN" altLang="en-US" sz="1600" dirty="0"/>
                  <a:t>有两个变量：</a:t>
                </a:r>
                <a:r>
                  <a:rPr lang="en-US" altLang="zh-CN" sz="1600" dirty="0"/>
                  <a:t>x</a:t>
                </a:r>
                <a:r>
                  <a:rPr lang="zh-CN" altLang="en-US" sz="1600" dirty="0"/>
                  <a:t>和</a:t>
                </a:r>
                <a:r>
                  <a:rPr lang="en-US" altLang="zh-CN" sz="1600" dirty="0"/>
                  <a:t>y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</a:t>
                </a:r>
                <a:endParaRPr lang="en-US" altLang="zh-CN" sz="1600" baseline="0" dirty="0"/>
              </a:p>
              <a:p>
                <a:r>
                  <a:rPr lang="zh-CN" altLang="en-US" sz="1600" dirty="0"/>
                  <a:t>如果点</a:t>
                </a:r>
                <a:r>
                  <a:rPr lang="en-US" altLang="zh-CN" sz="1600" dirty="0"/>
                  <a:t>(x,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y)</a:t>
                </a:r>
                <a:r>
                  <a:rPr lang="zh-CN" altLang="en-US" sz="1600" dirty="0"/>
                  <a:t>在这个圆里，那么函数值</a:t>
                </a:r>
                <a:r>
                  <a:rPr lang="en-US" altLang="zh-CN" sz="1600" dirty="0"/>
                  <a:t>f</a:t>
                </a:r>
                <a:r>
                  <a:rPr lang="zh-CN" altLang="en-US" sz="1600" dirty="0"/>
                  <a:t>就是</a:t>
                </a:r>
                <a:r>
                  <a:rPr lang="en-US" altLang="zh-CN" sz="1600" dirty="0"/>
                  <a:t>1.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</a:t>
                </a:r>
                <a:endParaRPr lang="en-US" altLang="zh-CN" sz="1600" baseline="0" dirty="0"/>
              </a:p>
              <a:p>
                <a:r>
                  <a:rPr lang="zh-CN" altLang="en-US" sz="1600" dirty="0"/>
                  <a:t>如果点在圆外面，那么函数值就是</a:t>
                </a:r>
                <a:r>
                  <a:rPr lang="en-US" altLang="zh-CN" sz="1600" dirty="0"/>
                  <a:t>0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我们来看一个</a:t>
                </a:r>
                <a:r>
                  <a:rPr lang="zh-CN" altLang="en-US" sz="1600" baseline="0" dirty="0" smtClean="0"/>
                  <a:t> 二元函数 </a:t>
                </a:r>
                <a:r>
                  <a:rPr lang="zh-CN" altLang="en-US" sz="1600" dirty="0" smtClean="0"/>
                  <a:t>的例子。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这是从另一个角度来解释 蒙特卡洛近似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函数</a:t>
                </a:r>
                <a:r>
                  <a:rPr lang="en-US" altLang="zh-CN" sz="1600" dirty="0" smtClean="0"/>
                  <a:t>f</a:t>
                </a:r>
                <a:r>
                  <a:rPr lang="zh-CN" altLang="en-US" sz="1600" dirty="0" smtClean="0"/>
                  <a:t>有两个变量：</a:t>
                </a:r>
                <a:r>
                  <a:rPr lang="en-US" altLang="zh-CN" sz="1600" dirty="0" smtClean="0"/>
                  <a:t>x</a:t>
                </a:r>
                <a:r>
                  <a:rPr lang="zh-CN" altLang="en-US" sz="1600" dirty="0" smtClean="0"/>
                  <a:t>和</a:t>
                </a:r>
                <a:r>
                  <a:rPr lang="en-US" altLang="zh-CN" sz="1600" dirty="0" smtClean="0"/>
                  <a:t>y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如果点</a:t>
                </a:r>
                <a:r>
                  <a:rPr lang="en-US" altLang="zh-CN" sz="1600" dirty="0" smtClean="0"/>
                  <a:t>(x,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y)</a:t>
                </a:r>
                <a:r>
                  <a:rPr lang="zh-CN" altLang="en-US" sz="1600" dirty="0" smtClean="0"/>
                  <a:t>在这个圆里，那么函数值</a:t>
                </a:r>
                <a:r>
                  <a:rPr lang="en-US" altLang="zh-CN" sz="1600" dirty="0" smtClean="0"/>
                  <a:t>f</a:t>
                </a:r>
                <a:r>
                  <a:rPr lang="zh-CN" altLang="en-US" sz="1600" dirty="0" smtClean="0"/>
                  <a:t>就是</a:t>
                </a:r>
                <a:r>
                  <a:rPr lang="en-US" altLang="zh-CN" sz="1600" dirty="0" smtClean="0"/>
                  <a:t>1.</a:t>
                </a:r>
              </a:p>
              <a:p>
                <a:r>
                  <a:rPr lang="zh-CN" altLang="en-US" sz="1600" dirty="0" smtClean="0"/>
                  <a:t>如果点在圆外面，那么函数值就是</a:t>
                </a:r>
                <a:r>
                  <a:rPr lang="en-US" altLang="zh-CN" sz="1600" dirty="0" smtClean="0"/>
                  <a:t>0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思考一下，函数 </a:t>
                </a:r>
                <a:r>
                  <a:rPr lang="en-US" altLang="zh-CN" sz="1600" b="0" i="0" smtClean="0">
                    <a:latin typeface="Cambria Math" charset="0"/>
                  </a:rPr>
                  <a:t>𝑓</a:t>
                </a:r>
                <a:r>
                  <a:rPr lang="en-US" altLang="zh-CN" sz="1600" b="0" i="0" smtClean="0">
                    <a:latin typeface="Cambria Math" charset="0"/>
                  </a:rPr>
                  <a:t>(𝑥,𝑦)</a:t>
                </a:r>
                <a:r>
                  <a:rPr lang="zh-CN" altLang="en-US" sz="1600" dirty="0" smtClean="0"/>
                  <a:t> 在这个正方形集合上的定积分 是什么？</a:t>
                </a:r>
                <a:endParaRPr lang="en-US" altLang="zh-CN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33291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Define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set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charset="0"/>
                      </a:rPr>
                      <m:t>Ω</m:t>
                    </m:r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as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blue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square.</a:t>
                </a:r>
              </a:p>
              <a:p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will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draw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random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samples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from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charset="0"/>
                      </a:rPr>
                      <m:t>Ω</m:t>
                    </m:r>
                  </m:oMath>
                </a14:m>
                <a:r>
                  <a:rPr lang="en-US" altLang="zh-CN" sz="1600" dirty="0"/>
                  <a:t>.</a:t>
                </a:r>
              </a:p>
              <a:p>
                <a:r>
                  <a:rPr lang="en-US" altLang="zh-CN" sz="160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set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charset="0"/>
                      </a:rPr>
                      <m:t>Ω</m:t>
                    </m:r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up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user.</a:t>
                </a:r>
                <a:endParaRPr lang="en-US" altLang="zh-CN" sz="1600" baseline="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set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charset="0"/>
                      </a:rPr>
                      <m:t>Ω</m:t>
                    </m:r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can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be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any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shape,</a:t>
                </a:r>
                <a:r>
                  <a:rPr lang="zh-CN" altLang="en-US" sz="1600" dirty="0"/>
                  <a:t> </a:t>
                </a:r>
                <a:r>
                  <a:rPr lang="en-US" altLang="zh-CN" sz="1600" baseline="0" dirty="0"/>
                  <a:t>as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long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contains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green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circle</a:t>
                </a:r>
                <a:r>
                  <a:rPr lang="en-US" altLang="zh-CN" sz="1600" dirty="0"/>
                  <a:t>.</a:t>
                </a:r>
              </a:p>
              <a:p>
                <a:r>
                  <a:rPr lang="en-US" altLang="zh-CN" sz="1600" dirty="0"/>
                  <a:t>But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had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better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make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simple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shape,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otherwise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won’t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able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find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its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volume.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==============</a:t>
                </a:r>
              </a:p>
              <a:p>
                <a:r>
                  <a:rPr lang="en-US" altLang="zh-CN" sz="1600" dirty="0"/>
                  <a:t>Question: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What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integral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of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𝑥</m:t>
                        </m:r>
                        <m:r>
                          <a:rPr lang="en-US" altLang="zh-CN" sz="1600" i="1">
                            <a:latin typeface="Cambria Math" charset="0"/>
                          </a:rPr>
                          <m:t>,</m:t>
                        </m:r>
                        <m:r>
                          <a:rPr lang="en-US" altLang="zh-CN" sz="1600" i="1"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set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charset="0"/>
                      </a:rPr>
                      <m:t>Ω</m:t>
                    </m:r>
                  </m:oMath>
                </a14:m>
                <a:r>
                  <a:rPr lang="en-US" altLang="zh-CN" sz="1600" dirty="0"/>
                  <a:t>?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定义集合</a:t>
                </a:r>
                <a:r>
                  <a:rPr lang="en-US" altLang="zh-CN" sz="1600" dirty="0"/>
                  <a:t>Omega</a:t>
                </a:r>
                <a:r>
                  <a:rPr lang="zh-CN" altLang="en-US" sz="1600" dirty="0"/>
                  <a:t>为这个蓝色的正方形。</a:t>
                </a:r>
                <a:endParaRPr lang="en-US" altLang="zh-CN" sz="1600" dirty="0"/>
              </a:p>
              <a:p>
                <a:r>
                  <a:rPr lang="zh-CN" altLang="en-US" sz="1600" dirty="0"/>
                  <a:t>随机样本都是从这个正方形里抽取。</a:t>
                </a:r>
                <a:endParaRPr lang="en-US" altLang="zh-CN" sz="1600" dirty="0"/>
              </a:p>
              <a:p>
                <a:r>
                  <a:rPr lang="en-US" altLang="zh-CN" sz="1600" dirty="0"/>
                  <a:t>-----</a:t>
                </a:r>
              </a:p>
              <a:p>
                <a:r>
                  <a:rPr lang="en-US" altLang="zh-CN" sz="1600" dirty="0"/>
                  <a:t>Omega</a:t>
                </a:r>
                <a:r>
                  <a:rPr lang="zh-CN" altLang="en-US" sz="1600" dirty="0"/>
                  <a:t>由我们自己定义，它可以是任何形状，只要它包含这个圆形就好。</a:t>
                </a:r>
                <a:endParaRPr lang="en-US" altLang="zh-CN" sz="1600" dirty="0"/>
              </a:p>
              <a:p>
                <a:r>
                  <a:rPr lang="zh-CN" altLang="en-US" sz="1600" dirty="0"/>
                  <a:t>但是要注意，集合</a:t>
                </a:r>
                <a:r>
                  <a:rPr lang="en-US" altLang="zh-CN" sz="1600" dirty="0"/>
                  <a:t>Omega</a:t>
                </a:r>
                <a:r>
                  <a:rPr lang="zh-CN" altLang="en-US" sz="1600" dirty="0"/>
                  <a:t>必须是简单形状，否则求不出它的面积或者体积。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==============</a:t>
                </a:r>
              </a:p>
              <a:p>
                <a:r>
                  <a:rPr lang="zh-CN" altLang="en-US" sz="1600" dirty="0"/>
                  <a:t>思考一下，函数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𝑥</m:t>
                        </m:r>
                        <m:r>
                          <a:rPr lang="en-US" altLang="zh-CN" sz="1600" b="0" i="1" smtClean="0">
                            <a:latin typeface="Cambria Math" charset="0"/>
                          </a:rPr>
                          <m:t>,</m:t>
                        </m:r>
                        <m:r>
                          <a:rPr lang="en-US" altLang="zh-CN" sz="1600" b="0" i="1" smtClean="0"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1600" dirty="0"/>
                  <a:t> 在这个正方形集合上的定积分 是什么？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我们来看一个</a:t>
                </a:r>
                <a:r>
                  <a:rPr lang="zh-CN" altLang="en-US" sz="1600" baseline="0" dirty="0" smtClean="0"/>
                  <a:t> 二元函数 </a:t>
                </a:r>
                <a:r>
                  <a:rPr lang="zh-CN" altLang="en-US" sz="1600" dirty="0" smtClean="0"/>
                  <a:t>的例子。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这是从另一个角度来解释 蒙特卡洛近似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函数</a:t>
                </a:r>
                <a:r>
                  <a:rPr lang="en-US" altLang="zh-CN" sz="1600" dirty="0" smtClean="0"/>
                  <a:t>f</a:t>
                </a:r>
                <a:r>
                  <a:rPr lang="zh-CN" altLang="en-US" sz="1600" dirty="0" smtClean="0"/>
                  <a:t>有两个变量：</a:t>
                </a:r>
                <a:r>
                  <a:rPr lang="en-US" altLang="zh-CN" sz="1600" dirty="0" smtClean="0"/>
                  <a:t>x</a:t>
                </a:r>
                <a:r>
                  <a:rPr lang="zh-CN" altLang="en-US" sz="1600" dirty="0" smtClean="0"/>
                  <a:t>和</a:t>
                </a:r>
                <a:r>
                  <a:rPr lang="en-US" altLang="zh-CN" sz="1600" dirty="0" smtClean="0"/>
                  <a:t>y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如果点</a:t>
                </a:r>
                <a:r>
                  <a:rPr lang="en-US" altLang="zh-CN" sz="1600" dirty="0" smtClean="0"/>
                  <a:t>(x,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y)</a:t>
                </a:r>
                <a:r>
                  <a:rPr lang="zh-CN" altLang="en-US" sz="1600" dirty="0" smtClean="0"/>
                  <a:t>在这个圆里，那么函数值</a:t>
                </a:r>
                <a:r>
                  <a:rPr lang="en-US" altLang="zh-CN" sz="1600" dirty="0" smtClean="0"/>
                  <a:t>f</a:t>
                </a:r>
                <a:r>
                  <a:rPr lang="zh-CN" altLang="en-US" sz="1600" dirty="0" smtClean="0"/>
                  <a:t>就是</a:t>
                </a:r>
                <a:r>
                  <a:rPr lang="en-US" altLang="zh-CN" sz="1600" dirty="0" smtClean="0"/>
                  <a:t>1.</a:t>
                </a:r>
              </a:p>
              <a:p>
                <a:r>
                  <a:rPr lang="zh-CN" altLang="en-US" sz="1600" dirty="0" smtClean="0"/>
                  <a:t>如果点在圆外面，那么函数值就是</a:t>
                </a:r>
                <a:r>
                  <a:rPr lang="en-US" altLang="zh-CN" sz="1600" dirty="0" smtClean="0"/>
                  <a:t>0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思考一下，函数 </a:t>
                </a:r>
                <a:r>
                  <a:rPr lang="en-US" altLang="zh-CN" sz="1600" b="0" i="0" smtClean="0">
                    <a:latin typeface="Cambria Math" charset="0"/>
                  </a:rPr>
                  <a:t>𝑓</a:t>
                </a:r>
                <a:r>
                  <a:rPr lang="en-US" altLang="zh-CN" sz="1600" b="0" i="0" smtClean="0">
                    <a:latin typeface="Cambria Math" charset="0"/>
                  </a:rPr>
                  <a:t>(𝑥,𝑦)</a:t>
                </a:r>
                <a:r>
                  <a:rPr lang="zh-CN" altLang="en-US" sz="1600" dirty="0" smtClean="0"/>
                  <a:t> 在这个正方形集合上的定积分 是什么？</a:t>
                </a:r>
                <a:endParaRPr lang="en-US" altLang="zh-CN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499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Obviously,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integral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area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of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circle.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area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𝜋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𝑟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600" dirty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radius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1,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equal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sz="1600" dirty="0"/>
                  <a:t>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-----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Monte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Carlo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approximate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integral,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Since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equal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π,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result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Monte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Carlo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integration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estimate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π.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/>
                  <a:t>很显然，定积分就是圆的面积：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𝐼</m:t>
                    </m:r>
                    <m:r>
                      <a:rPr lang="en-US" altLang="zh-CN" sz="1600" i="1" smtClean="0">
                        <a:latin typeface="Cambria Math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𝜋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charset="0"/>
                          </a:rPr>
                          <m:t>𝑟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sz="1600" dirty="0"/>
                  <a:t>.</a:t>
                </a:r>
              </a:p>
              <a:p>
                <a:r>
                  <a:rPr lang="zh-CN" altLang="en-US" sz="1600" dirty="0"/>
                  <a:t>用很基础的微积分就能算出来。</a:t>
                </a:r>
                <a:endParaRPr lang="en-US" altLang="zh-CN" sz="1600" dirty="0"/>
              </a:p>
              <a:p>
                <a:r>
                  <a:rPr lang="en-US" altLang="zh-CN" sz="1600" dirty="0"/>
                  <a:t>-----</a:t>
                </a:r>
              </a:p>
              <a:p>
                <a:r>
                  <a:rPr lang="zh-CN" altLang="en-US" sz="1600" dirty="0"/>
                  <a:t>既然我们知道定积分结果等于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/>
                  <a:t>，我们就可以用蒙特卡洛来近似计算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拿前面讲的蒙特卡洛方法来近似定积分，得到的结果就是对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/>
                  <a:t>的近似。</a:t>
                </a: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很显然，定积分就是圆的面积：</a:t>
                </a:r>
                <a:r>
                  <a:rPr lang="en-US" altLang="zh-CN" sz="1600" i="0" smtClean="0">
                    <a:latin typeface="Cambria Math" charset="0"/>
                  </a:rPr>
                  <a:t>𝐼=</a:t>
                </a:r>
                <a:r>
                  <a:rPr lang="en-US" altLang="zh-CN" sz="1600" b="0" i="0" smtClean="0">
                    <a:latin typeface="Cambria Math" charset="0"/>
                  </a:rPr>
                  <a:t>𝜋𝑟^2=𝜋</a:t>
                </a:r>
                <a:r>
                  <a:rPr lang="en-US" altLang="zh-CN" sz="1600" dirty="0" smtClean="0"/>
                  <a:t>.</a:t>
                </a:r>
              </a:p>
              <a:p>
                <a:r>
                  <a:rPr lang="zh-CN" altLang="en-US" sz="1600" dirty="0" smtClean="0"/>
                  <a:t>用很基础的微积分就能算出来。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zh-CN" altLang="en-US" sz="1600" dirty="0" smtClean="0"/>
                  <a:t>既然我们知道定积分结果等于</a:t>
                </a:r>
                <a:r>
                  <a:rPr lang="en-US" altLang="zh-CN" sz="1600" b="0" i="0" smtClean="0">
                    <a:latin typeface="Cambria Math" charset="0"/>
                  </a:rPr>
                  <a:t>𝜋</a:t>
                </a:r>
                <a:r>
                  <a:rPr lang="zh-CN" altLang="en-US" sz="1600" dirty="0" smtClean="0"/>
                  <a:t>，我们就可以用蒙特卡洛来近似计算</a:t>
                </a:r>
                <a:r>
                  <a:rPr lang="en-US" altLang="zh-CN" sz="1600" b="0" i="0" smtClean="0">
                    <a:latin typeface="Cambria Math" charset="0"/>
                  </a:rPr>
                  <a:t>𝜋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拿前面讲的蒙特卡洛方法来近似定积分，得到的结果就是对</a:t>
                </a:r>
                <a:r>
                  <a:rPr lang="en-US" altLang="zh-CN" sz="1600" b="0" i="0" smtClean="0">
                    <a:latin typeface="Cambria Math" charset="0"/>
                  </a:rPr>
                  <a:t>𝜋</a:t>
                </a:r>
                <a:r>
                  <a:rPr lang="zh-CN" altLang="en-US" sz="1600" dirty="0" smtClean="0"/>
                  <a:t>的近似。</a:t>
                </a:r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73929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Now,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let’s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perform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Monte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Carlo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Integration.</a:t>
                </a:r>
              </a:p>
              <a:p>
                <a:r>
                  <a:rPr lang="en-US" altLang="zh-CN" sz="1600" baseline="0" dirty="0"/>
                  <a:t>Step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1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random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sampling.</a:t>
                </a:r>
              </a:p>
              <a:p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draw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samples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from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set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smtClean="0">
                        <a:latin typeface="Cambria Math" charset="0"/>
                      </a:rPr>
                      <m:t>Ω</m:t>
                    </m:r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uniformly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random.</a:t>
                </a:r>
              </a:p>
              <a:p>
                <a:r>
                  <a:rPr lang="en-US" altLang="zh-CN" sz="1600" dirty="0"/>
                  <a:t>===================</a:t>
                </a:r>
              </a:p>
              <a:p>
                <a:r>
                  <a:rPr lang="en-US" altLang="zh-CN" sz="1600" dirty="0"/>
                  <a:t>Let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samples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be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1600" i="1">
                        <a:solidFill>
                          <a:srgbClr val="FF0000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charset="0"/>
                      </a:rPr>
                      <m:t>⋯,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zh-CN" altLang="en-US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600" dirty="0"/>
                  <a:t>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现在我们来用蒙特卡洛近似 多元函数的定积分。</a:t>
                </a:r>
                <a:endParaRPr lang="en-US" altLang="zh-CN" sz="1600" dirty="0"/>
              </a:p>
              <a:p>
                <a:r>
                  <a:rPr lang="zh-CN" altLang="en-US" sz="1600" dirty="0"/>
                  <a:t>第一步是随机抽样，从集合</a:t>
                </a:r>
                <a:r>
                  <a:rPr lang="en-US" altLang="zh-CN" sz="1600" dirty="0"/>
                  <a:t>Omega</a:t>
                </a:r>
                <a:r>
                  <a:rPr lang="zh-CN" altLang="en-US" sz="1600" dirty="0"/>
                  <a:t>，也就是正方形中    随机抽样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的个点，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</a:t>
                </a:r>
              </a:p>
              <a:p>
                <a:r>
                  <a:rPr lang="zh-CN" altLang="en-US" sz="1600" dirty="0"/>
                  <a:t>记做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sz="1600" i="1">
                        <a:solidFill>
                          <a:srgbClr val="FF0000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charset="0"/>
                      </a:rPr>
                      <m:t>⋯,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zh-CN" altLang="en-US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现在我们来用蒙特卡洛近似多元函数的定积分。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第一步是随机抽样，从集合</a:t>
                </a:r>
                <a:r>
                  <a:rPr lang="en-US" altLang="zh-CN" sz="1600" dirty="0" smtClean="0"/>
                  <a:t>Omega</a:t>
                </a:r>
                <a:r>
                  <a:rPr lang="zh-CN" altLang="en-US" sz="1600" dirty="0" smtClean="0"/>
                  <a:t>，也就是正方形中随机抽样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的个点，记做</a:t>
                </a:r>
                <a:r>
                  <a:rPr lang="en-US" altLang="zh-CN" sz="1600" i="0" smtClean="0">
                    <a:solidFill>
                      <a:srgbClr val="FF0000"/>
                    </a:solidFill>
                    <a:latin typeface="Cambria Math" charset="0"/>
                  </a:rPr>
                  <a:t>(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𝑥_1,𝑦_1 ),</a:t>
                </a:r>
                <a:r>
                  <a:rPr lang="zh-CN" altLang="en-US" sz="1600" i="0">
                    <a:solidFill>
                      <a:srgbClr val="FF0000"/>
                    </a:solidFill>
                    <a:latin typeface="Cambria Math" charset="0"/>
                  </a:rPr>
                  <a:t> 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⋯,(𝑥_𝑛,</a:t>
                </a:r>
                <a:r>
                  <a:rPr lang="zh-CN" altLang="en-US" sz="1600" i="0">
                    <a:solidFill>
                      <a:srgbClr val="FF0000"/>
                    </a:solidFill>
                    <a:latin typeface="Cambria Math" charset="0"/>
                  </a:rPr>
                  <a:t> 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𝑦_𝑛 )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</a:t>
                </a:r>
              </a:p>
              <a:p>
                <a:r>
                  <a:rPr lang="zh-CN" altLang="en-US" sz="1600" dirty="0" smtClean="0"/>
                  <a:t>第二步是计算集合</a:t>
                </a:r>
                <a:r>
                  <a:rPr lang="en-US" altLang="zh-CN" sz="1600" dirty="0" smtClean="0"/>
                  <a:t>Omega</a:t>
                </a:r>
                <a:r>
                  <a:rPr lang="zh-CN" altLang="en-US" sz="1600" dirty="0" smtClean="0"/>
                  <a:t>的面积，记做</a:t>
                </a:r>
                <a:r>
                  <a:rPr lang="en-US" altLang="zh-CN" sz="1600" dirty="0" smtClean="0"/>
                  <a:t>V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集合</a:t>
                </a:r>
                <a:r>
                  <a:rPr lang="en-US" altLang="zh-CN" sz="1600" dirty="0" smtClean="0"/>
                  <a:t>Omega</a:t>
                </a:r>
                <a:r>
                  <a:rPr lang="zh-CN" altLang="en-US" sz="1600" dirty="0" smtClean="0"/>
                  <a:t>是个正方形，边长是</a:t>
                </a:r>
                <a:r>
                  <a:rPr lang="en-US" altLang="zh-CN" sz="1600" dirty="0" smtClean="0"/>
                  <a:t>2</a:t>
                </a:r>
                <a:r>
                  <a:rPr lang="zh-CN" altLang="en-US" sz="1600" dirty="0" smtClean="0"/>
                  <a:t>，所以面积等于</a:t>
                </a:r>
                <a:r>
                  <a:rPr lang="en-US" altLang="zh-CN" sz="1600" dirty="0" smtClean="0"/>
                  <a:t>4.</a:t>
                </a:r>
              </a:p>
              <a:p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39156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Step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2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calculating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volume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V.</a:t>
                </a:r>
              </a:p>
              <a:p>
                <a:r>
                  <a:rPr lang="en-US" altLang="zh-CN" sz="1600" baseline="0" dirty="0"/>
                  <a:t>Since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variable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2-dimensional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vector,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instead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volume.</a:t>
                </a:r>
              </a:p>
              <a:p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set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smtClean="0">
                        <a:latin typeface="Cambria Math" charset="0"/>
                      </a:rPr>
                      <m:t>Ω</m:t>
                    </m:r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blue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square.</a:t>
                </a:r>
              </a:p>
              <a:p>
                <a:r>
                  <a:rPr lang="en-US" altLang="zh-CN" sz="1600" dirty="0"/>
                  <a:t>Its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sides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have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lengths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 2,</a:t>
                </a:r>
                <a:r>
                  <a:rPr lang="zh-CN" altLang="en-US" sz="1600" baseline="0" dirty="0"/>
                  <a:t> </a:t>
                </a:r>
                <a:endParaRPr lang="en-US" altLang="zh-CN" sz="1600" baseline="0" dirty="0"/>
              </a:p>
              <a:p>
                <a:r>
                  <a:rPr lang="en-US" altLang="zh-CN" sz="1600" baseline="0" dirty="0"/>
                  <a:t>==================</a:t>
                </a:r>
              </a:p>
              <a:p>
                <a:r>
                  <a:rPr lang="en-US" altLang="zh-CN" sz="1600" baseline="0" dirty="0"/>
                  <a:t>so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its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equal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4.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第二步是计算集合</a:t>
                </a:r>
                <a:r>
                  <a:rPr lang="en-US" altLang="zh-CN" sz="1600" dirty="0"/>
                  <a:t>Omega</a:t>
                </a:r>
                <a:r>
                  <a:rPr lang="zh-CN" altLang="en-US" sz="1600" dirty="0"/>
                  <a:t>的面积，记做</a:t>
                </a:r>
                <a:r>
                  <a:rPr lang="en-US" altLang="zh-CN" sz="1600" dirty="0"/>
                  <a:t>V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集合</a:t>
                </a:r>
                <a:r>
                  <a:rPr lang="en-US" altLang="zh-CN" sz="1600" dirty="0"/>
                  <a:t>Omega</a:t>
                </a:r>
                <a:r>
                  <a:rPr lang="zh-CN" altLang="en-US" sz="1600" dirty="0"/>
                  <a:t>是个正方形，边长是</a:t>
                </a:r>
                <a:r>
                  <a:rPr lang="en-US" altLang="zh-CN" sz="1600" dirty="0"/>
                  <a:t>2</a:t>
                </a:r>
                <a:r>
                  <a:rPr lang="zh-CN" altLang="en-US" sz="1600" dirty="0"/>
                  <a:t>，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</a:t>
                </a:r>
              </a:p>
              <a:p>
                <a:r>
                  <a:rPr lang="zh-CN" altLang="en-US" sz="1600" dirty="0"/>
                  <a:t>所以面积等于</a:t>
                </a:r>
                <a:r>
                  <a:rPr lang="en-US" altLang="zh-CN" sz="1600" dirty="0"/>
                  <a:t>4.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现在我们来用蒙特卡洛近似多元函数的定积分。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第一步是随机抽样，从集合</a:t>
                </a:r>
                <a:r>
                  <a:rPr lang="en-US" altLang="zh-CN" sz="1600" dirty="0" smtClean="0"/>
                  <a:t>Omega</a:t>
                </a:r>
                <a:r>
                  <a:rPr lang="zh-CN" altLang="en-US" sz="1600" dirty="0" smtClean="0"/>
                  <a:t>，也就是正方形中随机抽样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的个点，记做</a:t>
                </a:r>
                <a:r>
                  <a:rPr lang="en-US" altLang="zh-CN" sz="1600" i="0" smtClean="0">
                    <a:solidFill>
                      <a:srgbClr val="FF0000"/>
                    </a:solidFill>
                    <a:latin typeface="Cambria Math" charset="0"/>
                  </a:rPr>
                  <a:t>(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𝑥_1,𝑦_1 ),</a:t>
                </a:r>
                <a:r>
                  <a:rPr lang="zh-CN" altLang="en-US" sz="1600" i="0">
                    <a:solidFill>
                      <a:srgbClr val="FF0000"/>
                    </a:solidFill>
                    <a:latin typeface="Cambria Math" charset="0"/>
                  </a:rPr>
                  <a:t> 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⋯,(𝑥_𝑛,</a:t>
                </a:r>
                <a:r>
                  <a:rPr lang="zh-CN" altLang="en-US" sz="1600" i="0">
                    <a:solidFill>
                      <a:srgbClr val="FF0000"/>
                    </a:solidFill>
                    <a:latin typeface="Cambria Math" charset="0"/>
                  </a:rPr>
                  <a:t> 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𝑦_𝑛 )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</a:t>
                </a:r>
              </a:p>
              <a:p>
                <a:r>
                  <a:rPr lang="zh-CN" altLang="en-US" sz="1600" dirty="0" smtClean="0"/>
                  <a:t>第二步是计算集合</a:t>
                </a:r>
                <a:r>
                  <a:rPr lang="en-US" altLang="zh-CN" sz="1600" dirty="0" smtClean="0"/>
                  <a:t>Omega</a:t>
                </a:r>
                <a:r>
                  <a:rPr lang="zh-CN" altLang="en-US" sz="1600" dirty="0" smtClean="0"/>
                  <a:t>的面积，记做</a:t>
                </a:r>
                <a:r>
                  <a:rPr lang="en-US" altLang="zh-CN" sz="1600" dirty="0" smtClean="0"/>
                  <a:t>V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集合</a:t>
                </a:r>
                <a:r>
                  <a:rPr lang="en-US" altLang="zh-CN" sz="1600" dirty="0" smtClean="0"/>
                  <a:t>Omega</a:t>
                </a:r>
                <a:r>
                  <a:rPr lang="zh-CN" altLang="en-US" sz="1600" dirty="0" smtClean="0"/>
                  <a:t>是个正方形，边长是</a:t>
                </a:r>
                <a:r>
                  <a:rPr lang="en-US" altLang="zh-CN" sz="1600" dirty="0" smtClean="0"/>
                  <a:t>2</a:t>
                </a:r>
                <a:r>
                  <a:rPr lang="zh-CN" altLang="en-US" sz="1600" dirty="0" smtClean="0"/>
                  <a:t>，所以面积等于</a:t>
                </a:r>
                <a:r>
                  <a:rPr lang="en-US" altLang="zh-CN" sz="1600" dirty="0" smtClean="0"/>
                  <a:t>4.</a:t>
                </a:r>
              </a:p>
              <a:p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02205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Step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3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evaluate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function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all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points,</a:t>
                </a:r>
                <a:r>
                  <a:rPr lang="zh-CN" altLang="en-US" sz="1600" baseline="0" dirty="0"/>
                  <a:t> </a:t>
                </a:r>
                <a:endParaRPr lang="en-US" altLang="zh-CN" sz="1600" baseline="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</a:t>
                </a:r>
              </a:p>
              <a:p>
                <a:r>
                  <a:rPr lang="en-US" altLang="zh-CN" sz="1600" baseline="0" dirty="0"/>
                  <a:t>take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their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average,</a:t>
                </a:r>
                <a:r>
                  <a:rPr lang="zh-CN" altLang="en-US" sz="1600" baseline="0" dirty="0"/>
                  <a:t> </a:t>
                </a:r>
                <a:endParaRPr lang="en-US" altLang="zh-CN" sz="1600" baseline="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</a:t>
                </a:r>
              </a:p>
              <a:p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scale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</a:t>
                </a:r>
              </a:p>
              <a:p>
                <a:r>
                  <a:rPr lang="en-US" altLang="zh-CN" sz="1600" baseline="0" dirty="0"/>
                  <a:t>Denote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outcome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by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dirty="0"/>
                  <a:t>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第三步是求每个样本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600" dirty="0"/>
                  <a:t>的函数值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</a:t>
                </a:r>
              </a:p>
              <a:p>
                <a:r>
                  <a:rPr lang="zh-CN" altLang="en-US" sz="1600" dirty="0"/>
                  <a:t>对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个函数值求平均，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</a:t>
                </a:r>
              </a:p>
              <a:p>
                <a:r>
                  <a:rPr lang="zh-CN" altLang="en-US" sz="1600" dirty="0"/>
                  <a:t>再乘以面积</a:t>
                </a:r>
                <a:r>
                  <a:rPr lang="en-US" altLang="zh-CN" sz="1600" dirty="0"/>
                  <a:t>V</a:t>
                </a:r>
                <a:r>
                  <a:rPr lang="zh-CN" altLang="en-US" sz="1600" dirty="0"/>
                  <a:t>，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</a:t>
                </a:r>
              </a:p>
              <a:p>
                <a:r>
                  <a:rPr lang="zh-CN" altLang="en-US" sz="1600" dirty="0"/>
                  <a:t>把结果记做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接下来求每个样本</a:t>
                </a:r>
                <a:r>
                  <a:rPr lang="en-US" altLang="zh-CN" sz="1600" i="0" smtClean="0">
                    <a:latin typeface="Cambria Math" charset="0"/>
                  </a:rPr>
                  <a:t>(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𝑥_</a:t>
                </a:r>
                <a:r>
                  <a:rPr lang="en-US" altLang="zh-CN" sz="1600" b="0" i="0" smtClean="0">
                    <a:solidFill>
                      <a:srgbClr val="FF0000"/>
                    </a:solidFill>
                    <a:latin typeface="Cambria Math" charset="0"/>
                  </a:rPr>
                  <a:t>𝑖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,𝑦_</a:t>
                </a:r>
                <a:r>
                  <a:rPr lang="en-US" altLang="zh-CN" sz="1600" b="0" i="0" smtClean="0">
                    <a:solidFill>
                      <a:srgbClr val="FF0000"/>
                    </a:solidFill>
                    <a:latin typeface="Cambria Math" charset="0"/>
                  </a:rPr>
                  <a:t>𝑖 )</a:t>
                </a:r>
                <a:r>
                  <a:rPr lang="zh-CN" altLang="en-US" sz="1600" dirty="0" smtClean="0"/>
                  <a:t>的函数值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𝑥_</a:t>
                </a:r>
                <a:r>
                  <a:rPr lang="en-US" altLang="zh-CN" sz="1600" b="0" i="0" smtClean="0">
                    <a:solidFill>
                      <a:srgbClr val="FF0000"/>
                    </a:solidFill>
                    <a:latin typeface="Cambria Math" charset="0"/>
                  </a:rPr>
                  <a:t>𝑖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,𝑦_</a:t>
                </a:r>
                <a:r>
                  <a:rPr lang="en-US" altLang="zh-CN" sz="1600" b="0" i="0" smtClean="0">
                    <a:solidFill>
                      <a:srgbClr val="FF0000"/>
                    </a:solidFill>
                    <a:latin typeface="Cambria Math" charset="0"/>
                  </a:rPr>
                  <a:t>𝑖 )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对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个函数值求平均，再乘以面积</a:t>
                </a:r>
                <a:r>
                  <a:rPr lang="en-US" altLang="zh-CN" sz="1600" dirty="0" smtClean="0"/>
                  <a:t>V</a:t>
                </a:r>
                <a:r>
                  <a:rPr lang="zh-CN" altLang="en-US" sz="1600" dirty="0" smtClean="0"/>
                  <a:t>，把结果记做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</a:t>
                </a:r>
              </a:p>
              <a:p>
                <a:r>
                  <a:rPr lang="zh-CN" altLang="en-US" sz="1600" dirty="0" smtClean="0"/>
                  <a:t>最后拿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作为定积分的蒙特卡洛近似。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我们知道定积分就是 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，所以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 是 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的蒙特卡洛近似。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----------</a:t>
                </a:r>
              </a:p>
              <a:p>
                <a:r>
                  <a:rPr lang="zh-CN" altLang="en-US" sz="1600" dirty="0" smtClean="0"/>
                  <a:t>这节课最开始我们用同样的算法求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，但是算法是从概率和期望的角度推导的。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现在我们从蒙特卡洛积分的角度推导出同样的算法。</a:t>
                </a:r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9913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Finally,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return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as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approximation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integral, I.</a:t>
                </a:r>
              </a:p>
              <a:p>
                <a:r>
                  <a:rPr lang="en-US" altLang="zh-CN" sz="1600" dirty="0"/>
                  <a:t>====================</a:t>
                </a:r>
              </a:p>
              <a:p>
                <a:r>
                  <a:rPr lang="en-US" altLang="zh-CN" sz="160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know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integral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 equal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sz="1600" dirty="0"/>
                  <a:t>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so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approximation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to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sz="1600" dirty="0"/>
                  <a:t>.</a:t>
                </a:r>
              </a:p>
              <a:p>
                <a:r>
                  <a:rPr lang="en-US" altLang="zh-CN" sz="1600" dirty="0"/>
                  <a:t>-----</a:t>
                </a:r>
              </a:p>
              <a:p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algorithm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here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what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used at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beginning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class.</a:t>
                </a:r>
              </a:p>
              <a:p>
                <a:r>
                  <a:rPr lang="en-US" altLang="zh-CN" sz="1600" baseline="0" dirty="0"/>
                  <a:t>But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algorithm derivation is different.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最后拿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作为定积分的蒙特卡洛近似。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</a:t>
                </a:r>
              </a:p>
              <a:p>
                <a:r>
                  <a:rPr lang="zh-CN" altLang="en-US" sz="1600" dirty="0"/>
                  <a:t>我们知道定积分就等于 </a:t>
                </a:r>
                <a:r>
                  <a:rPr lang="en-US" altLang="zh-CN" sz="1600" dirty="0"/>
                  <a:t>pi</a:t>
                </a:r>
                <a:r>
                  <a:rPr lang="zh-CN" altLang="en-US" sz="1600" dirty="0"/>
                  <a:t>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 是 </a:t>
                </a:r>
                <a:r>
                  <a:rPr lang="en-US" altLang="zh-CN" sz="1600" dirty="0"/>
                  <a:t>pi</a:t>
                </a:r>
                <a:r>
                  <a:rPr lang="zh-CN" altLang="en-US" sz="1600" dirty="0"/>
                  <a:t>的蒙特卡洛近似。</a:t>
                </a:r>
                <a:endParaRPr lang="en-US" altLang="zh-CN" sz="1600" dirty="0"/>
              </a:p>
              <a:p>
                <a:r>
                  <a:rPr lang="en-US" altLang="zh-CN" sz="1600" dirty="0"/>
                  <a:t>----------</a:t>
                </a:r>
              </a:p>
              <a:p>
                <a:r>
                  <a:rPr lang="zh-CN" altLang="en-US" sz="1600" dirty="0"/>
                  <a:t>这节课最开始我们用同样的算法求</a:t>
                </a:r>
                <a:r>
                  <a:rPr lang="en-US" altLang="zh-CN" sz="1600" dirty="0"/>
                  <a:t>pi</a:t>
                </a:r>
                <a:r>
                  <a:rPr lang="zh-CN" altLang="en-US" sz="1600" dirty="0"/>
                  <a:t>，但是算法是从概率和期望的角度推导的。</a:t>
                </a:r>
                <a:endParaRPr lang="en-US" altLang="zh-CN" sz="1600" dirty="0"/>
              </a:p>
              <a:p>
                <a:r>
                  <a:rPr lang="zh-CN" altLang="en-US" sz="1600" dirty="0"/>
                  <a:t>现在我们从蒙特卡洛积分的角度推导出同样的算法。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接下来求每个样本</a:t>
                </a:r>
                <a:r>
                  <a:rPr lang="en-US" altLang="zh-CN" sz="1600" i="0" smtClean="0">
                    <a:latin typeface="Cambria Math" charset="0"/>
                  </a:rPr>
                  <a:t>(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𝑥_</a:t>
                </a:r>
                <a:r>
                  <a:rPr lang="en-US" altLang="zh-CN" sz="1600" b="0" i="0" smtClean="0">
                    <a:solidFill>
                      <a:srgbClr val="FF0000"/>
                    </a:solidFill>
                    <a:latin typeface="Cambria Math" charset="0"/>
                  </a:rPr>
                  <a:t>𝑖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,𝑦_</a:t>
                </a:r>
                <a:r>
                  <a:rPr lang="en-US" altLang="zh-CN" sz="1600" b="0" i="0" smtClean="0">
                    <a:solidFill>
                      <a:srgbClr val="FF0000"/>
                    </a:solidFill>
                    <a:latin typeface="Cambria Math" charset="0"/>
                  </a:rPr>
                  <a:t>𝑖 )</a:t>
                </a:r>
                <a:r>
                  <a:rPr lang="zh-CN" altLang="en-US" sz="1600" dirty="0" smtClean="0"/>
                  <a:t>的函数值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𝑥_</a:t>
                </a:r>
                <a:r>
                  <a:rPr lang="en-US" altLang="zh-CN" sz="1600" b="0" i="0" smtClean="0">
                    <a:solidFill>
                      <a:srgbClr val="FF0000"/>
                    </a:solidFill>
                    <a:latin typeface="Cambria Math" charset="0"/>
                  </a:rPr>
                  <a:t>𝑖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,𝑦_</a:t>
                </a:r>
                <a:r>
                  <a:rPr lang="en-US" altLang="zh-CN" sz="1600" b="0" i="0" smtClean="0">
                    <a:solidFill>
                      <a:srgbClr val="FF0000"/>
                    </a:solidFill>
                    <a:latin typeface="Cambria Math" charset="0"/>
                  </a:rPr>
                  <a:t>𝑖 )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对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个函数值求平均，再乘以面积</a:t>
                </a:r>
                <a:r>
                  <a:rPr lang="en-US" altLang="zh-CN" sz="1600" dirty="0" smtClean="0"/>
                  <a:t>V</a:t>
                </a:r>
                <a:r>
                  <a:rPr lang="zh-CN" altLang="en-US" sz="1600" dirty="0" smtClean="0"/>
                  <a:t>，把结果记做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</a:t>
                </a:r>
              </a:p>
              <a:p>
                <a:r>
                  <a:rPr lang="zh-CN" altLang="en-US" sz="1600" dirty="0" smtClean="0"/>
                  <a:t>最后拿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作为定积分的蒙特卡洛近似。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我们知道定积分就是 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，所以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 是 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的蒙特卡洛近似。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----------</a:t>
                </a:r>
              </a:p>
              <a:p>
                <a:r>
                  <a:rPr lang="zh-CN" altLang="en-US" sz="1600" dirty="0" smtClean="0"/>
                  <a:t>这节课最开始我们用同样的算法求</a:t>
                </a:r>
                <a:r>
                  <a:rPr lang="en-US" altLang="zh-CN" sz="1600" dirty="0" smtClean="0"/>
                  <a:t>pi</a:t>
                </a:r>
                <a:r>
                  <a:rPr lang="zh-CN" altLang="en-US" sz="1600" dirty="0" smtClean="0"/>
                  <a:t>，但是算法是从概率和期望的角度推导的。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现在我们从蒙特卡洛积分的角度推导出同样的算法。</a:t>
                </a:r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13283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/>
              <a:t>The</a:t>
            </a:r>
            <a:r>
              <a:rPr lang="zh-CN" altLang="en-US" sz="1600" dirty="0"/>
              <a:t> </a:t>
            </a:r>
            <a:r>
              <a:rPr lang="en-US" altLang="zh-CN" sz="1600" dirty="0"/>
              <a:t>last</a:t>
            </a:r>
            <a:r>
              <a:rPr lang="zh-CN" altLang="en-US" sz="1600" dirty="0"/>
              <a:t> </a:t>
            </a:r>
            <a:r>
              <a:rPr lang="en-US" altLang="zh-CN" sz="1600" dirty="0"/>
              <a:t>application</a:t>
            </a:r>
            <a:r>
              <a:rPr lang="zh-CN" altLang="en-US" sz="1600" dirty="0"/>
              <a:t> </a:t>
            </a:r>
            <a:r>
              <a:rPr lang="en-US" altLang="zh-CN" sz="1600" dirty="0"/>
              <a:t>is</a:t>
            </a:r>
            <a:r>
              <a:rPr lang="zh-CN" altLang="en-US" sz="1600" dirty="0"/>
              <a:t> </a:t>
            </a:r>
            <a:r>
              <a:rPr lang="en-US" altLang="zh-CN" sz="1600" dirty="0"/>
              <a:t>the</a:t>
            </a:r>
            <a:r>
              <a:rPr lang="zh-CN" altLang="en-US" sz="1600" dirty="0"/>
              <a:t> </a:t>
            </a:r>
            <a:r>
              <a:rPr lang="en-US" altLang="zh-CN" sz="1600" dirty="0"/>
              <a:t>Monte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Carlo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Estimate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Expectation.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/>
              <a:t>It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particularly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useful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for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statistics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and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machine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learning.</a:t>
            </a:r>
            <a:endParaRPr lang="zh-CN" altLang="en-US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/>
              <a:t>我要讲的最后一个应用是 用蒙特卡洛来近似期望。</a:t>
            </a: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/>
              <a:t>这对统计学和机器学习特别有用。</a:t>
            </a:r>
            <a:endParaRPr lang="en-US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2286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Let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uppercase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X</a:t>
                </a:r>
                <a:r>
                  <a:rPr lang="zh-CN" altLang="en-US" sz="1600" dirty="0"/>
                  <a:t> </a:t>
                </a:r>
                <a:r>
                  <a:rPr lang="en-US" altLang="zh-CN" sz="1600" baseline="0" dirty="0"/>
                  <a:t>be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d-dim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random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variable.</a:t>
                </a:r>
              </a:p>
              <a:p>
                <a:r>
                  <a:rPr lang="en-US" altLang="zh-CN" sz="1600" baseline="0" dirty="0"/>
                  <a:t>People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typically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use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upper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case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random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variable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lower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case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its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observation.</a:t>
                </a:r>
              </a:p>
              <a:p>
                <a:r>
                  <a:rPr lang="en-US" altLang="zh-CN" sz="1600" baseline="0" dirty="0"/>
                  <a:t>==================</a:t>
                </a:r>
              </a:p>
              <a:p>
                <a:r>
                  <a:rPr lang="en-US" altLang="zh-CN" sz="1600" baseline="0" dirty="0"/>
                  <a:t>Let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sz="1600" dirty="0"/>
                  <a:t> be </a:t>
                </a:r>
                <a:r>
                  <a:rPr lang="en-US" altLang="zh-CN" sz="1600" dirty="0"/>
                  <a:t>a</a:t>
                </a:r>
                <a:r>
                  <a:rPr lang="zh-CN" altLang="en-US" sz="1600" dirty="0"/>
                  <a:t> </a:t>
                </a:r>
                <a:r>
                  <a:rPr lang="en-US" sz="1600" dirty="0"/>
                  <a:t>probability density function (PDF).</a:t>
                </a:r>
              </a:p>
              <a:p>
                <a:r>
                  <a:rPr lang="en-US" altLang="zh-CN" sz="1600" dirty="0"/>
                  <a:t>It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describes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probability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density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point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x.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定义</a:t>
                </a:r>
                <a:r>
                  <a:rPr lang="en-US" altLang="zh-CN" sz="1600" dirty="0"/>
                  <a:t>X</a:t>
                </a:r>
                <a:r>
                  <a:rPr lang="zh-CN" altLang="en-US" sz="1600" dirty="0"/>
                  <a:t>是</a:t>
                </a:r>
                <a:r>
                  <a:rPr lang="en-US" altLang="zh-CN" sz="1600" dirty="0"/>
                  <a:t>d</a:t>
                </a:r>
                <a:r>
                  <a:rPr lang="zh-CN" altLang="en-US" sz="1600" dirty="0"/>
                  <a:t>维的随机变量。</a:t>
                </a:r>
                <a:endParaRPr lang="en-US" altLang="zh-CN" sz="1600" dirty="0"/>
              </a:p>
              <a:p>
                <a:r>
                  <a:rPr lang="zh-CN" altLang="en-US" sz="1600" dirty="0"/>
                  <a:t>通常把随机变量记做大写字母，把观测值记做小写字母。</a:t>
                </a:r>
                <a:endParaRPr lang="en-US" altLang="zh-CN" sz="1600" dirty="0"/>
              </a:p>
              <a:p>
                <a:r>
                  <a:rPr lang="en-US" altLang="zh-CN" sz="1600" baseline="0" dirty="0"/>
                  <a:t>==================</a:t>
                </a:r>
                <a:endParaRPr lang="en-US" altLang="zh-CN" sz="1600" dirty="0"/>
              </a:p>
              <a:p>
                <a:r>
                  <a:rPr lang="zh-CN" altLang="en-US" sz="1600" dirty="0"/>
                  <a:t>函数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zh-CN" altLang="en-US" sz="1600" dirty="0"/>
                  <a:t> 是概率密度函数，它描述 变量</a:t>
                </a:r>
                <a:r>
                  <a:rPr lang="en-US" altLang="zh-CN" sz="1600" dirty="0"/>
                  <a:t>X</a:t>
                </a:r>
                <a:r>
                  <a:rPr lang="zh-CN" altLang="en-US" sz="1600" dirty="0"/>
                  <a:t> 在某个取值点附近的可能性。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Define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upper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case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X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d-dim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variable.</a:t>
                </a:r>
              </a:p>
              <a:p>
                <a:r>
                  <a:rPr lang="en-US" altLang="zh-CN" sz="1600" baseline="0" dirty="0" smtClean="0"/>
                  <a:t>People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typically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upper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variable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lower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observation.</a:t>
                </a:r>
              </a:p>
              <a:p>
                <a:r>
                  <a:rPr lang="en-US" altLang="zh-CN" sz="1600" baseline="0" dirty="0" smtClean="0"/>
                  <a:t>--------</a:t>
                </a:r>
              </a:p>
              <a:p>
                <a:r>
                  <a:rPr lang="en-US" altLang="zh-CN" sz="1600" baseline="0" dirty="0" smtClean="0"/>
                  <a:t>Let</a:t>
                </a:r>
                <a:r>
                  <a:rPr lang="zh-CN" altLang="en-US" sz="1600" baseline="0" dirty="0" smtClean="0"/>
                  <a:t> 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𝑝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(</a:t>
                </a:r>
                <a:r>
                  <a:rPr lang="en-US" altLang="zh-CN" sz="1600" b="1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𝐱</a:t>
                </a:r>
                <a:r>
                  <a:rPr lang="en-US" altLang="zh-CN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en-US" sz="1600" dirty="0" smtClean="0"/>
                  <a:t> be 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 </a:t>
                </a:r>
                <a:r>
                  <a:rPr lang="en-US" sz="1600" dirty="0" smtClean="0"/>
                  <a:t>probability </a:t>
                </a:r>
                <a:r>
                  <a:rPr lang="en-US" sz="1600" dirty="0"/>
                  <a:t>density </a:t>
                </a:r>
                <a:r>
                  <a:rPr lang="en-US" sz="1600" dirty="0" smtClean="0"/>
                  <a:t>function (PDF</a:t>
                </a:r>
                <a:r>
                  <a:rPr lang="en-US" sz="1600" dirty="0" smtClean="0"/>
                  <a:t>).</a:t>
                </a:r>
              </a:p>
              <a:p>
                <a:r>
                  <a:rPr lang="en-US" altLang="zh-CN" sz="1600" dirty="0" smtClean="0"/>
                  <a:t>It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describes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probability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density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point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x.</a:t>
                </a:r>
              </a:p>
              <a:p>
                <a:r>
                  <a:rPr lang="en-US" altLang="zh-CN" sz="1600" dirty="0" smtClean="0"/>
                  <a:t>=====</a:t>
                </a:r>
              </a:p>
              <a:p>
                <a:r>
                  <a:rPr lang="en-US" altLang="zh-CN" sz="1600" dirty="0" smtClean="0"/>
                  <a:t>It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has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such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property:</a:t>
                </a:r>
              </a:p>
              <a:p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integral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sz="160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𝑝</a:t>
                </a:r>
                <a:r>
                  <a:rPr lang="en-US" sz="1600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(</a:t>
                </a:r>
                <a:r>
                  <a:rPr lang="en-US" sz="1600" b="1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𝐱)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entire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space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equals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1.</a:t>
                </a:r>
              </a:p>
              <a:p>
                <a:r>
                  <a:rPr lang="en-US" altLang="zh-CN" sz="1600" baseline="0" dirty="0" smtClean="0"/>
                  <a:t>=====</a:t>
                </a:r>
              </a:p>
              <a:p>
                <a:r>
                  <a:rPr lang="en-US" altLang="zh-CN" sz="1600" baseline="0" dirty="0" smtClean="0"/>
                  <a:t>Here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example.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PDF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univariate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Gaussian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function.</a:t>
                </a:r>
              </a:p>
              <a:p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determined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mean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standard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deviation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sigma.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定义</a:t>
                </a:r>
                <a:r>
                  <a:rPr lang="en-US" altLang="zh-CN" sz="1600" dirty="0" smtClean="0"/>
                  <a:t>X</a:t>
                </a:r>
                <a:r>
                  <a:rPr lang="zh-CN" altLang="en-US" sz="1600" dirty="0" smtClean="0"/>
                  <a:t>是</a:t>
                </a:r>
                <a:r>
                  <a:rPr lang="en-US" altLang="zh-CN" sz="1600" dirty="0" smtClean="0"/>
                  <a:t>d</a:t>
                </a:r>
                <a:r>
                  <a:rPr lang="zh-CN" altLang="en-US" sz="1600" dirty="0" smtClean="0"/>
                  <a:t>维的随机变量。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通常把随机变量记做大写字母，把观测值记做小写字母。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函数 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𝑝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(</a:t>
                </a:r>
                <a:r>
                  <a:rPr lang="en-US" altLang="zh-CN" sz="1600" b="1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𝐱</a:t>
                </a:r>
                <a:r>
                  <a:rPr lang="en-US" altLang="zh-CN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zh-CN" altLang="en-US" sz="1600" dirty="0" smtClean="0"/>
                  <a:t> 是概率密度函数，它描述 在某个取值点附近的可能性。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</a:t>
                </a:r>
              </a:p>
              <a:p>
                <a:r>
                  <a:rPr lang="zh-CN" altLang="en-US" sz="1600" dirty="0" smtClean="0"/>
                  <a:t>它有这样的性质：把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𝑝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(</a:t>
                </a:r>
                <a:r>
                  <a:rPr lang="en-US" altLang="zh-CN" sz="1600" b="1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𝐱</a:t>
                </a:r>
                <a:r>
                  <a:rPr lang="en-US" altLang="zh-CN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zh-CN" altLang="en-US" sz="1600" dirty="0" smtClean="0"/>
                  <a:t> </a:t>
                </a:r>
                <a:r>
                  <a:rPr lang="zh-CN" altLang="en-US" sz="1600" dirty="0" smtClean="0"/>
                  <a:t>关于所有可能的</a:t>
                </a:r>
                <a:r>
                  <a:rPr lang="en-US" altLang="zh-CN" sz="1600" dirty="0" smtClean="0"/>
                  <a:t>x</a:t>
                </a:r>
                <a:r>
                  <a:rPr lang="zh-CN" altLang="en-US" sz="1600" dirty="0" smtClean="0"/>
                  <a:t>取值 求定积分，结果等于</a:t>
                </a:r>
                <a:r>
                  <a:rPr lang="en-US" altLang="zh-CN" sz="1600" dirty="0" smtClean="0"/>
                  <a:t>1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</a:t>
                </a:r>
              </a:p>
              <a:p>
                <a:r>
                  <a:rPr lang="zh-CN" altLang="en-US" sz="1600" dirty="0" smtClean="0"/>
                  <a:t>举个例子，一元高斯分布的概率密度函数是这样的。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它由均值 </a:t>
                </a:r>
                <a:r>
                  <a:rPr lang="en-US" altLang="zh-CN" sz="1600" dirty="0" smtClean="0"/>
                  <a:t>mu</a:t>
                </a:r>
                <a:r>
                  <a:rPr lang="zh-CN" altLang="en-US" sz="1600" dirty="0" smtClean="0"/>
                  <a:t>  和 标准差 </a:t>
                </a:r>
                <a:r>
                  <a:rPr lang="en-US" altLang="zh-CN" sz="1600" dirty="0" smtClean="0"/>
                  <a:t>sigma</a:t>
                </a:r>
                <a:r>
                  <a:rPr lang="zh-CN" altLang="en-US" sz="1600" dirty="0" smtClean="0"/>
                  <a:t> 决定。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527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It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has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such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property:</a:t>
                </a:r>
              </a:p>
              <a:p>
                <a:r>
                  <a:rPr lang="en-US" altLang="zh-CN" sz="1600" dirty="0"/>
                  <a:t>=========================</a:t>
                </a:r>
              </a:p>
              <a:p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integral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of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sz="16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entire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space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equal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1.</a:t>
                </a:r>
              </a:p>
              <a:p>
                <a:endParaRPr lang="en-US" altLang="zh-CN" sz="1600" baseline="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它有这样的性质：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=========================</a:t>
                </a:r>
              </a:p>
              <a:p>
                <a:r>
                  <a:rPr lang="zh-CN" altLang="en-US" sz="1600" dirty="0"/>
                  <a:t>把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zh-CN" altLang="en-US" sz="1600" dirty="0"/>
                  <a:t> 关于所有可能的</a:t>
                </a:r>
                <a:r>
                  <a:rPr lang="en-US" altLang="zh-CN" sz="1600" dirty="0"/>
                  <a:t>x</a:t>
                </a:r>
                <a:r>
                  <a:rPr lang="zh-CN" altLang="en-US" sz="1600" dirty="0"/>
                  <a:t>取值 求定积分，结果等于</a:t>
                </a:r>
                <a:r>
                  <a:rPr lang="en-US" altLang="zh-CN" sz="1600" dirty="0"/>
                  <a:t>1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endParaRPr lang="en-US" altLang="zh-CN" sz="1600" baseline="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Define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upper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case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X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d-dim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variable.</a:t>
                </a:r>
              </a:p>
              <a:p>
                <a:r>
                  <a:rPr lang="en-US" altLang="zh-CN" sz="1600" baseline="0" dirty="0" smtClean="0"/>
                  <a:t>People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typically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upper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variable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lower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observation.</a:t>
                </a:r>
              </a:p>
              <a:p>
                <a:r>
                  <a:rPr lang="en-US" altLang="zh-CN" sz="1600" baseline="0" dirty="0" smtClean="0"/>
                  <a:t>--------</a:t>
                </a:r>
              </a:p>
              <a:p>
                <a:r>
                  <a:rPr lang="en-US" altLang="zh-CN" sz="1600" baseline="0" dirty="0" smtClean="0"/>
                  <a:t>Let</a:t>
                </a:r>
                <a:r>
                  <a:rPr lang="zh-CN" altLang="en-US" sz="1600" baseline="0" dirty="0" smtClean="0"/>
                  <a:t> 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𝑝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(</a:t>
                </a:r>
                <a:r>
                  <a:rPr lang="en-US" altLang="zh-CN" sz="1600" b="1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𝐱</a:t>
                </a:r>
                <a:r>
                  <a:rPr lang="en-US" altLang="zh-CN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en-US" sz="1600" dirty="0" smtClean="0"/>
                  <a:t> be 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 </a:t>
                </a:r>
                <a:r>
                  <a:rPr lang="en-US" sz="1600" dirty="0" smtClean="0"/>
                  <a:t>probability </a:t>
                </a:r>
                <a:r>
                  <a:rPr lang="en-US" sz="1600" dirty="0"/>
                  <a:t>density </a:t>
                </a:r>
                <a:r>
                  <a:rPr lang="en-US" sz="1600" dirty="0" smtClean="0"/>
                  <a:t>function (PDF</a:t>
                </a:r>
                <a:r>
                  <a:rPr lang="en-US" sz="1600" dirty="0" smtClean="0"/>
                  <a:t>).</a:t>
                </a:r>
              </a:p>
              <a:p>
                <a:r>
                  <a:rPr lang="en-US" altLang="zh-CN" sz="1600" dirty="0" smtClean="0"/>
                  <a:t>It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describes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probability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density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point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x.</a:t>
                </a:r>
              </a:p>
              <a:p>
                <a:r>
                  <a:rPr lang="en-US" altLang="zh-CN" sz="1600" dirty="0" smtClean="0"/>
                  <a:t>=====</a:t>
                </a:r>
              </a:p>
              <a:p>
                <a:r>
                  <a:rPr lang="en-US" altLang="zh-CN" sz="1600" dirty="0" smtClean="0"/>
                  <a:t>It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has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such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property:</a:t>
                </a:r>
              </a:p>
              <a:p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integral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sz="160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𝑝</a:t>
                </a:r>
                <a:r>
                  <a:rPr lang="en-US" sz="1600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(</a:t>
                </a:r>
                <a:r>
                  <a:rPr lang="en-US" sz="1600" b="1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𝐱)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entire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space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equals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1.</a:t>
                </a:r>
              </a:p>
              <a:p>
                <a:r>
                  <a:rPr lang="en-US" altLang="zh-CN" sz="1600" baseline="0" dirty="0" smtClean="0"/>
                  <a:t>=====</a:t>
                </a:r>
              </a:p>
              <a:p>
                <a:r>
                  <a:rPr lang="en-US" altLang="zh-CN" sz="1600" baseline="0" dirty="0" smtClean="0"/>
                  <a:t>Here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example.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PDF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univariate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Gaussian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function.</a:t>
                </a:r>
              </a:p>
              <a:p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determined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mean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standard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deviation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sigma.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定义</a:t>
                </a:r>
                <a:r>
                  <a:rPr lang="en-US" altLang="zh-CN" sz="1600" dirty="0" smtClean="0"/>
                  <a:t>X</a:t>
                </a:r>
                <a:r>
                  <a:rPr lang="zh-CN" altLang="en-US" sz="1600" dirty="0" smtClean="0"/>
                  <a:t>是</a:t>
                </a:r>
                <a:r>
                  <a:rPr lang="en-US" altLang="zh-CN" sz="1600" dirty="0" smtClean="0"/>
                  <a:t>d</a:t>
                </a:r>
                <a:r>
                  <a:rPr lang="zh-CN" altLang="en-US" sz="1600" dirty="0" smtClean="0"/>
                  <a:t>维的随机变量。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通常把随机变量记做大写字母，把观测值记做小写字母。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函数 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𝑝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(</a:t>
                </a:r>
                <a:r>
                  <a:rPr lang="en-US" altLang="zh-CN" sz="1600" b="1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𝐱</a:t>
                </a:r>
                <a:r>
                  <a:rPr lang="en-US" altLang="zh-CN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zh-CN" altLang="en-US" sz="1600" dirty="0" smtClean="0"/>
                  <a:t> 是概率密度函数，它描述 在某个取值点附近的可能性。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</a:t>
                </a:r>
              </a:p>
              <a:p>
                <a:r>
                  <a:rPr lang="zh-CN" altLang="en-US" sz="1600" dirty="0" smtClean="0"/>
                  <a:t>它有这样的性质：把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𝑝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(</a:t>
                </a:r>
                <a:r>
                  <a:rPr lang="en-US" altLang="zh-CN" sz="1600" b="1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𝐱</a:t>
                </a:r>
                <a:r>
                  <a:rPr lang="en-US" altLang="zh-CN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zh-CN" altLang="en-US" sz="1600" dirty="0" smtClean="0"/>
                  <a:t> </a:t>
                </a:r>
                <a:r>
                  <a:rPr lang="zh-CN" altLang="en-US" sz="1600" dirty="0" smtClean="0"/>
                  <a:t>关于所有可能的</a:t>
                </a:r>
                <a:r>
                  <a:rPr lang="en-US" altLang="zh-CN" sz="1600" dirty="0" smtClean="0"/>
                  <a:t>x</a:t>
                </a:r>
                <a:r>
                  <a:rPr lang="zh-CN" altLang="en-US" sz="1600" dirty="0" smtClean="0"/>
                  <a:t>取值 求定积分，结果等于</a:t>
                </a:r>
                <a:r>
                  <a:rPr lang="en-US" altLang="zh-CN" sz="1600" dirty="0" smtClean="0"/>
                  <a:t>1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</a:t>
                </a:r>
              </a:p>
              <a:p>
                <a:r>
                  <a:rPr lang="zh-CN" altLang="en-US" sz="1600" dirty="0" smtClean="0"/>
                  <a:t>举个例子，一元高斯分布的概率密度函数是这样的。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它由均值 </a:t>
                </a:r>
                <a:r>
                  <a:rPr lang="en-US" altLang="zh-CN" sz="1600" dirty="0" smtClean="0"/>
                  <a:t>mu</a:t>
                </a:r>
                <a:r>
                  <a:rPr lang="zh-CN" altLang="en-US" sz="1600" dirty="0" smtClean="0"/>
                  <a:t>  和 标准差 </a:t>
                </a:r>
                <a:r>
                  <a:rPr lang="en-US" altLang="zh-CN" sz="1600" dirty="0" smtClean="0"/>
                  <a:t>sigma</a:t>
                </a:r>
                <a:r>
                  <a:rPr lang="zh-CN" altLang="en-US" sz="1600" dirty="0" smtClean="0"/>
                  <a:t> 决定。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27478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/>
                  <a:t>Here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some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examples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PDFs.</a:t>
                </a:r>
              </a:p>
              <a:p>
                <a:r>
                  <a:rPr lang="en-US" altLang="zh-CN" sz="1600" baseline="0" dirty="0"/>
                  <a:t>========================</a:t>
                </a:r>
              </a:p>
              <a:p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PDF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uniform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distribution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altLang="zh-CN" sz="1600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600" baseline="0" dirty="0"/>
                  <a:t>,</a:t>
                </a:r>
                <a:r>
                  <a:rPr lang="zh-CN" altLang="en-US" sz="1600" baseline="0" dirty="0"/>
                  <a:t> </a:t>
                </a:r>
                <a:endParaRPr lang="en-US" altLang="zh-CN" sz="1600" baseline="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========================</a:t>
                </a:r>
              </a:p>
              <a:p>
                <a:r>
                  <a:rPr lang="en-US" altLang="zh-CN" sz="1600" baseline="0" dirty="0"/>
                  <a:t>for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x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interval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between 0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t.</a:t>
                </a:r>
              </a:p>
              <a:p>
                <a:r>
                  <a:rPr lang="en-US" altLang="zh-CN" sz="1600" baseline="0" dirty="0"/>
                  <a:t>Everywhere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interval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from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0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has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density.</a:t>
                </a:r>
              </a:p>
              <a:p>
                <a:endParaRPr lang="en-US" altLang="zh-CN" sz="1600" baseline="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举个例子，定义在</a:t>
                </a:r>
                <a:r>
                  <a:rPr lang="en-US" altLang="zh-CN" sz="1600" dirty="0"/>
                  <a:t>0</a:t>
                </a:r>
                <a:r>
                  <a:rPr lang="zh-CN" altLang="en-US" sz="1600" dirty="0"/>
                  <a:t>到</a:t>
                </a:r>
                <a:r>
                  <a:rPr lang="en-US" altLang="zh-CN" sz="1600" dirty="0"/>
                  <a:t>t</a:t>
                </a:r>
                <a:r>
                  <a:rPr lang="zh-CN" altLang="en-US" sz="1600" dirty="0"/>
                  <a:t>上 的 均匀分布的 概率密度函数 是常数 </a:t>
                </a:r>
                <a:r>
                  <a:rPr lang="en-US" altLang="zh-CN" sz="1600" dirty="0"/>
                  <a:t>t</a:t>
                </a:r>
                <a:r>
                  <a:rPr lang="zh-CN" altLang="en-US" sz="1600" dirty="0"/>
                  <a:t> 分之 </a:t>
                </a:r>
                <a:r>
                  <a:rPr lang="en-US" altLang="zh-CN" sz="1600" dirty="0"/>
                  <a:t>1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所有点的概率密度都是相同的，所以叫均匀分布。</a:t>
                </a:r>
                <a:endParaRPr lang="en-US" altLang="zh-CN" sz="1600" dirty="0"/>
              </a:p>
              <a:p>
                <a:endParaRPr lang="en-US" altLang="zh-CN" sz="1600" baseline="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Define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upper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case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X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d-dim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variable.</a:t>
                </a:r>
              </a:p>
              <a:p>
                <a:r>
                  <a:rPr lang="en-US" altLang="zh-CN" sz="1600" baseline="0" dirty="0" smtClean="0"/>
                  <a:t>People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typically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upper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variable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lower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observation.</a:t>
                </a:r>
              </a:p>
              <a:p>
                <a:r>
                  <a:rPr lang="en-US" altLang="zh-CN" sz="1600" baseline="0" dirty="0" smtClean="0"/>
                  <a:t>--------</a:t>
                </a:r>
              </a:p>
              <a:p>
                <a:r>
                  <a:rPr lang="en-US" altLang="zh-CN" sz="1600" baseline="0" dirty="0" smtClean="0"/>
                  <a:t>Let</a:t>
                </a:r>
                <a:r>
                  <a:rPr lang="zh-CN" altLang="en-US" sz="1600" baseline="0" dirty="0" smtClean="0"/>
                  <a:t> 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𝑝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(</a:t>
                </a:r>
                <a:r>
                  <a:rPr lang="en-US" altLang="zh-CN" sz="1600" b="1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𝐱</a:t>
                </a:r>
                <a:r>
                  <a:rPr lang="en-US" altLang="zh-CN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en-US" sz="1600" dirty="0" smtClean="0"/>
                  <a:t> be 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 </a:t>
                </a:r>
                <a:r>
                  <a:rPr lang="en-US" sz="1600" dirty="0" smtClean="0"/>
                  <a:t>probability </a:t>
                </a:r>
                <a:r>
                  <a:rPr lang="en-US" sz="1600" dirty="0"/>
                  <a:t>density </a:t>
                </a:r>
                <a:r>
                  <a:rPr lang="en-US" sz="1600" dirty="0" smtClean="0"/>
                  <a:t>function (PDF</a:t>
                </a:r>
                <a:r>
                  <a:rPr lang="en-US" sz="1600" dirty="0" smtClean="0"/>
                  <a:t>).</a:t>
                </a:r>
              </a:p>
              <a:p>
                <a:r>
                  <a:rPr lang="en-US" altLang="zh-CN" sz="1600" dirty="0" smtClean="0"/>
                  <a:t>It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describes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probability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density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point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x.</a:t>
                </a:r>
              </a:p>
              <a:p>
                <a:r>
                  <a:rPr lang="en-US" altLang="zh-CN" sz="1600" dirty="0" smtClean="0"/>
                  <a:t>=====</a:t>
                </a:r>
              </a:p>
              <a:p>
                <a:r>
                  <a:rPr lang="en-US" altLang="zh-CN" sz="1600" dirty="0" smtClean="0"/>
                  <a:t>It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has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such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property:</a:t>
                </a:r>
              </a:p>
              <a:p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integral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sz="160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𝑝</a:t>
                </a:r>
                <a:r>
                  <a:rPr lang="en-US" sz="1600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(</a:t>
                </a:r>
                <a:r>
                  <a:rPr lang="en-US" sz="1600" b="1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𝐱)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entire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space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equals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1.</a:t>
                </a:r>
              </a:p>
              <a:p>
                <a:r>
                  <a:rPr lang="en-US" altLang="zh-CN" sz="1600" baseline="0" dirty="0" smtClean="0"/>
                  <a:t>=====</a:t>
                </a:r>
              </a:p>
              <a:p>
                <a:r>
                  <a:rPr lang="en-US" altLang="zh-CN" sz="1600" baseline="0" dirty="0" smtClean="0"/>
                  <a:t>Here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example.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PDF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univariate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Gaussian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function.</a:t>
                </a:r>
              </a:p>
              <a:p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determined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mean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standard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deviation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sigma.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定义</a:t>
                </a:r>
                <a:r>
                  <a:rPr lang="en-US" altLang="zh-CN" sz="1600" dirty="0" smtClean="0"/>
                  <a:t>X</a:t>
                </a:r>
                <a:r>
                  <a:rPr lang="zh-CN" altLang="en-US" sz="1600" dirty="0" smtClean="0"/>
                  <a:t>是</a:t>
                </a:r>
                <a:r>
                  <a:rPr lang="en-US" altLang="zh-CN" sz="1600" dirty="0" smtClean="0"/>
                  <a:t>d</a:t>
                </a:r>
                <a:r>
                  <a:rPr lang="zh-CN" altLang="en-US" sz="1600" dirty="0" smtClean="0"/>
                  <a:t>维的随机变量。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通常把随机变量记做大写字母，把观测值记做小写字母。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函数 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𝑝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(</a:t>
                </a:r>
                <a:r>
                  <a:rPr lang="en-US" altLang="zh-CN" sz="1600" b="1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𝐱</a:t>
                </a:r>
                <a:r>
                  <a:rPr lang="en-US" altLang="zh-CN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zh-CN" altLang="en-US" sz="1600" dirty="0" smtClean="0"/>
                  <a:t> 是概率密度函数，它描述 在某个取值点附近的可能性。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</a:t>
                </a:r>
              </a:p>
              <a:p>
                <a:r>
                  <a:rPr lang="zh-CN" altLang="en-US" sz="1600" dirty="0" smtClean="0"/>
                  <a:t>它有这样的性质：把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𝑝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(</a:t>
                </a:r>
                <a:r>
                  <a:rPr lang="en-US" altLang="zh-CN" sz="1600" b="1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𝐱</a:t>
                </a:r>
                <a:r>
                  <a:rPr lang="en-US" altLang="zh-CN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zh-CN" altLang="en-US" sz="1600" dirty="0" smtClean="0"/>
                  <a:t> </a:t>
                </a:r>
                <a:r>
                  <a:rPr lang="zh-CN" altLang="en-US" sz="1600" dirty="0" smtClean="0"/>
                  <a:t>关于所有可能的</a:t>
                </a:r>
                <a:r>
                  <a:rPr lang="en-US" altLang="zh-CN" sz="1600" dirty="0" smtClean="0"/>
                  <a:t>x</a:t>
                </a:r>
                <a:r>
                  <a:rPr lang="zh-CN" altLang="en-US" sz="1600" dirty="0" smtClean="0"/>
                  <a:t>取值 求定积分，结果等于</a:t>
                </a:r>
                <a:r>
                  <a:rPr lang="en-US" altLang="zh-CN" sz="1600" dirty="0" smtClean="0"/>
                  <a:t>1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</a:t>
                </a:r>
              </a:p>
              <a:p>
                <a:r>
                  <a:rPr lang="zh-CN" altLang="en-US" sz="1600" dirty="0" smtClean="0"/>
                  <a:t>举个例子，一元高斯分布的概率密度函数是这样的。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它由均值 </a:t>
                </a:r>
                <a:r>
                  <a:rPr lang="en-US" altLang="zh-CN" sz="1600" dirty="0" smtClean="0"/>
                  <a:t>mu</a:t>
                </a:r>
                <a:r>
                  <a:rPr lang="zh-CN" altLang="en-US" sz="1600" dirty="0" smtClean="0"/>
                  <a:t>  和 标准差 </a:t>
                </a:r>
                <a:r>
                  <a:rPr lang="en-US" altLang="zh-CN" sz="1600" dirty="0" smtClean="0"/>
                  <a:t>sigma</a:t>
                </a:r>
                <a:r>
                  <a:rPr lang="zh-CN" altLang="en-US" sz="1600" dirty="0" smtClean="0"/>
                  <a:t> 决定。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80353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PDF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univariate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Gaussian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distribution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function.</a:t>
                </a:r>
              </a:p>
              <a:p>
                <a:r>
                  <a:rPr lang="en-US" altLang="zh-CN" sz="1600" baseline="0" dirty="0"/>
                  <a:t>It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determined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by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mean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mu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standard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deviation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sigma.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另一个例子，一元高斯分布的概率密度函数是这样的。</a:t>
                </a:r>
                <a:endParaRPr lang="en-US" altLang="zh-CN" sz="1600" dirty="0"/>
              </a:p>
              <a:p>
                <a:r>
                  <a:rPr lang="zh-CN" altLang="en-US" sz="1600" dirty="0"/>
                  <a:t>它由均值 </a:t>
                </a:r>
                <a:r>
                  <a:rPr lang="en-US" altLang="zh-CN" sz="1600" dirty="0"/>
                  <a:t>mu</a:t>
                </a:r>
                <a:r>
                  <a:rPr lang="zh-CN" altLang="en-US" sz="1600" dirty="0"/>
                  <a:t>  和 标准差 </a:t>
                </a:r>
                <a:r>
                  <a:rPr lang="en-US" altLang="zh-CN" sz="1600" dirty="0"/>
                  <a:t>sigma</a:t>
                </a:r>
                <a:r>
                  <a:rPr lang="zh-CN" altLang="en-US" sz="1600" dirty="0"/>
                  <a:t> 决定。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Define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upper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case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X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to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d-dim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variable.</a:t>
                </a:r>
              </a:p>
              <a:p>
                <a:r>
                  <a:rPr lang="en-US" altLang="zh-CN" sz="1600" baseline="0" dirty="0" smtClean="0"/>
                  <a:t>People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typically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upper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random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variable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lower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case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its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observation.</a:t>
                </a:r>
              </a:p>
              <a:p>
                <a:r>
                  <a:rPr lang="en-US" altLang="zh-CN" sz="1600" baseline="0" dirty="0" smtClean="0"/>
                  <a:t>--------</a:t>
                </a:r>
              </a:p>
              <a:p>
                <a:r>
                  <a:rPr lang="en-US" altLang="zh-CN" sz="1600" baseline="0" dirty="0" smtClean="0"/>
                  <a:t>Let</a:t>
                </a:r>
                <a:r>
                  <a:rPr lang="zh-CN" altLang="en-US" sz="1600" baseline="0" dirty="0" smtClean="0"/>
                  <a:t> 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𝑝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(</a:t>
                </a:r>
                <a:r>
                  <a:rPr lang="en-US" altLang="zh-CN" sz="1600" b="1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𝐱</a:t>
                </a:r>
                <a:r>
                  <a:rPr lang="en-US" altLang="zh-CN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en-US" sz="1600" dirty="0" smtClean="0"/>
                  <a:t> be 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 </a:t>
                </a:r>
                <a:r>
                  <a:rPr lang="en-US" sz="1600" dirty="0" smtClean="0"/>
                  <a:t>probability </a:t>
                </a:r>
                <a:r>
                  <a:rPr lang="en-US" sz="1600" dirty="0"/>
                  <a:t>density </a:t>
                </a:r>
                <a:r>
                  <a:rPr lang="en-US" sz="1600" dirty="0" smtClean="0"/>
                  <a:t>function (PDF</a:t>
                </a:r>
                <a:r>
                  <a:rPr lang="en-US" sz="1600" dirty="0" smtClean="0"/>
                  <a:t>).</a:t>
                </a:r>
              </a:p>
              <a:p>
                <a:r>
                  <a:rPr lang="en-US" altLang="zh-CN" sz="1600" dirty="0" smtClean="0"/>
                  <a:t>It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describes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probability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density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point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x.</a:t>
                </a:r>
              </a:p>
              <a:p>
                <a:r>
                  <a:rPr lang="en-US" altLang="zh-CN" sz="1600" dirty="0" smtClean="0"/>
                  <a:t>=====</a:t>
                </a:r>
              </a:p>
              <a:p>
                <a:r>
                  <a:rPr lang="en-US" altLang="zh-CN" sz="1600" dirty="0" smtClean="0"/>
                  <a:t>It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has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such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property:</a:t>
                </a:r>
              </a:p>
              <a:p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integral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sz="160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𝑝</a:t>
                </a:r>
                <a:r>
                  <a:rPr lang="en-US" sz="1600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(</a:t>
                </a:r>
                <a:r>
                  <a:rPr lang="en-US" sz="1600" b="1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𝐱)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entire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space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equals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1.</a:t>
                </a:r>
              </a:p>
              <a:p>
                <a:r>
                  <a:rPr lang="en-US" altLang="zh-CN" sz="1600" baseline="0" dirty="0" smtClean="0"/>
                  <a:t>=====</a:t>
                </a:r>
              </a:p>
              <a:p>
                <a:r>
                  <a:rPr lang="en-US" altLang="zh-CN" sz="1600" baseline="0" dirty="0" smtClean="0"/>
                  <a:t>Here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example.</a:t>
                </a:r>
              </a:p>
              <a:p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PDF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univariate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Gaussian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function.</a:t>
                </a:r>
              </a:p>
              <a:p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determined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mean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mu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standard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deviation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sigma.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定义</a:t>
                </a:r>
                <a:r>
                  <a:rPr lang="en-US" altLang="zh-CN" sz="1600" dirty="0" smtClean="0"/>
                  <a:t>X</a:t>
                </a:r>
                <a:r>
                  <a:rPr lang="zh-CN" altLang="en-US" sz="1600" dirty="0" smtClean="0"/>
                  <a:t>是</a:t>
                </a:r>
                <a:r>
                  <a:rPr lang="en-US" altLang="zh-CN" sz="1600" dirty="0" smtClean="0"/>
                  <a:t>d</a:t>
                </a:r>
                <a:r>
                  <a:rPr lang="zh-CN" altLang="en-US" sz="1600" dirty="0" smtClean="0"/>
                  <a:t>维的随机变量。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通常把随机变量记做大写字母，把观测值记做小写字母。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函数 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𝑝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(</a:t>
                </a:r>
                <a:r>
                  <a:rPr lang="en-US" altLang="zh-CN" sz="1600" b="1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𝐱</a:t>
                </a:r>
                <a:r>
                  <a:rPr lang="en-US" altLang="zh-CN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zh-CN" altLang="en-US" sz="1600" dirty="0" smtClean="0"/>
                  <a:t> 是概率密度函数，它描述 在某个取值点附近的可能性。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</a:t>
                </a:r>
              </a:p>
              <a:p>
                <a:r>
                  <a:rPr lang="zh-CN" altLang="en-US" sz="1600" dirty="0" smtClean="0"/>
                  <a:t>它有这样的性质：把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𝑝</a:t>
                </a:r>
                <a:r>
                  <a:rPr lang="en-US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(</a:t>
                </a:r>
                <a:r>
                  <a:rPr lang="en-US" altLang="zh-CN" sz="1600" b="1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𝐱</a:t>
                </a:r>
                <a:r>
                  <a:rPr lang="en-US" altLang="zh-CN" sz="1600" b="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zh-CN" altLang="en-US" sz="1600" dirty="0" smtClean="0"/>
                  <a:t> </a:t>
                </a:r>
                <a:r>
                  <a:rPr lang="zh-CN" altLang="en-US" sz="1600" dirty="0" smtClean="0"/>
                  <a:t>关于所有可能的</a:t>
                </a:r>
                <a:r>
                  <a:rPr lang="en-US" altLang="zh-CN" sz="1600" dirty="0" smtClean="0"/>
                  <a:t>x</a:t>
                </a:r>
                <a:r>
                  <a:rPr lang="zh-CN" altLang="en-US" sz="1600" dirty="0" smtClean="0"/>
                  <a:t>取值 求定积分，结果等于</a:t>
                </a:r>
                <a:r>
                  <a:rPr lang="en-US" altLang="zh-CN" sz="1600" dirty="0" smtClean="0"/>
                  <a:t>1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</a:t>
                </a:r>
              </a:p>
              <a:p>
                <a:r>
                  <a:rPr lang="zh-CN" altLang="en-US" sz="1600" dirty="0" smtClean="0"/>
                  <a:t>举个例子，一元高斯分布的概率密度函数是这样的。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它由均值 </a:t>
                </a:r>
                <a:r>
                  <a:rPr lang="en-US" altLang="zh-CN" sz="1600" dirty="0" smtClean="0"/>
                  <a:t>mu</a:t>
                </a:r>
                <a:r>
                  <a:rPr lang="zh-CN" altLang="en-US" sz="1600" dirty="0" smtClean="0"/>
                  <a:t>  和 标准差 </a:t>
                </a:r>
                <a:r>
                  <a:rPr lang="en-US" altLang="zh-CN" sz="1600" dirty="0" smtClean="0"/>
                  <a:t>sigma</a:t>
                </a:r>
                <a:r>
                  <a:rPr lang="zh-CN" altLang="en-US" sz="1600" dirty="0" smtClean="0"/>
                  <a:t> 决定。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708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Let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>
                            <a:latin typeface="Cambria Math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be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any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function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of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vector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variable.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expectation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>
                            <a:latin typeface="Cambria Math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defined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way.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X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treated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random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variable.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Its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PDF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function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</a:t>
                </a:r>
                <a:endParaRPr lang="en-US" altLang="zh-CN" sz="1600" baseline="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/>
                  <a:t>It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 equal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to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integral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of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>
                            <a:latin typeface="Cambria Math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by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>
                            <a:latin typeface="Cambria Math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entire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d-dim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space.</a:t>
                </a:r>
              </a:p>
              <a:p>
                <a:endParaRPr lang="en-US" sz="1600" dirty="0"/>
              </a:p>
              <a:p>
                <a:endParaRPr lang="en-US" sz="1600" dirty="0"/>
              </a:p>
              <a:p>
                <a:r>
                  <a:rPr lang="zh-CN" altLang="en-US" sz="1600" dirty="0"/>
                  <a:t>复习一下函数的期望。</a:t>
                </a:r>
                <a:endParaRPr lang="en-US" sz="1600" dirty="0"/>
              </a:p>
              <a:p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>
                            <a:latin typeface="Cambria Math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zh-CN" altLang="en-US" sz="1600" dirty="0"/>
                  <a:t> 是任意的多元函数，它的变量是 </a:t>
                </a:r>
                <a:r>
                  <a:rPr lang="en-US" altLang="zh-CN" sz="1600" dirty="0"/>
                  <a:t>d</a:t>
                </a:r>
                <a:r>
                  <a:rPr lang="zh-CN" altLang="en-US" sz="1600" dirty="0"/>
                  <a:t> 维的向量。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</a:t>
                </a:r>
              </a:p>
              <a:p>
                <a:r>
                  <a:rPr lang="zh-CN" altLang="en-US" sz="1600" dirty="0"/>
                  <a:t>函数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>
                            <a:latin typeface="Cambria Math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zh-CN" altLang="en-US" sz="1600" dirty="0"/>
                  <a:t> 的期望是这样定义的。</a:t>
                </a:r>
                <a:endParaRPr lang="en-US" altLang="zh-CN" sz="1600" dirty="0"/>
              </a:p>
              <a:p>
                <a:r>
                  <a:rPr lang="zh-CN" altLang="en-US" sz="1600" dirty="0"/>
                  <a:t>把</a:t>
                </a:r>
                <a:r>
                  <a:rPr lang="en-US" altLang="zh-CN" sz="1600" dirty="0"/>
                  <a:t>X</a:t>
                </a:r>
                <a:r>
                  <a:rPr lang="zh-CN" altLang="en-US" sz="1600" dirty="0"/>
                  <a:t>作为随机变量，</a:t>
                </a:r>
                <a:r>
                  <a:rPr lang="en-US" altLang="zh-CN" sz="1600" dirty="0"/>
                  <a:t>X</a:t>
                </a:r>
                <a:r>
                  <a:rPr lang="zh-CN" altLang="en-US" sz="1600" dirty="0"/>
                  <a:t>的概率密度函数是</a:t>
                </a:r>
                <a:r>
                  <a:rPr lang="en-US" altLang="zh-CN" sz="1600" dirty="0"/>
                  <a:t>p(x)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>
                            <a:latin typeface="Cambria Math" charset="0"/>
                          </a:rPr>
                          <m:t>𝐱</m:t>
                        </m:r>
                      </m:e>
                    </m:d>
                    <m:r>
                      <a:rPr lang="zh-CN" altLang="en-US" sz="1600" b="0" i="1">
                        <a:latin typeface="Cambria Math" charset="0"/>
                      </a:rPr>
                      <m:t> </m:t>
                    </m:r>
                    <m:r>
                      <a:rPr lang="zh-CN" altLang="en-US" sz="1600" b="0" i="1" smtClean="0">
                        <a:latin typeface="Cambria Math" charset="0"/>
                      </a:rPr>
                      <m:t>乘以</m:t>
                    </m:r>
                    <m:r>
                      <a:rPr lang="zh-CN" altLang="en-US" sz="1600" b="0" i="1" smtClean="0">
                        <a:latin typeface="Cambria Math" charset="0"/>
                      </a:rPr>
                      <m:t> </m:t>
                    </m:r>
                    <m:r>
                      <a:rPr lang="en-US" sz="1600" i="1">
                        <a:latin typeface="Cambria Math" charset="0"/>
                      </a:rPr>
                      <m:t> </m:t>
                    </m:r>
                    <m:r>
                      <a:rPr lang="en-US" sz="1600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sz="16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zh-CN" altLang="en-US" sz="1600" dirty="0"/>
                  <a:t> ，在 整个</a:t>
                </a:r>
                <a:r>
                  <a:rPr lang="en-US" altLang="zh-CN" sz="1600" dirty="0"/>
                  <a:t>d</a:t>
                </a:r>
                <a:r>
                  <a:rPr lang="zh-CN" altLang="en-US" sz="1600" dirty="0"/>
                  <a:t>维空间上 求定积分，结果就是 函数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>
                            <a:latin typeface="Cambria Math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zh-CN" altLang="en-US" sz="1600" dirty="0"/>
                  <a:t> 的期望。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Let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</a:t>
                </a:r>
                <a:r>
                  <a:rPr lang="en-US" sz="1600" b="1" i="0">
                    <a:latin typeface="Cambria Math" charset="0"/>
                  </a:rPr>
                  <a:t>𝐱)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function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vector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variable.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expectation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</a:t>
                </a:r>
                <a:r>
                  <a:rPr lang="en-US" sz="1600" b="1" i="0">
                    <a:latin typeface="Cambria Math" charset="0"/>
                  </a:rPr>
                  <a:t>𝐱)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defined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way.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/>
                  <a:t>It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integral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of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</a:t>
                </a:r>
                <a:r>
                  <a:rPr lang="en-US" sz="1600" b="1" i="0">
                    <a:latin typeface="Cambria Math" charset="0"/>
                  </a:rPr>
                  <a:t>𝐱)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="0" i="0" smtClean="0">
                    <a:latin typeface="Cambria Math" charset="0"/>
                  </a:rPr>
                  <a:t>𝑝</a:t>
                </a:r>
                <a:r>
                  <a:rPr lang="en-US" altLang="zh-CN" sz="1600" i="0">
                    <a:latin typeface="Cambria Math" charset="0"/>
                  </a:rPr>
                  <a:t>(</a:t>
                </a:r>
                <a:r>
                  <a:rPr lang="en-US" sz="1600" b="1" i="0">
                    <a:latin typeface="Cambria Math" charset="0"/>
                  </a:rPr>
                  <a:t>𝐱)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entire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d-dim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space.</a:t>
                </a:r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</a:t>
                </a:r>
                <a:r>
                  <a:rPr lang="en-US" sz="1600" b="1" i="0">
                    <a:latin typeface="Cambria Math" charset="0"/>
                  </a:rPr>
                  <a:t>𝐱)</a:t>
                </a:r>
                <a:r>
                  <a:rPr lang="zh-CN" altLang="en-US" sz="1600" dirty="0" smtClean="0"/>
                  <a:t> 是任意的函数，它的变量是 </a:t>
                </a:r>
                <a:r>
                  <a:rPr lang="en-US" altLang="zh-CN" sz="1600" dirty="0" smtClean="0"/>
                  <a:t>d</a:t>
                </a:r>
                <a:r>
                  <a:rPr lang="zh-CN" altLang="en-US" sz="1600" dirty="0" smtClean="0"/>
                  <a:t> 维的向量。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</a:t>
                </a:r>
              </a:p>
              <a:p>
                <a:r>
                  <a:rPr lang="zh-CN" altLang="en-US" sz="1600" dirty="0" smtClean="0"/>
                  <a:t>函数 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</a:t>
                </a:r>
                <a:r>
                  <a:rPr lang="en-US" sz="1600" b="1" i="0">
                    <a:latin typeface="Cambria Math" charset="0"/>
                  </a:rPr>
                  <a:t>𝐱)</a:t>
                </a:r>
                <a:r>
                  <a:rPr lang="zh-CN" altLang="en-US" sz="1600" dirty="0" smtClean="0"/>
                  <a:t> 的期望是这样定义的。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它等于 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</a:t>
                </a:r>
                <a:r>
                  <a:rPr lang="en-US" sz="1600" b="1" i="0">
                    <a:latin typeface="Cambria Math" charset="0"/>
                  </a:rPr>
                  <a:t>𝐱)</a:t>
                </a:r>
                <a:r>
                  <a:rPr lang="zh-CN" altLang="en-US" sz="1600" b="0" i="0">
                    <a:latin typeface="Cambria Math" charset="0"/>
                  </a:rPr>
                  <a:t>  </a:t>
                </a:r>
                <a:r>
                  <a:rPr lang="zh-CN" altLang="en-US" sz="1600" b="0" i="0" smtClean="0">
                    <a:latin typeface="Cambria Math" charset="0"/>
                  </a:rPr>
                  <a:t>乘以 </a:t>
                </a:r>
                <a:r>
                  <a:rPr lang="en-US" sz="1600" i="0">
                    <a:latin typeface="Cambria Math" charset="0"/>
                  </a:rPr>
                  <a:t> </a:t>
                </a:r>
                <a:r>
                  <a:rPr lang="en-US" sz="1600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𝑝(</a:t>
                </a:r>
                <a:r>
                  <a:rPr lang="en-US" sz="1600" b="1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𝐱)</a:t>
                </a:r>
                <a:r>
                  <a:rPr lang="zh-CN" altLang="en-US" sz="1600" dirty="0" smtClean="0"/>
                  <a:t> 在 整个</a:t>
                </a:r>
                <a:r>
                  <a:rPr lang="en-US" altLang="zh-CN" sz="1600" dirty="0" smtClean="0"/>
                  <a:t>d</a:t>
                </a:r>
                <a:r>
                  <a:rPr lang="zh-CN" altLang="en-US" sz="1600" dirty="0" smtClean="0"/>
                  <a:t>维空间上的 定积分。</a:t>
                </a:r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703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/>
              <a:t>Directly</a:t>
            </a:r>
            <a:r>
              <a:rPr lang="zh-CN" altLang="en-US" sz="1600" dirty="0"/>
              <a:t> </a:t>
            </a:r>
            <a:r>
              <a:rPr lang="en-US" altLang="zh-CN" sz="1600" dirty="0"/>
              <a:t>and</a:t>
            </a:r>
            <a:r>
              <a:rPr lang="zh-CN" altLang="en-US" sz="1600" dirty="0"/>
              <a:t> </a:t>
            </a:r>
            <a:r>
              <a:rPr lang="en-US" altLang="zh-CN" sz="1600" dirty="0"/>
              <a:t>analytically</a:t>
            </a:r>
            <a:r>
              <a:rPr lang="zh-CN" altLang="en-US" sz="1600" dirty="0"/>
              <a:t> </a:t>
            </a:r>
            <a:r>
              <a:rPr lang="en-US" altLang="zh-CN" sz="1600" dirty="0"/>
              <a:t>computing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expectation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not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easy,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especially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when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x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high-dimensional.</a:t>
            </a:r>
          </a:p>
          <a:p>
            <a:r>
              <a:rPr lang="en-US" altLang="zh-CN" sz="1600" baseline="0" dirty="0"/>
              <a:t>So,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practice,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expectation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approximated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using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Monte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Carlo.</a:t>
            </a:r>
          </a:p>
          <a:p>
            <a:endParaRPr lang="en-US" altLang="zh-CN" sz="1600" baseline="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直接求这个定积分不容易，尤其是当 变量 </a:t>
            </a:r>
            <a:r>
              <a:rPr lang="en-US" altLang="zh-CN" sz="1600" dirty="0"/>
              <a:t>x</a:t>
            </a:r>
            <a:r>
              <a:rPr lang="zh-CN" altLang="en-US" sz="1600" dirty="0"/>
              <a:t> 是高维向量的时候。</a:t>
            </a:r>
            <a:endParaRPr lang="en-US" altLang="zh-CN" sz="1600" dirty="0"/>
          </a:p>
          <a:p>
            <a:r>
              <a:rPr lang="zh-CN" altLang="en-US" sz="1600" dirty="0"/>
              <a:t>所以通常用蒙特卡洛来</a:t>
            </a:r>
            <a:r>
              <a:rPr lang="zh-CN" altLang="en-US" sz="1600" baseline="0" dirty="0"/>
              <a:t> 近似求期望。</a:t>
            </a:r>
            <a:endParaRPr lang="en-US" altLang="zh-CN" sz="1600" baseline="0" dirty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30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Monte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Carlo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estimate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of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expectation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works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three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steps.</a:t>
                </a:r>
              </a:p>
              <a:p>
                <a:r>
                  <a:rPr lang="en-US" altLang="zh-CN" sz="1600" dirty="0"/>
                  <a:t>First,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random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sampling.</a:t>
                </a:r>
                <a:endParaRPr lang="en-US" altLang="zh-CN" sz="1600" dirty="0"/>
              </a:p>
              <a:p>
                <a:r>
                  <a:rPr lang="en-US" altLang="zh-CN" sz="1600" dirty="0"/>
                  <a:t>Draw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random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samples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from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probability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distribution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𝑝</m:t>
                    </m:r>
                    <m:r>
                      <a:rPr lang="en-US" sz="1600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(</m:t>
                    </m:r>
                    <m:r>
                      <a:rPr lang="en-US" altLang="zh-CN" sz="1600" b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𝐱</m:t>
                    </m:r>
                    <m:r>
                      <a:rPr lang="en-US" sz="1600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and</a:t>
                </a:r>
                <a:r>
                  <a:rPr lang="zh-CN" altLang="en-US" sz="1600" dirty="0"/>
                  <a:t> 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==============================</a:t>
                </a:r>
              </a:p>
              <a:p>
                <a:r>
                  <a:rPr lang="en-US" altLang="zh-CN" sz="1600" dirty="0"/>
                  <a:t>denote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by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vectors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𝐱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charset="0"/>
                      </a:rPr>
                      <m:t>,</m:t>
                    </m:r>
                    <m:r>
                      <a:rPr lang="zh-CN" altLang="en-US" sz="1600" i="1">
                        <a:latin typeface="Cambria Math" charset="0"/>
                      </a:rPr>
                      <m:t> </m:t>
                    </m:r>
                    <m:r>
                      <a:rPr lang="en-US" altLang="zh-CN" sz="1600" i="1">
                        <a:latin typeface="Cambria Math" charset="0"/>
                      </a:rPr>
                      <m:t>⋯,</m:t>
                    </m:r>
                    <m:r>
                      <a:rPr lang="zh-CN" altLang="en-US" sz="1600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𝐱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dirty="0"/>
                  <a:t>.</a:t>
                </a:r>
              </a:p>
              <a:p>
                <a:r>
                  <a:rPr lang="en-US" altLang="zh-CN" sz="1600" dirty="0"/>
                  <a:t>Note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that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here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we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do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not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perform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uniform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sampling;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instead,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samples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drawn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from</a:t>
                </a:r>
                <a:r>
                  <a:rPr lang="zh-CN" altLang="en-US" sz="1600" baseline="0" dirty="0"/>
                  <a:t> </a:t>
                </a:r>
                <a:endParaRPr lang="en-US" altLang="zh-CN" sz="1600" baseline="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==============================</a:t>
                </a:r>
              </a:p>
              <a:p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dirty="0"/>
                  <a:t>probability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distribution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p(x).</a:t>
                </a:r>
              </a:p>
              <a:p>
                <a:r>
                  <a:rPr lang="en-US" altLang="zh-CN" sz="1600" dirty="0"/>
                  <a:t>For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commonly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used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distributions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such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Gaussian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distribution,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existing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libraries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programming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implementation.</a:t>
                </a:r>
                <a:r>
                  <a:rPr lang="zh-CN" altLang="en-US" sz="1600" baseline="0" dirty="0"/>
                  <a:t> </a:t>
                </a:r>
                <a:endParaRPr lang="en-US" altLang="zh-CN" sz="1600" baseline="0" dirty="0"/>
              </a:p>
              <a:p>
                <a:r>
                  <a:rPr lang="en-US" altLang="zh-CN" sz="1600" baseline="0" dirty="0"/>
                  <a:t>Python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and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 err="1"/>
                  <a:t>Matlab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provide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functions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sampling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from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all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commonly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used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distributions.</a:t>
                </a:r>
              </a:p>
              <a:p>
                <a:endParaRPr lang="en-US" altLang="zh-CN" sz="1600" baseline="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具体是这三步。</a:t>
                </a:r>
                <a:endParaRPr lang="en-US" altLang="zh-CN" sz="1600" dirty="0"/>
              </a:p>
              <a:p>
                <a:r>
                  <a:rPr lang="zh-CN" altLang="en-US" sz="1600" dirty="0"/>
                  <a:t>首先是做随机抽样。</a:t>
                </a:r>
                <a:endParaRPr lang="en-US" altLang="zh-CN" sz="1600" dirty="0"/>
              </a:p>
              <a:p>
                <a:r>
                  <a:rPr lang="zh-CN" altLang="en-US" sz="1600" dirty="0"/>
                  <a:t>现在不再是均匀抽样，而是要根据概率密度函数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𝑝</m:t>
                    </m:r>
                    <m:r>
                      <a:rPr lang="en-US" sz="160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(</m:t>
                    </m:r>
                    <m:r>
                      <a:rPr lang="en-US" altLang="zh-CN" sz="1600" b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𝐱</m:t>
                    </m:r>
                    <m:r>
                      <a:rPr lang="en-US" sz="1600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sz="1600" dirty="0"/>
                  <a:t> 来抽样。</a:t>
                </a:r>
                <a:endParaRPr lang="en-US" altLang="zh-CN" sz="1600" dirty="0"/>
              </a:p>
              <a:p>
                <a:r>
                  <a:rPr lang="zh-CN" altLang="en-US" sz="1600" dirty="0"/>
                  <a:t>对于高斯分布等常见的概率分布，有现成的 随机抽样函数。</a:t>
                </a:r>
                <a:endParaRPr lang="en-US" altLang="zh-CN" sz="1600" dirty="0"/>
              </a:p>
              <a:p>
                <a:r>
                  <a:rPr lang="en-US" altLang="zh-CN" sz="1600" dirty="0"/>
                  <a:t>Python</a:t>
                </a:r>
                <a:r>
                  <a:rPr lang="zh-CN" altLang="en-US" sz="1600" dirty="0"/>
                  <a:t>和</a:t>
                </a:r>
                <a:r>
                  <a:rPr lang="en-US" altLang="zh-CN" sz="1600" dirty="0"/>
                  <a:t>MATLAB</a:t>
                </a:r>
                <a:r>
                  <a:rPr lang="zh-CN" altLang="en-US" sz="1600" dirty="0"/>
                  <a:t>都提供</a:t>
                </a:r>
                <a:r>
                  <a:rPr lang="zh-CN" altLang="en-US" sz="1600" baseline="0" dirty="0"/>
                  <a:t> </a:t>
                </a:r>
                <a:r>
                  <a:rPr lang="zh-CN" altLang="en-US" sz="1600" dirty="0"/>
                  <a:t>随机抽样函数。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/>
                  <a:t>把刚才抽样得到的 随机样本记做向量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𝐱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charset="0"/>
                      </a:rPr>
                      <m:t>,</m:t>
                    </m:r>
                    <m:r>
                      <a:rPr lang="zh-CN" altLang="en-US" sz="1600" i="1">
                        <a:latin typeface="Cambria Math" charset="0"/>
                      </a:rPr>
                      <m:t> </m:t>
                    </m:r>
                    <m:r>
                      <a:rPr lang="en-US" altLang="zh-CN" sz="1600" i="1">
                        <a:latin typeface="Cambria Math" charset="0"/>
                      </a:rPr>
                      <m:t>⋯,</m:t>
                    </m:r>
                    <m:r>
                      <a:rPr lang="zh-CN" altLang="en-US" sz="1600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𝐱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Monte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Carlo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estimate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expectation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works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three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steps.</a:t>
                </a:r>
              </a:p>
              <a:p>
                <a:r>
                  <a:rPr lang="en-US" altLang="zh-CN" sz="1600" dirty="0" smtClean="0"/>
                  <a:t>First,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random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sampling.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Draw</a:t>
                </a:r>
                <a:r>
                  <a:rPr lang="zh-CN" altLang="en-US" sz="1600" dirty="0"/>
                  <a:t> 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/>
                  <a:t> </a:t>
                </a:r>
                <a:r>
                  <a:rPr lang="en-US" altLang="zh-CN" sz="1600" dirty="0" smtClean="0"/>
                  <a:t>random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samples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from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probability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distribution</a:t>
                </a:r>
                <a:r>
                  <a:rPr lang="zh-CN" altLang="en-US" sz="1600" dirty="0" smtClean="0"/>
                  <a:t> </a:t>
                </a:r>
                <a:r>
                  <a:rPr lang="en-US" sz="1600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𝑝(</a:t>
                </a:r>
                <a:r>
                  <a:rPr lang="en-US" altLang="zh-CN" sz="1600" b="1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𝐱</a:t>
                </a:r>
                <a:r>
                  <a:rPr lang="en-US" sz="1600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denote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them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vectors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="1" i="0">
                    <a:latin typeface="Cambria Math" charset="0"/>
                  </a:rPr>
                  <a:t>𝐱</a:t>
                </a:r>
                <a:r>
                  <a:rPr lang="en-US" altLang="zh-CN" sz="1600" b="1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1,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i="0">
                    <a:latin typeface="Cambria Math" charset="0"/>
                  </a:rPr>
                  <a:t>⋯,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b="1" i="0">
                    <a:latin typeface="Cambria Math" charset="0"/>
                  </a:rPr>
                  <a:t>𝐱_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Note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that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here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do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not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perform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uniform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sampling;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instead,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drawn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distribution.</a:t>
                </a:r>
              </a:p>
              <a:p>
                <a:r>
                  <a:rPr lang="en-US" altLang="zh-CN" sz="1600" dirty="0" smtClean="0"/>
                  <a:t>For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commonly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used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such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Gaussian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distribution,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existing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libraries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programming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implementation.</a:t>
                </a:r>
                <a:r>
                  <a:rPr lang="zh-CN" altLang="en-US" sz="1600" baseline="0" dirty="0" smtClean="0"/>
                  <a:t> </a:t>
                </a:r>
                <a:endParaRPr lang="en-US" altLang="zh-CN" sz="1600" baseline="0" dirty="0" smtClean="0"/>
              </a:p>
              <a:p>
                <a:r>
                  <a:rPr lang="en-US" altLang="zh-CN" sz="1600" baseline="0" dirty="0" smtClean="0"/>
                  <a:t>Python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err="1" smtClean="0"/>
                  <a:t>Matlab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provides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distributions.</a:t>
                </a:r>
              </a:p>
              <a:p>
                <a:r>
                  <a:rPr lang="en-US" altLang="zh-CN" sz="1600" baseline="0" dirty="0" smtClean="0"/>
                  <a:t>-----</a:t>
                </a:r>
              </a:p>
              <a:p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second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step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evaluating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values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="1" i="0">
                    <a:latin typeface="Cambria Math" charset="0"/>
                  </a:rPr>
                  <a:t>𝐱</a:t>
                </a:r>
                <a:r>
                  <a:rPr lang="en-US" altLang="zh-CN" sz="1600" b="1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averaging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function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values.</a:t>
                </a:r>
              </a:p>
              <a:p>
                <a:r>
                  <a:rPr lang="en-US" altLang="zh-CN" sz="1600" dirty="0" smtClean="0"/>
                  <a:t>Denote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average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en-US" altLang="zh-CN" sz="1600" dirty="0" smtClean="0"/>
                  <a:t>Lastly,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approximation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to</a:t>
                </a:r>
                <a:r>
                  <a:rPr lang="zh-CN" altLang="en-US" sz="1600" dirty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expectation.</a:t>
                </a:r>
              </a:p>
              <a:p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larger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more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accuracy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estimate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具体是这三步。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首先是做随机抽样。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现在不再是均匀抽样，而是要根据概率密度函数 </a:t>
                </a:r>
                <a:r>
                  <a:rPr lang="en-US" sz="160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𝑝(</a:t>
                </a:r>
                <a:r>
                  <a:rPr lang="en-US" altLang="zh-CN" sz="1600" b="1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𝐱</a:t>
                </a:r>
                <a:r>
                  <a:rPr lang="en-US" sz="1600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zh-CN" altLang="en-US" sz="1600" dirty="0" smtClean="0"/>
                  <a:t> 来抽样。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对于高斯分布等常见的概率分布，有现成的 随机抽样函数。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Python</a:t>
                </a:r>
                <a:r>
                  <a:rPr lang="zh-CN" altLang="en-US" sz="1600" dirty="0" smtClean="0"/>
                  <a:t>和</a:t>
                </a:r>
                <a:r>
                  <a:rPr lang="en-US" altLang="zh-CN" sz="1600" dirty="0" smtClean="0"/>
                  <a:t>MATLAB</a:t>
                </a:r>
                <a:r>
                  <a:rPr lang="zh-CN" altLang="en-US" sz="1600" dirty="0" smtClean="0"/>
                  <a:t>都提供</a:t>
                </a:r>
                <a:r>
                  <a:rPr lang="zh-CN" altLang="en-US" sz="1600" baseline="0" dirty="0" smtClean="0"/>
                  <a:t> </a:t>
                </a:r>
                <a:r>
                  <a:rPr lang="zh-CN" altLang="en-US" sz="1600" dirty="0" smtClean="0"/>
                  <a:t>随机抽样函数。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把随机样本记做向量</a:t>
                </a:r>
                <a:r>
                  <a:rPr lang="en-US" altLang="zh-CN" sz="1600" b="1" i="0">
                    <a:latin typeface="Cambria Math" charset="0"/>
                  </a:rPr>
                  <a:t>𝐱</a:t>
                </a:r>
                <a:r>
                  <a:rPr lang="en-US" altLang="zh-CN" sz="1600" b="1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1,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i="0">
                    <a:latin typeface="Cambria Math" charset="0"/>
                  </a:rPr>
                  <a:t>⋯,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b="1" i="0">
                    <a:latin typeface="Cambria Math" charset="0"/>
                  </a:rPr>
                  <a:t>𝐱_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第二步是计算每个样本</a:t>
                </a:r>
                <a:r>
                  <a:rPr lang="en-US" altLang="zh-CN" sz="1600" b="1" i="0">
                    <a:latin typeface="Cambria Math" charset="0"/>
                  </a:rPr>
                  <a:t>𝐱</a:t>
                </a:r>
                <a:r>
                  <a:rPr lang="en-US" altLang="zh-CN" sz="1600" b="1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的函数值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</a:t>
                </a:r>
                <a:r>
                  <a:rPr lang="en-US" altLang="zh-CN" sz="1600" b="1" i="0">
                    <a:latin typeface="Cambria Math" charset="0"/>
                  </a:rPr>
                  <a:t>𝐱_</a:t>
                </a:r>
                <a:r>
                  <a:rPr lang="en-US" altLang="zh-CN" sz="1600" i="0">
                    <a:latin typeface="Cambria Math" charset="0"/>
                  </a:rPr>
                  <a:t>𝑖 )</a:t>
                </a:r>
                <a:r>
                  <a:rPr lang="zh-CN" altLang="en-US" sz="1600" dirty="0" smtClean="0"/>
                  <a:t>，然后求所有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个函数值的</a:t>
                </a:r>
                <a:r>
                  <a:rPr lang="zh-CN" altLang="en-US" sz="1600" dirty="0" smtClean="0"/>
                  <a:t>平均。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把平均值记做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最后是返回 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，把它作为对期望的估计。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样本数量 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 越大，蒙特卡洛估计越准确。</a:t>
                </a:r>
                <a:endParaRPr lang="en-US" altLang="zh-CN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1747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second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step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evaluating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function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values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for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all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𝐱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and</a:t>
                </a:r>
                <a:r>
                  <a:rPr lang="zh-CN" altLang="en-US" sz="1600" dirty="0"/>
                  <a:t> 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===================</a:t>
                </a:r>
              </a:p>
              <a:p>
                <a:r>
                  <a:rPr lang="en-US" altLang="zh-CN" sz="1600" dirty="0"/>
                  <a:t>averaging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function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values.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</a:t>
                </a:r>
              </a:p>
              <a:p>
                <a:r>
                  <a:rPr lang="en-US" altLang="zh-CN" sz="1600" dirty="0"/>
                  <a:t>Denote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average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by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dirty="0"/>
                  <a:t>.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第二步是计算每个样本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0">
                            <a:latin typeface="Cambria Math" charset="0"/>
                          </a:rPr>
                          <m:t>𝐱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/>
                  <a:t>的函数值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0">
                                <a:latin typeface="Cambria Math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600" dirty="0"/>
                  <a:t>，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</a:t>
                </a:r>
              </a:p>
              <a:p>
                <a:r>
                  <a:rPr lang="zh-CN" altLang="en-US" sz="1600" dirty="0"/>
                  <a:t>然后求所有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个函数值的平均。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</a:t>
                </a:r>
              </a:p>
              <a:p>
                <a:r>
                  <a:rPr lang="zh-CN" altLang="en-US" sz="1600" dirty="0"/>
                  <a:t>把平均值记做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Monte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Carlo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estimate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expectation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works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three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steps.</a:t>
                </a:r>
              </a:p>
              <a:p>
                <a:r>
                  <a:rPr lang="en-US" altLang="zh-CN" sz="1600" dirty="0" smtClean="0"/>
                  <a:t>First,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random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sampling.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Draw</a:t>
                </a:r>
                <a:r>
                  <a:rPr lang="zh-CN" altLang="en-US" sz="1600" dirty="0"/>
                  <a:t> 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/>
                  <a:t> </a:t>
                </a:r>
                <a:r>
                  <a:rPr lang="en-US" altLang="zh-CN" sz="1600" dirty="0" smtClean="0"/>
                  <a:t>random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samples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from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probability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distribution</a:t>
                </a:r>
                <a:r>
                  <a:rPr lang="zh-CN" altLang="en-US" sz="1600" dirty="0" smtClean="0"/>
                  <a:t> </a:t>
                </a:r>
                <a:r>
                  <a:rPr lang="en-US" sz="1600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𝑝(</a:t>
                </a:r>
                <a:r>
                  <a:rPr lang="en-US" altLang="zh-CN" sz="1600" b="1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𝐱</a:t>
                </a:r>
                <a:r>
                  <a:rPr lang="en-US" sz="1600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denote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them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vectors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="1" i="0">
                    <a:latin typeface="Cambria Math" charset="0"/>
                  </a:rPr>
                  <a:t>𝐱</a:t>
                </a:r>
                <a:r>
                  <a:rPr lang="en-US" altLang="zh-CN" sz="1600" b="1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1,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i="0">
                    <a:latin typeface="Cambria Math" charset="0"/>
                  </a:rPr>
                  <a:t>⋯,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b="1" i="0">
                    <a:latin typeface="Cambria Math" charset="0"/>
                  </a:rPr>
                  <a:t>𝐱_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Note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that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here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do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not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perform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uniform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sampling;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instead,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drawn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distribution.</a:t>
                </a:r>
              </a:p>
              <a:p>
                <a:r>
                  <a:rPr lang="en-US" altLang="zh-CN" sz="1600" dirty="0" smtClean="0"/>
                  <a:t>For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commonly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used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such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Gaussian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distribution,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existing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libraries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programming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implementation.</a:t>
                </a:r>
                <a:r>
                  <a:rPr lang="zh-CN" altLang="en-US" sz="1600" baseline="0" dirty="0" smtClean="0"/>
                  <a:t> </a:t>
                </a:r>
                <a:endParaRPr lang="en-US" altLang="zh-CN" sz="1600" baseline="0" dirty="0" smtClean="0"/>
              </a:p>
              <a:p>
                <a:r>
                  <a:rPr lang="en-US" altLang="zh-CN" sz="1600" baseline="0" dirty="0" smtClean="0"/>
                  <a:t>Python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err="1" smtClean="0"/>
                  <a:t>Matlab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provides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distributions.</a:t>
                </a:r>
              </a:p>
              <a:p>
                <a:r>
                  <a:rPr lang="en-US" altLang="zh-CN" sz="1600" baseline="0" dirty="0" smtClean="0"/>
                  <a:t>-----</a:t>
                </a:r>
              </a:p>
              <a:p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second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step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evaluating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values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="1" i="0">
                    <a:latin typeface="Cambria Math" charset="0"/>
                  </a:rPr>
                  <a:t>𝐱</a:t>
                </a:r>
                <a:r>
                  <a:rPr lang="en-US" altLang="zh-CN" sz="1600" b="1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averaging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function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values.</a:t>
                </a:r>
              </a:p>
              <a:p>
                <a:r>
                  <a:rPr lang="en-US" altLang="zh-CN" sz="1600" dirty="0" smtClean="0"/>
                  <a:t>Denote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average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en-US" altLang="zh-CN" sz="1600" dirty="0" smtClean="0"/>
                  <a:t>Lastly,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approximation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to</a:t>
                </a:r>
                <a:r>
                  <a:rPr lang="zh-CN" altLang="en-US" sz="1600" dirty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expectation.</a:t>
                </a:r>
              </a:p>
              <a:p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larger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more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accuracy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estimate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具体是这三步。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首先是做随机抽样。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现在不再是均匀抽样，而是要根据概率密度函数 </a:t>
                </a:r>
                <a:r>
                  <a:rPr lang="en-US" sz="160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𝑝(</a:t>
                </a:r>
                <a:r>
                  <a:rPr lang="en-US" altLang="zh-CN" sz="1600" b="1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𝐱</a:t>
                </a:r>
                <a:r>
                  <a:rPr lang="en-US" sz="1600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zh-CN" altLang="en-US" sz="1600" dirty="0" smtClean="0"/>
                  <a:t> 来抽样。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对于高斯分布等常见的概率分布，有现成的 随机抽样函数。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Python</a:t>
                </a:r>
                <a:r>
                  <a:rPr lang="zh-CN" altLang="en-US" sz="1600" dirty="0" smtClean="0"/>
                  <a:t>和</a:t>
                </a:r>
                <a:r>
                  <a:rPr lang="en-US" altLang="zh-CN" sz="1600" dirty="0" smtClean="0"/>
                  <a:t>MATLAB</a:t>
                </a:r>
                <a:r>
                  <a:rPr lang="zh-CN" altLang="en-US" sz="1600" dirty="0" smtClean="0"/>
                  <a:t>都提供</a:t>
                </a:r>
                <a:r>
                  <a:rPr lang="zh-CN" altLang="en-US" sz="1600" baseline="0" dirty="0" smtClean="0"/>
                  <a:t> </a:t>
                </a:r>
                <a:r>
                  <a:rPr lang="zh-CN" altLang="en-US" sz="1600" dirty="0" smtClean="0"/>
                  <a:t>随机抽样函数。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把随机样本记做向量</a:t>
                </a:r>
                <a:r>
                  <a:rPr lang="en-US" altLang="zh-CN" sz="1600" b="1" i="0">
                    <a:latin typeface="Cambria Math" charset="0"/>
                  </a:rPr>
                  <a:t>𝐱</a:t>
                </a:r>
                <a:r>
                  <a:rPr lang="en-US" altLang="zh-CN" sz="1600" b="1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1,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i="0">
                    <a:latin typeface="Cambria Math" charset="0"/>
                  </a:rPr>
                  <a:t>⋯,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b="1" i="0">
                    <a:latin typeface="Cambria Math" charset="0"/>
                  </a:rPr>
                  <a:t>𝐱_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第二步是计算每个样本</a:t>
                </a:r>
                <a:r>
                  <a:rPr lang="en-US" altLang="zh-CN" sz="1600" b="1" i="0">
                    <a:latin typeface="Cambria Math" charset="0"/>
                  </a:rPr>
                  <a:t>𝐱</a:t>
                </a:r>
                <a:r>
                  <a:rPr lang="en-US" altLang="zh-CN" sz="1600" b="1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的函数值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</a:t>
                </a:r>
                <a:r>
                  <a:rPr lang="en-US" altLang="zh-CN" sz="1600" b="1" i="0">
                    <a:latin typeface="Cambria Math" charset="0"/>
                  </a:rPr>
                  <a:t>𝐱_</a:t>
                </a:r>
                <a:r>
                  <a:rPr lang="en-US" altLang="zh-CN" sz="1600" i="0">
                    <a:latin typeface="Cambria Math" charset="0"/>
                  </a:rPr>
                  <a:t>𝑖 )</a:t>
                </a:r>
                <a:r>
                  <a:rPr lang="zh-CN" altLang="en-US" sz="1600" dirty="0" smtClean="0"/>
                  <a:t>，然后求所有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个函数值的</a:t>
                </a:r>
                <a:r>
                  <a:rPr lang="zh-CN" altLang="en-US" sz="1600" dirty="0" smtClean="0"/>
                  <a:t>平均。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把平均值记做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最后是返回 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，把它作为对期望的估计。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样本数量 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 越大，蒙特卡洛估计越准确。</a:t>
                </a:r>
                <a:endParaRPr lang="en-US" altLang="zh-CN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24593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Lastly,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return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as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approximation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expectation.</a:t>
                </a:r>
              </a:p>
              <a:p>
                <a:r>
                  <a:rPr lang="en-US" altLang="zh-CN" sz="1600" dirty="0"/>
                  <a:t>The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larger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n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is,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more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accurate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the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estimate</a:t>
                </a:r>
                <a:r>
                  <a:rPr lang="zh-CN" altLang="en-US" sz="1600" baseline="0" dirty="0"/>
                  <a:t> </a:t>
                </a:r>
                <a:r>
                  <a:rPr lang="en-US" altLang="zh-CN" sz="1600" baseline="0" dirty="0"/>
                  <a:t>is.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最后是返回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，把它作为对期望的估计。</a:t>
                </a:r>
                <a:endParaRPr lang="en-US" altLang="zh-CN" sz="1600" dirty="0"/>
              </a:p>
              <a:p>
                <a:r>
                  <a:rPr lang="zh-CN" altLang="en-US" sz="1600" dirty="0"/>
                  <a:t>样本数量 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 越大，蒙特卡洛估计越准确。</a:t>
                </a: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Monte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Carlo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estimate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of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expectation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works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three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steps.</a:t>
                </a:r>
              </a:p>
              <a:p>
                <a:r>
                  <a:rPr lang="en-US" altLang="zh-CN" sz="1600" dirty="0" smtClean="0"/>
                  <a:t>First,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random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sampling.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Draw</a:t>
                </a:r>
                <a:r>
                  <a:rPr lang="zh-CN" altLang="en-US" sz="1600" dirty="0"/>
                  <a:t> 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/>
                  <a:t> </a:t>
                </a:r>
                <a:r>
                  <a:rPr lang="en-US" altLang="zh-CN" sz="1600" dirty="0" smtClean="0"/>
                  <a:t>random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samples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from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probability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distribution</a:t>
                </a:r>
                <a:r>
                  <a:rPr lang="zh-CN" altLang="en-US" sz="1600" dirty="0" smtClean="0"/>
                  <a:t> </a:t>
                </a:r>
                <a:r>
                  <a:rPr lang="en-US" sz="1600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𝑝(</a:t>
                </a:r>
                <a:r>
                  <a:rPr lang="en-US" altLang="zh-CN" sz="1600" b="1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𝐱</a:t>
                </a:r>
                <a:r>
                  <a:rPr lang="en-US" sz="1600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denote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them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vectors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b="1" i="0">
                    <a:latin typeface="Cambria Math" charset="0"/>
                  </a:rPr>
                  <a:t>𝐱</a:t>
                </a:r>
                <a:r>
                  <a:rPr lang="en-US" altLang="zh-CN" sz="1600" b="1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1,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i="0">
                    <a:latin typeface="Cambria Math" charset="0"/>
                  </a:rPr>
                  <a:t>⋯,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b="1" i="0">
                    <a:latin typeface="Cambria Math" charset="0"/>
                  </a:rPr>
                  <a:t>𝐱_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Note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that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here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do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not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perform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uniform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sampling;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instead,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drawn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dirty="0" smtClean="0"/>
                  <a:t>probability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distribution.</a:t>
                </a:r>
              </a:p>
              <a:p>
                <a:r>
                  <a:rPr lang="en-US" altLang="zh-CN" sz="1600" dirty="0" smtClean="0"/>
                  <a:t>For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commonly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used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such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Gaussian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distribution,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existing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libraries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programming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implementation.</a:t>
                </a:r>
                <a:r>
                  <a:rPr lang="zh-CN" altLang="en-US" sz="1600" baseline="0" dirty="0" smtClean="0"/>
                  <a:t> </a:t>
                </a:r>
                <a:endParaRPr lang="en-US" altLang="zh-CN" sz="1600" baseline="0" dirty="0" smtClean="0"/>
              </a:p>
              <a:p>
                <a:r>
                  <a:rPr lang="en-US" altLang="zh-CN" sz="1600" baseline="0" dirty="0" smtClean="0"/>
                  <a:t>Python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and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err="1" smtClean="0"/>
                  <a:t>Matlab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provides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sampling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from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distributions.</a:t>
                </a:r>
              </a:p>
              <a:p>
                <a:r>
                  <a:rPr lang="en-US" altLang="zh-CN" sz="1600" baseline="0" dirty="0" smtClean="0"/>
                  <a:t>-----</a:t>
                </a:r>
              </a:p>
              <a:p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second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step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is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evaluating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function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values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for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all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="1" i="0">
                    <a:latin typeface="Cambria Math" charset="0"/>
                  </a:rPr>
                  <a:t>𝐱</a:t>
                </a:r>
                <a:r>
                  <a:rPr lang="en-US" altLang="zh-CN" sz="1600" b="1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and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averaging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function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values.</a:t>
                </a:r>
              </a:p>
              <a:p>
                <a:r>
                  <a:rPr lang="en-US" altLang="zh-CN" sz="1600" dirty="0" smtClean="0"/>
                  <a:t>Denote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average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by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en-US" altLang="zh-CN" sz="1600" dirty="0" smtClean="0"/>
                  <a:t>.</a:t>
                </a:r>
              </a:p>
              <a:p>
                <a:r>
                  <a:rPr lang="en-US" altLang="zh-CN" sz="1600" dirty="0" smtClean="0"/>
                  <a:t>-----</a:t>
                </a:r>
              </a:p>
              <a:p>
                <a:r>
                  <a:rPr lang="en-US" altLang="zh-CN" sz="1600" dirty="0" smtClean="0"/>
                  <a:t>Lastly,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return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as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approximation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to</a:t>
                </a:r>
                <a:r>
                  <a:rPr lang="zh-CN" altLang="en-US" sz="1600" dirty="0"/>
                  <a:t> </a:t>
                </a:r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expectation.</a:t>
                </a:r>
              </a:p>
              <a:p>
                <a:r>
                  <a:rPr lang="en-US" altLang="zh-CN" sz="1600" dirty="0" smtClean="0"/>
                  <a:t>The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larger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is,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more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accuracy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the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estimate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is.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zh-CN" altLang="en-US" sz="1600" dirty="0" smtClean="0"/>
                  <a:t>具体是这三步。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首先是做随机抽样。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现在不再是均匀抽样，而是要根据概率密度函数 </a:t>
                </a:r>
                <a:r>
                  <a:rPr lang="en-US" sz="1600" i="0" smtClean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𝑝(</a:t>
                </a:r>
                <a:r>
                  <a:rPr lang="en-US" altLang="zh-CN" sz="1600" b="1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𝐱</a:t>
                </a:r>
                <a:r>
                  <a:rPr lang="en-US" sz="1600" i="0">
                    <a:solidFill>
                      <a:schemeClr val="accent4">
                        <a:lumMod val="75000"/>
                      </a:schemeClr>
                    </a:solidFill>
                    <a:latin typeface="Cambria Math" charset="0"/>
                  </a:rPr>
                  <a:t>)</a:t>
                </a:r>
                <a:r>
                  <a:rPr lang="zh-CN" altLang="en-US" sz="1600" dirty="0" smtClean="0"/>
                  <a:t> 来抽样。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对于高斯分布等常见的概率分布，有现成的 随机抽样函数。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Python</a:t>
                </a:r>
                <a:r>
                  <a:rPr lang="zh-CN" altLang="en-US" sz="1600" dirty="0" smtClean="0"/>
                  <a:t>和</a:t>
                </a:r>
                <a:r>
                  <a:rPr lang="en-US" altLang="zh-CN" sz="1600" dirty="0" smtClean="0"/>
                  <a:t>MATLAB</a:t>
                </a:r>
                <a:r>
                  <a:rPr lang="zh-CN" altLang="en-US" sz="1600" dirty="0" smtClean="0"/>
                  <a:t>都提供</a:t>
                </a:r>
                <a:r>
                  <a:rPr lang="zh-CN" altLang="en-US" sz="1600" baseline="0" dirty="0" smtClean="0"/>
                  <a:t> </a:t>
                </a:r>
                <a:r>
                  <a:rPr lang="zh-CN" altLang="en-US" sz="1600" dirty="0" smtClean="0"/>
                  <a:t>随机抽样函数。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把随机样本记做向量</a:t>
                </a:r>
                <a:r>
                  <a:rPr lang="en-US" altLang="zh-CN" sz="1600" b="1" i="0">
                    <a:latin typeface="Cambria Math" charset="0"/>
                  </a:rPr>
                  <a:t>𝐱</a:t>
                </a:r>
                <a:r>
                  <a:rPr lang="en-US" altLang="zh-CN" sz="1600" b="1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1,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i="0">
                    <a:latin typeface="Cambria Math" charset="0"/>
                  </a:rPr>
                  <a:t>⋯,</a:t>
                </a:r>
                <a:r>
                  <a:rPr lang="zh-CN" altLang="en-US" sz="1600" i="0">
                    <a:latin typeface="Cambria Math" charset="0"/>
                  </a:rPr>
                  <a:t> </a:t>
                </a:r>
                <a:r>
                  <a:rPr lang="en-US" altLang="zh-CN" sz="1600" b="1" i="0">
                    <a:latin typeface="Cambria Math" charset="0"/>
                  </a:rPr>
                  <a:t>𝐱_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第二步是计算每个样本</a:t>
                </a:r>
                <a:r>
                  <a:rPr lang="en-US" altLang="zh-CN" sz="1600" b="1" i="0">
                    <a:latin typeface="Cambria Math" charset="0"/>
                  </a:rPr>
                  <a:t>𝐱</a:t>
                </a:r>
                <a:r>
                  <a:rPr lang="en-US" altLang="zh-CN" sz="1600" b="1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的函数值</a:t>
                </a:r>
                <a:r>
                  <a:rPr lang="en-US" altLang="zh-CN" sz="1600" i="0" smtClean="0">
                    <a:latin typeface="Cambria Math" charset="0"/>
                  </a:rPr>
                  <a:t>𝑓</a:t>
                </a:r>
                <a:r>
                  <a:rPr lang="en-US" altLang="zh-CN" sz="1600" i="0">
                    <a:latin typeface="Cambria Math" charset="0"/>
                  </a:rPr>
                  <a:t>(</a:t>
                </a:r>
                <a:r>
                  <a:rPr lang="en-US" altLang="zh-CN" sz="1600" b="1" i="0">
                    <a:latin typeface="Cambria Math" charset="0"/>
                  </a:rPr>
                  <a:t>𝐱_</a:t>
                </a:r>
                <a:r>
                  <a:rPr lang="en-US" altLang="zh-CN" sz="1600" i="0">
                    <a:latin typeface="Cambria Math" charset="0"/>
                  </a:rPr>
                  <a:t>𝑖 )</a:t>
                </a:r>
                <a:r>
                  <a:rPr lang="zh-CN" altLang="en-US" sz="1600" dirty="0" smtClean="0"/>
                  <a:t>，然后求所有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个函数值的</a:t>
                </a:r>
                <a:r>
                  <a:rPr lang="zh-CN" altLang="en-US" sz="1600" dirty="0" smtClean="0"/>
                  <a:t>平均。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把平均值记做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</a:t>
                </a:r>
              </a:p>
              <a:p>
                <a:r>
                  <a:rPr lang="zh-CN" altLang="en-US" sz="1600" dirty="0" smtClean="0"/>
                  <a:t>最后是返回 </a:t>
                </a:r>
                <a:r>
                  <a:rPr lang="en-US" altLang="zh-CN" sz="1600" i="0">
                    <a:latin typeface="Cambria Math" charset="0"/>
                  </a:rPr>
                  <a:t>𝑄</a:t>
                </a:r>
                <a:r>
                  <a:rPr lang="en-US" altLang="zh-CN" sz="1600" i="0" smtClean="0">
                    <a:latin typeface="Cambria Math" charset="0"/>
                  </a:rPr>
                  <a:t>_</a:t>
                </a:r>
                <a:r>
                  <a:rPr lang="en-US" altLang="zh-CN" sz="1600" i="0">
                    <a:latin typeface="Cambria Math" charset="0"/>
                  </a:rPr>
                  <a:t>𝑛</a:t>
                </a:r>
                <a:r>
                  <a:rPr lang="zh-CN" altLang="en-US" sz="1600" dirty="0" smtClean="0"/>
                  <a:t>，把它作为对期望的估计。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样本数量 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 越大，蒙特卡洛估计越准确。</a:t>
                </a:r>
                <a:endParaRPr lang="en-US" altLang="zh-CN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6017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/>
              <a:t>I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have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finished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technical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content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lecture.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/>
              <a:t>In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end,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I’d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like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discuss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name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Monte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Carlo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and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other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randomized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algorithms.</a:t>
            </a: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/>
              <a:t>这节课的主要内容已经讲完了，你应该已经了解 蒙特卡洛 是什么了。</a:t>
            </a: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/>
              <a:t>我最后解释一下蒙特卡洛这个名字，以及简单介绍其他的随机算法。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4746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/>
              <a:t>The</a:t>
            </a:r>
            <a:r>
              <a:rPr lang="zh-CN" altLang="en-US" sz="1600" dirty="0"/>
              <a:t> </a:t>
            </a:r>
            <a:r>
              <a:rPr lang="en-US" altLang="zh-CN" sz="1600" dirty="0"/>
              <a:t>name</a:t>
            </a:r>
            <a:r>
              <a:rPr lang="zh-CN" altLang="en-US" sz="1600" dirty="0"/>
              <a:t> </a:t>
            </a:r>
            <a:r>
              <a:rPr lang="en-US" altLang="zh-CN" sz="1600" dirty="0"/>
              <a:t>“Monte</a:t>
            </a:r>
            <a:r>
              <a:rPr lang="zh-CN" altLang="en-US" sz="1600" dirty="0"/>
              <a:t> </a:t>
            </a:r>
            <a:r>
              <a:rPr lang="en-US" altLang="zh-CN" sz="1600" dirty="0"/>
              <a:t>Carlo”</a:t>
            </a:r>
            <a:r>
              <a:rPr lang="zh-CN" altLang="en-US" sz="1600" dirty="0"/>
              <a:t> </a:t>
            </a:r>
            <a:r>
              <a:rPr lang="en-US" altLang="zh-CN" sz="1600" dirty="0"/>
              <a:t>is</a:t>
            </a:r>
            <a:r>
              <a:rPr lang="zh-CN" altLang="en-US" sz="1600" dirty="0"/>
              <a:t> </a:t>
            </a:r>
            <a:r>
              <a:rPr lang="en-US" altLang="zh-CN" sz="1600" dirty="0"/>
              <a:t>from</a:t>
            </a:r>
            <a:r>
              <a:rPr lang="zh-CN" altLang="en-US" sz="1600" dirty="0"/>
              <a:t> </a:t>
            </a:r>
            <a:r>
              <a:rPr lang="en-US" altLang="zh-CN" sz="1600" dirty="0"/>
              <a:t>the</a:t>
            </a:r>
            <a:r>
              <a:rPr lang="zh-CN" altLang="en-US" sz="1600" dirty="0"/>
              <a:t> </a:t>
            </a:r>
            <a:r>
              <a:rPr lang="en-US" altLang="zh-CN" sz="1600" dirty="0"/>
              <a:t>Grand</a:t>
            </a:r>
            <a:r>
              <a:rPr lang="zh-CN" altLang="en-US" sz="1600" dirty="0"/>
              <a:t> </a:t>
            </a:r>
            <a:r>
              <a:rPr lang="en-US" altLang="zh-CN" sz="1600" dirty="0"/>
              <a:t>Casino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Monaco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/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ˈ</a:t>
            </a:r>
            <a:r>
              <a:rPr lang="en-US" altLang="zh-CN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mɒnəkəʊ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altLang="zh-CN" sz="1600" baseline="0" dirty="0"/>
              <a:t>.</a:t>
            </a:r>
          </a:p>
          <a:p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casino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one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and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half-a-century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old.</a:t>
            </a:r>
          </a:p>
          <a:p>
            <a:r>
              <a:rPr lang="en-US" altLang="zh-CN" sz="1600" baseline="0" dirty="0"/>
              <a:t>It’s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very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famous.</a:t>
            </a:r>
          </a:p>
          <a:p>
            <a:r>
              <a:rPr lang="en-US" altLang="zh-CN" sz="1600" baseline="0" dirty="0"/>
              <a:t>----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sz="1600" dirty="0"/>
              <a:t>term “Monte Carlo</a:t>
            </a:r>
            <a:r>
              <a:rPr lang="zh-CN" altLang="en-US" sz="1600" dirty="0"/>
              <a:t> </a:t>
            </a:r>
            <a:r>
              <a:rPr lang="en-US" altLang="zh-CN" sz="1600" dirty="0"/>
              <a:t>method</a:t>
            </a:r>
            <a:r>
              <a:rPr lang="en-US" sz="1600" dirty="0"/>
              <a:t>" was first</a:t>
            </a:r>
            <a:r>
              <a:rPr lang="en-US" altLang="zh-CN" sz="1600" dirty="0"/>
              <a:t>ly</a:t>
            </a:r>
            <a:r>
              <a:rPr lang="en-US" sz="1600" dirty="0"/>
              <a:t> introduced in 1947 by Nicholas Metropolis.</a:t>
            </a:r>
          </a:p>
          <a:p>
            <a:r>
              <a:rPr lang="en-US" sz="1600" dirty="0"/>
              <a:t>Nicholas Metropolis</a:t>
            </a:r>
            <a:r>
              <a:rPr lang="zh-CN" altLang="en-US" sz="1600" dirty="0"/>
              <a:t> </a:t>
            </a:r>
            <a:r>
              <a:rPr lang="en-US" altLang="zh-CN" sz="1600" dirty="0"/>
              <a:t>was</a:t>
            </a:r>
            <a:r>
              <a:rPr lang="zh-CN" altLang="en-US" sz="1600" dirty="0"/>
              <a:t> </a:t>
            </a:r>
            <a:r>
              <a:rPr lang="en-US" altLang="zh-CN" sz="1600" baseline="0" dirty="0"/>
              <a:t>one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greatest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statisticians.</a:t>
            </a:r>
          </a:p>
          <a:p>
            <a:r>
              <a:rPr lang="en-US" altLang="zh-CN" sz="1600" baseline="0" dirty="0"/>
              <a:t>If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you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are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familiar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with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statistics,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you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must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have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heard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his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name.</a:t>
            </a:r>
          </a:p>
          <a:p>
            <a:endParaRPr lang="en-US" altLang="zh-CN" sz="1600" baseline="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蒙特卡洛 这个</a:t>
            </a:r>
            <a:r>
              <a:rPr lang="zh-CN" altLang="en-US" sz="1600" baseline="0" dirty="0"/>
              <a:t>名字来源于 摩纳哥的蒙特卡洛赌场。</a:t>
            </a:r>
            <a:endParaRPr lang="en-US" altLang="zh-CN" sz="1600" baseline="0" dirty="0"/>
          </a:p>
          <a:p>
            <a:r>
              <a:rPr lang="zh-CN" altLang="en-US" sz="1600" baseline="0" dirty="0"/>
              <a:t>这个赌场已经有一个半世纪的历史，非常有名。</a:t>
            </a:r>
            <a:endParaRPr lang="en-US" altLang="zh-CN" sz="1600" baseline="0" dirty="0"/>
          </a:p>
          <a:p>
            <a:r>
              <a:rPr lang="en-US" altLang="zh-CN" sz="1600" baseline="0" dirty="0"/>
              <a:t>-----</a:t>
            </a:r>
          </a:p>
          <a:p>
            <a:r>
              <a:rPr lang="zh-CN" altLang="en-US" sz="1600" baseline="0" dirty="0"/>
              <a:t>蒙特卡洛算法的名字 是由</a:t>
            </a:r>
            <a:r>
              <a:rPr lang="en-US" sz="1600" dirty="0"/>
              <a:t>Nicholas Metropolis</a:t>
            </a:r>
            <a:r>
              <a:rPr lang="zh-CN" altLang="en-US" sz="1600" dirty="0"/>
              <a:t>起的，首先出现在他</a:t>
            </a:r>
            <a:r>
              <a:rPr lang="en-US" altLang="zh-CN" sz="1600" dirty="0"/>
              <a:t>1947</a:t>
            </a:r>
            <a:r>
              <a:rPr lang="zh-CN" altLang="en-US" sz="1600" dirty="0"/>
              <a:t>年的论文里。</a:t>
            </a:r>
            <a:endParaRPr lang="en-US" altLang="zh-CN" sz="1600" dirty="0"/>
          </a:p>
          <a:p>
            <a:r>
              <a:rPr lang="en-US" sz="1600" dirty="0"/>
              <a:t>Metropolis</a:t>
            </a:r>
            <a:r>
              <a:rPr lang="zh-CN" altLang="en-US" sz="1600" dirty="0"/>
              <a:t>是</a:t>
            </a:r>
            <a:r>
              <a:rPr lang="zh-CN" altLang="en-US" sz="1600" baseline="0" dirty="0"/>
              <a:t>统计学大师，对统计学做出很多贡献。</a:t>
            </a:r>
            <a:endParaRPr lang="en-US" sz="1600" dirty="0"/>
          </a:p>
          <a:p>
            <a:r>
              <a:rPr lang="zh-CN" altLang="en-US" sz="1600" dirty="0"/>
              <a:t>如果你搞统计和机器学习，你肯定听说过 以</a:t>
            </a:r>
            <a:r>
              <a:rPr lang="en-US" sz="1600" dirty="0"/>
              <a:t>Metropolis</a:t>
            </a:r>
            <a:r>
              <a:rPr lang="zh-CN" altLang="en-US" sz="1600" dirty="0"/>
              <a:t>命名的蒙特卡洛算法。</a:t>
            </a:r>
            <a:endParaRPr lang="en-US" altLang="zh-CN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7060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/>
              <a:t>The</a:t>
            </a:r>
            <a:r>
              <a:rPr lang="zh-CN" altLang="en-US" sz="1600" dirty="0"/>
              <a:t> </a:t>
            </a:r>
            <a:r>
              <a:rPr lang="en-US" altLang="zh-CN" sz="1600" dirty="0"/>
              <a:t>term</a:t>
            </a:r>
            <a:r>
              <a:rPr lang="zh-CN" altLang="en-US" sz="1600" dirty="0"/>
              <a:t> </a:t>
            </a:r>
            <a:r>
              <a:rPr lang="en-US" altLang="zh-CN" sz="1600" dirty="0"/>
              <a:t>“</a:t>
            </a:r>
            <a:r>
              <a:rPr lang="en-US" sz="1600" dirty="0"/>
              <a:t>Monte Carlo</a:t>
            </a:r>
            <a:r>
              <a:rPr lang="en-US" altLang="zh-CN" sz="1600" dirty="0"/>
              <a:t>”</a:t>
            </a:r>
            <a:r>
              <a:rPr lang="en-US" sz="1600" dirty="0"/>
              <a:t> </a:t>
            </a:r>
            <a:r>
              <a:rPr lang="en-US" altLang="zh-CN" sz="1600" dirty="0"/>
              <a:t>refers</a:t>
            </a:r>
            <a:r>
              <a:rPr lang="zh-CN" altLang="en-US" sz="1600" dirty="0"/>
              <a:t> </a:t>
            </a:r>
            <a:r>
              <a:rPr lang="en-US" altLang="zh-CN" sz="1600" dirty="0"/>
              <a:t>to</a:t>
            </a:r>
            <a:r>
              <a:rPr lang="zh-CN" altLang="en-US" sz="1600" dirty="0"/>
              <a:t> </a:t>
            </a:r>
            <a:r>
              <a:rPr lang="en-US" sz="1600" dirty="0"/>
              <a:t>algorithms that rely on repeated random sampling to obtain numerical results.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/>
              <a:t>Monte</a:t>
            </a:r>
            <a:r>
              <a:rPr lang="zh-CN" altLang="en-US" sz="1600" dirty="0"/>
              <a:t> </a:t>
            </a:r>
            <a:r>
              <a:rPr lang="en-US" altLang="zh-CN" sz="1600" dirty="0"/>
              <a:t>Carlo</a:t>
            </a:r>
            <a:r>
              <a:rPr lang="zh-CN" altLang="en-US" sz="1600" dirty="0"/>
              <a:t> </a:t>
            </a:r>
            <a:r>
              <a:rPr lang="en-US" altLang="zh-CN" sz="1600" dirty="0"/>
              <a:t>is</a:t>
            </a:r>
            <a:r>
              <a:rPr lang="zh-CN" altLang="en-US" sz="1600" dirty="0"/>
              <a:t> </a:t>
            </a:r>
            <a:r>
              <a:rPr lang="en-US" altLang="zh-CN" sz="1600" dirty="0"/>
              <a:t>a</a:t>
            </a:r>
            <a:r>
              <a:rPr lang="zh-CN" altLang="en-US" sz="1600" dirty="0"/>
              <a:t> </a:t>
            </a:r>
            <a:r>
              <a:rPr lang="en-US" altLang="zh-CN" sz="1600" dirty="0"/>
              <a:t>family</a:t>
            </a:r>
            <a:r>
              <a:rPr lang="zh-CN" altLang="en-US" sz="1600" dirty="0"/>
              <a:t> </a:t>
            </a:r>
            <a:r>
              <a:rPr lang="en-US" altLang="zh-CN" sz="1600" dirty="0"/>
              <a:t>of</a:t>
            </a:r>
            <a:r>
              <a:rPr lang="zh-CN" altLang="en-US" sz="1600" dirty="0"/>
              <a:t> </a:t>
            </a:r>
            <a:r>
              <a:rPr lang="en-US" altLang="zh-CN" sz="1600" dirty="0"/>
              <a:t>randomized</a:t>
            </a:r>
            <a:r>
              <a:rPr lang="zh-CN" altLang="en-US" sz="1600" dirty="0"/>
              <a:t> </a:t>
            </a:r>
            <a:r>
              <a:rPr lang="en-US" altLang="zh-CN" sz="1600" dirty="0"/>
              <a:t>numerical</a:t>
            </a:r>
            <a:r>
              <a:rPr lang="zh-CN" altLang="en-US" sz="1600" dirty="0"/>
              <a:t> </a:t>
            </a:r>
            <a:r>
              <a:rPr lang="en-US" altLang="zh-CN" sz="1600" dirty="0"/>
              <a:t>algorithms.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/>
              <a:t>=======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outputs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Monte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Carlo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algorithms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can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be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incorrect,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and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are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typically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incorrect.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/>
              <a:t>In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all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our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examples,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algorithms’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outputs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are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incorrect.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/>
              <a:t>For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example,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when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approximating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Pi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based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thousands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Monte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Carlo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samples,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result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around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3.1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and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3.2.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/>
              <a:t>They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are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never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same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exact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Pi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value.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/>
              <a:t>------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/>
              <a:t>Nevertheless,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inexact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results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are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useful,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and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are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close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correct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solution.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/>
              <a:t>In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many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statistical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and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machine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learning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applications,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low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precision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estimate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good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enough.</a:t>
            </a: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/>
              <a:t>------</a:t>
            </a:r>
            <a:endParaRPr lang="en-US" altLang="zh-CN" sz="1600" dirty="0"/>
          </a:p>
          <a:p>
            <a:r>
              <a:rPr lang="en-US" altLang="zh-CN" sz="1600" dirty="0"/>
              <a:t>Monte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Carlo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kind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randomized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algorithms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and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perhaps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most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well-known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randomized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algorithms.</a:t>
            </a:r>
          </a:p>
          <a:p>
            <a:r>
              <a:rPr lang="en-US" altLang="zh-CN" sz="1600" baseline="0" dirty="0"/>
              <a:t>Besides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Monte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Carlo,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there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are</a:t>
            </a:r>
            <a:r>
              <a:rPr lang="zh-CN" altLang="en-US" sz="1600" baseline="0" dirty="0"/>
              <a:t> </a:t>
            </a:r>
            <a:r>
              <a:rPr lang="en-US" altLang="zh-CN" sz="1600" dirty="0"/>
              <a:t>many</a:t>
            </a:r>
            <a:r>
              <a:rPr lang="zh-CN" altLang="en-US" sz="1600" dirty="0"/>
              <a:t> </a:t>
            </a:r>
            <a:r>
              <a:rPr lang="en-US" altLang="zh-CN" sz="1600" dirty="0"/>
              <a:t>other</a:t>
            </a:r>
            <a:r>
              <a:rPr lang="zh-CN" altLang="en-US" sz="1600" dirty="0"/>
              <a:t> </a:t>
            </a:r>
            <a:r>
              <a:rPr lang="en-US" altLang="zh-CN" sz="1600" dirty="0"/>
              <a:t>types</a:t>
            </a:r>
            <a:r>
              <a:rPr lang="zh-CN" altLang="en-US" sz="1600" dirty="0"/>
              <a:t> </a:t>
            </a:r>
            <a:r>
              <a:rPr lang="en-US" altLang="zh-CN" sz="1600" dirty="0"/>
              <a:t>of</a:t>
            </a:r>
            <a:r>
              <a:rPr lang="zh-CN" altLang="en-US" sz="1600" dirty="0"/>
              <a:t> </a:t>
            </a:r>
            <a:r>
              <a:rPr lang="en-US" altLang="zh-CN" sz="1600" dirty="0"/>
              <a:t>randomized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algorithms.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/>
              <a:t>蒙特卡洛算法的定义是“</a:t>
            </a:r>
            <a:r>
              <a:rPr lang="en-US" sz="1600" dirty="0"/>
              <a:t>algorithms that rely on repeated random sampling to obtain numerical results.</a:t>
            </a:r>
            <a:r>
              <a:rPr lang="zh-CN" altLang="en-US" sz="1600" dirty="0"/>
              <a:t>”</a:t>
            </a:r>
            <a:endParaRPr lang="en-US" sz="1600" dirty="0"/>
          </a:p>
          <a:p>
            <a:r>
              <a:rPr lang="zh-CN" altLang="en-US" sz="1600" dirty="0"/>
              <a:t>蒙特卡洛是一种数值算法，靠随机样本来对目标做近似。</a:t>
            </a:r>
            <a:endParaRPr lang="en-US" altLang="zh-CN" sz="1600" dirty="0"/>
          </a:p>
          <a:p>
            <a:r>
              <a:rPr lang="en-US" altLang="zh-CN" sz="1600" dirty="0"/>
              <a:t>=======</a:t>
            </a:r>
          </a:p>
          <a:p>
            <a:r>
              <a:rPr lang="zh-CN" altLang="en-US" sz="1600" dirty="0"/>
              <a:t>蒙特卡洛</a:t>
            </a:r>
            <a:r>
              <a:rPr lang="zh-CN" altLang="en-US" sz="1600" baseline="0" dirty="0"/>
              <a:t> </a:t>
            </a:r>
            <a:r>
              <a:rPr lang="zh-CN" altLang="en-US" sz="1600" dirty="0"/>
              <a:t>算法的 结果通常是错的。</a:t>
            </a:r>
            <a:endParaRPr lang="en-US" altLang="zh-CN" sz="1600" dirty="0"/>
          </a:p>
          <a:p>
            <a:r>
              <a:rPr lang="zh-CN" altLang="en-US" sz="1600" dirty="0"/>
              <a:t>比如对</a:t>
            </a:r>
            <a:r>
              <a:rPr lang="en-US" altLang="zh-CN" sz="1600" dirty="0"/>
              <a:t>pi</a:t>
            </a:r>
            <a:r>
              <a:rPr lang="zh-CN" altLang="en-US" sz="1600" dirty="0"/>
              <a:t>的近似，重复几千次也就能得到 </a:t>
            </a:r>
            <a:r>
              <a:rPr lang="en-US" altLang="zh-CN" sz="1600" dirty="0"/>
              <a:t>3.1</a:t>
            </a:r>
            <a:r>
              <a:rPr lang="zh-CN" altLang="en-US" sz="1600" dirty="0"/>
              <a:t>左右的精度，得不到精确的</a:t>
            </a:r>
            <a:r>
              <a:rPr lang="en-US" altLang="zh-CN" sz="1600" dirty="0"/>
              <a:t>pi</a:t>
            </a:r>
            <a:r>
              <a:rPr lang="zh-CN" altLang="en-US" sz="1600" dirty="0"/>
              <a:t>值。</a:t>
            </a:r>
            <a:endParaRPr lang="en-US" altLang="zh-CN" sz="1600" dirty="0"/>
          </a:p>
          <a:p>
            <a:r>
              <a:rPr lang="en-US" altLang="zh-CN" sz="1600" dirty="0"/>
              <a:t>------</a:t>
            </a:r>
          </a:p>
          <a:p>
            <a:r>
              <a:rPr lang="zh-CN" altLang="en-US" sz="1600" dirty="0"/>
              <a:t>既然蒙特卡洛 的结果通常是错的，为啥蒙特卡洛算法这么重要呢？</a:t>
            </a:r>
            <a:endParaRPr lang="en-US" altLang="zh-CN" sz="1600" dirty="0"/>
          </a:p>
          <a:p>
            <a:r>
              <a:rPr lang="zh-CN" altLang="en-US" sz="1600" dirty="0"/>
              <a:t>虽然结果是错的，但是离真实结果很近。</a:t>
            </a:r>
            <a:endParaRPr lang="en-US" altLang="zh-CN" sz="1600" dirty="0"/>
          </a:p>
          <a:p>
            <a:r>
              <a:rPr lang="zh-CN" altLang="en-US" sz="1600" dirty="0"/>
              <a:t>做统计和机器学习的时候，一个低精度的结果就足够用了，根本不需要精确的结果。</a:t>
            </a:r>
            <a:endParaRPr lang="en-US" altLang="zh-CN" sz="1600" dirty="0"/>
          </a:p>
          <a:p>
            <a:r>
              <a:rPr lang="en-US" altLang="zh-CN" sz="1600" dirty="0"/>
              <a:t>----</a:t>
            </a:r>
          </a:p>
          <a:p>
            <a:r>
              <a:rPr lang="zh-CN" altLang="en-US" sz="1600" dirty="0"/>
              <a:t>比如随机梯度下降就是一种蒙特卡洛算法。</a:t>
            </a:r>
            <a:endParaRPr lang="en-US" altLang="zh-CN" sz="1600" dirty="0"/>
          </a:p>
          <a:p>
            <a:r>
              <a:rPr lang="zh-CN" altLang="en-US" sz="1600" dirty="0"/>
              <a:t>拿随机梯度来近似真实的的梯度，虽然不精确，但是可以大幅减小计算量。</a:t>
            </a:r>
            <a:endParaRPr lang="en-US" altLang="zh-CN" sz="1600" dirty="0"/>
          </a:p>
          <a:p>
            <a:r>
              <a:rPr lang="en-US" altLang="zh-CN" sz="1600" baseline="0" dirty="0"/>
              <a:t>------</a:t>
            </a:r>
            <a:endParaRPr lang="en-US" sz="1600" dirty="0"/>
          </a:p>
          <a:p>
            <a:r>
              <a:rPr lang="zh-CN" altLang="en-US" sz="1600" dirty="0"/>
              <a:t>蒙特卡洛是一种随机算法。</a:t>
            </a:r>
            <a:endParaRPr lang="en-US" altLang="zh-CN" sz="1600" dirty="0"/>
          </a:p>
          <a:p>
            <a:r>
              <a:rPr lang="zh-CN" altLang="en-US" sz="1600" dirty="0"/>
              <a:t>除了蒙特卡洛，还有很多种随机算法。</a:t>
            </a:r>
            <a:endParaRPr lang="en-US" altLang="zh-CN" sz="1600" dirty="0"/>
          </a:p>
          <a:p>
            <a:r>
              <a:rPr lang="zh-CN" altLang="en-US" sz="1600" dirty="0"/>
              <a:t>研究随机算法的人都喜欢拿赌场来给算法命名。</a:t>
            </a:r>
            <a:endParaRPr lang="en-US" altLang="zh-CN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73772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C00000"/>
                </a:solidFill>
              </a:rPr>
              <a:t>Las Vegas algorithms </a:t>
            </a:r>
            <a:r>
              <a:rPr lang="en-US" sz="1600" dirty="0"/>
              <a:t>are </a:t>
            </a:r>
            <a:r>
              <a:rPr lang="en-US" altLang="zh-CN" sz="1600" dirty="0"/>
              <a:t>randomized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algorithms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that</a:t>
            </a:r>
            <a:r>
              <a:rPr lang="zh-CN" altLang="en-US" sz="1600" baseline="0" dirty="0"/>
              <a:t> </a:t>
            </a:r>
            <a:r>
              <a:rPr lang="en-US" sz="1600" dirty="0"/>
              <a:t>always produce the</a:t>
            </a:r>
            <a:r>
              <a:rPr lang="en-US" sz="1600" dirty="0">
                <a:solidFill>
                  <a:srgbClr val="C00000"/>
                </a:solidFill>
              </a:rPr>
              <a:t> correct </a:t>
            </a:r>
            <a:r>
              <a:rPr lang="en-US" sz="1600" dirty="0"/>
              <a:t>answer.</a:t>
            </a:r>
          </a:p>
          <a:p>
            <a:r>
              <a:rPr lang="en-US" altLang="zh-CN" sz="1600" baseline="0" dirty="0"/>
              <a:t>For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example,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randomized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quicksort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kind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Las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Vegas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algorithm.</a:t>
            </a:r>
          </a:p>
          <a:p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quicksort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algorithm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random,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but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always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outputs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correct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answer.</a:t>
            </a:r>
          </a:p>
          <a:p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randomness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does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hinder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its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correctness.</a:t>
            </a:r>
          </a:p>
          <a:p>
            <a:r>
              <a:rPr lang="en-US" altLang="zh-CN" sz="1600" baseline="0" dirty="0"/>
              <a:t>----------------</a:t>
            </a:r>
          </a:p>
          <a:p>
            <a:r>
              <a:rPr lang="en-US" altLang="zh-CN" sz="1600" baseline="0" dirty="0"/>
              <a:t>People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love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name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randomized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algorithms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after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Casinos.</a:t>
            </a:r>
          </a:p>
          <a:p>
            <a:r>
              <a:rPr lang="en-US" altLang="zh-CN" sz="1600" baseline="0" dirty="0"/>
              <a:t>Monte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Carlo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and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Las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Vegas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are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both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famous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for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gambling.</a:t>
            </a:r>
          </a:p>
          <a:p>
            <a:r>
              <a:rPr lang="en-US" altLang="zh-CN" sz="1600" baseline="0" dirty="0"/>
              <a:t>=======</a:t>
            </a:r>
          </a:p>
          <a:p>
            <a:r>
              <a:rPr lang="en-US" altLang="zh-CN" sz="1600" baseline="0" dirty="0"/>
              <a:t>Atlantic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City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is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also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famous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for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gambling.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C00000"/>
                </a:solidFill>
              </a:rPr>
              <a:t>Atlantic City algorithm</a:t>
            </a:r>
            <a:r>
              <a:rPr lang="en-US" altLang="zh-CN" sz="1600" dirty="0">
                <a:solidFill>
                  <a:srgbClr val="C00000"/>
                </a:solidFill>
              </a:rPr>
              <a:t>s</a:t>
            </a:r>
            <a:r>
              <a:rPr lang="zh-CN" altLang="en-US" sz="1600" dirty="0">
                <a:solidFill>
                  <a:srgbClr val="C00000"/>
                </a:solidFill>
              </a:rPr>
              <a:t> </a:t>
            </a:r>
            <a:r>
              <a:rPr lang="en-US" altLang="zh-CN" sz="1600" dirty="0"/>
              <a:t>are</a:t>
            </a:r>
            <a:r>
              <a:rPr lang="zh-CN" altLang="en-US" sz="1600" dirty="0"/>
              <a:t> </a:t>
            </a:r>
            <a:r>
              <a:rPr lang="en-US" sz="1600" dirty="0"/>
              <a:t>polynomial</a:t>
            </a:r>
            <a:r>
              <a:rPr lang="en-US" altLang="zh-CN" sz="1600" dirty="0"/>
              <a:t>-</a:t>
            </a:r>
            <a:r>
              <a:rPr lang="en-US" sz="1600" dirty="0"/>
              <a:t>time</a:t>
            </a:r>
            <a:r>
              <a:rPr lang="zh-CN" altLang="en-US" sz="1600" dirty="0"/>
              <a:t> </a:t>
            </a:r>
            <a:r>
              <a:rPr lang="en-US" altLang="zh-CN" sz="1600" dirty="0"/>
              <a:t>randomized</a:t>
            </a:r>
            <a:r>
              <a:rPr lang="en-US" sz="1600" dirty="0"/>
              <a:t> algorithm</a:t>
            </a:r>
            <a:r>
              <a:rPr lang="en-US" altLang="zh-CN" sz="1600" dirty="0"/>
              <a:t>s</a:t>
            </a:r>
            <a:r>
              <a:rPr lang="en-US" sz="1600" dirty="0"/>
              <a:t> that answer correctly </a:t>
            </a:r>
            <a:r>
              <a:rPr lang="en-US" altLang="zh-CN" sz="1600" dirty="0" err="1"/>
              <a:t>w.p</a:t>
            </a:r>
            <a:r>
              <a:rPr lang="en-US" altLang="zh-CN" sz="1600" dirty="0"/>
              <a:t>.</a:t>
            </a:r>
            <a:r>
              <a:rPr lang="zh-CN" altLang="en-US" sz="1600" dirty="0"/>
              <a:t> </a:t>
            </a:r>
            <a:r>
              <a:rPr lang="en-US" altLang="zh-CN" sz="1600" dirty="0"/>
              <a:t>greater</a:t>
            </a:r>
            <a:r>
              <a:rPr lang="zh-CN" altLang="en-US" sz="1600" dirty="0"/>
              <a:t> </a:t>
            </a:r>
            <a:r>
              <a:rPr lang="en-US" altLang="zh-CN" sz="1600" dirty="0"/>
              <a:t>than</a:t>
            </a:r>
            <a:r>
              <a:rPr lang="zh-CN" altLang="en-US" sz="1600" dirty="0"/>
              <a:t> </a:t>
            </a:r>
            <a:r>
              <a:rPr lang="en-US" altLang="zh-CN" sz="1600" dirty="0"/>
              <a:t>75%.</a:t>
            </a:r>
            <a:endParaRPr lang="en-US" sz="1600" dirty="0"/>
          </a:p>
          <a:p>
            <a:r>
              <a:rPr lang="en-US" altLang="zh-CN" sz="1600" baseline="0" dirty="0"/>
              <a:t>If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you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repeat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an</a:t>
            </a:r>
            <a:r>
              <a:rPr lang="zh-CN" altLang="en-US" sz="1600" baseline="0" dirty="0"/>
              <a:t> </a:t>
            </a:r>
            <a:r>
              <a:rPr lang="en-US" sz="1600" dirty="0">
                <a:solidFill>
                  <a:srgbClr val="C00000"/>
                </a:solidFill>
              </a:rPr>
              <a:t>Atlantic City algorithm</a:t>
            </a:r>
            <a:r>
              <a:rPr lang="zh-CN" altLang="en-US" sz="1600" baseline="0" dirty="0">
                <a:solidFill>
                  <a:srgbClr val="C00000"/>
                </a:solidFill>
              </a:rPr>
              <a:t> </a:t>
            </a:r>
            <a:r>
              <a:rPr lang="en-US" altLang="zh-CN" sz="1600" baseline="0" dirty="0">
                <a:solidFill>
                  <a:srgbClr val="C00000"/>
                </a:solidFill>
              </a:rPr>
              <a:t>many</a:t>
            </a:r>
            <a:r>
              <a:rPr lang="zh-CN" altLang="en-US" sz="1600" baseline="0" dirty="0">
                <a:solidFill>
                  <a:srgbClr val="C00000"/>
                </a:solidFill>
              </a:rPr>
              <a:t> </a:t>
            </a:r>
            <a:r>
              <a:rPr lang="en-US" altLang="zh-CN" sz="1600" baseline="0" dirty="0">
                <a:solidFill>
                  <a:srgbClr val="C00000"/>
                </a:solidFill>
              </a:rPr>
              <a:t>times,</a:t>
            </a:r>
            <a:r>
              <a:rPr lang="zh-CN" altLang="en-US" sz="1600" baseline="0" dirty="0">
                <a:solidFill>
                  <a:srgbClr val="C00000"/>
                </a:solidFill>
              </a:rPr>
              <a:t> </a:t>
            </a:r>
            <a:r>
              <a:rPr lang="en-US" altLang="zh-CN" sz="1600" baseline="0" dirty="0">
                <a:solidFill>
                  <a:srgbClr val="C00000"/>
                </a:solidFill>
              </a:rPr>
              <a:t>the</a:t>
            </a:r>
            <a:r>
              <a:rPr lang="zh-CN" altLang="en-US" sz="1600" baseline="0" dirty="0">
                <a:solidFill>
                  <a:srgbClr val="C00000"/>
                </a:solidFill>
              </a:rPr>
              <a:t> </a:t>
            </a:r>
            <a:r>
              <a:rPr lang="en-US" altLang="zh-CN" sz="1600" baseline="0" dirty="0">
                <a:solidFill>
                  <a:srgbClr val="C00000"/>
                </a:solidFill>
              </a:rPr>
              <a:t>success</a:t>
            </a:r>
            <a:r>
              <a:rPr lang="zh-CN" altLang="en-US" sz="1600" baseline="0" dirty="0">
                <a:solidFill>
                  <a:srgbClr val="C00000"/>
                </a:solidFill>
              </a:rPr>
              <a:t> </a:t>
            </a:r>
            <a:r>
              <a:rPr lang="en-US" altLang="zh-CN" sz="1600" baseline="0" dirty="0">
                <a:solidFill>
                  <a:srgbClr val="C00000"/>
                </a:solidFill>
              </a:rPr>
              <a:t>probability</a:t>
            </a:r>
            <a:r>
              <a:rPr lang="zh-CN" altLang="en-US" sz="1600" baseline="0" dirty="0">
                <a:solidFill>
                  <a:srgbClr val="C00000"/>
                </a:solidFill>
              </a:rPr>
              <a:t> </a:t>
            </a:r>
            <a:r>
              <a:rPr lang="en-US" altLang="zh-CN" sz="1600" baseline="0" dirty="0">
                <a:solidFill>
                  <a:srgbClr val="C00000"/>
                </a:solidFill>
              </a:rPr>
              <a:t>will</a:t>
            </a:r>
            <a:r>
              <a:rPr lang="zh-CN" altLang="en-US" sz="1600" baseline="0" dirty="0">
                <a:solidFill>
                  <a:srgbClr val="C00000"/>
                </a:solidFill>
              </a:rPr>
              <a:t> </a:t>
            </a:r>
            <a:r>
              <a:rPr lang="en-US" altLang="zh-CN" sz="1600" baseline="0" dirty="0">
                <a:solidFill>
                  <a:srgbClr val="C00000"/>
                </a:solidFill>
              </a:rPr>
              <a:t>approach</a:t>
            </a:r>
            <a:r>
              <a:rPr lang="zh-CN" altLang="en-US" sz="1600" baseline="0" dirty="0">
                <a:solidFill>
                  <a:srgbClr val="C00000"/>
                </a:solidFill>
              </a:rPr>
              <a:t> </a:t>
            </a:r>
            <a:r>
              <a:rPr lang="en-US" altLang="zh-CN" sz="1600" baseline="0" dirty="0">
                <a:solidFill>
                  <a:srgbClr val="C00000"/>
                </a:solidFill>
              </a:rPr>
              <a:t>100%.</a:t>
            </a:r>
            <a:endParaRPr lang="en-US" altLang="zh-CN" sz="1600" baseline="0" dirty="0"/>
          </a:p>
          <a:p>
            <a:endParaRPr lang="en-US" altLang="zh-CN" sz="1600" baseline="0" dirty="0"/>
          </a:p>
          <a:p>
            <a:endParaRPr lang="en-US" altLang="zh-CN" sz="1600" baseline="0" dirty="0"/>
          </a:p>
          <a:p>
            <a:endParaRPr lang="en-US" altLang="zh-CN" sz="1600" baseline="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拉斯维加斯算法 指的是 结果总是正确的随机算法。</a:t>
            </a:r>
            <a:endParaRPr lang="en-US" altLang="zh-CN" sz="1600" dirty="0"/>
          </a:p>
          <a:p>
            <a:r>
              <a:rPr lang="zh-CN" altLang="en-US" sz="1600" dirty="0"/>
              <a:t>比如随机快排算法就是一种拉斯维加斯算法。</a:t>
            </a:r>
            <a:endParaRPr lang="en-US" altLang="zh-CN" sz="1600" dirty="0"/>
          </a:p>
          <a:p>
            <a:r>
              <a:rPr lang="en-US" altLang="zh-CN" sz="1600" dirty="0"/>
              <a:t>----</a:t>
            </a:r>
          </a:p>
          <a:p>
            <a:r>
              <a:rPr lang="zh-CN" altLang="en-US" sz="1600" dirty="0"/>
              <a:t>随机快排算法</a:t>
            </a:r>
            <a:r>
              <a:rPr lang="zh-CN" altLang="en-US" sz="1600" baseline="0" dirty="0"/>
              <a:t> 随机选取 支点，所以有随机性。</a:t>
            </a:r>
            <a:endParaRPr lang="en-US" altLang="zh-CN" sz="1600" baseline="0" dirty="0"/>
          </a:p>
          <a:p>
            <a:r>
              <a:rPr lang="zh-CN" altLang="en-US" sz="1600" baseline="0" dirty="0"/>
              <a:t>但是随机性不影响算法正确性。</a:t>
            </a:r>
            <a:endParaRPr lang="en-US" altLang="zh-CN" sz="1600" baseline="0" dirty="0"/>
          </a:p>
          <a:p>
            <a:r>
              <a:rPr lang="zh-CN" altLang="en-US" sz="1600" baseline="0" dirty="0"/>
              <a:t>快排算法的输出总是正确的。</a:t>
            </a:r>
            <a:endParaRPr lang="en-US" altLang="zh-CN" sz="1600" baseline="0" dirty="0"/>
          </a:p>
          <a:p>
            <a:r>
              <a:rPr lang="en-US" altLang="zh-CN" sz="1600" baseline="0" dirty="0"/>
              <a:t>===========</a:t>
            </a:r>
          </a:p>
          <a:p>
            <a:r>
              <a:rPr lang="zh-CN" altLang="en-US" sz="1600" baseline="0" dirty="0"/>
              <a:t>还有 大西洋城算法，指的是一类 多项式时间复杂度 的随机算法，他们能保证正确率大于</a:t>
            </a:r>
            <a:r>
              <a:rPr lang="en-US" altLang="zh-CN" sz="1600" baseline="0" dirty="0"/>
              <a:t>75%</a:t>
            </a:r>
            <a:r>
              <a:rPr lang="zh-CN" altLang="en-US" sz="1600" baseline="0" dirty="0"/>
              <a:t>。</a:t>
            </a:r>
            <a:endParaRPr lang="en-US" altLang="zh-CN" sz="1600" baseline="0" dirty="0"/>
          </a:p>
          <a:p>
            <a:r>
              <a:rPr lang="zh-CN" altLang="en-US" sz="1600" dirty="0"/>
              <a:t>如果你重复这种算法很多次，正确率就可以接近</a:t>
            </a:r>
            <a:r>
              <a:rPr lang="en-US" altLang="zh-CN" sz="1600" dirty="0"/>
              <a:t>100%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08029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I have finished the lecture.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I will leave two questions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2433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question is to estimate the area of the grey region using Monte Carlo.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00312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question is to estimate the areas of the red and blue regions, respectively, using Monte Carlo.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8452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/>
              <a:t>I</a:t>
            </a:r>
            <a:r>
              <a:rPr lang="zh-CN" altLang="en-US" sz="1600" dirty="0"/>
              <a:t> </a:t>
            </a:r>
            <a:r>
              <a:rPr lang="en-US" altLang="zh-CN" sz="1600" dirty="0"/>
              <a:t>have</a:t>
            </a:r>
            <a:r>
              <a:rPr lang="zh-CN" altLang="en-US" sz="1600" dirty="0"/>
              <a:t> </a:t>
            </a:r>
            <a:r>
              <a:rPr lang="en-US" altLang="zh-CN" sz="1600" dirty="0"/>
              <a:t>finished</a:t>
            </a:r>
            <a:r>
              <a:rPr lang="zh-CN" altLang="en-US" sz="1600" dirty="0"/>
              <a:t> </a:t>
            </a:r>
            <a:r>
              <a:rPr lang="en-US" altLang="zh-CN" sz="1600" dirty="0"/>
              <a:t>this</a:t>
            </a:r>
            <a:r>
              <a:rPr lang="zh-CN" altLang="en-US" sz="1600" dirty="0"/>
              <a:t> </a:t>
            </a:r>
            <a:r>
              <a:rPr lang="en-US" altLang="zh-CN" sz="1600" dirty="0"/>
              <a:t>lecture.</a:t>
            </a:r>
            <a:r>
              <a:rPr lang="zh-CN" altLang="en-US" sz="1600" dirty="0"/>
              <a:t> </a:t>
            </a: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/>
              <a:t>Thank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you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for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watching.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link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to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slides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can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be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found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below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the</a:t>
            </a:r>
            <a:r>
              <a:rPr lang="zh-CN" altLang="en-US" sz="1600" baseline="0" dirty="0"/>
              <a:t> </a:t>
            </a:r>
            <a:r>
              <a:rPr lang="en-US" altLang="zh-CN" sz="1600" baseline="0" dirty="0"/>
              <a:t>video.</a:t>
            </a: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/>
              <a:t>这节课就讲到这里，感谢大家观看。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03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11/14/21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99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11/14/21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9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11/14/21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8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11/14/21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80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11/14/21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2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11/14/21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6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11/14/21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51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11/14/21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18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11/14/21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50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11/14/21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878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11/14/21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45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1BEC6-6A63-824C-87BE-D4DB4459AFC0}" type="datetimeFigureOut">
              <a:rPr lang="en-US" smtClean="0"/>
              <a:t>11/14/21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30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20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5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8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8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90.png"/><Relationship Id="rId7" Type="http://schemas.openxmlformats.org/officeDocument/2006/relationships/image" Target="../media/image2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9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90.png"/><Relationship Id="rId7" Type="http://schemas.openxmlformats.org/officeDocument/2006/relationships/image" Target="../media/image2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90.png"/><Relationship Id="rId7" Type="http://schemas.openxmlformats.org/officeDocument/2006/relationships/image" Target="../media/image2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90.png"/><Relationship Id="rId7" Type="http://schemas.openxmlformats.org/officeDocument/2006/relationships/image" Target="../media/image2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.jp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.jp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.jp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4.png"/><Relationship Id="rId5" Type="http://schemas.openxmlformats.org/officeDocument/2006/relationships/image" Target="../media/image29.png"/><Relationship Id="rId10" Type="http://schemas.openxmlformats.org/officeDocument/2006/relationships/image" Target="../media/image160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.jp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170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4.jpg"/><Relationship Id="rId9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4.jpg"/><Relationship Id="rId9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5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4.jpg"/><Relationship Id="rId9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40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4.jpg"/><Relationship Id="rId9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50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4.jpg"/><Relationship Id="rId9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4.jpg"/><Relationship Id="rId9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.jp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7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.jp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8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.jp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27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0.png"/><Relationship Id="rId4" Type="http://schemas.openxmlformats.org/officeDocument/2006/relationships/image" Target="../media/image41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4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47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0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1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0.png"/><Relationship Id="rId5" Type="http://schemas.openxmlformats.org/officeDocument/2006/relationships/image" Target="../media/image610.png"/><Relationship Id="rId10" Type="http://schemas.openxmlformats.org/officeDocument/2006/relationships/image" Target="../media/image66.png"/><Relationship Id="rId4" Type="http://schemas.openxmlformats.org/officeDocument/2006/relationships/image" Target="../media/image600.png"/><Relationship Id="rId9" Type="http://schemas.openxmlformats.org/officeDocument/2006/relationships/image" Target="../media/image65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4362" y="1393825"/>
            <a:ext cx="11087100" cy="1963737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latin typeface="Lucida Bright" charset="0"/>
                <a:ea typeface="Lucida Bright" charset="0"/>
                <a:cs typeface="Lucida Bright" charset="0"/>
              </a:rPr>
              <a:t>Monte</a:t>
            </a:r>
            <a:r>
              <a:rPr lang="zh-CN" altLang="en-US" sz="4400" b="1" dirty="0"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sz="4400" b="1" dirty="0">
                <a:latin typeface="Lucida Bright" charset="0"/>
                <a:ea typeface="Lucida Bright" charset="0"/>
                <a:cs typeface="Lucida Bright" charset="0"/>
              </a:rPr>
              <a:t>Carlo</a:t>
            </a:r>
            <a:r>
              <a:rPr lang="zh-CN" altLang="en-US" sz="4400" b="1" dirty="0"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sz="4400" b="1">
                <a:latin typeface="Lucida Bright" charset="0"/>
                <a:ea typeface="Lucida Bright" charset="0"/>
                <a:cs typeface="Lucida Bright" charset="0"/>
              </a:rPr>
              <a:t>Algorithms</a:t>
            </a:r>
            <a:endParaRPr lang="en-US" sz="4400" b="1" dirty="0">
              <a:solidFill>
                <a:schemeClr val="tx1">
                  <a:lumMod val="50000"/>
                  <a:lumOff val="50000"/>
                </a:schemeClr>
              </a:solidFill>
              <a:latin typeface="Lucida Bright" charset="0"/>
              <a:ea typeface="Lucida Bright" charset="0"/>
              <a:cs typeface="Lucida Bright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4883944" y="4268789"/>
            <a:ext cx="2547937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latin typeface="Lucida Bright" charset="0"/>
                <a:ea typeface="Lucida Bright" charset="0"/>
                <a:cs typeface="Lucida Bright" charset="0"/>
              </a:rPr>
              <a:t>Shusen</a:t>
            </a:r>
            <a:r>
              <a:rPr lang="zh-CN" altLang="en-US" b="1" dirty="0"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b="1" dirty="0">
                <a:latin typeface="Lucida Bright" charset="0"/>
                <a:ea typeface="Lucida Bright" charset="0"/>
                <a:cs typeface="Lucida Bright" charset="0"/>
              </a:rPr>
              <a:t>Wang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30574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Application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1: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Calculating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Pi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520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We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already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know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𝜋</m:t>
                    </m:r>
                    <m:r>
                      <a:rPr lang="en-US" altLang="zh-CN" b="0" i="1" smtClean="0">
                        <a:latin typeface="Cambria Math" charset="0"/>
                      </a:rPr>
                      <m:t>≈3.141592653589…</m:t>
                    </m:r>
                  </m:oMath>
                </a14:m>
                <a:endParaRPr lang="en-US" dirty="0"/>
              </a:p>
              <a:p>
                <a:r>
                  <a:rPr lang="en-US" altLang="zh-CN" dirty="0"/>
                  <a:t>Pretend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we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not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know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value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Can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we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find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out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(approximately)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using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random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number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generator?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43" t="-2241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Calculating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Pi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486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52500" y="2806700"/>
            <a:ext cx="2743200" cy="2743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Calculating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Pi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11200" y="4178300"/>
            <a:ext cx="3403600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324100" y="2374900"/>
            <a:ext cx="0" cy="342900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076655" y="3847812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655" y="3847812"/>
                <a:ext cx="50808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070056" y="1893576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056" y="1893576"/>
                <a:ext cx="51385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64722" y="2588567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722" y="2588567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534743" y="4127499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43" y="4127499"/>
                <a:ext cx="42351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277444" y="5357167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444" y="5357167"/>
                <a:ext cx="652743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26128" y="3691235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28" y="3691235"/>
                <a:ext cx="652743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60030" y="2374900"/>
                <a:ext cx="6117570" cy="3138585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Assume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point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sampled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square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uniformly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random.</a:t>
                </a:r>
              </a:p>
            </p:txBody>
          </p:sp>
        </mc:Choice>
        <mc:Fallback xmlns="">
          <p:sp>
            <p:nvSpPr>
              <p:cNvPr id="1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60030" y="2374900"/>
                <a:ext cx="6117570" cy="3138585"/>
              </a:xfrm>
              <a:blipFill rotWithShape="0">
                <a:blip r:embed="rId9"/>
                <a:stretch>
                  <a:fillRect l="-1793" t="-3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3124200" y="37719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276600" y="30734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476500" y="44831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549400" y="46355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1600200" y="53975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0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250"/>
                            </p:stCondLst>
                            <p:childTnLst>
                              <p:par>
                                <p:cTn id="19" presetID="35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5" grpId="3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52500" y="2806700"/>
            <a:ext cx="2743200" cy="2743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952500" y="2806700"/>
            <a:ext cx="2743200" cy="2743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Calculating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Pi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11200" y="4178300"/>
            <a:ext cx="3403600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324100" y="2374900"/>
            <a:ext cx="0" cy="342900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076655" y="3847812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655" y="3847812"/>
                <a:ext cx="50808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070056" y="1893576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056" y="1893576"/>
                <a:ext cx="51385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64722" y="2588567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722" y="2588567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534743" y="4127499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43" y="4127499"/>
                <a:ext cx="42351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277444" y="5357167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444" y="5357167"/>
                <a:ext cx="652743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26128" y="3691235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28" y="3691235"/>
                <a:ext cx="652743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60030" y="2374900"/>
                <a:ext cx="6117570" cy="3138585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Assume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point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sampled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square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uniformly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random.</a:t>
                </a:r>
              </a:p>
              <a:p>
                <a:r>
                  <a:rPr lang="en-US" altLang="zh-CN" dirty="0"/>
                  <a:t>What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probability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that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circle?</a:t>
                </a: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1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60030" y="2374900"/>
                <a:ext cx="6117570" cy="3138585"/>
              </a:xfrm>
              <a:blipFill rotWithShape="0">
                <a:blip r:embed="rId9"/>
                <a:stretch>
                  <a:fillRect l="-1793" t="-3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3124200" y="37719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276600" y="30734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476500" y="44831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549400" y="46355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1600200" y="53975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750"/>
                            </p:stCondLst>
                            <p:childTnLst>
                              <p:par>
                                <p:cTn id="12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35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4" grpId="3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952500" y="2806700"/>
            <a:ext cx="2743200" cy="2743200"/>
            <a:chOff x="4038600" y="2247900"/>
            <a:chExt cx="2743200" cy="2743200"/>
          </a:xfrm>
        </p:grpSpPr>
        <p:sp>
          <p:nvSpPr>
            <p:cNvPr id="5" name="Rectangle 4"/>
            <p:cNvSpPr/>
            <p:nvPr/>
          </p:nvSpPr>
          <p:spPr>
            <a:xfrm>
              <a:off x="4038600" y="2247900"/>
              <a:ext cx="2743200" cy="2743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4038600" y="2247900"/>
              <a:ext cx="2743200" cy="27432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Calculating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Pi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11200" y="4178300"/>
            <a:ext cx="3403600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324100" y="2374900"/>
            <a:ext cx="0" cy="342900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076655" y="3847812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655" y="3847812"/>
                <a:ext cx="50808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070056" y="1893576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056" y="1893576"/>
                <a:ext cx="51385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64722" y="2588567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722" y="2588567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534743" y="4127499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43" y="4127499"/>
                <a:ext cx="42351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277444" y="5357167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444" y="5357167"/>
                <a:ext cx="652743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26128" y="3691235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28" y="3691235"/>
                <a:ext cx="652743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60030" y="2374900"/>
                <a:ext cx="6117570" cy="4190792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Assume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point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sampled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square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uniformly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random.</a:t>
                </a:r>
              </a:p>
              <a:p>
                <a:r>
                  <a:rPr lang="en-US" altLang="zh-CN" dirty="0"/>
                  <a:t>What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probability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that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circle?</a:t>
                </a:r>
              </a:p>
              <a:p>
                <a:r>
                  <a:rPr lang="en-US" altLang="zh-CN" dirty="0"/>
                  <a:t>Area of the square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=4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Area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circle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r>
                      <a:rPr lang="en-US" altLang="zh-CN" i="1">
                        <a:latin typeface="Cambria Math" charset="0"/>
                      </a:rPr>
                      <m:t>𝜋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𝑟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r>
                      <a:rPr lang="en-US" altLang="zh-CN" i="1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Probability: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𝑃</m:t>
                    </m:r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𝜋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1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60030" y="2374900"/>
                <a:ext cx="6117570" cy="4190792"/>
              </a:xfrm>
              <a:blipFill rotWithShape="0">
                <a:blip r:embed="rId9"/>
                <a:stretch>
                  <a:fillRect l="-1793" t="-2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3124200" y="37719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276600" y="30734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476500" y="44831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549400" y="46355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1600200" y="53975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4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952500" y="2806700"/>
            <a:ext cx="2743200" cy="2743200"/>
            <a:chOff x="4038600" y="2247900"/>
            <a:chExt cx="2743200" cy="2743200"/>
          </a:xfrm>
        </p:grpSpPr>
        <p:sp>
          <p:nvSpPr>
            <p:cNvPr id="5" name="Rectangle 4"/>
            <p:cNvSpPr/>
            <p:nvPr/>
          </p:nvSpPr>
          <p:spPr>
            <a:xfrm>
              <a:off x="4038600" y="2247900"/>
              <a:ext cx="2743200" cy="2743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4038600" y="2247900"/>
              <a:ext cx="2743200" cy="27432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Calculating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Pi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11200" y="4178300"/>
            <a:ext cx="3403600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324100" y="2374900"/>
            <a:ext cx="0" cy="342900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076655" y="3847812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655" y="3847812"/>
                <a:ext cx="50808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070056" y="1893576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056" y="1893576"/>
                <a:ext cx="51385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64722" y="2588567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722" y="2588567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534743" y="4127499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43" y="4127499"/>
                <a:ext cx="42351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277444" y="5357167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444" y="5357167"/>
                <a:ext cx="652743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26128" y="3691235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28" y="3691235"/>
                <a:ext cx="652743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60030" y="2374900"/>
                <a:ext cx="6117570" cy="4160811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Assume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point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sampled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square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uniformly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random.</a:t>
                </a:r>
              </a:p>
              <a:p>
                <a:r>
                  <a:rPr lang="en-US" altLang="zh-CN" dirty="0"/>
                  <a:t>What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probability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that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circle?</a:t>
                </a:r>
              </a:p>
              <a:p>
                <a:r>
                  <a:rPr lang="en-US" altLang="zh-CN" dirty="0"/>
                  <a:t>Area of the square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charset="0"/>
                      </a:rPr>
                      <m:t>=4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Area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circle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r>
                      <a:rPr lang="en-US" altLang="zh-CN" b="0" i="1" smtClean="0">
                        <a:latin typeface="Cambria Math" charset="0"/>
                      </a:rPr>
                      <m:t>𝜋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𝑟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r>
                      <a:rPr lang="en-US" altLang="zh-CN" b="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Probability: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𝑃</m:t>
                    </m:r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𝜋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1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60030" y="2374900"/>
                <a:ext cx="6117570" cy="4160811"/>
              </a:xfrm>
              <a:blipFill rotWithShape="0">
                <a:blip r:embed="rId9"/>
                <a:stretch>
                  <a:fillRect l="-1793" t="-2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/>
          <p:cNvSpPr/>
          <p:nvPr/>
        </p:nvSpPr>
        <p:spPr>
          <a:xfrm>
            <a:off x="3124200" y="37719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276600" y="30734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476500" y="44831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1549400" y="46355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1600200" y="53975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914400" y="887335"/>
                <a:ext cx="10363200" cy="109741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charset="0"/>
                  <a:buChar char="•"/>
                </a:pPr>
                <a:r>
                  <a:rPr lang="en-US" altLang="zh-CN" sz="2800" dirty="0"/>
                  <a:t>Suppose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points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are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uniformly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sampled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from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charset="0"/>
                          </a:rPr>
                          <m:t>−1,</m:t>
                        </m:r>
                        <m:r>
                          <a:rPr lang="zh-CN" altLang="en-US" sz="28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b="0" i="1" smtClean="0">
                            <a:latin typeface="Cambria Math" charset="0"/>
                          </a:rPr>
                          <m:t>1</m:t>
                        </m:r>
                      </m:e>
                    </m:d>
                    <m:r>
                      <a:rPr lang="en-US" altLang="zh-CN" sz="2800" b="0" i="1" smtClean="0">
                        <a:latin typeface="Cambria Math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charset="0"/>
                          </a:rPr>
                          <m:t>−1,</m:t>
                        </m:r>
                        <m:r>
                          <a:rPr lang="zh-CN" altLang="en-US" sz="28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b="0" i="1" smtClean="0">
                            <a:latin typeface="Cambria Math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sz="2800" dirty="0"/>
                  <a:t>.</a:t>
                </a:r>
              </a:p>
              <a:p>
                <a:pPr marL="457200" indent="-457200">
                  <a:buFont typeface="Arial" charset="0"/>
                  <a:buChar char="•"/>
                </a:pPr>
                <a:r>
                  <a:rPr lang="en-US" altLang="zh-CN" sz="2800" dirty="0"/>
                  <a:t>Then,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in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expectation,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𝑃</m:t>
                    </m:r>
                    <m:r>
                      <a:rPr lang="en-US" altLang="zh-CN" sz="2800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  <m:r>
                      <a:rPr lang="en-US" altLang="zh-CN" sz="28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28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2800" dirty="0"/>
                  <a:t>  </a:t>
                </a:r>
                <a:r>
                  <a:rPr lang="en-US" altLang="zh-CN" sz="2800" dirty="0"/>
                  <a:t>points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are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in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circle.</a:t>
                </a:r>
                <a:endParaRPr lang="en-US" sz="28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887335"/>
                <a:ext cx="10363200" cy="1097416"/>
              </a:xfrm>
              <a:prstGeom prst="rect">
                <a:avLst/>
              </a:prstGeom>
              <a:blipFill rotWithShape="0">
                <a:blip r:embed="rId10"/>
                <a:stretch>
                  <a:fillRect l="-1059" t="-5556" b="-7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629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952500" y="2806700"/>
            <a:ext cx="2743200" cy="2743200"/>
            <a:chOff x="4038600" y="2247900"/>
            <a:chExt cx="2743200" cy="2743200"/>
          </a:xfrm>
        </p:grpSpPr>
        <p:sp>
          <p:nvSpPr>
            <p:cNvPr id="5" name="Rectangle 4"/>
            <p:cNvSpPr/>
            <p:nvPr/>
          </p:nvSpPr>
          <p:spPr>
            <a:xfrm>
              <a:off x="4038600" y="2247900"/>
              <a:ext cx="2743200" cy="2743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4038600" y="2247900"/>
              <a:ext cx="2743200" cy="27432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Calculating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Pi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11200" y="4178300"/>
            <a:ext cx="3403600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324100" y="2374900"/>
            <a:ext cx="0" cy="342900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076655" y="3847812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655" y="3847812"/>
                <a:ext cx="50808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070056" y="1893576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056" y="1893576"/>
                <a:ext cx="51385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64722" y="2588567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722" y="2588567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534743" y="4127499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43" y="4127499"/>
                <a:ext cx="42351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277444" y="5357167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444" y="5357167"/>
                <a:ext cx="652743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26128" y="3691235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28" y="3691235"/>
                <a:ext cx="652743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60030" y="2806700"/>
                <a:ext cx="6117570" cy="2706785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Given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point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how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you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know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whether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circle?</a:t>
                </a:r>
              </a:p>
              <a:p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solidFill>
                          <a:srgbClr val="FF0000"/>
                        </a:solidFill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solidFill>
                          <a:srgbClr val="FF0000"/>
                        </a:solidFill>
                        <a:latin typeface="Cambria Math" charset="0"/>
                      </a:rPr>
                      <m:t>≤1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circle.</a:t>
                </a:r>
              </a:p>
            </p:txBody>
          </p:sp>
        </mc:Choice>
        <mc:Fallback xmlns="">
          <p:sp>
            <p:nvSpPr>
              <p:cNvPr id="1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60030" y="2806700"/>
                <a:ext cx="6117570" cy="2706785"/>
              </a:xfrm>
              <a:blipFill rotWithShape="0">
                <a:blip r:embed="rId9"/>
                <a:stretch>
                  <a:fillRect l="-1793" t="-3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/>
          <p:cNvSpPr/>
          <p:nvPr/>
        </p:nvSpPr>
        <p:spPr>
          <a:xfrm>
            <a:off x="3124200" y="37719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276600" y="30734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476500" y="44831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549400" y="46355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1600200" y="53975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914400" y="887335"/>
                <a:ext cx="10363200" cy="109741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charset="0"/>
                  <a:buChar char="•"/>
                </a:pPr>
                <a:r>
                  <a:rPr lang="en-US" altLang="zh-CN" sz="2800" dirty="0"/>
                  <a:t>Suppose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points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are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uniformly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sampled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from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charset="0"/>
                          </a:rPr>
                          <m:t>−1,</m:t>
                        </m:r>
                        <m:r>
                          <a:rPr lang="zh-CN" altLang="en-US" sz="28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b="0" i="1" smtClean="0">
                            <a:latin typeface="Cambria Math" charset="0"/>
                          </a:rPr>
                          <m:t>1</m:t>
                        </m:r>
                      </m:e>
                    </m:d>
                    <m:r>
                      <a:rPr lang="en-US" altLang="zh-CN" sz="2800" b="0" i="1" smtClean="0">
                        <a:latin typeface="Cambria Math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charset="0"/>
                          </a:rPr>
                          <m:t>−1,</m:t>
                        </m:r>
                        <m:r>
                          <a:rPr lang="zh-CN" altLang="en-US" sz="28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b="0" i="1" smtClean="0">
                            <a:latin typeface="Cambria Math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sz="2800" dirty="0"/>
                  <a:t>.</a:t>
                </a:r>
              </a:p>
              <a:p>
                <a:pPr marL="457200" indent="-457200">
                  <a:buFont typeface="Arial" charset="0"/>
                  <a:buChar char="•"/>
                </a:pPr>
                <a:r>
                  <a:rPr lang="en-US" altLang="zh-CN" sz="2800" dirty="0"/>
                  <a:t>Then,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in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expectation,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𝑃</m:t>
                    </m:r>
                    <m:r>
                      <a:rPr lang="en-US" altLang="zh-CN" sz="2800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  <m:r>
                      <a:rPr lang="en-US" altLang="zh-CN" sz="28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28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2800" dirty="0"/>
                  <a:t>  </a:t>
                </a:r>
                <a:r>
                  <a:rPr lang="en-US" altLang="zh-CN" sz="2800" dirty="0"/>
                  <a:t>points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are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in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circle.</a:t>
                </a:r>
                <a:endParaRPr lang="en-US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887335"/>
                <a:ext cx="10363200" cy="1097416"/>
              </a:xfrm>
              <a:prstGeom prst="rect">
                <a:avLst/>
              </a:prstGeom>
              <a:blipFill rotWithShape="0">
                <a:blip r:embed="rId10"/>
                <a:stretch>
                  <a:fillRect l="-1059" t="-5556" b="-7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773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952500" y="2806700"/>
            <a:ext cx="2743200" cy="2743200"/>
            <a:chOff x="4038600" y="2247900"/>
            <a:chExt cx="2743200" cy="2743200"/>
          </a:xfrm>
        </p:grpSpPr>
        <p:sp>
          <p:nvSpPr>
            <p:cNvPr id="5" name="Rectangle 4"/>
            <p:cNvSpPr/>
            <p:nvPr/>
          </p:nvSpPr>
          <p:spPr>
            <a:xfrm>
              <a:off x="4038600" y="2247900"/>
              <a:ext cx="2743200" cy="2743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4038600" y="2247900"/>
              <a:ext cx="2743200" cy="27432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Calculating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Pi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11200" y="4178300"/>
            <a:ext cx="3403600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324100" y="2374900"/>
            <a:ext cx="0" cy="342900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076655" y="3847812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655" y="3847812"/>
                <a:ext cx="50808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070056" y="1893576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056" y="1893576"/>
                <a:ext cx="51385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64722" y="2588567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722" y="2588567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534743" y="4127499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43" y="4127499"/>
                <a:ext cx="42351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277444" y="5357167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444" y="5357167"/>
                <a:ext cx="652743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26128" y="3691235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28" y="3691235"/>
                <a:ext cx="652743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486400" y="2864154"/>
                <a:ext cx="5791200" cy="2954677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We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found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𝑚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points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circle.</a:t>
                </a:r>
              </a:p>
              <a:p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big,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then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𝑚</m:t>
                    </m:r>
                    <m:r>
                      <a:rPr lang="en-US" altLang="zh-CN" i="1">
                        <a:latin typeface="Cambria Math" charset="0"/>
                      </a:rPr>
                      <m:t>≈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𝜋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dirty="0">
                    <a:sym typeface="Wingdings"/>
                  </a:rPr>
                  <a:t>Thus,</a:t>
                </a:r>
                <a:r>
                  <a:rPr lang="zh-CN" altLang="en-US" dirty="0">
                    <a:sym typeface="Wingdings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𝜋</m:t>
                    </m:r>
                    <m:r>
                      <a:rPr lang="en-US" altLang="zh-CN" i="1">
                        <a:latin typeface="Cambria Math" charset="0"/>
                      </a:rPr>
                      <m:t>≈</m:t>
                    </m:r>
                    <m:f>
                      <m:f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4</m:t>
                        </m:r>
                        <m: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1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86400" y="2864154"/>
                <a:ext cx="5791200" cy="2954677"/>
              </a:xfrm>
              <a:blipFill rotWithShape="0">
                <a:blip r:embed="rId9"/>
                <a:stretch>
                  <a:fillRect l="-1895" t="-3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/>
          <p:cNvSpPr/>
          <p:nvPr/>
        </p:nvSpPr>
        <p:spPr>
          <a:xfrm>
            <a:off x="3124200" y="37719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276600" y="30734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476500" y="44831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549400" y="46355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1600200" y="53975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914400" y="887335"/>
                <a:ext cx="10363200" cy="109741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charset="0"/>
                  <a:buChar char="•"/>
                </a:pPr>
                <a:r>
                  <a:rPr lang="en-US" altLang="zh-CN" sz="2800" dirty="0"/>
                  <a:t>Suppose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points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are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uniformly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sampled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from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charset="0"/>
                          </a:rPr>
                          <m:t>−1,</m:t>
                        </m:r>
                        <m:r>
                          <a:rPr lang="zh-CN" altLang="en-US" sz="28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b="0" i="1" smtClean="0">
                            <a:latin typeface="Cambria Math" charset="0"/>
                          </a:rPr>
                          <m:t>1</m:t>
                        </m:r>
                      </m:e>
                    </m:d>
                    <m:r>
                      <a:rPr lang="en-US" altLang="zh-CN" sz="2800" b="0" i="1" smtClean="0">
                        <a:latin typeface="Cambria Math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charset="0"/>
                          </a:rPr>
                          <m:t>−1,</m:t>
                        </m:r>
                        <m:r>
                          <a:rPr lang="zh-CN" altLang="en-US" sz="28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b="0" i="1" smtClean="0">
                            <a:latin typeface="Cambria Math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sz="2800" dirty="0"/>
                  <a:t>.</a:t>
                </a:r>
              </a:p>
              <a:p>
                <a:pPr marL="457200" indent="-457200">
                  <a:buFont typeface="Arial" charset="0"/>
                  <a:buChar char="•"/>
                </a:pPr>
                <a:r>
                  <a:rPr lang="en-US" altLang="zh-CN" sz="2800" dirty="0"/>
                  <a:t>Then,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in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expectation,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𝑃</m:t>
                    </m:r>
                    <m:r>
                      <a:rPr lang="en-US" altLang="zh-CN" sz="2800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  <m:r>
                      <a:rPr lang="en-US" altLang="zh-CN" sz="28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28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2800" dirty="0"/>
                  <a:t>  </a:t>
                </a:r>
                <a:r>
                  <a:rPr lang="en-US" altLang="zh-CN" sz="2800" dirty="0"/>
                  <a:t>points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are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in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circle.</a:t>
                </a:r>
                <a:endParaRPr lang="en-US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887335"/>
                <a:ext cx="10363200" cy="1097416"/>
              </a:xfrm>
              <a:prstGeom prst="rect">
                <a:avLst/>
              </a:prstGeom>
              <a:blipFill rotWithShape="0">
                <a:blip r:embed="rId10"/>
                <a:stretch>
                  <a:fillRect l="-1059" t="-5556" b="-7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720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952500" y="2806700"/>
            <a:ext cx="2743200" cy="2743200"/>
            <a:chOff x="4038600" y="2247900"/>
            <a:chExt cx="2743200" cy="2743200"/>
          </a:xfrm>
        </p:grpSpPr>
        <p:sp>
          <p:nvSpPr>
            <p:cNvPr id="5" name="Rectangle 4"/>
            <p:cNvSpPr/>
            <p:nvPr/>
          </p:nvSpPr>
          <p:spPr>
            <a:xfrm>
              <a:off x="4038600" y="2247900"/>
              <a:ext cx="2743200" cy="2743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4038600" y="2247900"/>
              <a:ext cx="2743200" cy="27432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Calculating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Pi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11200" y="4178300"/>
            <a:ext cx="3403600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324100" y="2374900"/>
            <a:ext cx="0" cy="342900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076655" y="3847812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655" y="3847812"/>
                <a:ext cx="50808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070056" y="1893576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056" y="1893576"/>
                <a:ext cx="51385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64722" y="2588567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722" y="2588567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534743" y="4127499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43" y="4127499"/>
                <a:ext cx="42351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277444" y="5357167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444" y="5357167"/>
                <a:ext cx="652743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26128" y="3691235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28" y="3691235"/>
                <a:ext cx="652743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/>
          <p:cNvSpPr/>
          <p:nvPr/>
        </p:nvSpPr>
        <p:spPr>
          <a:xfrm>
            <a:off x="3124200" y="37719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276600" y="30734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476500" y="44831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549400" y="46355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1600200" y="53975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914400" y="887335"/>
                <a:ext cx="10363200" cy="109741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charset="0"/>
                  <a:buChar char="•"/>
                </a:pPr>
                <a:r>
                  <a:rPr lang="en-US" altLang="zh-CN" sz="2800" dirty="0"/>
                  <a:t>Suppose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points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are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uniformly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sampled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from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charset="0"/>
                          </a:rPr>
                          <m:t>−1,</m:t>
                        </m:r>
                        <m:r>
                          <a:rPr lang="zh-CN" altLang="en-US" sz="28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b="0" i="1" smtClean="0">
                            <a:latin typeface="Cambria Math" charset="0"/>
                          </a:rPr>
                          <m:t>1</m:t>
                        </m:r>
                      </m:e>
                    </m:d>
                    <m:r>
                      <a:rPr lang="en-US" altLang="zh-CN" sz="2800" b="0" i="1" smtClean="0">
                        <a:latin typeface="Cambria Math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charset="0"/>
                          </a:rPr>
                          <m:t>−1,</m:t>
                        </m:r>
                        <m:r>
                          <a:rPr lang="zh-CN" altLang="en-US" sz="28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b="0" i="1" smtClean="0">
                            <a:latin typeface="Cambria Math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sz="2800" dirty="0"/>
                  <a:t>.</a:t>
                </a:r>
              </a:p>
              <a:p>
                <a:pPr marL="457200" indent="-457200">
                  <a:buFont typeface="Arial" charset="0"/>
                  <a:buChar char="•"/>
                </a:pPr>
                <a:r>
                  <a:rPr lang="en-US" altLang="zh-CN" sz="2800" dirty="0"/>
                  <a:t>Then,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in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expectation,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𝑃</m:t>
                    </m:r>
                    <m:r>
                      <a:rPr lang="en-US" altLang="zh-CN" sz="2800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  <m:r>
                      <a:rPr lang="en-US" altLang="zh-CN" sz="28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28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2800" dirty="0"/>
                  <a:t>  </a:t>
                </a:r>
                <a:r>
                  <a:rPr lang="en-US" altLang="zh-CN" sz="2800" dirty="0"/>
                  <a:t>points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are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in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circle.</a:t>
                </a:r>
                <a:endParaRPr lang="en-US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887335"/>
                <a:ext cx="10363200" cy="1097416"/>
              </a:xfrm>
              <a:prstGeom prst="rect">
                <a:avLst/>
              </a:prstGeom>
              <a:blipFill rotWithShape="0">
                <a:blip r:embed="rId10"/>
                <a:stretch>
                  <a:fillRect l="-1059" t="-5556" b="-7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486400" y="2588567"/>
                <a:ext cx="5791200" cy="347023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Law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large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numbers: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4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  <m:r>
                      <a:rPr lang="en-US" altLang="zh-CN" b="0" i="1" smtClean="0">
                        <a:latin typeface="Cambria Math" charset="0"/>
                      </a:rPr>
                      <m:t>→</m:t>
                    </m:r>
                    <m:r>
                      <a:rPr lang="en-US" altLang="zh-CN" b="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   </a:t>
                </a:r>
                <a:r>
                  <a:rPr lang="en-US" altLang="zh-CN" dirty="0"/>
                  <a:t>as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→∞</m:t>
                    </m:r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2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86400" y="2588567"/>
                <a:ext cx="5791200" cy="3470230"/>
              </a:xfrm>
              <a:blipFill rotWithShape="0">
                <a:blip r:embed="rId11"/>
                <a:stretch>
                  <a:fillRect l="-1895" t="-2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860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952500" y="2806700"/>
            <a:ext cx="2743200" cy="2743200"/>
            <a:chOff x="4038600" y="2247900"/>
            <a:chExt cx="2743200" cy="2743200"/>
          </a:xfrm>
        </p:grpSpPr>
        <p:sp>
          <p:nvSpPr>
            <p:cNvPr id="5" name="Rectangle 4"/>
            <p:cNvSpPr/>
            <p:nvPr/>
          </p:nvSpPr>
          <p:spPr>
            <a:xfrm>
              <a:off x="4038600" y="2247900"/>
              <a:ext cx="2743200" cy="2743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4038600" y="2247900"/>
              <a:ext cx="2743200" cy="27432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Calculating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Pi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11200" y="4178300"/>
            <a:ext cx="3403600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324100" y="2374900"/>
            <a:ext cx="0" cy="342900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076655" y="3847812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655" y="3847812"/>
                <a:ext cx="50808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070056" y="1893576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056" y="1893576"/>
                <a:ext cx="51385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64722" y="2588567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722" y="2588567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534743" y="4127499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43" y="4127499"/>
                <a:ext cx="42351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277444" y="5357167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444" y="5357167"/>
                <a:ext cx="652743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26128" y="3691235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28" y="3691235"/>
                <a:ext cx="652743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486400" y="2588567"/>
                <a:ext cx="5791200" cy="347023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Law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large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numbers: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4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  <m:r>
                      <a:rPr lang="en-US" altLang="zh-CN" b="0" i="1" smtClean="0">
                        <a:latin typeface="Cambria Math" charset="0"/>
                      </a:rPr>
                      <m:t>→</m:t>
                    </m:r>
                    <m:r>
                      <a:rPr lang="en-US" altLang="zh-CN" b="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   </a:t>
                </a:r>
                <a:r>
                  <a:rPr lang="en-US" altLang="zh-CN" dirty="0"/>
                  <a:t>as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→∞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Concentration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bound: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4</m:t>
                            </m:r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𝜋</m:t>
                        </m:r>
                      </m:e>
                    </m:d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>
                      <a:rPr lang="en-US" altLang="zh-CN" b="0" i="1" smtClean="0"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1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86400" y="2588567"/>
                <a:ext cx="5791200" cy="3470230"/>
              </a:xfrm>
              <a:blipFill rotWithShape="0">
                <a:blip r:embed="rId9"/>
                <a:stretch>
                  <a:fillRect l="-1895" t="-2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/>
          <p:cNvSpPr/>
          <p:nvPr/>
        </p:nvSpPr>
        <p:spPr>
          <a:xfrm>
            <a:off x="3124200" y="37719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276600" y="30734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476500" y="44831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549400" y="46355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1600200" y="53975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914400" y="887335"/>
                <a:ext cx="10363200" cy="109741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charset="0"/>
                  <a:buChar char="•"/>
                </a:pPr>
                <a:r>
                  <a:rPr lang="en-US" altLang="zh-CN" sz="2800" dirty="0"/>
                  <a:t>Suppose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points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are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uniformly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sampled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from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charset="0"/>
                          </a:rPr>
                          <m:t>−1,</m:t>
                        </m:r>
                        <m:r>
                          <a:rPr lang="zh-CN" altLang="en-US" sz="28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b="0" i="1" smtClean="0">
                            <a:latin typeface="Cambria Math" charset="0"/>
                          </a:rPr>
                          <m:t>1</m:t>
                        </m:r>
                      </m:e>
                    </m:d>
                    <m:r>
                      <a:rPr lang="en-US" altLang="zh-CN" sz="2800" b="0" i="1" smtClean="0">
                        <a:latin typeface="Cambria Math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charset="0"/>
                          </a:rPr>
                          <m:t>−1,</m:t>
                        </m:r>
                        <m:r>
                          <a:rPr lang="zh-CN" altLang="en-US" sz="28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b="0" i="1" smtClean="0">
                            <a:latin typeface="Cambria Math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sz="2800" dirty="0"/>
                  <a:t>.</a:t>
                </a:r>
              </a:p>
              <a:p>
                <a:pPr marL="457200" indent="-457200">
                  <a:buFont typeface="Arial" charset="0"/>
                  <a:buChar char="•"/>
                </a:pPr>
                <a:r>
                  <a:rPr lang="en-US" altLang="zh-CN" sz="2800" dirty="0"/>
                  <a:t>Then,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in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expectation,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𝑃</m:t>
                    </m:r>
                    <m:r>
                      <a:rPr lang="en-US" altLang="zh-CN" sz="2800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  <m:r>
                      <a:rPr lang="en-US" altLang="zh-CN" sz="28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28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2800" dirty="0"/>
                  <a:t>  </a:t>
                </a:r>
                <a:r>
                  <a:rPr lang="en-US" altLang="zh-CN" sz="2800" dirty="0"/>
                  <a:t>points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are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in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circle.</a:t>
                </a:r>
                <a:endParaRPr lang="en-US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887335"/>
                <a:ext cx="10363200" cy="1097416"/>
              </a:xfrm>
              <a:prstGeom prst="rect">
                <a:avLst/>
              </a:prstGeom>
              <a:blipFill rotWithShape="0">
                <a:blip r:embed="rId10"/>
                <a:stretch>
                  <a:fillRect l="-1059" t="-5556" b="-7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 flipV="1">
            <a:off x="6970295" y="5390801"/>
            <a:ext cx="1313093" cy="45719"/>
          </a:xfrm>
          <a:prstGeom prst="rect">
            <a:avLst/>
          </a:prstGeom>
          <a:noFill/>
          <a:ln w="7620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 flipV="1">
            <a:off x="8743067" y="5415280"/>
            <a:ext cx="1006288" cy="45719"/>
          </a:xfrm>
          <a:prstGeom prst="rect">
            <a:avLst/>
          </a:prstGeom>
          <a:noFill/>
          <a:ln w="7620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60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952500" y="2806700"/>
            <a:ext cx="2743200" cy="2743200"/>
            <a:chOff x="4038600" y="2247900"/>
            <a:chExt cx="2743200" cy="2743200"/>
          </a:xfrm>
        </p:grpSpPr>
        <p:sp>
          <p:nvSpPr>
            <p:cNvPr id="5" name="Rectangle 4"/>
            <p:cNvSpPr/>
            <p:nvPr/>
          </p:nvSpPr>
          <p:spPr>
            <a:xfrm>
              <a:off x="4038600" y="2247900"/>
              <a:ext cx="2743200" cy="2743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4038600" y="2247900"/>
              <a:ext cx="2743200" cy="27432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Calculating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Pi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11200" y="4178300"/>
            <a:ext cx="3403600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324100" y="2374900"/>
            <a:ext cx="0" cy="342900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076655" y="3847812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655" y="3847812"/>
                <a:ext cx="50808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070056" y="1893576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056" y="1893576"/>
                <a:ext cx="51385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64722" y="2588567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722" y="2588567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534743" y="4127499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43" y="4127499"/>
                <a:ext cx="42351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277444" y="5357167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444" y="5357167"/>
                <a:ext cx="652743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26128" y="3691235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28" y="3691235"/>
                <a:ext cx="652743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/>
          <p:cNvSpPr/>
          <p:nvPr/>
        </p:nvSpPr>
        <p:spPr>
          <a:xfrm>
            <a:off x="3124200" y="37719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276600" y="30734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476500" y="44831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549400" y="46355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1600200" y="53975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28964" y="915676"/>
                <a:ext cx="11134072" cy="70211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points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are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sampled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from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square;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solidFill>
                          <a:srgbClr val="C00000"/>
                        </a:solidFill>
                        <a:latin typeface="Cambria Math" charset="0"/>
                      </a:rPr>
                      <m:t>𝑚</m:t>
                    </m:r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are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in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circle.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Then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𝜋</m:t>
                    </m:r>
                    <m:r>
                      <a:rPr lang="en-US" altLang="zh-CN" sz="280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≈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4</m:t>
                        </m:r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sz="2800" dirty="0"/>
                  <a:t>.</a:t>
                </a:r>
                <a:endParaRPr lang="en-US" sz="28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64" y="915676"/>
                <a:ext cx="11134072" cy="702115"/>
              </a:xfrm>
              <a:prstGeom prst="rect">
                <a:avLst/>
              </a:prstGeom>
              <a:blipFill rotWithShape="0">
                <a:blip r:embed="rId9"/>
                <a:stretch>
                  <a:fillRect b="-11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079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952500" y="2806700"/>
            <a:ext cx="2743200" cy="2743200"/>
            <a:chOff x="4038600" y="2247900"/>
            <a:chExt cx="2743200" cy="2743200"/>
          </a:xfrm>
        </p:grpSpPr>
        <p:sp>
          <p:nvSpPr>
            <p:cNvPr id="5" name="Rectangle 4"/>
            <p:cNvSpPr/>
            <p:nvPr/>
          </p:nvSpPr>
          <p:spPr>
            <a:xfrm>
              <a:off x="4038600" y="2247900"/>
              <a:ext cx="2743200" cy="2743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4038600" y="2247900"/>
              <a:ext cx="2743200" cy="27432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Calculating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Pi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11200" y="4178300"/>
            <a:ext cx="3403600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324100" y="2374900"/>
            <a:ext cx="0" cy="342900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076655" y="3847812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655" y="3847812"/>
                <a:ext cx="50808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070056" y="1893576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056" y="1893576"/>
                <a:ext cx="51385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64722" y="2588567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722" y="2588567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534743" y="4127499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43" y="4127499"/>
                <a:ext cx="42351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277444" y="5357167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444" y="5357167"/>
                <a:ext cx="652743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26128" y="3691235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28" y="3691235"/>
                <a:ext cx="652743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28964" y="915676"/>
                <a:ext cx="11134072" cy="70211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points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are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sampled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from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square;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C00000"/>
                        </a:solidFill>
                        <a:latin typeface="Cambria Math" charset="0"/>
                      </a:rPr>
                      <m:t>𝑚</m:t>
                    </m:r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are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in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circle.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Then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C00000"/>
                        </a:solidFill>
                        <a:latin typeface="Cambria Math" charset="0"/>
                      </a:rPr>
                      <m:t>𝜋</m:t>
                    </m:r>
                    <m:r>
                      <a:rPr lang="en-US" altLang="zh-CN" sz="2800" i="1">
                        <a:solidFill>
                          <a:srgbClr val="C00000"/>
                        </a:solidFill>
                        <a:latin typeface="Cambria Math" charset="0"/>
                      </a:rPr>
                      <m:t>≈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4</m:t>
                        </m:r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sz="2800" dirty="0"/>
                  <a:t>.</a:t>
                </a:r>
                <a:endParaRPr lang="en-US" sz="28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64" y="915676"/>
                <a:ext cx="11134072" cy="702115"/>
              </a:xfrm>
              <a:prstGeom prst="rect">
                <a:avLst/>
              </a:prstGeom>
              <a:blipFill rotWithShape="0">
                <a:blip r:embed="rId9"/>
                <a:stretch>
                  <a:fillRect b="-11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/>
          <p:cNvSpPr/>
          <p:nvPr/>
        </p:nvSpPr>
        <p:spPr>
          <a:xfrm>
            <a:off x="3124200" y="37719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276600" y="30734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476500" y="44831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549400" y="46355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1600200" y="53975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879557" y="2844800"/>
                <a:ext cx="5761970" cy="340360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/>
                  <a:t>User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specifies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big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altLang="zh-CN" dirty="0"/>
                  <a:t>;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reset counter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𝑚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=0</m:t>
                    </m:r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2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79557" y="2844800"/>
                <a:ext cx="5761970" cy="3403600"/>
              </a:xfrm>
              <a:blipFill rotWithShape="0">
                <a:blip r:embed="rId10"/>
                <a:stretch>
                  <a:fillRect l="-2220" t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5901127" y="2082800"/>
            <a:ext cx="5740400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/>
              <a:t>Algorithm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507836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952500" y="2806700"/>
            <a:ext cx="2743200" cy="2743200"/>
            <a:chOff x="4038600" y="2247900"/>
            <a:chExt cx="2743200" cy="2743200"/>
          </a:xfrm>
        </p:grpSpPr>
        <p:sp>
          <p:nvSpPr>
            <p:cNvPr id="5" name="Rectangle 4"/>
            <p:cNvSpPr/>
            <p:nvPr/>
          </p:nvSpPr>
          <p:spPr>
            <a:xfrm>
              <a:off x="4038600" y="2247900"/>
              <a:ext cx="2743200" cy="2743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4038600" y="2247900"/>
              <a:ext cx="2743200" cy="27432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Calculating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Pi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11200" y="4178300"/>
            <a:ext cx="3403600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324100" y="2374900"/>
            <a:ext cx="0" cy="342900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076655" y="3847812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655" y="3847812"/>
                <a:ext cx="50808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070056" y="1893576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056" y="1893576"/>
                <a:ext cx="51385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64722" y="2588567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722" y="2588567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534743" y="4127499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43" y="4127499"/>
                <a:ext cx="42351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277444" y="5357167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444" y="5357167"/>
                <a:ext cx="652743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26128" y="3691235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28" y="3691235"/>
                <a:ext cx="652743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28964" y="915676"/>
                <a:ext cx="11134072" cy="70211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points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are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sampled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from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square;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C00000"/>
                        </a:solidFill>
                        <a:latin typeface="Cambria Math" charset="0"/>
                      </a:rPr>
                      <m:t>𝑚</m:t>
                    </m:r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are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in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circle.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Then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C00000"/>
                        </a:solidFill>
                        <a:latin typeface="Cambria Math" charset="0"/>
                      </a:rPr>
                      <m:t>𝜋</m:t>
                    </m:r>
                    <m:r>
                      <a:rPr lang="en-US" altLang="zh-CN" sz="2800" i="1">
                        <a:solidFill>
                          <a:srgbClr val="C00000"/>
                        </a:solidFill>
                        <a:latin typeface="Cambria Math" charset="0"/>
                      </a:rPr>
                      <m:t>≈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4</m:t>
                        </m:r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sz="2800" dirty="0"/>
                  <a:t>.</a:t>
                </a:r>
                <a:endParaRPr lang="en-US" sz="28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64" y="915676"/>
                <a:ext cx="11134072" cy="702115"/>
              </a:xfrm>
              <a:prstGeom prst="rect">
                <a:avLst/>
              </a:prstGeom>
              <a:blipFill rotWithShape="0">
                <a:blip r:embed="rId9"/>
                <a:stretch>
                  <a:fillRect b="-11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/>
          <p:cNvSpPr/>
          <p:nvPr/>
        </p:nvSpPr>
        <p:spPr>
          <a:xfrm>
            <a:off x="3124200" y="37719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276600" y="30734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476500" y="44831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549400" y="46355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1600200" y="53975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879557" y="2844800"/>
                <a:ext cx="5761970" cy="340360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/>
                  <a:t>User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specifies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big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altLang="zh-CN" dirty="0"/>
                  <a:t>;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reset counter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𝑚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=0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/>
                  <a:t>For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𝑖</m:t>
                    </m:r>
                    <m:r>
                      <a:rPr lang="en-US" altLang="zh-CN" i="1">
                        <a:latin typeface="Cambria Math" charset="0"/>
                      </a:rPr>
                      <m:t>=1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to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altLang="zh-CN" dirty="0"/>
                  <a:t>: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altLang="zh-CN" dirty="0"/>
                  <a:t>Randomly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generate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𝑥</m:t>
                    </m:r>
                    <m:r>
                      <a:rPr lang="en-US" altLang="zh-CN" i="1">
                        <a:latin typeface="Cambria Math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−1,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altLang="zh-CN" dirty="0"/>
                  <a:t>Randomly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generate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𝑦</m:t>
                    </m:r>
                    <m:r>
                      <a:rPr lang="en-US" altLang="zh-CN" i="1">
                        <a:latin typeface="Cambria Math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−1,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dirty="0"/>
                  <a:t>.</a:t>
                </a:r>
                <a:endParaRPr lang="en-US" dirty="0"/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≤1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𝑚</m:t>
                    </m:r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←</m:t>
                    </m:r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𝑚</m:t>
                    </m:r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+1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/>
                  <a:t>Return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𝜋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≈</m:t>
                    </m:r>
                    <m:f>
                      <m:f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4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2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79557" y="2844800"/>
                <a:ext cx="5761970" cy="3403600"/>
              </a:xfrm>
              <a:blipFill rotWithShape="0">
                <a:blip r:embed="rId10"/>
                <a:stretch>
                  <a:fillRect l="-2220" t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5901127" y="2082800"/>
            <a:ext cx="5740400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/>
              <a:t>Algorithm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60263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Application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2: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Buffon's Needle Problem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970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958" y="1177925"/>
            <a:ext cx="2701866" cy="4003675"/>
          </a:xfr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Buffon's Needle Problem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400" y="1177925"/>
            <a:ext cx="3809692" cy="39978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425656" y="5204637"/>
            <a:ext cx="3162469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/>
              <a:t>Buffon</a:t>
            </a:r>
            <a:r>
              <a:rPr lang="en-US" altLang="zh-CN" sz="2800" dirty="0"/>
              <a:t>,</a:t>
            </a:r>
            <a:r>
              <a:rPr lang="zh-CN" altLang="en-US" sz="2800" dirty="0"/>
              <a:t> </a:t>
            </a:r>
            <a:r>
              <a:rPr lang="is-IS" altLang="zh-CN" sz="2800" dirty="0"/>
              <a:t>1707 – 1788</a:t>
            </a:r>
          </a:p>
          <a:p>
            <a:pPr algn="ctr"/>
            <a:r>
              <a:rPr lang="en-US" altLang="zh-CN" sz="2800" dirty="0"/>
              <a:t>French</a:t>
            </a:r>
            <a:r>
              <a:rPr lang="zh-CN" altLang="en-US" sz="2800" dirty="0"/>
              <a:t> </a:t>
            </a:r>
            <a:r>
              <a:rPr lang="en-US" altLang="zh-CN" sz="2800" dirty="0"/>
              <a:t>scientist</a:t>
            </a:r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6885385" y="5312358"/>
            <a:ext cx="38057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/>
              <a:t>Buffon's Needle Problem</a:t>
            </a:r>
          </a:p>
        </p:txBody>
      </p:sp>
    </p:spTree>
    <p:extLst>
      <p:ext uri="{BB962C8B-B14F-4D97-AF65-F5344CB8AC3E}">
        <p14:creationId xmlns:p14="http://schemas.microsoft.com/office/powerpoint/2010/main" val="1659733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266700" y="61341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66700" y="50038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66700" y="38735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66700" y="27432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66700" y="16129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ight Brace 25"/>
          <p:cNvSpPr/>
          <p:nvPr/>
        </p:nvSpPr>
        <p:spPr>
          <a:xfrm>
            <a:off x="3873500" y="3873500"/>
            <a:ext cx="457200" cy="1130300"/>
          </a:xfrm>
          <a:prstGeom prst="rightBrac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330700" y="4192428"/>
                <a:ext cx="34323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𝑑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700" y="4192428"/>
                <a:ext cx="343234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Buffon's Needle Problem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492059" y="1524197"/>
                <a:ext cx="6166541" cy="1947065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parallel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lines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have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distance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𝑑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Needles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have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length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charset="0"/>
                      </a:rPr>
                      <m:t>𝑙</m:t>
                    </m:r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3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92059" y="1524197"/>
                <a:ext cx="6166541" cy="1947065"/>
              </a:xfrm>
              <a:blipFill rotWithShape="0">
                <a:blip r:embed="rId4"/>
                <a:stretch>
                  <a:fillRect l="-1779" t="-50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545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5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266700" y="61341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66700" y="50038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66700" y="38735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66700" y="27432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66700" y="16129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ight Brace 25"/>
          <p:cNvSpPr/>
          <p:nvPr/>
        </p:nvSpPr>
        <p:spPr>
          <a:xfrm>
            <a:off x="3873500" y="3873500"/>
            <a:ext cx="457200" cy="1130300"/>
          </a:xfrm>
          <a:prstGeom prst="rightBrac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330700" y="4192428"/>
                <a:ext cx="34323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𝑑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700" y="4192428"/>
                <a:ext cx="343234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Buffon's Needle Problem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492059" y="1524197"/>
                <a:ext cx="6166541" cy="1947065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parallel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lines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have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distance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𝑑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Needles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have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length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charset="0"/>
                      </a:rPr>
                      <m:t>𝑙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Randomly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throw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needle;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needle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may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may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not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lie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across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line.</a:t>
                </a: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92059" y="1524197"/>
                <a:ext cx="6166541" cy="1947065"/>
              </a:xfrm>
              <a:blipFill rotWithShape="0">
                <a:blip r:embed="rId4"/>
                <a:stretch>
                  <a:fillRect l="-1779" t="-5016" b="-5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ight Brace 27"/>
          <p:cNvSpPr/>
          <p:nvPr/>
        </p:nvSpPr>
        <p:spPr>
          <a:xfrm rot="18700720">
            <a:off x="2098762" y="1774275"/>
            <a:ext cx="422691" cy="1221810"/>
          </a:xfrm>
          <a:prstGeom prst="rightBrac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320889" y="1850647"/>
                <a:ext cx="52070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𝑙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889" y="1850647"/>
                <a:ext cx="520700" cy="49244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1215786" y="2204185"/>
            <a:ext cx="1336914" cy="770843"/>
            <a:chOff x="1215786" y="2204185"/>
            <a:chExt cx="1336914" cy="770843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1713297" y="2204185"/>
              <a:ext cx="839403" cy="770843"/>
            </a:xfrm>
            <a:prstGeom prst="line">
              <a:avLst/>
            </a:prstGeom>
            <a:ln w="57150">
              <a:solidFill>
                <a:srgbClr val="FF000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/>
            <p:cNvSpPr/>
            <p:nvPr/>
          </p:nvSpPr>
          <p:spPr>
            <a:xfrm>
              <a:off x="1215786" y="2365835"/>
              <a:ext cx="95571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</a:rPr>
                <a:t>needle</a:t>
              </a:r>
              <a:r>
                <a:rPr lang="zh-CN" altLang="en-US" sz="2000" dirty="0">
                  <a:solidFill>
                    <a:srgbClr val="FF0000"/>
                  </a:solidFill>
                </a:rPr>
                <a:t> 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671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266700" y="61341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66700" y="50038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66700" y="38735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66700" y="27432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66700" y="16129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ight Brace 25"/>
          <p:cNvSpPr/>
          <p:nvPr/>
        </p:nvSpPr>
        <p:spPr>
          <a:xfrm>
            <a:off x="3873500" y="3873500"/>
            <a:ext cx="457200" cy="1130300"/>
          </a:xfrm>
          <a:prstGeom prst="rightBrac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330700" y="4192428"/>
                <a:ext cx="34323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𝑑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700" y="4192428"/>
                <a:ext cx="343234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Buffon's Needle Problem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492059" y="1524197"/>
                <a:ext cx="6166541" cy="1947065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parallel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lines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have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distance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𝑑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Needles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have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length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charset="0"/>
                      </a:rPr>
                      <m:t>𝑙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Randomly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throw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needle;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needle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may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may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not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lie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across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line.</a:t>
                </a: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92059" y="1524197"/>
                <a:ext cx="6166541" cy="1947065"/>
              </a:xfrm>
              <a:blipFill rotWithShape="0">
                <a:blip r:embed="rId4"/>
                <a:stretch>
                  <a:fillRect l="-1779" t="-5016" b="-5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/>
          <p:cNvGrpSpPr/>
          <p:nvPr/>
        </p:nvGrpSpPr>
        <p:grpSpPr>
          <a:xfrm>
            <a:off x="1699203" y="1850647"/>
            <a:ext cx="1221810" cy="745878"/>
            <a:chOff x="1699203" y="1850647"/>
            <a:chExt cx="1221810" cy="745878"/>
          </a:xfrm>
        </p:grpSpPr>
        <p:sp>
          <p:nvSpPr>
            <p:cNvPr id="29" name="Right Brace 28"/>
            <p:cNvSpPr/>
            <p:nvPr/>
          </p:nvSpPr>
          <p:spPr>
            <a:xfrm rot="18700720">
              <a:off x="2098762" y="1774275"/>
              <a:ext cx="422691" cy="1221810"/>
            </a:xfrm>
            <a:prstGeom prst="rightBrac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2320889" y="1850647"/>
                  <a:ext cx="520700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𝑙</m:t>
                        </m:r>
                      </m:oMath>
                    </m:oMathPara>
                  </a14:m>
                  <a:endParaRPr lang="en-US" sz="3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0889" y="1850647"/>
                  <a:ext cx="520700" cy="492443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/>
          <p:cNvGrpSpPr/>
          <p:nvPr/>
        </p:nvGrpSpPr>
        <p:grpSpPr>
          <a:xfrm>
            <a:off x="1215786" y="2204185"/>
            <a:ext cx="1336914" cy="770843"/>
            <a:chOff x="1215786" y="2204185"/>
            <a:chExt cx="1336914" cy="770843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1713297" y="2204185"/>
              <a:ext cx="839403" cy="770843"/>
            </a:xfrm>
            <a:prstGeom prst="line">
              <a:avLst/>
            </a:prstGeom>
            <a:ln w="57150">
              <a:solidFill>
                <a:srgbClr val="FF000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/>
            <p:cNvSpPr/>
            <p:nvPr/>
          </p:nvSpPr>
          <p:spPr>
            <a:xfrm>
              <a:off x="1215786" y="2365835"/>
              <a:ext cx="95571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</a:rPr>
                <a:t>needle</a:t>
              </a:r>
              <a:r>
                <a:rPr lang="zh-CN" altLang="en-US" sz="2000" dirty="0">
                  <a:solidFill>
                    <a:srgbClr val="FF0000"/>
                  </a:solidFill>
                </a:rPr>
                <a:t> 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42" name="Oval 41"/>
          <p:cNvSpPr/>
          <p:nvPr/>
        </p:nvSpPr>
        <p:spPr>
          <a:xfrm>
            <a:off x="2196289" y="2636545"/>
            <a:ext cx="183516" cy="197719"/>
          </a:xfrm>
          <a:prstGeom prst="ellipse">
            <a:avLst/>
          </a:prstGeom>
          <a:solidFill>
            <a:srgbClr val="FFC000">
              <a:alpha val="91000"/>
            </a:srgbClr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564261" y="4207224"/>
            <a:ext cx="955711" cy="840836"/>
            <a:chOff x="1564261" y="4207224"/>
            <a:chExt cx="955711" cy="840836"/>
          </a:xfrm>
        </p:grpSpPr>
        <p:cxnSp>
          <p:nvCxnSpPr>
            <p:cNvPr id="50" name="Straight Connector 49"/>
            <p:cNvCxnSpPr/>
            <p:nvPr/>
          </p:nvCxnSpPr>
          <p:spPr>
            <a:xfrm rot="19320898">
              <a:off x="1650173" y="4207224"/>
              <a:ext cx="839403" cy="770843"/>
            </a:xfrm>
            <a:prstGeom prst="line">
              <a:avLst/>
            </a:prstGeom>
            <a:ln w="57150">
              <a:solidFill>
                <a:srgbClr val="FF000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52"/>
            <p:cNvSpPr/>
            <p:nvPr/>
          </p:nvSpPr>
          <p:spPr>
            <a:xfrm>
              <a:off x="1564261" y="4647950"/>
              <a:ext cx="95571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</a:rPr>
                <a:t>needle</a:t>
              </a:r>
              <a:r>
                <a:rPr lang="zh-CN" altLang="en-US" sz="2000" dirty="0">
                  <a:solidFill>
                    <a:srgbClr val="FF0000"/>
                  </a:solidFill>
                </a:rPr>
                <a:t> 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149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35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35" presetClass="emp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2" grpId="1" animBg="1"/>
      <p:bldP spid="42" grpId="2" animBg="1"/>
      <p:bldP spid="42" grpId="3" animBg="1"/>
      <p:bldP spid="42" grpId="4" animBg="1"/>
      <p:bldP spid="42" grpId="5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266700" y="61341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66700" y="50038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66700" y="38735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66700" y="27432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66700" y="16129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ight Brace 25"/>
          <p:cNvSpPr/>
          <p:nvPr/>
        </p:nvSpPr>
        <p:spPr>
          <a:xfrm>
            <a:off x="3873500" y="3873500"/>
            <a:ext cx="457200" cy="1130300"/>
          </a:xfrm>
          <a:prstGeom prst="rightBrac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330700" y="4192428"/>
                <a:ext cx="34323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𝑑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700" y="4192428"/>
                <a:ext cx="343234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Buffon's Needle Problem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492059" y="1524197"/>
                <a:ext cx="6166541" cy="1947065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parallel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lines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have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distance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charset="0"/>
                      </a:rPr>
                      <m:t>𝑑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Needles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have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length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charset="0"/>
                      </a:rPr>
                      <m:t>𝑙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Randomly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throw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needle;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needle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may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may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not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lie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across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line.</a:t>
                </a: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92059" y="1524197"/>
                <a:ext cx="6166541" cy="1947065"/>
              </a:xfrm>
              <a:blipFill rotWithShape="0">
                <a:blip r:embed="rId4"/>
                <a:stretch>
                  <a:fillRect l="-1779" t="-5016" b="-5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5492059" y="3783997"/>
                <a:ext cx="6166541" cy="668581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600" dirty="0"/>
                  <a:t>With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probability</a:t>
                </a:r>
                <a:r>
                  <a:rPr lang="zh-CN" altLang="en-US" sz="2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charset="0"/>
                      </a:rPr>
                      <m:t>𝑃</m:t>
                    </m:r>
                    <m:r>
                      <a:rPr lang="en-US" altLang="zh-CN" sz="26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600" b="0" i="1" smtClean="0">
                            <a:latin typeface="Cambria Math" charset="0"/>
                          </a:rPr>
                          <m:t>2</m:t>
                        </m:r>
                        <m:r>
                          <a:rPr lang="en-US" altLang="zh-CN" sz="2600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𝑙</m:t>
                        </m:r>
                      </m:num>
                      <m:den>
                        <m:r>
                          <a:rPr lang="en-US" altLang="zh-CN" sz="2600" b="0" i="1" smtClean="0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2600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altLang="zh-CN" sz="2600" dirty="0"/>
                  <a:t>,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they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are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across.</a:t>
                </a:r>
                <a:endParaRPr lang="en-US" sz="26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2059" y="3783997"/>
                <a:ext cx="6166541" cy="668581"/>
              </a:xfrm>
              <a:prstGeom prst="rect">
                <a:avLst/>
              </a:prstGeom>
              <a:blipFill rotWithShape="0">
                <a:blip r:embed="rId7"/>
                <a:stretch>
                  <a:fillRect b="-11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Content Placeholder 2"/>
          <p:cNvSpPr txBox="1">
            <a:spLocks/>
          </p:cNvSpPr>
          <p:nvPr/>
        </p:nvSpPr>
        <p:spPr>
          <a:xfrm>
            <a:off x="5492059" y="4853893"/>
            <a:ext cx="6166541" cy="737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It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can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be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proved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using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integral.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1699203" y="1850647"/>
            <a:ext cx="1221810" cy="745878"/>
            <a:chOff x="1699203" y="1850647"/>
            <a:chExt cx="1221810" cy="745878"/>
          </a:xfrm>
        </p:grpSpPr>
        <p:sp>
          <p:nvSpPr>
            <p:cNvPr id="29" name="Right Brace 28"/>
            <p:cNvSpPr/>
            <p:nvPr/>
          </p:nvSpPr>
          <p:spPr>
            <a:xfrm rot="18700720">
              <a:off x="2098762" y="1774275"/>
              <a:ext cx="422691" cy="1221810"/>
            </a:xfrm>
            <a:prstGeom prst="rightBrac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2320889" y="1850647"/>
                  <a:ext cx="520700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𝑙</m:t>
                        </m:r>
                      </m:oMath>
                    </m:oMathPara>
                  </a14:m>
                  <a:endParaRPr lang="en-US" sz="3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0889" y="1850647"/>
                  <a:ext cx="520700" cy="492443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/>
          <p:cNvGrpSpPr/>
          <p:nvPr/>
        </p:nvGrpSpPr>
        <p:grpSpPr>
          <a:xfrm>
            <a:off x="1215786" y="2204185"/>
            <a:ext cx="1336914" cy="770843"/>
            <a:chOff x="1215786" y="2204185"/>
            <a:chExt cx="1336914" cy="770843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1713297" y="2204185"/>
              <a:ext cx="839403" cy="770843"/>
            </a:xfrm>
            <a:prstGeom prst="line">
              <a:avLst/>
            </a:prstGeom>
            <a:ln w="57150">
              <a:solidFill>
                <a:srgbClr val="FF000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/>
            <p:cNvSpPr/>
            <p:nvPr/>
          </p:nvSpPr>
          <p:spPr>
            <a:xfrm>
              <a:off x="1215786" y="2365835"/>
              <a:ext cx="95571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</a:rPr>
                <a:t>needle</a:t>
              </a:r>
              <a:r>
                <a:rPr lang="zh-CN" altLang="en-US" sz="2000" dirty="0">
                  <a:solidFill>
                    <a:srgbClr val="FF0000"/>
                  </a:solidFill>
                </a:rPr>
                <a:t> 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1564261" y="4207224"/>
            <a:ext cx="955711" cy="840836"/>
            <a:chOff x="1564261" y="4207224"/>
            <a:chExt cx="955711" cy="840836"/>
          </a:xfrm>
        </p:grpSpPr>
        <p:cxnSp>
          <p:nvCxnSpPr>
            <p:cNvPr id="50" name="Straight Connector 49"/>
            <p:cNvCxnSpPr/>
            <p:nvPr/>
          </p:nvCxnSpPr>
          <p:spPr>
            <a:xfrm rot="19320898">
              <a:off x="1650173" y="4207224"/>
              <a:ext cx="839403" cy="770843"/>
            </a:xfrm>
            <a:prstGeom prst="line">
              <a:avLst/>
            </a:prstGeom>
            <a:ln w="57150">
              <a:solidFill>
                <a:srgbClr val="FF000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1564261" y="4647950"/>
              <a:ext cx="95571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</a:rPr>
                <a:t>needle</a:t>
              </a:r>
              <a:r>
                <a:rPr lang="zh-CN" altLang="en-US" sz="2000" dirty="0">
                  <a:solidFill>
                    <a:srgbClr val="FF0000"/>
                  </a:solidFill>
                </a:rPr>
                <a:t> 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 flipV="1">
            <a:off x="8031651" y="3783996"/>
            <a:ext cx="1079691" cy="668581"/>
          </a:xfrm>
          <a:prstGeom prst="rect">
            <a:avLst/>
          </a:prstGeom>
          <a:noFill/>
          <a:ln w="7620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266700" y="61341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66700" y="50038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66700" y="38735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66700" y="27432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66700" y="16129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ight Brace 25"/>
          <p:cNvSpPr/>
          <p:nvPr/>
        </p:nvSpPr>
        <p:spPr>
          <a:xfrm>
            <a:off x="3873500" y="3873500"/>
            <a:ext cx="457200" cy="1130300"/>
          </a:xfrm>
          <a:prstGeom prst="rightBrac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330700" y="4192428"/>
                <a:ext cx="34323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𝑑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700" y="4192428"/>
                <a:ext cx="343234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Buffon's Needle Problem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699203" y="1850647"/>
            <a:ext cx="1221810" cy="745878"/>
            <a:chOff x="1699203" y="1850647"/>
            <a:chExt cx="1221810" cy="745878"/>
          </a:xfrm>
        </p:grpSpPr>
        <p:sp>
          <p:nvSpPr>
            <p:cNvPr id="29" name="Right Brace 28"/>
            <p:cNvSpPr/>
            <p:nvPr/>
          </p:nvSpPr>
          <p:spPr>
            <a:xfrm rot="18700720">
              <a:off x="2098762" y="1774275"/>
              <a:ext cx="422691" cy="1221810"/>
            </a:xfrm>
            <a:prstGeom prst="rightBrac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2320889" y="1850647"/>
                  <a:ext cx="520700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𝑙</m:t>
                        </m:r>
                      </m:oMath>
                    </m:oMathPara>
                  </a14:m>
                  <a:endParaRPr lang="en-US" sz="3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0889" y="1850647"/>
                  <a:ext cx="520700" cy="492443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/>
          <p:cNvGrpSpPr/>
          <p:nvPr/>
        </p:nvGrpSpPr>
        <p:grpSpPr>
          <a:xfrm>
            <a:off x="1215786" y="2204185"/>
            <a:ext cx="1336914" cy="770843"/>
            <a:chOff x="1215786" y="2204185"/>
            <a:chExt cx="1336914" cy="770843"/>
          </a:xfrm>
        </p:grpSpPr>
        <p:cxnSp>
          <p:nvCxnSpPr>
            <p:cNvPr id="37" name="Straight Connector 36"/>
            <p:cNvCxnSpPr/>
            <p:nvPr/>
          </p:nvCxnSpPr>
          <p:spPr>
            <a:xfrm>
              <a:off x="1713297" y="2204185"/>
              <a:ext cx="839403" cy="770843"/>
            </a:xfrm>
            <a:prstGeom prst="line">
              <a:avLst/>
            </a:prstGeom>
            <a:ln w="57150">
              <a:solidFill>
                <a:srgbClr val="FF000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/>
            <p:cNvSpPr/>
            <p:nvPr/>
          </p:nvSpPr>
          <p:spPr>
            <a:xfrm>
              <a:off x="1215786" y="2365835"/>
              <a:ext cx="95571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</a:rPr>
                <a:t>needle</a:t>
              </a:r>
              <a:r>
                <a:rPr lang="zh-CN" altLang="en-US" sz="2000" dirty="0">
                  <a:solidFill>
                    <a:srgbClr val="FF0000"/>
                  </a:solidFill>
                </a:rPr>
                <a:t> 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1564261" y="4207224"/>
            <a:ext cx="955711" cy="840836"/>
            <a:chOff x="1564261" y="4207224"/>
            <a:chExt cx="955711" cy="840836"/>
          </a:xfrm>
        </p:grpSpPr>
        <p:cxnSp>
          <p:nvCxnSpPr>
            <p:cNvPr id="46" name="Straight Connector 45"/>
            <p:cNvCxnSpPr/>
            <p:nvPr/>
          </p:nvCxnSpPr>
          <p:spPr>
            <a:xfrm rot="19320898">
              <a:off x="1650173" y="4207224"/>
              <a:ext cx="839403" cy="770843"/>
            </a:xfrm>
            <a:prstGeom prst="line">
              <a:avLst/>
            </a:prstGeom>
            <a:ln w="57150">
              <a:solidFill>
                <a:srgbClr val="FF000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/>
            <p:cNvSpPr/>
            <p:nvPr/>
          </p:nvSpPr>
          <p:spPr>
            <a:xfrm>
              <a:off x="1564261" y="4647950"/>
              <a:ext cx="95571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</a:rPr>
                <a:t>needle</a:t>
              </a:r>
              <a:r>
                <a:rPr lang="zh-CN" altLang="en-US" sz="2000" dirty="0">
                  <a:solidFill>
                    <a:srgbClr val="FF0000"/>
                  </a:solidFill>
                </a:rPr>
                <a:t> 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492059" y="3783997"/>
                <a:ext cx="6166541" cy="668581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600" dirty="0"/>
                  <a:t>With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probability</a:t>
                </a:r>
                <a:r>
                  <a:rPr lang="zh-CN" altLang="en-US" sz="2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charset="0"/>
                      </a:rPr>
                      <m:t>𝑃</m:t>
                    </m:r>
                    <m:r>
                      <a:rPr lang="en-US" altLang="zh-CN" sz="26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600" b="0" i="1" smtClean="0">
                            <a:latin typeface="Cambria Math" charset="0"/>
                          </a:rPr>
                          <m:t>2</m:t>
                        </m:r>
                        <m:r>
                          <a:rPr lang="en-US" altLang="zh-CN" sz="2600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𝑙</m:t>
                        </m:r>
                      </m:num>
                      <m:den>
                        <m:r>
                          <a:rPr lang="en-US" altLang="zh-CN" sz="2600" b="0" i="1" smtClean="0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2600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altLang="zh-CN" sz="2600" dirty="0"/>
                  <a:t>,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they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are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across.</a:t>
                </a:r>
                <a:endParaRPr lang="en-US" sz="26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2059" y="3783997"/>
                <a:ext cx="6166541" cy="668581"/>
              </a:xfrm>
              <a:prstGeom prst="rect">
                <a:avLst/>
              </a:prstGeom>
              <a:blipFill rotWithShape="0">
                <a:blip r:embed="rId9"/>
                <a:stretch>
                  <a:fillRect b="-11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53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96296E-6 L 0.00013 -0.38912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266700" y="61341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66700" y="50038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66700" y="38735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66700" y="27432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66700" y="16129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ight Brace 25"/>
          <p:cNvSpPr/>
          <p:nvPr/>
        </p:nvSpPr>
        <p:spPr>
          <a:xfrm>
            <a:off x="3873500" y="3873500"/>
            <a:ext cx="457200" cy="1130300"/>
          </a:xfrm>
          <a:prstGeom prst="rightBrac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330700" y="4192428"/>
                <a:ext cx="34323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𝑑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700" y="4192428"/>
                <a:ext cx="343234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Buffon's Needle Problem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"/>
              <p:cNvSpPr txBox="1">
                <a:spLocks/>
              </p:cNvSpPr>
              <p:nvPr/>
            </p:nvSpPr>
            <p:spPr>
              <a:xfrm>
                <a:off x="5492059" y="2082375"/>
                <a:ext cx="6166541" cy="39917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/>
                  <a:t>Randomly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throw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total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needles.</a:t>
                </a:r>
              </a:p>
              <a:p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expectation,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𝑃</m:t>
                    </m:r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  <m:r>
                      <a:rPr lang="en-US" altLang="zh-CN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  <m:r>
                          <a:rPr lang="en-US" altLang="zh-CN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𝑙</m:t>
                        </m:r>
                        <m: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𝜋</m:t>
                        </m:r>
                        <m:r>
                          <a:rPr lang="en-US" altLang="zh-CN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needles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lie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across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lines.</a:t>
                </a:r>
              </a:p>
            </p:txBody>
          </p:sp>
        </mc:Choice>
        <mc:Fallback xmlns="">
          <p:sp>
            <p:nvSpPr>
              <p:cNvPr id="22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2059" y="2082375"/>
                <a:ext cx="6166541" cy="3991765"/>
              </a:xfrm>
              <a:prstGeom prst="rect">
                <a:avLst/>
              </a:prstGeom>
              <a:blipFill rotWithShape="0">
                <a:blip r:embed="rId4"/>
                <a:stretch>
                  <a:fillRect l="-1779" t="-2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492059" y="1116187"/>
                <a:ext cx="6166541" cy="668581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600" dirty="0"/>
                  <a:t>With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probability</a:t>
                </a:r>
                <a:r>
                  <a:rPr lang="zh-CN" altLang="en-US" sz="2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600" i="1">
                        <a:latin typeface="Cambria Math" charset="0"/>
                      </a:rPr>
                      <m:t>𝑃</m:t>
                    </m:r>
                    <m:r>
                      <a:rPr lang="en-US" altLang="zh-CN" sz="2600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600" i="1">
                            <a:latin typeface="Cambria Math" charset="0"/>
                          </a:rPr>
                          <m:t>2</m:t>
                        </m:r>
                        <m:r>
                          <a:rPr lang="en-US" altLang="zh-CN" sz="2600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𝑙</m:t>
                        </m:r>
                      </m:num>
                      <m:den>
                        <m:r>
                          <a:rPr lang="en-US" altLang="zh-CN" sz="2600" i="1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2600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altLang="zh-CN" sz="2600" dirty="0"/>
                  <a:t>,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they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are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across.</a:t>
                </a:r>
                <a:endParaRPr lang="en-US" sz="26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2059" y="1116187"/>
                <a:ext cx="6166541" cy="668581"/>
              </a:xfrm>
              <a:prstGeom prst="rect">
                <a:avLst/>
              </a:prstGeom>
              <a:blipFill rotWithShape="0">
                <a:blip r:embed="rId7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>
            <a:off x="1699203" y="1850647"/>
            <a:ext cx="1221810" cy="745878"/>
            <a:chOff x="1699203" y="1850647"/>
            <a:chExt cx="1221810" cy="745878"/>
          </a:xfrm>
        </p:grpSpPr>
        <p:sp>
          <p:nvSpPr>
            <p:cNvPr id="29" name="Right Brace 28"/>
            <p:cNvSpPr/>
            <p:nvPr/>
          </p:nvSpPr>
          <p:spPr>
            <a:xfrm rot="18700720">
              <a:off x="2098762" y="1774275"/>
              <a:ext cx="422691" cy="1221810"/>
            </a:xfrm>
            <a:prstGeom prst="rightBrac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2320889" y="1850647"/>
                  <a:ext cx="520700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𝑙</m:t>
                        </m:r>
                      </m:oMath>
                    </m:oMathPara>
                  </a14:m>
                  <a:endParaRPr lang="en-US" sz="3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0889" y="1850647"/>
                  <a:ext cx="520700" cy="492443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/>
          <p:cNvGrpSpPr/>
          <p:nvPr/>
        </p:nvGrpSpPr>
        <p:grpSpPr>
          <a:xfrm>
            <a:off x="1215786" y="2204185"/>
            <a:ext cx="1336914" cy="770843"/>
            <a:chOff x="1215786" y="2204185"/>
            <a:chExt cx="1336914" cy="770843"/>
          </a:xfrm>
        </p:grpSpPr>
        <p:cxnSp>
          <p:nvCxnSpPr>
            <p:cNvPr id="37" name="Straight Connector 36"/>
            <p:cNvCxnSpPr/>
            <p:nvPr/>
          </p:nvCxnSpPr>
          <p:spPr>
            <a:xfrm>
              <a:off x="1713297" y="2204185"/>
              <a:ext cx="839403" cy="770843"/>
            </a:xfrm>
            <a:prstGeom prst="line">
              <a:avLst/>
            </a:prstGeom>
            <a:ln w="57150">
              <a:solidFill>
                <a:srgbClr val="FF000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/>
            <p:cNvSpPr/>
            <p:nvPr/>
          </p:nvSpPr>
          <p:spPr>
            <a:xfrm>
              <a:off x="1215786" y="2365835"/>
              <a:ext cx="95571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</a:rPr>
                <a:t>needle</a:t>
              </a:r>
              <a:r>
                <a:rPr lang="zh-CN" altLang="en-US" sz="2000" dirty="0">
                  <a:solidFill>
                    <a:srgbClr val="FF0000"/>
                  </a:solidFill>
                </a:rPr>
                <a:t> 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1564261" y="4207224"/>
            <a:ext cx="955711" cy="840836"/>
            <a:chOff x="1564261" y="4207224"/>
            <a:chExt cx="955711" cy="840836"/>
          </a:xfrm>
        </p:grpSpPr>
        <p:cxnSp>
          <p:nvCxnSpPr>
            <p:cNvPr id="46" name="Straight Connector 45"/>
            <p:cNvCxnSpPr/>
            <p:nvPr/>
          </p:nvCxnSpPr>
          <p:spPr>
            <a:xfrm rot="19320898">
              <a:off x="1650173" y="4207224"/>
              <a:ext cx="839403" cy="770843"/>
            </a:xfrm>
            <a:prstGeom prst="line">
              <a:avLst/>
            </a:prstGeom>
            <a:ln w="57150">
              <a:solidFill>
                <a:srgbClr val="FF000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/>
            <p:cNvSpPr/>
            <p:nvPr/>
          </p:nvSpPr>
          <p:spPr>
            <a:xfrm>
              <a:off x="1564261" y="4647950"/>
              <a:ext cx="95571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</a:rPr>
                <a:t>needle</a:t>
              </a:r>
              <a:r>
                <a:rPr lang="zh-CN" altLang="en-US" sz="2000" dirty="0">
                  <a:solidFill>
                    <a:srgbClr val="FF0000"/>
                  </a:solidFill>
                </a:rPr>
                <a:t> 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7975849" y="2623930"/>
            <a:ext cx="571803" cy="595224"/>
          </a:xfrm>
          <a:prstGeom prst="rect">
            <a:avLst/>
          </a:prstGeom>
          <a:noFill/>
          <a:ln w="7620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7965909" y="2565889"/>
            <a:ext cx="1476265" cy="733901"/>
          </a:xfrm>
          <a:prstGeom prst="rect">
            <a:avLst/>
          </a:prstGeom>
          <a:noFill/>
          <a:ln w="7620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63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266700" y="61341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66700" y="50038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66700" y="38735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66700" y="27432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66700" y="16129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ight Brace 25"/>
          <p:cNvSpPr/>
          <p:nvPr/>
        </p:nvSpPr>
        <p:spPr>
          <a:xfrm>
            <a:off x="3873500" y="3873500"/>
            <a:ext cx="457200" cy="1130300"/>
          </a:xfrm>
          <a:prstGeom prst="rightBrac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330700" y="4192428"/>
                <a:ext cx="34323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𝑑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700" y="4192428"/>
                <a:ext cx="343234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Buffon's Needle Problem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492059" y="2082375"/>
                <a:ext cx="6166541" cy="3991765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Randomly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throw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total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needles.</a:t>
                </a:r>
              </a:p>
              <a:p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expectation,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𝑃</m:t>
                    </m:r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  <m:r>
                          <a:rPr lang="en-US" altLang="zh-CN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𝑙</m:t>
                        </m:r>
                        <m: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𝜋</m:t>
                        </m:r>
                        <m:r>
                          <a:rPr lang="en-US" altLang="zh-CN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needles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lie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across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lines.</a:t>
                </a:r>
              </a:p>
              <a:p>
                <a:r>
                  <a:rPr lang="en-US" altLang="zh-CN" dirty="0"/>
                  <a:t>Actually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observe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𝑚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needles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across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lines.</a:t>
                </a:r>
              </a:p>
              <a:p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big,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𝑚</m:t>
                    </m:r>
                    <m:r>
                      <a:rPr lang="en-US" altLang="zh-CN" i="1">
                        <a:latin typeface="Cambria Math" charset="0"/>
                      </a:rPr>
                      <m:t>≈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𝑙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𝜋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3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92059" y="2082375"/>
                <a:ext cx="6166541" cy="3991765"/>
              </a:xfrm>
              <a:blipFill rotWithShape="0">
                <a:blip r:embed="rId4"/>
                <a:stretch>
                  <a:fillRect l="-1779" t="-2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5492059" y="1116187"/>
                <a:ext cx="6166541" cy="668581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600" dirty="0"/>
                  <a:t>With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probability</a:t>
                </a:r>
                <a:r>
                  <a:rPr lang="zh-CN" altLang="en-US" sz="2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600" i="1">
                        <a:latin typeface="Cambria Math" charset="0"/>
                      </a:rPr>
                      <m:t>𝑃</m:t>
                    </m:r>
                    <m:r>
                      <a:rPr lang="en-US" altLang="zh-CN" sz="2600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600" i="1">
                            <a:latin typeface="Cambria Math" charset="0"/>
                          </a:rPr>
                          <m:t>2</m:t>
                        </m:r>
                        <m:r>
                          <a:rPr lang="en-US" altLang="zh-CN" sz="2600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𝑙</m:t>
                        </m:r>
                      </m:num>
                      <m:den>
                        <m:r>
                          <a:rPr lang="en-US" altLang="zh-CN" sz="2600" i="1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2600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altLang="zh-CN" sz="2600" dirty="0"/>
                  <a:t>,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they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are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across.</a:t>
                </a:r>
                <a:endParaRPr lang="en-US" sz="26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2059" y="1116187"/>
                <a:ext cx="6166541" cy="668581"/>
              </a:xfrm>
              <a:prstGeom prst="rect">
                <a:avLst/>
              </a:prstGeom>
              <a:blipFill rotWithShape="0">
                <a:blip r:embed="rId7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>
            <a:off x="1699203" y="1850647"/>
            <a:ext cx="1221810" cy="745878"/>
            <a:chOff x="1699203" y="1850647"/>
            <a:chExt cx="1221810" cy="745878"/>
          </a:xfrm>
        </p:grpSpPr>
        <p:sp>
          <p:nvSpPr>
            <p:cNvPr id="22" name="Right Brace 21"/>
            <p:cNvSpPr/>
            <p:nvPr/>
          </p:nvSpPr>
          <p:spPr>
            <a:xfrm rot="18700720">
              <a:off x="2098762" y="1774275"/>
              <a:ext cx="422691" cy="1221810"/>
            </a:xfrm>
            <a:prstGeom prst="rightBrac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2320889" y="1850647"/>
                  <a:ext cx="520700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𝑙</m:t>
                        </m:r>
                      </m:oMath>
                    </m:oMathPara>
                  </a14:m>
                  <a:endParaRPr lang="en-US" sz="3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0889" y="1850647"/>
                  <a:ext cx="520700" cy="492443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28"/>
          <p:cNvGrpSpPr/>
          <p:nvPr/>
        </p:nvGrpSpPr>
        <p:grpSpPr>
          <a:xfrm>
            <a:off x="1215786" y="2204185"/>
            <a:ext cx="1336914" cy="770843"/>
            <a:chOff x="1215786" y="2204185"/>
            <a:chExt cx="1336914" cy="770843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1713297" y="2204185"/>
              <a:ext cx="839403" cy="770843"/>
            </a:xfrm>
            <a:prstGeom prst="line">
              <a:avLst/>
            </a:prstGeom>
            <a:ln w="57150">
              <a:solidFill>
                <a:srgbClr val="FF000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/>
            <p:cNvSpPr/>
            <p:nvPr/>
          </p:nvSpPr>
          <p:spPr>
            <a:xfrm>
              <a:off x="1215786" y="2365835"/>
              <a:ext cx="95571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</a:rPr>
                <a:t>needle</a:t>
              </a:r>
              <a:r>
                <a:rPr lang="zh-CN" altLang="en-US" sz="2000" dirty="0">
                  <a:solidFill>
                    <a:srgbClr val="FF0000"/>
                  </a:solidFill>
                </a:rPr>
                <a:t> 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1564261" y="4207224"/>
            <a:ext cx="955711" cy="840836"/>
            <a:chOff x="1564261" y="4207224"/>
            <a:chExt cx="955711" cy="840836"/>
          </a:xfrm>
        </p:grpSpPr>
        <p:cxnSp>
          <p:nvCxnSpPr>
            <p:cNvPr id="46" name="Straight Connector 45"/>
            <p:cNvCxnSpPr/>
            <p:nvPr/>
          </p:nvCxnSpPr>
          <p:spPr>
            <a:xfrm rot="19320898">
              <a:off x="1650173" y="4207224"/>
              <a:ext cx="839403" cy="770843"/>
            </a:xfrm>
            <a:prstGeom prst="line">
              <a:avLst/>
            </a:prstGeom>
            <a:ln w="57150">
              <a:solidFill>
                <a:srgbClr val="FF000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/>
            <p:cNvSpPr/>
            <p:nvPr/>
          </p:nvSpPr>
          <p:spPr>
            <a:xfrm>
              <a:off x="1564261" y="4647950"/>
              <a:ext cx="95571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</a:rPr>
                <a:t>needle</a:t>
              </a:r>
              <a:r>
                <a:rPr lang="zh-CN" altLang="en-US" sz="2000" dirty="0">
                  <a:solidFill>
                    <a:srgbClr val="FF0000"/>
                  </a:solidFill>
                </a:rPr>
                <a:t> 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7937026" y="5307676"/>
            <a:ext cx="791338" cy="45719"/>
          </a:xfrm>
          <a:prstGeom prst="rect">
            <a:avLst/>
          </a:prstGeom>
          <a:noFill/>
          <a:ln w="7620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184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266700" y="61341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66700" y="50038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66700" y="38735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66700" y="27432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66700" y="1612900"/>
            <a:ext cx="34798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ight Brace 25"/>
          <p:cNvSpPr/>
          <p:nvPr/>
        </p:nvSpPr>
        <p:spPr>
          <a:xfrm>
            <a:off x="3873500" y="3873500"/>
            <a:ext cx="457200" cy="1130300"/>
          </a:xfrm>
          <a:prstGeom prst="rightBrac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330700" y="4192428"/>
                <a:ext cx="34323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𝑑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700" y="4192428"/>
                <a:ext cx="343234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Buffon's Needle Problem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492059" y="2082375"/>
                <a:ext cx="6166541" cy="3991765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Randomly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throw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total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needles.</a:t>
                </a:r>
              </a:p>
              <a:p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expectation,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𝑃</m:t>
                    </m:r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  <m:r>
                          <a:rPr lang="en-US" altLang="zh-CN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𝑙</m:t>
                        </m:r>
                        <m: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𝜋</m:t>
                        </m:r>
                        <m:r>
                          <a:rPr lang="en-US" altLang="zh-CN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needles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lie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across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lines.</a:t>
                </a:r>
              </a:p>
              <a:p>
                <a:r>
                  <a:rPr lang="en-US" altLang="zh-CN" dirty="0"/>
                  <a:t>Actually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observe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𝑚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needles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across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lines.</a:t>
                </a:r>
              </a:p>
              <a:p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big,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𝑚</m:t>
                    </m:r>
                    <m:r>
                      <a:rPr lang="en-US" altLang="zh-CN" i="1">
                        <a:latin typeface="Cambria Math" charset="0"/>
                      </a:rPr>
                      <m:t>≈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𝑙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𝜋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dirty="0">
                    <a:sym typeface="Wingdings"/>
                  </a:rPr>
                  <a:t>Thus,</a:t>
                </a:r>
                <a:r>
                  <a:rPr lang="zh-CN" altLang="en-US" dirty="0">
                    <a:sym typeface="Wingdings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𝜋</m:t>
                    </m:r>
                    <m:r>
                      <a:rPr lang="en-US" altLang="zh-CN" b="0" i="1" smtClean="0">
                        <a:latin typeface="Cambria Math" charset="0"/>
                      </a:rPr>
                      <m:t>≈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𝑙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altLang="zh-CN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𝑑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3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92059" y="2082375"/>
                <a:ext cx="6166541" cy="3991765"/>
              </a:xfrm>
              <a:blipFill rotWithShape="0">
                <a:blip r:embed="rId4"/>
                <a:stretch>
                  <a:fillRect l="-1779" t="-2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5492059" y="1116187"/>
                <a:ext cx="6166541" cy="668581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600" dirty="0"/>
                  <a:t>With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probability</a:t>
                </a:r>
                <a:r>
                  <a:rPr lang="zh-CN" altLang="en-US" sz="2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600" i="1">
                        <a:latin typeface="Cambria Math" charset="0"/>
                      </a:rPr>
                      <m:t>𝑃</m:t>
                    </m:r>
                    <m:r>
                      <a:rPr lang="en-US" altLang="zh-CN" sz="2600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600" i="1">
                            <a:latin typeface="Cambria Math" charset="0"/>
                          </a:rPr>
                          <m:t>2</m:t>
                        </m:r>
                        <m:r>
                          <a:rPr lang="en-US" altLang="zh-CN" sz="2600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𝑙</m:t>
                        </m:r>
                      </m:num>
                      <m:den>
                        <m:r>
                          <a:rPr lang="en-US" altLang="zh-CN" sz="2600" i="1">
                            <a:latin typeface="Cambria Math" charset="0"/>
                          </a:rPr>
                          <m:t>𝜋</m:t>
                        </m:r>
                        <m:r>
                          <a:rPr lang="en-US" altLang="zh-CN" sz="2600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altLang="zh-CN" sz="2600" dirty="0"/>
                  <a:t>,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they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are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across.</a:t>
                </a:r>
                <a:endParaRPr lang="en-US" sz="26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2059" y="1116187"/>
                <a:ext cx="6166541" cy="668581"/>
              </a:xfrm>
              <a:prstGeom prst="rect">
                <a:avLst/>
              </a:prstGeom>
              <a:blipFill rotWithShape="0">
                <a:blip r:embed="rId7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>
            <a:off x="1699203" y="1850647"/>
            <a:ext cx="1221810" cy="745878"/>
            <a:chOff x="1699203" y="1850647"/>
            <a:chExt cx="1221810" cy="745878"/>
          </a:xfrm>
        </p:grpSpPr>
        <p:sp>
          <p:nvSpPr>
            <p:cNvPr id="22" name="Right Brace 21"/>
            <p:cNvSpPr/>
            <p:nvPr/>
          </p:nvSpPr>
          <p:spPr>
            <a:xfrm rot="18700720">
              <a:off x="2098762" y="1774275"/>
              <a:ext cx="422691" cy="1221810"/>
            </a:xfrm>
            <a:prstGeom prst="rightBrac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2320889" y="1850647"/>
                  <a:ext cx="520700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𝑙</m:t>
                        </m:r>
                      </m:oMath>
                    </m:oMathPara>
                  </a14:m>
                  <a:endParaRPr lang="en-US" sz="3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0889" y="1850647"/>
                  <a:ext cx="520700" cy="492443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28"/>
          <p:cNvGrpSpPr/>
          <p:nvPr/>
        </p:nvGrpSpPr>
        <p:grpSpPr>
          <a:xfrm>
            <a:off x="1215786" y="2204185"/>
            <a:ext cx="1336914" cy="770843"/>
            <a:chOff x="1215786" y="2204185"/>
            <a:chExt cx="1336914" cy="770843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1713297" y="2204185"/>
              <a:ext cx="839403" cy="770843"/>
            </a:xfrm>
            <a:prstGeom prst="line">
              <a:avLst/>
            </a:prstGeom>
            <a:ln w="57150">
              <a:solidFill>
                <a:srgbClr val="FF000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/>
            <p:cNvSpPr/>
            <p:nvPr/>
          </p:nvSpPr>
          <p:spPr>
            <a:xfrm>
              <a:off x="1215786" y="2365835"/>
              <a:ext cx="95571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</a:rPr>
                <a:t>needle</a:t>
              </a:r>
              <a:r>
                <a:rPr lang="zh-CN" altLang="en-US" sz="2000" dirty="0">
                  <a:solidFill>
                    <a:srgbClr val="FF0000"/>
                  </a:solidFill>
                </a:rPr>
                <a:t> 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1564261" y="4207224"/>
            <a:ext cx="955711" cy="840836"/>
            <a:chOff x="1564261" y="4207224"/>
            <a:chExt cx="955711" cy="840836"/>
          </a:xfrm>
        </p:grpSpPr>
        <p:cxnSp>
          <p:nvCxnSpPr>
            <p:cNvPr id="46" name="Straight Connector 45"/>
            <p:cNvCxnSpPr/>
            <p:nvPr/>
          </p:nvCxnSpPr>
          <p:spPr>
            <a:xfrm rot="19320898">
              <a:off x="1650173" y="4207224"/>
              <a:ext cx="839403" cy="770843"/>
            </a:xfrm>
            <a:prstGeom prst="line">
              <a:avLst/>
            </a:prstGeom>
            <a:ln w="57150">
              <a:solidFill>
                <a:srgbClr val="FF000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/>
            <p:cNvSpPr/>
            <p:nvPr/>
          </p:nvSpPr>
          <p:spPr>
            <a:xfrm>
              <a:off x="1564261" y="4647950"/>
              <a:ext cx="95571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</a:rPr>
                <a:t>needle</a:t>
              </a:r>
              <a:r>
                <a:rPr lang="zh-CN" altLang="en-US" sz="2000" dirty="0">
                  <a:solidFill>
                    <a:srgbClr val="FF0000"/>
                  </a:solidFill>
                </a:rPr>
                <a:t> 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606989" y="5961921"/>
            <a:ext cx="1472981" cy="45719"/>
          </a:xfrm>
          <a:prstGeom prst="rect">
            <a:avLst/>
          </a:prstGeom>
          <a:noFill/>
          <a:ln w="7620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656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83716429"/>
                  </p:ext>
                </p:extLst>
              </p:nvPr>
            </p:nvGraphicFramePr>
            <p:xfrm>
              <a:off x="647700" y="1974374"/>
              <a:ext cx="10896600" cy="3164840"/>
            </p:xfrm>
            <a:graphic>
              <a:graphicData uri="http://schemas.openxmlformats.org/drawingml/2006/table">
                <a:tbl>
                  <a:tblPr/>
                  <a:tblGrid>
                    <a:gridCol w="2179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793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7932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7932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17932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1460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i="0" dirty="0">
                              <a:solidFill>
                                <a:srgbClr val="333333"/>
                              </a:solidFill>
                              <a:effectLst/>
                            </a:rPr>
                            <a:t>Researcher</a:t>
                          </a:r>
                          <a:endParaRPr lang="zh-CN" altLang="en-US" sz="2800" b="1" i="0" dirty="0">
                            <a:solidFill>
                              <a:srgbClr val="333333"/>
                            </a:solidFill>
                            <a:effectLst/>
                          </a:endParaRP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8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i="0" dirty="0">
                              <a:solidFill>
                                <a:srgbClr val="333333"/>
                              </a:solidFill>
                              <a:effectLst/>
                            </a:rPr>
                            <a:t>Year</a:t>
                          </a:r>
                          <a:endParaRPr lang="zh-CN" altLang="en-US" sz="2800" b="1" i="0" dirty="0">
                            <a:solidFill>
                              <a:srgbClr val="333333"/>
                            </a:solidFill>
                            <a:effectLst/>
                          </a:endParaRP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8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dirty="0" smtClean="0">
                                    <a:solidFill>
                                      <a:srgbClr val="333333"/>
                                    </a:solidFill>
                                    <a:effectLst/>
                                    <a:latin typeface="Cambria Math" charset="0"/>
                                  </a:rPr>
                                  <m:t>𝑛</m:t>
                                </m:r>
                                <m:r>
                                  <a:rPr lang="en-US" altLang="zh-CN" sz="2800" b="0" i="1" dirty="0" smtClean="0">
                                    <a:solidFill>
                                      <a:srgbClr val="333333"/>
                                    </a:solidFill>
                                    <a:effectLst/>
                                    <a:latin typeface="Cambria Math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ja-JP" altLang="en-US" sz="2800" b="0" i="1" dirty="0">
                            <a:solidFill>
                              <a:srgbClr val="333333"/>
                            </a:solidFill>
                            <a:effectLst/>
                          </a:endParaRP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8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dirty="0" smtClean="0">
                                    <a:solidFill>
                                      <a:srgbClr val="333333"/>
                                    </a:solidFill>
                                    <a:effectLst/>
                                    <a:latin typeface="Cambria Math" charset="0"/>
                                  </a:rPr>
                                  <m:t>𝑚</m:t>
                                </m:r>
                                <m:r>
                                  <a:rPr lang="en-US" altLang="zh-CN" sz="2800" b="0" i="1" dirty="0" smtClean="0">
                                    <a:solidFill>
                                      <a:srgbClr val="333333"/>
                                    </a:solidFill>
                                    <a:effectLst/>
                                    <a:latin typeface="Cambria Math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ja-JP" altLang="en-US" sz="2800" b="0" i="1" dirty="0">
                            <a:solidFill>
                              <a:srgbClr val="333333"/>
                            </a:solidFill>
                            <a:effectLst/>
                          </a:endParaRP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8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i="0" dirty="0">
                              <a:solidFill>
                                <a:srgbClr val="333333"/>
                              </a:solidFill>
                              <a:effectLst/>
                            </a:rPr>
                            <a:t>Estimate</a:t>
                          </a:r>
                          <a:r>
                            <a:rPr lang="zh-CN" altLang="en-US" sz="2800" b="1" i="0" dirty="0">
                              <a:solidFill>
                                <a:srgbClr val="333333"/>
                              </a:solidFill>
                              <a:effectLst/>
                            </a:rPr>
                            <a:t> </a:t>
                          </a:r>
                          <a:r>
                            <a:rPr lang="en-US" altLang="zh-CN" sz="2800" b="1" i="0" dirty="0">
                              <a:solidFill>
                                <a:srgbClr val="333333"/>
                              </a:solidFill>
                              <a:effectLst/>
                            </a:rPr>
                            <a:t>of</a:t>
                          </a:r>
                          <a:r>
                            <a:rPr lang="zh-CN" altLang="en-US" sz="2800" b="1" i="0" dirty="0">
                              <a:solidFill>
                                <a:srgbClr val="333333"/>
                              </a:solidFill>
                              <a:effectLst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800" b="1" i="0" smtClean="0">
                                  <a:solidFill>
                                    <a:srgbClr val="333333"/>
                                  </a:solidFill>
                                  <a:effectLst/>
                                  <a:latin typeface="Cambria Math" charset="0"/>
                                </a:rPr>
                                <m:t>𝛑</m:t>
                              </m:r>
                            </m:oMath>
                          </a14:m>
                          <a:endParaRPr lang="zh-CN" altLang="en-US" sz="2800" b="1" i="0" dirty="0">
                            <a:solidFill>
                              <a:srgbClr val="333333"/>
                            </a:solidFill>
                            <a:effectLst/>
                          </a:endParaRP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8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39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Wolf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i-FI" sz="2800" i="0" dirty="0">
                              <a:solidFill>
                                <a:srgbClr val="333333"/>
                              </a:solidFill>
                              <a:effectLst/>
                            </a:rPr>
                            <a:t>1850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s-I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5000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s-I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2532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r-HR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3.1596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39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Smith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i-FI" sz="2800" i="0" dirty="0">
                              <a:solidFill>
                                <a:srgbClr val="333333"/>
                              </a:solidFill>
                              <a:effectLst/>
                            </a:rPr>
                            <a:t>1855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s-I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3204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cs-CZ" sz="2800" i="0" dirty="0">
                              <a:solidFill>
                                <a:srgbClr val="333333"/>
                              </a:solidFill>
                              <a:effectLst/>
                            </a:rPr>
                            <a:t>1218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r-HR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3.1554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39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i="0" dirty="0">
                              <a:solidFill>
                                <a:srgbClr val="333333"/>
                              </a:solidFill>
                              <a:effectLst/>
                            </a:rPr>
                            <a:t>De Morgan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i-FI" sz="2800" i="0" dirty="0">
                              <a:effectLst/>
                            </a:rPr>
                            <a:t>1860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s-I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600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r-HR" sz="2800" i="0" dirty="0">
                              <a:solidFill>
                                <a:srgbClr val="333333"/>
                              </a:solidFill>
                              <a:effectLst/>
                            </a:rPr>
                            <a:t>382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r-HR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3.137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39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i="0" dirty="0">
                              <a:solidFill>
                                <a:srgbClr val="333333"/>
                              </a:solidFill>
                              <a:effectLst/>
                            </a:rPr>
                            <a:t>Fox</a:t>
                          </a:r>
                          <a:endParaRPr lang="en-US" sz="2800" i="0" dirty="0">
                            <a:solidFill>
                              <a:srgbClr val="333333"/>
                            </a:solidFill>
                            <a:effectLst/>
                          </a:endParaRP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i-FI" sz="2800" i="0" dirty="0">
                              <a:solidFill>
                                <a:srgbClr val="333333"/>
                              </a:solidFill>
                              <a:effectLst/>
                            </a:rPr>
                            <a:t>1884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1030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cs-CZ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489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r-HR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3.1595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39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Lazzerini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s-IS" sz="2800" i="0" dirty="0">
                              <a:solidFill>
                                <a:srgbClr val="333333"/>
                              </a:solidFill>
                              <a:effectLst/>
                            </a:rPr>
                            <a:t>1901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s-IS" sz="2800" i="0" dirty="0">
                              <a:solidFill>
                                <a:srgbClr val="333333"/>
                              </a:solidFill>
                              <a:effectLst/>
                            </a:rPr>
                            <a:t>3408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s-I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1808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r-HR" sz="2800" i="0" dirty="0">
                              <a:solidFill>
                                <a:srgbClr val="333333"/>
                              </a:solidFill>
                              <a:effectLst/>
                            </a:rPr>
                            <a:t>3.1415929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39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Reina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s-IS" sz="2800" i="0" dirty="0">
                              <a:solidFill>
                                <a:srgbClr val="333333"/>
                              </a:solidFill>
                              <a:effectLst/>
                            </a:rPr>
                            <a:t>1925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s-I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2520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859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i-FI" sz="2800" i="0" dirty="0">
                              <a:solidFill>
                                <a:srgbClr val="333333"/>
                              </a:solidFill>
                              <a:effectLst/>
                            </a:rPr>
                            <a:t>3.1795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83716429"/>
                  </p:ext>
                </p:extLst>
              </p:nvPr>
            </p:nvGraphicFramePr>
            <p:xfrm>
              <a:off x="647700" y="1974374"/>
              <a:ext cx="10896600" cy="3164840"/>
            </p:xfrm>
            <a:graphic>
              <a:graphicData uri="http://schemas.openxmlformats.org/drawingml/2006/table">
                <a:tbl>
                  <a:tblPr/>
                  <a:tblGrid>
                    <a:gridCol w="2179320"/>
                    <a:gridCol w="2179320"/>
                    <a:gridCol w="2179320"/>
                    <a:gridCol w="2179320"/>
                    <a:gridCol w="2179320"/>
                  </a:tblGrid>
                  <a:tr h="452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i="0" dirty="0" smtClean="0">
                              <a:solidFill>
                                <a:srgbClr val="333333"/>
                              </a:solidFill>
                              <a:effectLst/>
                            </a:rPr>
                            <a:t>Researcher</a:t>
                          </a:r>
                          <a:endParaRPr lang="zh-CN" altLang="en-US" sz="2800" b="1" i="0" dirty="0">
                            <a:solidFill>
                              <a:srgbClr val="333333"/>
                            </a:solidFill>
                            <a:effectLst/>
                          </a:endParaRP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8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i="0" dirty="0" smtClean="0">
                              <a:solidFill>
                                <a:srgbClr val="333333"/>
                              </a:solidFill>
                              <a:effectLst/>
                            </a:rPr>
                            <a:t>Year</a:t>
                          </a:r>
                          <a:endParaRPr lang="zh-CN" altLang="en-US" sz="2800" b="1" i="0" dirty="0">
                            <a:solidFill>
                              <a:srgbClr val="333333"/>
                            </a:solidFill>
                            <a:effectLst/>
                          </a:endParaRP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8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00000" t="-18919" r="-200000" b="-648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00840" t="-18919" r="-100560" b="-648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99721" t="-18919" r="-279" b="-648649"/>
                          </a:stretch>
                        </a:blipFill>
                      </a:tcPr>
                    </a:tc>
                  </a:tr>
                  <a:tr h="452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Wolf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i-FI" sz="2800" i="0" dirty="0" smtClean="0">
                              <a:solidFill>
                                <a:srgbClr val="333333"/>
                              </a:solidFill>
                              <a:effectLst/>
                            </a:rPr>
                            <a:t>1850</a:t>
                          </a:r>
                          <a:endParaRPr lang="fi-FI" sz="2800" i="0" dirty="0">
                            <a:solidFill>
                              <a:srgbClr val="333333"/>
                            </a:solidFill>
                            <a:effectLst/>
                          </a:endParaRP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s-I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5000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s-I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2532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r-HR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3.1596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</a:tr>
                  <a:tr h="452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Smith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i-FI" sz="2800" i="0" dirty="0" smtClean="0">
                              <a:solidFill>
                                <a:srgbClr val="333333"/>
                              </a:solidFill>
                              <a:effectLst/>
                            </a:rPr>
                            <a:t>1855</a:t>
                          </a:r>
                          <a:endParaRPr lang="fi-FI" sz="2800" i="0" dirty="0">
                            <a:solidFill>
                              <a:srgbClr val="333333"/>
                            </a:solidFill>
                            <a:effectLst/>
                          </a:endParaRP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s-I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3204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cs-CZ" sz="2800" i="0" dirty="0" smtClean="0">
                              <a:solidFill>
                                <a:srgbClr val="333333"/>
                              </a:solidFill>
                              <a:effectLst/>
                            </a:rPr>
                            <a:t>1218</a:t>
                          </a:r>
                          <a:endParaRPr lang="cs-CZ" sz="2800" i="0" dirty="0">
                            <a:solidFill>
                              <a:srgbClr val="333333"/>
                            </a:solidFill>
                            <a:effectLst/>
                          </a:endParaRP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r-HR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3.1554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</a:tr>
                  <a:tr h="452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i="0" dirty="0" smtClean="0">
                              <a:solidFill>
                                <a:srgbClr val="333333"/>
                              </a:solidFill>
                              <a:effectLst/>
                            </a:rPr>
                            <a:t>De </a:t>
                          </a:r>
                          <a:r>
                            <a:rPr lang="en-US" sz="2800" i="0" dirty="0">
                              <a:solidFill>
                                <a:srgbClr val="333333"/>
                              </a:solidFill>
                              <a:effectLst/>
                            </a:rPr>
                            <a:t>Morgan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i-FI" sz="2800" i="0" dirty="0" smtClean="0">
                              <a:effectLst/>
                            </a:rPr>
                            <a:t>1860</a:t>
                          </a:r>
                          <a:endParaRPr lang="fi-FI" sz="2800" i="0" dirty="0">
                            <a:effectLst/>
                          </a:endParaRP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s-I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600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r-HR" sz="2800" i="0" dirty="0" smtClean="0">
                              <a:solidFill>
                                <a:srgbClr val="333333"/>
                              </a:solidFill>
                              <a:effectLst/>
                            </a:rPr>
                            <a:t>382</a:t>
                          </a:r>
                          <a:endParaRPr lang="hr-HR" sz="2800" i="0" dirty="0">
                            <a:solidFill>
                              <a:srgbClr val="333333"/>
                            </a:solidFill>
                            <a:effectLst/>
                          </a:endParaRP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r-HR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3.137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</a:tr>
                  <a:tr h="452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i="0" dirty="0" smtClean="0">
                              <a:solidFill>
                                <a:srgbClr val="333333"/>
                              </a:solidFill>
                              <a:effectLst/>
                            </a:rPr>
                            <a:t>Fox</a:t>
                          </a:r>
                          <a:endParaRPr lang="en-US" sz="2800" i="0" dirty="0">
                            <a:solidFill>
                              <a:srgbClr val="333333"/>
                            </a:solidFill>
                            <a:effectLst/>
                          </a:endParaRP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i-FI" sz="2800" i="0" dirty="0" smtClean="0">
                              <a:solidFill>
                                <a:srgbClr val="333333"/>
                              </a:solidFill>
                              <a:effectLst/>
                            </a:rPr>
                            <a:t>1884</a:t>
                          </a:r>
                          <a:endParaRPr lang="fi-FI" sz="2800" i="0" dirty="0">
                            <a:solidFill>
                              <a:srgbClr val="333333"/>
                            </a:solidFill>
                            <a:effectLst/>
                          </a:endParaRP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1030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cs-CZ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489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r-HR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3.1595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</a:tr>
                  <a:tr h="452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Lazzerini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s-IS" sz="2800" i="0" dirty="0" smtClean="0">
                              <a:solidFill>
                                <a:srgbClr val="333333"/>
                              </a:solidFill>
                              <a:effectLst/>
                            </a:rPr>
                            <a:t>1901</a:t>
                          </a:r>
                          <a:endParaRPr lang="is-IS" sz="2800" i="0" dirty="0">
                            <a:solidFill>
                              <a:srgbClr val="333333"/>
                            </a:solidFill>
                            <a:effectLst/>
                          </a:endParaRP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s-I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3408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s-I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1808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r-HR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3.1415929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</a:tr>
                  <a:tr h="452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Reina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s-IS" sz="2800" i="0" dirty="0" smtClean="0">
                              <a:solidFill>
                                <a:srgbClr val="333333"/>
                              </a:solidFill>
                              <a:effectLst/>
                            </a:rPr>
                            <a:t>1925</a:t>
                          </a:r>
                          <a:endParaRPr lang="is-IS" sz="2800" i="0" dirty="0">
                            <a:solidFill>
                              <a:srgbClr val="333333"/>
                            </a:solidFill>
                            <a:effectLst/>
                          </a:endParaRP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s-I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2520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i="0">
                              <a:solidFill>
                                <a:srgbClr val="333333"/>
                              </a:solidFill>
                              <a:effectLst/>
                            </a:rPr>
                            <a:t>859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i-FI" sz="2800" i="0" dirty="0">
                              <a:solidFill>
                                <a:srgbClr val="333333"/>
                              </a:solidFill>
                              <a:effectLst/>
                            </a:rPr>
                            <a:t>3.1795</a:t>
                          </a:r>
                        </a:p>
                      </a:txBody>
                      <a:tcPr marL="63500" marR="63500" marT="12700" marB="12700" anchor="ctr">
                        <a:lnL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E6E6E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Buffon's Needle Problem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31658" y="4216398"/>
            <a:ext cx="10896599" cy="49998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" name="Freeform 2"/>
          <p:cNvSpPr/>
          <p:nvPr/>
        </p:nvSpPr>
        <p:spPr>
          <a:xfrm>
            <a:off x="9513870" y="4191856"/>
            <a:ext cx="1859718" cy="544531"/>
          </a:xfrm>
          <a:custGeom>
            <a:avLst/>
            <a:gdLst>
              <a:gd name="connsiteX0" fmla="*/ 1335640 w 1859718"/>
              <a:gd name="connsiteY0" fmla="*/ 41097 h 544531"/>
              <a:gd name="connsiteX1" fmla="*/ 1253447 w 1859718"/>
              <a:gd name="connsiteY1" fmla="*/ 30823 h 544531"/>
              <a:gd name="connsiteX2" fmla="*/ 1202076 w 1859718"/>
              <a:gd name="connsiteY2" fmla="*/ 20548 h 544531"/>
              <a:gd name="connsiteX3" fmla="*/ 945222 w 1859718"/>
              <a:gd name="connsiteY3" fmla="*/ 0 h 544531"/>
              <a:gd name="connsiteX4" fmla="*/ 472611 w 1859718"/>
              <a:gd name="connsiteY4" fmla="*/ 10274 h 544531"/>
              <a:gd name="connsiteX5" fmla="*/ 390418 w 1859718"/>
              <a:gd name="connsiteY5" fmla="*/ 20548 h 544531"/>
              <a:gd name="connsiteX6" fmla="*/ 328773 w 1859718"/>
              <a:gd name="connsiteY6" fmla="*/ 30823 h 544531"/>
              <a:gd name="connsiteX7" fmla="*/ 236305 w 1859718"/>
              <a:gd name="connsiteY7" fmla="*/ 51371 h 544531"/>
              <a:gd name="connsiteX8" fmla="*/ 133564 w 1859718"/>
              <a:gd name="connsiteY8" fmla="*/ 82193 h 544531"/>
              <a:gd name="connsiteX9" fmla="*/ 30822 w 1859718"/>
              <a:gd name="connsiteY9" fmla="*/ 154113 h 544531"/>
              <a:gd name="connsiteX10" fmla="*/ 10274 w 1859718"/>
              <a:gd name="connsiteY10" fmla="*/ 215757 h 544531"/>
              <a:gd name="connsiteX11" fmla="*/ 0 w 1859718"/>
              <a:gd name="connsiteY11" fmla="*/ 246580 h 544531"/>
              <a:gd name="connsiteX12" fmla="*/ 20548 w 1859718"/>
              <a:gd name="connsiteY12" fmla="*/ 369870 h 544531"/>
              <a:gd name="connsiteX13" fmla="*/ 123290 w 1859718"/>
              <a:gd name="connsiteY13" fmla="*/ 472611 h 544531"/>
              <a:gd name="connsiteX14" fmla="*/ 143838 w 1859718"/>
              <a:gd name="connsiteY14" fmla="*/ 493160 h 544531"/>
              <a:gd name="connsiteX15" fmla="*/ 205483 w 1859718"/>
              <a:gd name="connsiteY15" fmla="*/ 523982 h 544531"/>
              <a:gd name="connsiteX16" fmla="*/ 482885 w 1859718"/>
              <a:gd name="connsiteY16" fmla="*/ 544531 h 544531"/>
              <a:gd name="connsiteX17" fmla="*/ 1417833 w 1859718"/>
              <a:gd name="connsiteY17" fmla="*/ 534256 h 544531"/>
              <a:gd name="connsiteX18" fmla="*/ 1458930 w 1859718"/>
              <a:gd name="connsiteY18" fmla="*/ 523982 h 544531"/>
              <a:gd name="connsiteX19" fmla="*/ 1510301 w 1859718"/>
              <a:gd name="connsiteY19" fmla="*/ 513708 h 544531"/>
              <a:gd name="connsiteX20" fmla="*/ 1633591 w 1859718"/>
              <a:gd name="connsiteY20" fmla="*/ 493160 h 544531"/>
              <a:gd name="connsiteX21" fmla="*/ 1746606 w 1859718"/>
              <a:gd name="connsiteY21" fmla="*/ 462337 h 544531"/>
              <a:gd name="connsiteX22" fmla="*/ 1767155 w 1859718"/>
              <a:gd name="connsiteY22" fmla="*/ 431515 h 544531"/>
              <a:gd name="connsiteX23" fmla="*/ 1808251 w 1859718"/>
              <a:gd name="connsiteY23" fmla="*/ 380144 h 544531"/>
              <a:gd name="connsiteX24" fmla="*/ 1839074 w 1859718"/>
              <a:gd name="connsiteY24" fmla="*/ 328773 h 544531"/>
              <a:gd name="connsiteX25" fmla="*/ 1859622 w 1859718"/>
              <a:gd name="connsiteY25" fmla="*/ 267128 h 544531"/>
              <a:gd name="connsiteX26" fmla="*/ 1849348 w 1859718"/>
              <a:gd name="connsiteY26" fmla="*/ 113016 h 544531"/>
              <a:gd name="connsiteX27" fmla="*/ 1592494 w 1859718"/>
              <a:gd name="connsiteY27" fmla="*/ 51371 h 544531"/>
              <a:gd name="connsiteX28" fmla="*/ 1448656 w 1859718"/>
              <a:gd name="connsiteY28" fmla="*/ 41097 h 544531"/>
              <a:gd name="connsiteX29" fmla="*/ 1387011 w 1859718"/>
              <a:gd name="connsiteY29" fmla="*/ 30823 h 544531"/>
              <a:gd name="connsiteX30" fmla="*/ 1335640 w 1859718"/>
              <a:gd name="connsiteY30" fmla="*/ 41097 h 54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859718" h="544531">
                <a:moveTo>
                  <a:pt x="1335640" y="41097"/>
                </a:moveTo>
                <a:cubicBezTo>
                  <a:pt x="1313379" y="41097"/>
                  <a:pt x="1280737" y="35022"/>
                  <a:pt x="1253447" y="30823"/>
                </a:cubicBezTo>
                <a:cubicBezTo>
                  <a:pt x="1236187" y="28168"/>
                  <a:pt x="1219363" y="23018"/>
                  <a:pt x="1202076" y="20548"/>
                </a:cubicBezTo>
                <a:cubicBezTo>
                  <a:pt x="1113137" y="7842"/>
                  <a:pt x="1037712" y="5781"/>
                  <a:pt x="945222" y="0"/>
                </a:cubicBezTo>
                <a:lnTo>
                  <a:pt x="472611" y="10274"/>
                </a:lnTo>
                <a:cubicBezTo>
                  <a:pt x="445019" y="11296"/>
                  <a:pt x="417751" y="16643"/>
                  <a:pt x="390418" y="20548"/>
                </a:cubicBezTo>
                <a:cubicBezTo>
                  <a:pt x="369796" y="23494"/>
                  <a:pt x="349269" y="27096"/>
                  <a:pt x="328773" y="30823"/>
                </a:cubicBezTo>
                <a:cubicBezTo>
                  <a:pt x="303954" y="35336"/>
                  <a:pt x="261676" y="43760"/>
                  <a:pt x="236305" y="51371"/>
                </a:cubicBezTo>
                <a:cubicBezTo>
                  <a:pt x="111231" y="88893"/>
                  <a:pt x="228291" y="58511"/>
                  <a:pt x="133564" y="82193"/>
                </a:cubicBezTo>
                <a:cubicBezTo>
                  <a:pt x="80234" y="108858"/>
                  <a:pt x="52274" y="105846"/>
                  <a:pt x="30822" y="154113"/>
                </a:cubicBezTo>
                <a:cubicBezTo>
                  <a:pt x="22025" y="173906"/>
                  <a:pt x="17123" y="195209"/>
                  <a:pt x="10274" y="215757"/>
                </a:cubicBezTo>
                <a:lnTo>
                  <a:pt x="0" y="246580"/>
                </a:lnTo>
                <a:cubicBezTo>
                  <a:pt x="1886" y="263553"/>
                  <a:pt x="3814" y="339749"/>
                  <a:pt x="20548" y="369870"/>
                </a:cubicBezTo>
                <a:cubicBezTo>
                  <a:pt x="89049" y="493172"/>
                  <a:pt x="27392" y="376708"/>
                  <a:pt x="123290" y="472611"/>
                </a:cubicBezTo>
                <a:cubicBezTo>
                  <a:pt x="130139" y="479461"/>
                  <a:pt x="136274" y="487109"/>
                  <a:pt x="143838" y="493160"/>
                </a:cubicBezTo>
                <a:cubicBezTo>
                  <a:pt x="166666" y="511423"/>
                  <a:pt x="177861" y="517077"/>
                  <a:pt x="205483" y="523982"/>
                </a:cubicBezTo>
                <a:cubicBezTo>
                  <a:pt x="300175" y="547654"/>
                  <a:pt x="371725" y="539478"/>
                  <a:pt x="482885" y="544531"/>
                </a:cubicBezTo>
                <a:lnTo>
                  <a:pt x="1417833" y="534256"/>
                </a:lnTo>
                <a:cubicBezTo>
                  <a:pt x="1431950" y="533959"/>
                  <a:pt x="1445146" y="527045"/>
                  <a:pt x="1458930" y="523982"/>
                </a:cubicBezTo>
                <a:cubicBezTo>
                  <a:pt x="1475977" y="520194"/>
                  <a:pt x="1493104" y="516743"/>
                  <a:pt x="1510301" y="513708"/>
                </a:cubicBezTo>
                <a:cubicBezTo>
                  <a:pt x="1551331" y="506468"/>
                  <a:pt x="1593172" y="503265"/>
                  <a:pt x="1633591" y="493160"/>
                </a:cubicBezTo>
                <a:cubicBezTo>
                  <a:pt x="1726290" y="469984"/>
                  <a:pt x="1688992" y="481542"/>
                  <a:pt x="1746606" y="462337"/>
                </a:cubicBezTo>
                <a:cubicBezTo>
                  <a:pt x="1753456" y="452063"/>
                  <a:pt x="1759441" y="441157"/>
                  <a:pt x="1767155" y="431515"/>
                </a:cubicBezTo>
                <a:cubicBezTo>
                  <a:pt x="1792637" y="399663"/>
                  <a:pt x="1787171" y="422303"/>
                  <a:pt x="1808251" y="380144"/>
                </a:cubicBezTo>
                <a:cubicBezTo>
                  <a:pt x="1834926" y="326795"/>
                  <a:pt x="1798939" y="368910"/>
                  <a:pt x="1839074" y="328773"/>
                </a:cubicBezTo>
                <a:cubicBezTo>
                  <a:pt x="1845923" y="308225"/>
                  <a:pt x="1861063" y="288740"/>
                  <a:pt x="1859622" y="267128"/>
                </a:cubicBezTo>
                <a:cubicBezTo>
                  <a:pt x="1856197" y="215757"/>
                  <a:pt x="1864142" y="162329"/>
                  <a:pt x="1849348" y="113016"/>
                </a:cubicBezTo>
                <a:cubicBezTo>
                  <a:pt x="1820426" y="16609"/>
                  <a:pt x="1621259" y="53063"/>
                  <a:pt x="1592494" y="51371"/>
                </a:cubicBezTo>
                <a:cubicBezTo>
                  <a:pt x="1544509" y="48548"/>
                  <a:pt x="1496602" y="44522"/>
                  <a:pt x="1448656" y="41097"/>
                </a:cubicBezTo>
                <a:cubicBezTo>
                  <a:pt x="1428108" y="37672"/>
                  <a:pt x="1407221" y="35876"/>
                  <a:pt x="1387011" y="30823"/>
                </a:cubicBezTo>
                <a:cubicBezTo>
                  <a:pt x="1322117" y="14599"/>
                  <a:pt x="1357901" y="41097"/>
                  <a:pt x="1335640" y="41097"/>
                </a:cubicBezTo>
                <a:close/>
              </a:path>
            </a:pathLst>
          </a:custGeom>
          <a:noFill/>
          <a:ln w="76200">
            <a:solidFill>
              <a:srgbClr val="0924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752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114" y="623458"/>
            <a:ext cx="7657771" cy="5743328"/>
          </a:xfr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Buffon's Needle Problem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8212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Application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3: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Area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Region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1090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1200"/>
            <a:ext cx="3952875" cy="407670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571500" y="5930900"/>
            <a:ext cx="5143500" cy="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 flipV="1">
            <a:off x="863600" y="1574800"/>
            <a:ext cx="0" cy="468630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What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is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area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grey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region?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852256" y="2112885"/>
            <a:ext cx="3844031" cy="3835154"/>
          </a:xfrm>
          <a:custGeom>
            <a:avLst/>
            <a:gdLst>
              <a:gd name="connsiteX0" fmla="*/ 1890944 w 3844031"/>
              <a:gd name="connsiteY0" fmla="*/ 0 h 3835154"/>
              <a:gd name="connsiteX1" fmla="*/ 1411550 w 3844031"/>
              <a:gd name="connsiteY1" fmla="*/ 79899 h 3835154"/>
              <a:gd name="connsiteX2" fmla="*/ 1012055 w 3844031"/>
              <a:gd name="connsiteY2" fmla="*/ 230820 h 3835154"/>
              <a:gd name="connsiteX3" fmla="*/ 674703 w 3844031"/>
              <a:gd name="connsiteY3" fmla="*/ 488272 h 3835154"/>
              <a:gd name="connsiteX4" fmla="*/ 435006 w 3844031"/>
              <a:gd name="connsiteY4" fmla="*/ 745725 h 3835154"/>
              <a:gd name="connsiteX5" fmla="*/ 239697 w 3844031"/>
              <a:gd name="connsiteY5" fmla="*/ 1047565 h 3835154"/>
              <a:gd name="connsiteX6" fmla="*/ 79899 w 3844031"/>
              <a:gd name="connsiteY6" fmla="*/ 1429305 h 3835154"/>
              <a:gd name="connsiteX7" fmla="*/ 17756 w 3844031"/>
              <a:gd name="connsiteY7" fmla="*/ 1677880 h 3835154"/>
              <a:gd name="connsiteX8" fmla="*/ 0 w 3844031"/>
              <a:gd name="connsiteY8" fmla="*/ 2050742 h 3835154"/>
              <a:gd name="connsiteX9" fmla="*/ 53266 w 3844031"/>
              <a:gd name="connsiteY9" fmla="*/ 2334828 h 3835154"/>
              <a:gd name="connsiteX10" fmla="*/ 168676 w 3844031"/>
              <a:gd name="connsiteY10" fmla="*/ 2707690 h 3835154"/>
              <a:gd name="connsiteX11" fmla="*/ 355107 w 3844031"/>
              <a:gd name="connsiteY11" fmla="*/ 3027286 h 3835154"/>
              <a:gd name="connsiteX12" fmla="*/ 585927 w 3844031"/>
              <a:gd name="connsiteY12" fmla="*/ 3302494 h 3835154"/>
              <a:gd name="connsiteX13" fmla="*/ 861134 w 3844031"/>
              <a:gd name="connsiteY13" fmla="*/ 3533313 h 3835154"/>
              <a:gd name="connsiteX14" fmla="*/ 1180730 w 3844031"/>
              <a:gd name="connsiteY14" fmla="*/ 3684233 h 3835154"/>
              <a:gd name="connsiteX15" fmla="*/ 1553593 w 3844031"/>
              <a:gd name="connsiteY15" fmla="*/ 3799643 h 3835154"/>
              <a:gd name="connsiteX16" fmla="*/ 1917577 w 3844031"/>
              <a:gd name="connsiteY16" fmla="*/ 3835154 h 3835154"/>
              <a:gd name="connsiteX17" fmla="*/ 2370338 w 3844031"/>
              <a:gd name="connsiteY17" fmla="*/ 3781888 h 3835154"/>
              <a:gd name="connsiteX18" fmla="*/ 2778711 w 3844031"/>
              <a:gd name="connsiteY18" fmla="*/ 3622090 h 3835154"/>
              <a:gd name="connsiteX19" fmla="*/ 3116062 w 3844031"/>
              <a:gd name="connsiteY19" fmla="*/ 3426781 h 3835154"/>
              <a:gd name="connsiteX20" fmla="*/ 3355760 w 3844031"/>
              <a:gd name="connsiteY20" fmla="*/ 3187084 h 3835154"/>
              <a:gd name="connsiteX21" fmla="*/ 3559946 w 3844031"/>
              <a:gd name="connsiteY21" fmla="*/ 2894121 h 3835154"/>
              <a:gd name="connsiteX22" fmla="*/ 3728622 w 3844031"/>
              <a:gd name="connsiteY22" fmla="*/ 2556769 h 3835154"/>
              <a:gd name="connsiteX23" fmla="*/ 3817398 w 3844031"/>
              <a:gd name="connsiteY23" fmla="*/ 2290439 h 3835154"/>
              <a:gd name="connsiteX24" fmla="*/ 3844031 w 3844031"/>
              <a:gd name="connsiteY24" fmla="*/ 1979721 h 3835154"/>
              <a:gd name="connsiteX25" fmla="*/ 3835154 w 3844031"/>
              <a:gd name="connsiteY25" fmla="*/ 1748901 h 3835154"/>
              <a:gd name="connsiteX26" fmla="*/ 3826276 w 3844031"/>
              <a:gd name="connsiteY26" fmla="*/ 1633492 h 3835154"/>
              <a:gd name="connsiteX27" fmla="*/ 3773010 w 3844031"/>
              <a:gd name="connsiteY27" fmla="*/ 1411550 h 3835154"/>
              <a:gd name="connsiteX28" fmla="*/ 3693111 w 3844031"/>
              <a:gd name="connsiteY28" fmla="*/ 1127465 h 3835154"/>
              <a:gd name="connsiteX29" fmla="*/ 3480047 w 3844031"/>
              <a:gd name="connsiteY29" fmla="*/ 816746 h 3835154"/>
              <a:gd name="connsiteX30" fmla="*/ 3249227 w 3844031"/>
              <a:gd name="connsiteY30" fmla="*/ 523783 h 3835154"/>
              <a:gd name="connsiteX31" fmla="*/ 2974020 w 3844031"/>
              <a:gd name="connsiteY31" fmla="*/ 319597 h 3835154"/>
              <a:gd name="connsiteX32" fmla="*/ 2707690 w 3844031"/>
              <a:gd name="connsiteY32" fmla="*/ 186432 h 3835154"/>
              <a:gd name="connsiteX33" fmla="*/ 2441360 w 3844031"/>
              <a:gd name="connsiteY33" fmla="*/ 79899 h 3835154"/>
              <a:gd name="connsiteX34" fmla="*/ 2246051 w 3844031"/>
              <a:gd name="connsiteY34" fmla="*/ 44389 h 3835154"/>
              <a:gd name="connsiteX35" fmla="*/ 2032987 w 3844031"/>
              <a:gd name="connsiteY35" fmla="*/ 8878 h 3835154"/>
              <a:gd name="connsiteX36" fmla="*/ 1890944 w 3844031"/>
              <a:gd name="connsiteY36" fmla="*/ 0 h 3835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844031" h="3835154">
                <a:moveTo>
                  <a:pt x="1890944" y="0"/>
                </a:moveTo>
                <a:lnTo>
                  <a:pt x="1411550" y="79899"/>
                </a:lnTo>
                <a:lnTo>
                  <a:pt x="1012055" y="230820"/>
                </a:lnTo>
                <a:lnTo>
                  <a:pt x="674703" y="488272"/>
                </a:lnTo>
                <a:lnTo>
                  <a:pt x="435006" y="745725"/>
                </a:lnTo>
                <a:lnTo>
                  <a:pt x="239697" y="1047565"/>
                </a:lnTo>
                <a:lnTo>
                  <a:pt x="79899" y="1429305"/>
                </a:lnTo>
                <a:lnTo>
                  <a:pt x="17756" y="1677880"/>
                </a:lnTo>
                <a:lnTo>
                  <a:pt x="0" y="2050742"/>
                </a:lnTo>
                <a:lnTo>
                  <a:pt x="53266" y="2334828"/>
                </a:lnTo>
                <a:lnTo>
                  <a:pt x="168676" y="2707690"/>
                </a:lnTo>
                <a:lnTo>
                  <a:pt x="355107" y="3027286"/>
                </a:lnTo>
                <a:lnTo>
                  <a:pt x="585927" y="3302494"/>
                </a:lnTo>
                <a:lnTo>
                  <a:pt x="861134" y="3533313"/>
                </a:lnTo>
                <a:lnTo>
                  <a:pt x="1180730" y="3684233"/>
                </a:lnTo>
                <a:lnTo>
                  <a:pt x="1553593" y="3799643"/>
                </a:lnTo>
                <a:lnTo>
                  <a:pt x="1917577" y="3835154"/>
                </a:lnTo>
                <a:lnTo>
                  <a:pt x="2370338" y="3781888"/>
                </a:lnTo>
                <a:lnTo>
                  <a:pt x="2778711" y="3622090"/>
                </a:lnTo>
                <a:lnTo>
                  <a:pt x="3116062" y="3426781"/>
                </a:lnTo>
                <a:lnTo>
                  <a:pt x="3355760" y="3187084"/>
                </a:lnTo>
                <a:lnTo>
                  <a:pt x="3559946" y="2894121"/>
                </a:lnTo>
                <a:lnTo>
                  <a:pt x="3728622" y="2556769"/>
                </a:lnTo>
                <a:lnTo>
                  <a:pt x="3817398" y="2290439"/>
                </a:lnTo>
                <a:lnTo>
                  <a:pt x="3844031" y="1979721"/>
                </a:lnTo>
                <a:lnTo>
                  <a:pt x="3835154" y="1748901"/>
                </a:lnTo>
                <a:lnTo>
                  <a:pt x="3826276" y="1633492"/>
                </a:lnTo>
                <a:lnTo>
                  <a:pt x="3773010" y="1411550"/>
                </a:lnTo>
                <a:lnTo>
                  <a:pt x="3693111" y="1127465"/>
                </a:lnTo>
                <a:lnTo>
                  <a:pt x="3480047" y="816746"/>
                </a:lnTo>
                <a:lnTo>
                  <a:pt x="3249227" y="523783"/>
                </a:lnTo>
                <a:lnTo>
                  <a:pt x="2974020" y="319597"/>
                </a:lnTo>
                <a:lnTo>
                  <a:pt x="2707690" y="186432"/>
                </a:lnTo>
                <a:lnTo>
                  <a:pt x="2441360" y="79899"/>
                </a:lnTo>
                <a:lnTo>
                  <a:pt x="2246051" y="44389"/>
                </a:lnTo>
                <a:lnTo>
                  <a:pt x="2032987" y="8878"/>
                </a:lnTo>
                <a:lnTo>
                  <a:pt x="1890944" y="0"/>
                </a:lnTo>
                <a:close/>
              </a:path>
            </a:pathLst>
          </a:custGeom>
          <a:noFill/>
          <a:ln w="1016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90472" y="2112885"/>
            <a:ext cx="3805815" cy="3810692"/>
          </a:xfrm>
          <a:prstGeom prst="rect">
            <a:avLst/>
          </a:prstGeom>
          <a:noFill/>
          <a:ln w="1016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864704" y="2115047"/>
            <a:ext cx="3826566" cy="3828553"/>
          </a:xfrm>
          <a:custGeom>
            <a:avLst/>
            <a:gdLst>
              <a:gd name="connsiteX0" fmla="*/ 17891 w 3826566"/>
              <a:gd name="connsiteY0" fmla="*/ 0 h 3828553"/>
              <a:gd name="connsiteX1" fmla="*/ 272333 w 3826566"/>
              <a:gd name="connsiteY1" fmla="*/ 7951 h 3828553"/>
              <a:gd name="connsiteX2" fmla="*/ 566531 w 3826566"/>
              <a:gd name="connsiteY2" fmla="*/ 47708 h 3828553"/>
              <a:gd name="connsiteX3" fmla="*/ 820973 w 3826566"/>
              <a:gd name="connsiteY3" fmla="*/ 87464 h 3828553"/>
              <a:gd name="connsiteX4" fmla="*/ 1178781 w 3826566"/>
              <a:gd name="connsiteY4" fmla="*/ 174929 h 3828553"/>
              <a:gd name="connsiteX5" fmla="*/ 1632006 w 3826566"/>
              <a:gd name="connsiteY5" fmla="*/ 357809 h 3828553"/>
              <a:gd name="connsiteX6" fmla="*/ 1870545 w 3826566"/>
              <a:gd name="connsiteY6" fmla="*/ 485030 h 3828553"/>
              <a:gd name="connsiteX7" fmla="*/ 2212451 w 3826566"/>
              <a:gd name="connsiteY7" fmla="*/ 715617 h 3828553"/>
              <a:gd name="connsiteX8" fmla="*/ 2482795 w 3826566"/>
              <a:gd name="connsiteY8" fmla="*/ 906449 h 3828553"/>
              <a:gd name="connsiteX9" fmla="*/ 2737237 w 3826566"/>
              <a:gd name="connsiteY9" fmla="*/ 1152939 h 3828553"/>
              <a:gd name="connsiteX10" fmla="*/ 2975776 w 3826566"/>
              <a:gd name="connsiteY10" fmla="*/ 1423283 h 3828553"/>
              <a:gd name="connsiteX11" fmla="*/ 3262023 w 3826566"/>
              <a:gd name="connsiteY11" fmla="*/ 1796995 h 3828553"/>
              <a:gd name="connsiteX12" fmla="*/ 3436952 w 3826566"/>
              <a:gd name="connsiteY12" fmla="*/ 2107096 h 3828553"/>
              <a:gd name="connsiteX13" fmla="*/ 3580075 w 3826566"/>
              <a:gd name="connsiteY13" fmla="*/ 2441050 h 3828553"/>
              <a:gd name="connsiteX14" fmla="*/ 3731150 w 3826566"/>
              <a:gd name="connsiteY14" fmla="*/ 2902226 h 3828553"/>
              <a:gd name="connsiteX15" fmla="*/ 3794760 w 3826566"/>
              <a:gd name="connsiteY15" fmla="*/ 3228230 h 3828553"/>
              <a:gd name="connsiteX16" fmla="*/ 3818614 w 3826566"/>
              <a:gd name="connsiteY16" fmla="*/ 3498574 h 3828553"/>
              <a:gd name="connsiteX17" fmla="*/ 3826566 w 3826566"/>
              <a:gd name="connsiteY17" fmla="*/ 3818614 h 3828553"/>
              <a:gd name="connsiteX18" fmla="*/ 3667539 w 3826566"/>
              <a:gd name="connsiteY18" fmla="*/ 3818614 h 3828553"/>
              <a:gd name="connsiteX19" fmla="*/ 3458818 w 3826566"/>
              <a:gd name="connsiteY19" fmla="*/ 3828553 h 3828553"/>
              <a:gd name="connsiteX20" fmla="*/ 39757 w 3826566"/>
              <a:gd name="connsiteY20" fmla="*/ 3818614 h 3828553"/>
              <a:gd name="connsiteX21" fmla="*/ 39757 w 3826566"/>
              <a:gd name="connsiteY21" fmla="*/ 3818614 h 3828553"/>
              <a:gd name="connsiteX22" fmla="*/ 9939 w 3826566"/>
              <a:gd name="connsiteY22" fmla="*/ 3729162 h 3828553"/>
              <a:gd name="connsiteX23" fmla="*/ 9939 w 3826566"/>
              <a:gd name="connsiteY23" fmla="*/ 3341536 h 3828553"/>
              <a:gd name="connsiteX24" fmla="*/ 9939 w 3826566"/>
              <a:gd name="connsiteY24" fmla="*/ 240527 h 3828553"/>
              <a:gd name="connsiteX25" fmla="*/ 0 w 3826566"/>
              <a:gd name="connsiteY25" fmla="*/ 111318 h 3828553"/>
              <a:gd name="connsiteX26" fmla="*/ 17891 w 3826566"/>
              <a:gd name="connsiteY26" fmla="*/ 0 h 3828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826566" h="3828553">
                <a:moveTo>
                  <a:pt x="17891" y="0"/>
                </a:moveTo>
                <a:lnTo>
                  <a:pt x="272333" y="7951"/>
                </a:lnTo>
                <a:lnTo>
                  <a:pt x="566531" y="47708"/>
                </a:lnTo>
                <a:lnTo>
                  <a:pt x="820973" y="87464"/>
                </a:lnTo>
                <a:lnTo>
                  <a:pt x="1178781" y="174929"/>
                </a:lnTo>
                <a:lnTo>
                  <a:pt x="1632006" y="357809"/>
                </a:lnTo>
                <a:lnTo>
                  <a:pt x="1870545" y="485030"/>
                </a:lnTo>
                <a:lnTo>
                  <a:pt x="2212451" y="715617"/>
                </a:lnTo>
                <a:lnTo>
                  <a:pt x="2482795" y="906449"/>
                </a:lnTo>
                <a:lnTo>
                  <a:pt x="2737237" y="1152939"/>
                </a:lnTo>
                <a:lnTo>
                  <a:pt x="2975776" y="1423283"/>
                </a:lnTo>
                <a:lnTo>
                  <a:pt x="3262023" y="1796995"/>
                </a:lnTo>
                <a:lnTo>
                  <a:pt x="3436952" y="2107096"/>
                </a:lnTo>
                <a:lnTo>
                  <a:pt x="3580075" y="2441050"/>
                </a:lnTo>
                <a:lnTo>
                  <a:pt x="3731150" y="2902226"/>
                </a:lnTo>
                <a:lnTo>
                  <a:pt x="3794760" y="3228230"/>
                </a:lnTo>
                <a:lnTo>
                  <a:pt x="3818614" y="3498574"/>
                </a:lnTo>
                <a:lnTo>
                  <a:pt x="3826566" y="3818614"/>
                </a:lnTo>
                <a:lnTo>
                  <a:pt x="3667539" y="3818614"/>
                </a:lnTo>
                <a:lnTo>
                  <a:pt x="3458818" y="3828553"/>
                </a:lnTo>
                <a:lnTo>
                  <a:pt x="39757" y="3818614"/>
                </a:lnTo>
                <a:lnTo>
                  <a:pt x="39757" y="3818614"/>
                </a:lnTo>
                <a:lnTo>
                  <a:pt x="9939" y="3729162"/>
                </a:lnTo>
                <a:lnTo>
                  <a:pt x="9939" y="3341536"/>
                </a:lnTo>
                <a:lnTo>
                  <a:pt x="9939" y="240527"/>
                </a:lnTo>
                <a:lnTo>
                  <a:pt x="0" y="111318"/>
                </a:lnTo>
                <a:lnTo>
                  <a:pt x="17891" y="0"/>
                </a:lnTo>
                <a:close/>
              </a:path>
            </a:pathLst>
          </a:custGeom>
          <a:noFill/>
          <a:ln w="1016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6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0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2" grpId="0" animBg="1"/>
      <p:bldP spid="2" grpId="1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1200"/>
            <a:ext cx="3952875" cy="407670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571500" y="5930900"/>
            <a:ext cx="5143500" cy="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 flipV="1">
            <a:off x="863600" y="1574800"/>
            <a:ext cx="0" cy="468630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What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is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area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grey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region?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852256" y="2112885"/>
            <a:ext cx="3844031" cy="3835154"/>
          </a:xfrm>
          <a:custGeom>
            <a:avLst/>
            <a:gdLst>
              <a:gd name="connsiteX0" fmla="*/ 1890944 w 3844031"/>
              <a:gd name="connsiteY0" fmla="*/ 0 h 3835154"/>
              <a:gd name="connsiteX1" fmla="*/ 1411550 w 3844031"/>
              <a:gd name="connsiteY1" fmla="*/ 79899 h 3835154"/>
              <a:gd name="connsiteX2" fmla="*/ 1012055 w 3844031"/>
              <a:gd name="connsiteY2" fmla="*/ 230820 h 3835154"/>
              <a:gd name="connsiteX3" fmla="*/ 674703 w 3844031"/>
              <a:gd name="connsiteY3" fmla="*/ 488272 h 3835154"/>
              <a:gd name="connsiteX4" fmla="*/ 435006 w 3844031"/>
              <a:gd name="connsiteY4" fmla="*/ 745725 h 3835154"/>
              <a:gd name="connsiteX5" fmla="*/ 239697 w 3844031"/>
              <a:gd name="connsiteY5" fmla="*/ 1047565 h 3835154"/>
              <a:gd name="connsiteX6" fmla="*/ 79899 w 3844031"/>
              <a:gd name="connsiteY6" fmla="*/ 1429305 h 3835154"/>
              <a:gd name="connsiteX7" fmla="*/ 17756 w 3844031"/>
              <a:gd name="connsiteY7" fmla="*/ 1677880 h 3835154"/>
              <a:gd name="connsiteX8" fmla="*/ 0 w 3844031"/>
              <a:gd name="connsiteY8" fmla="*/ 2050742 h 3835154"/>
              <a:gd name="connsiteX9" fmla="*/ 53266 w 3844031"/>
              <a:gd name="connsiteY9" fmla="*/ 2334828 h 3835154"/>
              <a:gd name="connsiteX10" fmla="*/ 168676 w 3844031"/>
              <a:gd name="connsiteY10" fmla="*/ 2707690 h 3835154"/>
              <a:gd name="connsiteX11" fmla="*/ 355107 w 3844031"/>
              <a:gd name="connsiteY11" fmla="*/ 3027286 h 3835154"/>
              <a:gd name="connsiteX12" fmla="*/ 585927 w 3844031"/>
              <a:gd name="connsiteY12" fmla="*/ 3302494 h 3835154"/>
              <a:gd name="connsiteX13" fmla="*/ 861134 w 3844031"/>
              <a:gd name="connsiteY13" fmla="*/ 3533313 h 3835154"/>
              <a:gd name="connsiteX14" fmla="*/ 1180730 w 3844031"/>
              <a:gd name="connsiteY14" fmla="*/ 3684233 h 3835154"/>
              <a:gd name="connsiteX15" fmla="*/ 1553593 w 3844031"/>
              <a:gd name="connsiteY15" fmla="*/ 3799643 h 3835154"/>
              <a:gd name="connsiteX16" fmla="*/ 1917577 w 3844031"/>
              <a:gd name="connsiteY16" fmla="*/ 3835154 h 3835154"/>
              <a:gd name="connsiteX17" fmla="*/ 2370338 w 3844031"/>
              <a:gd name="connsiteY17" fmla="*/ 3781888 h 3835154"/>
              <a:gd name="connsiteX18" fmla="*/ 2778711 w 3844031"/>
              <a:gd name="connsiteY18" fmla="*/ 3622090 h 3835154"/>
              <a:gd name="connsiteX19" fmla="*/ 3116062 w 3844031"/>
              <a:gd name="connsiteY19" fmla="*/ 3426781 h 3835154"/>
              <a:gd name="connsiteX20" fmla="*/ 3355760 w 3844031"/>
              <a:gd name="connsiteY20" fmla="*/ 3187084 h 3835154"/>
              <a:gd name="connsiteX21" fmla="*/ 3559946 w 3844031"/>
              <a:gd name="connsiteY21" fmla="*/ 2894121 h 3835154"/>
              <a:gd name="connsiteX22" fmla="*/ 3728622 w 3844031"/>
              <a:gd name="connsiteY22" fmla="*/ 2556769 h 3835154"/>
              <a:gd name="connsiteX23" fmla="*/ 3817398 w 3844031"/>
              <a:gd name="connsiteY23" fmla="*/ 2290439 h 3835154"/>
              <a:gd name="connsiteX24" fmla="*/ 3844031 w 3844031"/>
              <a:gd name="connsiteY24" fmla="*/ 1979721 h 3835154"/>
              <a:gd name="connsiteX25" fmla="*/ 3835154 w 3844031"/>
              <a:gd name="connsiteY25" fmla="*/ 1748901 h 3835154"/>
              <a:gd name="connsiteX26" fmla="*/ 3826276 w 3844031"/>
              <a:gd name="connsiteY26" fmla="*/ 1633492 h 3835154"/>
              <a:gd name="connsiteX27" fmla="*/ 3773010 w 3844031"/>
              <a:gd name="connsiteY27" fmla="*/ 1411550 h 3835154"/>
              <a:gd name="connsiteX28" fmla="*/ 3693111 w 3844031"/>
              <a:gd name="connsiteY28" fmla="*/ 1127465 h 3835154"/>
              <a:gd name="connsiteX29" fmla="*/ 3480047 w 3844031"/>
              <a:gd name="connsiteY29" fmla="*/ 816746 h 3835154"/>
              <a:gd name="connsiteX30" fmla="*/ 3249227 w 3844031"/>
              <a:gd name="connsiteY30" fmla="*/ 523783 h 3835154"/>
              <a:gd name="connsiteX31" fmla="*/ 2974020 w 3844031"/>
              <a:gd name="connsiteY31" fmla="*/ 319597 h 3835154"/>
              <a:gd name="connsiteX32" fmla="*/ 2707690 w 3844031"/>
              <a:gd name="connsiteY32" fmla="*/ 186432 h 3835154"/>
              <a:gd name="connsiteX33" fmla="*/ 2441360 w 3844031"/>
              <a:gd name="connsiteY33" fmla="*/ 79899 h 3835154"/>
              <a:gd name="connsiteX34" fmla="*/ 2246051 w 3844031"/>
              <a:gd name="connsiteY34" fmla="*/ 44389 h 3835154"/>
              <a:gd name="connsiteX35" fmla="*/ 2032987 w 3844031"/>
              <a:gd name="connsiteY35" fmla="*/ 8878 h 3835154"/>
              <a:gd name="connsiteX36" fmla="*/ 1890944 w 3844031"/>
              <a:gd name="connsiteY36" fmla="*/ 0 h 3835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844031" h="3835154">
                <a:moveTo>
                  <a:pt x="1890944" y="0"/>
                </a:moveTo>
                <a:lnTo>
                  <a:pt x="1411550" y="79899"/>
                </a:lnTo>
                <a:lnTo>
                  <a:pt x="1012055" y="230820"/>
                </a:lnTo>
                <a:lnTo>
                  <a:pt x="674703" y="488272"/>
                </a:lnTo>
                <a:lnTo>
                  <a:pt x="435006" y="745725"/>
                </a:lnTo>
                <a:lnTo>
                  <a:pt x="239697" y="1047565"/>
                </a:lnTo>
                <a:lnTo>
                  <a:pt x="79899" y="1429305"/>
                </a:lnTo>
                <a:lnTo>
                  <a:pt x="17756" y="1677880"/>
                </a:lnTo>
                <a:lnTo>
                  <a:pt x="0" y="2050742"/>
                </a:lnTo>
                <a:lnTo>
                  <a:pt x="53266" y="2334828"/>
                </a:lnTo>
                <a:lnTo>
                  <a:pt x="168676" y="2707690"/>
                </a:lnTo>
                <a:lnTo>
                  <a:pt x="355107" y="3027286"/>
                </a:lnTo>
                <a:lnTo>
                  <a:pt x="585927" y="3302494"/>
                </a:lnTo>
                <a:lnTo>
                  <a:pt x="861134" y="3533313"/>
                </a:lnTo>
                <a:lnTo>
                  <a:pt x="1180730" y="3684233"/>
                </a:lnTo>
                <a:lnTo>
                  <a:pt x="1553593" y="3799643"/>
                </a:lnTo>
                <a:lnTo>
                  <a:pt x="1917577" y="3835154"/>
                </a:lnTo>
                <a:lnTo>
                  <a:pt x="2370338" y="3781888"/>
                </a:lnTo>
                <a:lnTo>
                  <a:pt x="2778711" y="3622090"/>
                </a:lnTo>
                <a:lnTo>
                  <a:pt x="3116062" y="3426781"/>
                </a:lnTo>
                <a:lnTo>
                  <a:pt x="3355760" y="3187084"/>
                </a:lnTo>
                <a:lnTo>
                  <a:pt x="3559946" y="2894121"/>
                </a:lnTo>
                <a:lnTo>
                  <a:pt x="3728622" y="2556769"/>
                </a:lnTo>
                <a:lnTo>
                  <a:pt x="3817398" y="2290439"/>
                </a:lnTo>
                <a:lnTo>
                  <a:pt x="3844031" y="1979721"/>
                </a:lnTo>
                <a:lnTo>
                  <a:pt x="3835154" y="1748901"/>
                </a:lnTo>
                <a:lnTo>
                  <a:pt x="3826276" y="1633492"/>
                </a:lnTo>
                <a:lnTo>
                  <a:pt x="3773010" y="1411550"/>
                </a:lnTo>
                <a:lnTo>
                  <a:pt x="3693111" y="1127465"/>
                </a:lnTo>
                <a:lnTo>
                  <a:pt x="3480047" y="816746"/>
                </a:lnTo>
                <a:lnTo>
                  <a:pt x="3249227" y="523783"/>
                </a:lnTo>
                <a:lnTo>
                  <a:pt x="2974020" y="319597"/>
                </a:lnTo>
                <a:lnTo>
                  <a:pt x="2707690" y="186432"/>
                </a:lnTo>
                <a:lnTo>
                  <a:pt x="2441360" y="79899"/>
                </a:lnTo>
                <a:lnTo>
                  <a:pt x="2246051" y="44389"/>
                </a:lnTo>
                <a:lnTo>
                  <a:pt x="2032987" y="8878"/>
                </a:lnTo>
                <a:lnTo>
                  <a:pt x="189094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  <a:alpha val="71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649580" y="307340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3801980" y="3779254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2077453" y="3931654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256548" y="4364792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629526" y="4954338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2863517" y="2299369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3015917" y="30052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1724526" y="4950328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1544416" y="3772692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1255295" y="246854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1075185" y="2413125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3802708" y="566784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54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1" grpId="0" animBg="1"/>
      <p:bldP spid="28" grpId="0" animBg="1"/>
      <p:bldP spid="30" grpId="0" animBg="1"/>
      <p:bldP spid="3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1200"/>
            <a:ext cx="3952875" cy="407670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571500" y="5930900"/>
            <a:ext cx="5143500" cy="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 flipV="1">
            <a:off x="863600" y="1574800"/>
            <a:ext cx="0" cy="468630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What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is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area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grey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region?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852256" y="2112885"/>
            <a:ext cx="3844031" cy="3835154"/>
          </a:xfrm>
          <a:custGeom>
            <a:avLst/>
            <a:gdLst>
              <a:gd name="connsiteX0" fmla="*/ 1890944 w 3844031"/>
              <a:gd name="connsiteY0" fmla="*/ 0 h 3835154"/>
              <a:gd name="connsiteX1" fmla="*/ 1411550 w 3844031"/>
              <a:gd name="connsiteY1" fmla="*/ 79899 h 3835154"/>
              <a:gd name="connsiteX2" fmla="*/ 1012055 w 3844031"/>
              <a:gd name="connsiteY2" fmla="*/ 230820 h 3835154"/>
              <a:gd name="connsiteX3" fmla="*/ 674703 w 3844031"/>
              <a:gd name="connsiteY3" fmla="*/ 488272 h 3835154"/>
              <a:gd name="connsiteX4" fmla="*/ 435006 w 3844031"/>
              <a:gd name="connsiteY4" fmla="*/ 745725 h 3835154"/>
              <a:gd name="connsiteX5" fmla="*/ 239697 w 3844031"/>
              <a:gd name="connsiteY5" fmla="*/ 1047565 h 3835154"/>
              <a:gd name="connsiteX6" fmla="*/ 79899 w 3844031"/>
              <a:gd name="connsiteY6" fmla="*/ 1429305 h 3835154"/>
              <a:gd name="connsiteX7" fmla="*/ 17756 w 3844031"/>
              <a:gd name="connsiteY7" fmla="*/ 1677880 h 3835154"/>
              <a:gd name="connsiteX8" fmla="*/ 0 w 3844031"/>
              <a:gd name="connsiteY8" fmla="*/ 2050742 h 3835154"/>
              <a:gd name="connsiteX9" fmla="*/ 53266 w 3844031"/>
              <a:gd name="connsiteY9" fmla="*/ 2334828 h 3835154"/>
              <a:gd name="connsiteX10" fmla="*/ 168676 w 3844031"/>
              <a:gd name="connsiteY10" fmla="*/ 2707690 h 3835154"/>
              <a:gd name="connsiteX11" fmla="*/ 355107 w 3844031"/>
              <a:gd name="connsiteY11" fmla="*/ 3027286 h 3835154"/>
              <a:gd name="connsiteX12" fmla="*/ 585927 w 3844031"/>
              <a:gd name="connsiteY12" fmla="*/ 3302494 h 3835154"/>
              <a:gd name="connsiteX13" fmla="*/ 861134 w 3844031"/>
              <a:gd name="connsiteY13" fmla="*/ 3533313 h 3835154"/>
              <a:gd name="connsiteX14" fmla="*/ 1180730 w 3844031"/>
              <a:gd name="connsiteY14" fmla="*/ 3684233 h 3835154"/>
              <a:gd name="connsiteX15" fmla="*/ 1553593 w 3844031"/>
              <a:gd name="connsiteY15" fmla="*/ 3799643 h 3835154"/>
              <a:gd name="connsiteX16" fmla="*/ 1917577 w 3844031"/>
              <a:gd name="connsiteY16" fmla="*/ 3835154 h 3835154"/>
              <a:gd name="connsiteX17" fmla="*/ 2370338 w 3844031"/>
              <a:gd name="connsiteY17" fmla="*/ 3781888 h 3835154"/>
              <a:gd name="connsiteX18" fmla="*/ 2778711 w 3844031"/>
              <a:gd name="connsiteY18" fmla="*/ 3622090 h 3835154"/>
              <a:gd name="connsiteX19" fmla="*/ 3116062 w 3844031"/>
              <a:gd name="connsiteY19" fmla="*/ 3426781 h 3835154"/>
              <a:gd name="connsiteX20" fmla="*/ 3355760 w 3844031"/>
              <a:gd name="connsiteY20" fmla="*/ 3187084 h 3835154"/>
              <a:gd name="connsiteX21" fmla="*/ 3559946 w 3844031"/>
              <a:gd name="connsiteY21" fmla="*/ 2894121 h 3835154"/>
              <a:gd name="connsiteX22" fmla="*/ 3728622 w 3844031"/>
              <a:gd name="connsiteY22" fmla="*/ 2556769 h 3835154"/>
              <a:gd name="connsiteX23" fmla="*/ 3817398 w 3844031"/>
              <a:gd name="connsiteY23" fmla="*/ 2290439 h 3835154"/>
              <a:gd name="connsiteX24" fmla="*/ 3844031 w 3844031"/>
              <a:gd name="connsiteY24" fmla="*/ 1979721 h 3835154"/>
              <a:gd name="connsiteX25" fmla="*/ 3835154 w 3844031"/>
              <a:gd name="connsiteY25" fmla="*/ 1748901 h 3835154"/>
              <a:gd name="connsiteX26" fmla="*/ 3826276 w 3844031"/>
              <a:gd name="connsiteY26" fmla="*/ 1633492 h 3835154"/>
              <a:gd name="connsiteX27" fmla="*/ 3773010 w 3844031"/>
              <a:gd name="connsiteY27" fmla="*/ 1411550 h 3835154"/>
              <a:gd name="connsiteX28" fmla="*/ 3693111 w 3844031"/>
              <a:gd name="connsiteY28" fmla="*/ 1127465 h 3835154"/>
              <a:gd name="connsiteX29" fmla="*/ 3480047 w 3844031"/>
              <a:gd name="connsiteY29" fmla="*/ 816746 h 3835154"/>
              <a:gd name="connsiteX30" fmla="*/ 3249227 w 3844031"/>
              <a:gd name="connsiteY30" fmla="*/ 523783 h 3835154"/>
              <a:gd name="connsiteX31" fmla="*/ 2974020 w 3844031"/>
              <a:gd name="connsiteY31" fmla="*/ 319597 h 3835154"/>
              <a:gd name="connsiteX32" fmla="*/ 2707690 w 3844031"/>
              <a:gd name="connsiteY32" fmla="*/ 186432 h 3835154"/>
              <a:gd name="connsiteX33" fmla="*/ 2441360 w 3844031"/>
              <a:gd name="connsiteY33" fmla="*/ 79899 h 3835154"/>
              <a:gd name="connsiteX34" fmla="*/ 2246051 w 3844031"/>
              <a:gd name="connsiteY34" fmla="*/ 44389 h 3835154"/>
              <a:gd name="connsiteX35" fmla="*/ 2032987 w 3844031"/>
              <a:gd name="connsiteY35" fmla="*/ 8878 h 3835154"/>
              <a:gd name="connsiteX36" fmla="*/ 1890944 w 3844031"/>
              <a:gd name="connsiteY36" fmla="*/ 0 h 3835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844031" h="3835154">
                <a:moveTo>
                  <a:pt x="1890944" y="0"/>
                </a:moveTo>
                <a:lnTo>
                  <a:pt x="1411550" y="79899"/>
                </a:lnTo>
                <a:lnTo>
                  <a:pt x="1012055" y="230820"/>
                </a:lnTo>
                <a:lnTo>
                  <a:pt x="674703" y="488272"/>
                </a:lnTo>
                <a:lnTo>
                  <a:pt x="435006" y="745725"/>
                </a:lnTo>
                <a:lnTo>
                  <a:pt x="239697" y="1047565"/>
                </a:lnTo>
                <a:lnTo>
                  <a:pt x="79899" y="1429305"/>
                </a:lnTo>
                <a:lnTo>
                  <a:pt x="17756" y="1677880"/>
                </a:lnTo>
                <a:lnTo>
                  <a:pt x="0" y="2050742"/>
                </a:lnTo>
                <a:lnTo>
                  <a:pt x="53266" y="2334828"/>
                </a:lnTo>
                <a:lnTo>
                  <a:pt x="168676" y="2707690"/>
                </a:lnTo>
                <a:lnTo>
                  <a:pt x="355107" y="3027286"/>
                </a:lnTo>
                <a:lnTo>
                  <a:pt x="585927" y="3302494"/>
                </a:lnTo>
                <a:lnTo>
                  <a:pt x="861134" y="3533313"/>
                </a:lnTo>
                <a:lnTo>
                  <a:pt x="1180730" y="3684233"/>
                </a:lnTo>
                <a:lnTo>
                  <a:pt x="1553593" y="3799643"/>
                </a:lnTo>
                <a:lnTo>
                  <a:pt x="1917577" y="3835154"/>
                </a:lnTo>
                <a:lnTo>
                  <a:pt x="2370338" y="3781888"/>
                </a:lnTo>
                <a:lnTo>
                  <a:pt x="2778711" y="3622090"/>
                </a:lnTo>
                <a:lnTo>
                  <a:pt x="3116062" y="3426781"/>
                </a:lnTo>
                <a:lnTo>
                  <a:pt x="3355760" y="3187084"/>
                </a:lnTo>
                <a:lnTo>
                  <a:pt x="3559946" y="2894121"/>
                </a:lnTo>
                <a:lnTo>
                  <a:pt x="3728622" y="2556769"/>
                </a:lnTo>
                <a:lnTo>
                  <a:pt x="3817398" y="2290439"/>
                </a:lnTo>
                <a:lnTo>
                  <a:pt x="3844031" y="1979721"/>
                </a:lnTo>
                <a:lnTo>
                  <a:pt x="3835154" y="1748901"/>
                </a:lnTo>
                <a:lnTo>
                  <a:pt x="3826276" y="1633492"/>
                </a:lnTo>
                <a:lnTo>
                  <a:pt x="3773010" y="1411550"/>
                </a:lnTo>
                <a:lnTo>
                  <a:pt x="3693111" y="1127465"/>
                </a:lnTo>
                <a:lnTo>
                  <a:pt x="3480047" y="816746"/>
                </a:lnTo>
                <a:lnTo>
                  <a:pt x="3249227" y="523783"/>
                </a:lnTo>
                <a:lnTo>
                  <a:pt x="2974020" y="319597"/>
                </a:lnTo>
                <a:lnTo>
                  <a:pt x="2707690" y="186432"/>
                </a:lnTo>
                <a:lnTo>
                  <a:pt x="2441360" y="79899"/>
                </a:lnTo>
                <a:lnTo>
                  <a:pt x="2246051" y="44389"/>
                </a:lnTo>
                <a:lnTo>
                  <a:pt x="2032987" y="8878"/>
                </a:lnTo>
                <a:lnTo>
                  <a:pt x="189094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  <a:alpha val="71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469270" y="1732838"/>
                <a:ext cx="5531371" cy="4190739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point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</a:rPr>
                  <a:t>circle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must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satisfy</a:t>
                </a:r>
                <a:r>
                  <a:rPr lang="zh-CN" altLang="en-US" dirty="0"/>
                  <a:t> 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charset="0"/>
                      </a:rPr>
                      <m:t>≤1</m:t>
                    </m:r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32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69270" y="1732838"/>
                <a:ext cx="5531371" cy="4190739"/>
              </a:xfrm>
              <a:blipFill rotWithShape="0">
                <a:blip r:embed="rId10"/>
                <a:stretch>
                  <a:fillRect l="-1982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1544416" y="2299369"/>
            <a:ext cx="2384564" cy="2781969"/>
            <a:chOff x="1544416" y="2299369"/>
            <a:chExt cx="2384564" cy="2781969"/>
          </a:xfrm>
        </p:grpSpPr>
        <p:sp>
          <p:nvSpPr>
            <p:cNvPr id="21" name="Oval 20"/>
            <p:cNvSpPr/>
            <p:nvPr/>
          </p:nvSpPr>
          <p:spPr>
            <a:xfrm>
              <a:off x="3649580" y="3073400"/>
              <a:ext cx="127000" cy="127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3801980" y="3779254"/>
              <a:ext cx="127000" cy="127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2077453" y="3931654"/>
              <a:ext cx="127000" cy="127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3256548" y="4364792"/>
              <a:ext cx="127000" cy="127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3629526" y="4954338"/>
              <a:ext cx="127000" cy="127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2863517" y="2299369"/>
              <a:ext cx="127000" cy="127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3015917" y="3005223"/>
              <a:ext cx="127000" cy="127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1724526" y="4950328"/>
              <a:ext cx="127000" cy="127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1544416" y="3772692"/>
              <a:ext cx="127000" cy="127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1075185" y="2413125"/>
            <a:ext cx="2854523" cy="3381722"/>
            <a:chOff x="1075185" y="2413125"/>
            <a:chExt cx="2854523" cy="3381722"/>
          </a:xfrm>
        </p:grpSpPr>
        <p:sp>
          <p:nvSpPr>
            <p:cNvPr id="28" name="Oval 27"/>
            <p:cNvSpPr/>
            <p:nvPr/>
          </p:nvSpPr>
          <p:spPr>
            <a:xfrm>
              <a:off x="1255295" y="2468543"/>
              <a:ext cx="127000" cy="127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1075185" y="2413125"/>
              <a:ext cx="127000" cy="127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3802708" y="5667847"/>
              <a:ext cx="127000" cy="127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7-Point Star 3"/>
          <p:cNvSpPr/>
          <p:nvPr/>
        </p:nvSpPr>
        <p:spPr>
          <a:xfrm>
            <a:off x="2510400" y="3720230"/>
            <a:ext cx="469369" cy="456994"/>
          </a:xfrm>
          <a:prstGeom prst="star7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2745084" y="3903275"/>
            <a:ext cx="1797464" cy="1103731"/>
            <a:chOff x="2745084" y="3903275"/>
            <a:chExt cx="1797464" cy="1103731"/>
          </a:xfrm>
        </p:grpSpPr>
        <p:cxnSp>
          <p:nvCxnSpPr>
            <p:cNvPr id="9" name="Straight Arrow Connector 8"/>
            <p:cNvCxnSpPr>
              <a:endCxn id="20" idx="21"/>
            </p:cNvCxnSpPr>
            <p:nvPr/>
          </p:nvCxnSpPr>
          <p:spPr>
            <a:xfrm>
              <a:off x="2745084" y="3931654"/>
              <a:ext cx="1667118" cy="1075352"/>
            </a:xfrm>
            <a:prstGeom prst="straightConnector1">
              <a:avLst/>
            </a:prstGeom>
            <a:ln w="76200">
              <a:solidFill>
                <a:srgbClr val="0924F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3298489" y="3903275"/>
                  <a:ext cx="1244059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solidFill>
                              <a:srgbClr val="0924FC"/>
                            </a:solidFill>
                            <a:latin typeface="Cambria Math" charset="0"/>
                          </a:rPr>
                          <m:t>𝑟</m:t>
                        </m:r>
                        <m:r>
                          <a:rPr lang="en-US" altLang="zh-CN" sz="3200" b="0" i="1" smtClean="0">
                            <a:solidFill>
                              <a:srgbClr val="0924FC"/>
                            </a:solidFill>
                            <a:latin typeface="Cambria Math" charset="0"/>
                          </a:rPr>
                          <m:t>=1</m:t>
                        </m:r>
                      </m:oMath>
                    </m:oMathPara>
                  </a14:m>
                  <a:endParaRPr lang="en-US" dirty="0">
                    <a:solidFill>
                      <a:srgbClr val="0924FC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8489" y="3903275"/>
                  <a:ext cx="1244059" cy="584775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TextBox 33"/>
          <p:cNvSpPr txBox="1"/>
          <p:nvPr/>
        </p:nvSpPr>
        <p:spPr>
          <a:xfrm flipV="1">
            <a:off x="7356797" y="3178266"/>
            <a:ext cx="3725731" cy="45719"/>
          </a:xfrm>
          <a:prstGeom prst="rect">
            <a:avLst/>
          </a:prstGeom>
          <a:noFill/>
          <a:ln w="7620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4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5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10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3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uiExpand="1" build="p"/>
      <p:bldP spid="4" grpId="0" animBg="1"/>
      <p:bldP spid="4" grpId="1" animBg="1"/>
      <p:bldP spid="4" grpId="2" animBg="1"/>
      <p:bldP spid="4" grpId="3" animBg="1"/>
      <p:bldP spid="3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1200"/>
            <a:ext cx="3952875" cy="407670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571500" y="5930900"/>
            <a:ext cx="5143500" cy="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 flipV="1">
            <a:off x="863600" y="1574800"/>
            <a:ext cx="0" cy="468630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What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is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area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grey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region?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Freeform 1"/>
          <p:cNvSpPr/>
          <p:nvPr/>
        </p:nvSpPr>
        <p:spPr>
          <a:xfrm>
            <a:off x="864704" y="2115047"/>
            <a:ext cx="3826566" cy="3828553"/>
          </a:xfrm>
          <a:custGeom>
            <a:avLst/>
            <a:gdLst>
              <a:gd name="connsiteX0" fmla="*/ 17891 w 3826566"/>
              <a:gd name="connsiteY0" fmla="*/ 0 h 3828553"/>
              <a:gd name="connsiteX1" fmla="*/ 272333 w 3826566"/>
              <a:gd name="connsiteY1" fmla="*/ 7951 h 3828553"/>
              <a:gd name="connsiteX2" fmla="*/ 566531 w 3826566"/>
              <a:gd name="connsiteY2" fmla="*/ 47708 h 3828553"/>
              <a:gd name="connsiteX3" fmla="*/ 820973 w 3826566"/>
              <a:gd name="connsiteY3" fmla="*/ 87464 h 3828553"/>
              <a:gd name="connsiteX4" fmla="*/ 1178781 w 3826566"/>
              <a:gd name="connsiteY4" fmla="*/ 174929 h 3828553"/>
              <a:gd name="connsiteX5" fmla="*/ 1632006 w 3826566"/>
              <a:gd name="connsiteY5" fmla="*/ 357809 h 3828553"/>
              <a:gd name="connsiteX6" fmla="*/ 1870545 w 3826566"/>
              <a:gd name="connsiteY6" fmla="*/ 485030 h 3828553"/>
              <a:gd name="connsiteX7" fmla="*/ 2212451 w 3826566"/>
              <a:gd name="connsiteY7" fmla="*/ 715617 h 3828553"/>
              <a:gd name="connsiteX8" fmla="*/ 2482795 w 3826566"/>
              <a:gd name="connsiteY8" fmla="*/ 906449 h 3828553"/>
              <a:gd name="connsiteX9" fmla="*/ 2737237 w 3826566"/>
              <a:gd name="connsiteY9" fmla="*/ 1152939 h 3828553"/>
              <a:gd name="connsiteX10" fmla="*/ 2975776 w 3826566"/>
              <a:gd name="connsiteY10" fmla="*/ 1423283 h 3828553"/>
              <a:gd name="connsiteX11" fmla="*/ 3262023 w 3826566"/>
              <a:gd name="connsiteY11" fmla="*/ 1796995 h 3828553"/>
              <a:gd name="connsiteX12" fmla="*/ 3436952 w 3826566"/>
              <a:gd name="connsiteY12" fmla="*/ 2107096 h 3828553"/>
              <a:gd name="connsiteX13" fmla="*/ 3580075 w 3826566"/>
              <a:gd name="connsiteY13" fmla="*/ 2441050 h 3828553"/>
              <a:gd name="connsiteX14" fmla="*/ 3731150 w 3826566"/>
              <a:gd name="connsiteY14" fmla="*/ 2902226 h 3828553"/>
              <a:gd name="connsiteX15" fmla="*/ 3794760 w 3826566"/>
              <a:gd name="connsiteY15" fmla="*/ 3228230 h 3828553"/>
              <a:gd name="connsiteX16" fmla="*/ 3818614 w 3826566"/>
              <a:gd name="connsiteY16" fmla="*/ 3498574 h 3828553"/>
              <a:gd name="connsiteX17" fmla="*/ 3826566 w 3826566"/>
              <a:gd name="connsiteY17" fmla="*/ 3818614 h 3828553"/>
              <a:gd name="connsiteX18" fmla="*/ 3667539 w 3826566"/>
              <a:gd name="connsiteY18" fmla="*/ 3818614 h 3828553"/>
              <a:gd name="connsiteX19" fmla="*/ 3458818 w 3826566"/>
              <a:gd name="connsiteY19" fmla="*/ 3828553 h 3828553"/>
              <a:gd name="connsiteX20" fmla="*/ 39757 w 3826566"/>
              <a:gd name="connsiteY20" fmla="*/ 3818614 h 3828553"/>
              <a:gd name="connsiteX21" fmla="*/ 39757 w 3826566"/>
              <a:gd name="connsiteY21" fmla="*/ 3818614 h 3828553"/>
              <a:gd name="connsiteX22" fmla="*/ 9939 w 3826566"/>
              <a:gd name="connsiteY22" fmla="*/ 3729162 h 3828553"/>
              <a:gd name="connsiteX23" fmla="*/ 9939 w 3826566"/>
              <a:gd name="connsiteY23" fmla="*/ 3341536 h 3828553"/>
              <a:gd name="connsiteX24" fmla="*/ 9939 w 3826566"/>
              <a:gd name="connsiteY24" fmla="*/ 240527 h 3828553"/>
              <a:gd name="connsiteX25" fmla="*/ 0 w 3826566"/>
              <a:gd name="connsiteY25" fmla="*/ 111318 h 3828553"/>
              <a:gd name="connsiteX26" fmla="*/ 17891 w 3826566"/>
              <a:gd name="connsiteY26" fmla="*/ 0 h 3828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826566" h="3828553">
                <a:moveTo>
                  <a:pt x="17891" y="0"/>
                </a:moveTo>
                <a:lnTo>
                  <a:pt x="272333" y="7951"/>
                </a:lnTo>
                <a:lnTo>
                  <a:pt x="566531" y="47708"/>
                </a:lnTo>
                <a:lnTo>
                  <a:pt x="820973" y="87464"/>
                </a:lnTo>
                <a:lnTo>
                  <a:pt x="1178781" y="174929"/>
                </a:lnTo>
                <a:lnTo>
                  <a:pt x="1632006" y="357809"/>
                </a:lnTo>
                <a:lnTo>
                  <a:pt x="1870545" y="485030"/>
                </a:lnTo>
                <a:lnTo>
                  <a:pt x="2212451" y="715617"/>
                </a:lnTo>
                <a:lnTo>
                  <a:pt x="2482795" y="906449"/>
                </a:lnTo>
                <a:lnTo>
                  <a:pt x="2737237" y="1152939"/>
                </a:lnTo>
                <a:lnTo>
                  <a:pt x="2975776" y="1423283"/>
                </a:lnTo>
                <a:lnTo>
                  <a:pt x="3262023" y="1796995"/>
                </a:lnTo>
                <a:lnTo>
                  <a:pt x="3436952" y="2107096"/>
                </a:lnTo>
                <a:lnTo>
                  <a:pt x="3580075" y="2441050"/>
                </a:lnTo>
                <a:lnTo>
                  <a:pt x="3731150" y="2902226"/>
                </a:lnTo>
                <a:lnTo>
                  <a:pt x="3794760" y="3228230"/>
                </a:lnTo>
                <a:lnTo>
                  <a:pt x="3818614" y="3498574"/>
                </a:lnTo>
                <a:lnTo>
                  <a:pt x="3826566" y="3818614"/>
                </a:lnTo>
                <a:lnTo>
                  <a:pt x="3667539" y="3818614"/>
                </a:lnTo>
                <a:lnTo>
                  <a:pt x="3458818" y="3828553"/>
                </a:lnTo>
                <a:lnTo>
                  <a:pt x="39757" y="3818614"/>
                </a:lnTo>
                <a:lnTo>
                  <a:pt x="39757" y="3818614"/>
                </a:lnTo>
                <a:lnTo>
                  <a:pt x="9939" y="3729162"/>
                </a:lnTo>
                <a:lnTo>
                  <a:pt x="9939" y="3341536"/>
                </a:lnTo>
                <a:lnTo>
                  <a:pt x="9939" y="240527"/>
                </a:lnTo>
                <a:lnTo>
                  <a:pt x="0" y="111318"/>
                </a:lnTo>
                <a:lnTo>
                  <a:pt x="17891" y="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  <a:alpha val="81000"/>
            </a:schemeClr>
          </a:solidFill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2212363" y="3197139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3391458" y="4244872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3764436" y="4834418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1859436" y="4830408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1195532" y="3349539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1347932" y="2542570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2011836" y="5042768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609604" y="5195168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1791984" y="5437508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2852536" y="5271628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469270" y="1732838"/>
                <a:ext cx="5531371" cy="4190739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point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</a:rPr>
                  <a:t>circle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must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satisfy</a:t>
                </a:r>
                <a:r>
                  <a:rPr lang="zh-CN" altLang="en-US" dirty="0"/>
                  <a:t> 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charset="0"/>
                      </a:rPr>
                      <m:t>≤1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Bef>
                    <a:spcPts val="1600"/>
                  </a:spcBef>
                  <a:spcAft>
                    <a:spcPts val="600"/>
                  </a:spcAft>
                </a:pPr>
                <a:endParaRPr lang="en-US" altLang="zh-CN" dirty="0"/>
              </a:p>
              <a:p>
                <a:pPr>
                  <a:spcBef>
                    <a:spcPts val="1600"/>
                  </a:spcBef>
                  <a:spcAft>
                    <a:spcPts val="600"/>
                  </a:spcAft>
                </a:pPr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point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quarter</a:t>
                </a:r>
                <a:r>
                  <a:rPr lang="zh-CN" altLang="en-US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circle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must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satisfy</a:t>
                </a:r>
                <a:r>
                  <a:rPr lang="zh-CN" altLang="en-US" dirty="0"/>
                  <a:t> 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≤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4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69270" y="1732838"/>
                <a:ext cx="5531371" cy="4190739"/>
              </a:xfrm>
              <a:blipFill rotWithShape="0">
                <a:blip r:embed="rId10"/>
                <a:stretch>
                  <a:fillRect l="-1982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 flipV="1">
            <a:off x="8088317" y="5419219"/>
            <a:ext cx="2163463" cy="45719"/>
          </a:xfrm>
          <a:prstGeom prst="rect">
            <a:avLst/>
          </a:prstGeom>
          <a:noFill/>
          <a:ln w="7620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674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What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is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area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grey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region?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442052" y="1981200"/>
                <a:ext cx="5531371" cy="3489158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point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grey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region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satisfies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both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</a:p>
              <a:p>
                <a:pPr marL="914400" lvl="1" indent="-457200">
                  <a:spcBef>
                    <a:spcPts val="12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  <m:r>
                              <a:rPr lang="en-US" altLang="zh-CN" i="1">
                                <a:latin typeface="Cambria Math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≤1</m:t>
                    </m:r>
                  </m:oMath>
                </a14:m>
                <a:r>
                  <a:rPr lang="en-US" altLang="zh-CN" dirty="0"/>
                  <a:t>,</a:t>
                </a:r>
              </a:p>
              <a:p>
                <a:pPr marL="914400" lvl="1" indent="-457200">
                  <a:spcBef>
                    <a:spcPts val="12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charset="0"/>
                      </a:rPr>
                      <m:t>&gt;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1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42052" y="1981200"/>
                <a:ext cx="5531371" cy="3489158"/>
              </a:xfrm>
              <a:blipFill rotWithShape="0">
                <a:blip r:embed="rId3"/>
                <a:stretch>
                  <a:fillRect l="-1985" t="-2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1200"/>
            <a:ext cx="3952875" cy="4076700"/>
          </a:xfrm>
          <a:prstGeom prst="rect">
            <a:avLst/>
          </a:prstGeom>
        </p:spPr>
      </p:pic>
      <p:cxnSp>
        <p:nvCxnSpPr>
          <p:cNvPr id="25" name="Straight Arrow Connector 24"/>
          <p:cNvCxnSpPr/>
          <p:nvPr/>
        </p:nvCxnSpPr>
        <p:spPr>
          <a:xfrm>
            <a:off x="571500" y="5930900"/>
            <a:ext cx="5143500" cy="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/>
          <p:nvPr/>
        </p:nvCxnSpPr>
        <p:spPr>
          <a:xfrm flipV="1">
            <a:off x="863600" y="1574800"/>
            <a:ext cx="0" cy="468630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val 42"/>
          <p:cNvSpPr/>
          <p:nvPr/>
        </p:nvSpPr>
        <p:spPr>
          <a:xfrm>
            <a:off x="3331498" y="232613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3704476" y="320049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3528868" y="276334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366539" y="335289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4518939" y="362521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289028" y="244855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4386529" y="395749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681268" y="288576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362140" y="231614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863227" y="2945035"/>
            <a:ext cx="3923306" cy="479538"/>
          </a:xfrm>
          <a:prstGeom prst="rect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1" name="Freeform 30"/>
          <p:cNvSpPr/>
          <p:nvPr/>
        </p:nvSpPr>
        <p:spPr>
          <a:xfrm>
            <a:off x="852256" y="2112885"/>
            <a:ext cx="3844031" cy="3835154"/>
          </a:xfrm>
          <a:custGeom>
            <a:avLst/>
            <a:gdLst>
              <a:gd name="connsiteX0" fmla="*/ 1890944 w 3844031"/>
              <a:gd name="connsiteY0" fmla="*/ 0 h 3835154"/>
              <a:gd name="connsiteX1" fmla="*/ 1411550 w 3844031"/>
              <a:gd name="connsiteY1" fmla="*/ 79899 h 3835154"/>
              <a:gd name="connsiteX2" fmla="*/ 1012055 w 3844031"/>
              <a:gd name="connsiteY2" fmla="*/ 230820 h 3835154"/>
              <a:gd name="connsiteX3" fmla="*/ 674703 w 3844031"/>
              <a:gd name="connsiteY3" fmla="*/ 488272 h 3835154"/>
              <a:gd name="connsiteX4" fmla="*/ 435006 w 3844031"/>
              <a:gd name="connsiteY4" fmla="*/ 745725 h 3835154"/>
              <a:gd name="connsiteX5" fmla="*/ 239697 w 3844031"/>
              <a:gd name="connsiteY5" fmla="*/ 1047565 h 3835154"/>
              <a:gd name="connsiteX6" fmla="*/ 79899 w 3844031"/>
              <a:gd name="connsiteY6" fmla="*/ 1429305 h 3835154"/>
              <a:gd name="connsiteX7" fmla="*/ 17756 w 3844031"/>
              <a:gd name="connsiteY7" fmla="*/ 1677880 h 3835154"/>
              <a:gd name="connsiteX8" fmla="*/ 0 w 3844031"/>
              <a:gd name="connsiteY8" fmla="*/ 2050742 h 3835154"/>
              <a:gd name="connsiteX9" fmla="*/ 53266 w 3844031"/>
              <a:gd name="connsiteY9" fmla="*/ 2334828 h 3835154"/>
              <a:gd name="connsiteX10" fmla="*/ 168676 w 3844031"/>
              <a:gd name="connsiteY10" fmla="*/ 2707690 h 3835154"/>
              <a:gd name="connsiteX11" fmla="*/ 355107 w 3844031"/>
              <a:gd name="connsiteY11" fmla="*/ 3027286 h 3835154"/>
              <a:gd name="connsiteX12" fmla="*/ 585927 w 3844031"/>
              <a:gd name="connsiteY12" fmla="*/ 3302494 h 3835154"/>
              <a:gd name="connsiteX13" fmla="*/ 861134 w 3844031"/>
              <a:gd name="connsiteY13" fmla="*/ 3533313 h 3835154"/>
              <a:gd name="connsiteX14" fmla="*/ 1180730 w 3844031"/>
              <a:gd name="connsiteY14" fmla="*/ 3684233 h 3835154"/>
              <a:gd name="connsiteX15" fmla="*/ 1553593 w 3844031"/>
              <a:gd name="connsiteY15" fmla="*/ 3799643 h 3835154"/>
              <a:gd name="connsiteX16" fmla="*/ 1917577 w 3844031"/>
              <a:gd name="connsiteY16" fmla="*/ 3835154 h 3835154"/>
              <a:gd name="connsiteX17" fmla="*/ 2370338 w 3844031"/>
              <a:gd name="connsiteY17" fmla="*/ 3781888 h 3835154"/>
              <a:gd name="connsiteX18" fmla="*/ 2778711 w 3844031"/>
              <a:gd name="connsiteY18" fmla="*/ 3622090 h 3835154"/>
              <a:gd name="connsiteX19" fmla="*/ 3116062 w 3844031"/>
              <a:gd name="connsiteY19" fmla="*/ 3426781 h 3835154"/>
              <a:gd name="connsiteX20" fmla="*/ 3355760 w 3844031"/>
              <a:gd name="connsiteY20" fmla="*/ 3187084 h 3835154"/>
              <a:gd name="connsiteX21" fmla="*/ 3559946 w 3844031"/>
              <a:gd name="connsiteY21" fmla="*/ 2894121 h 3835154"/>
              <a:gd name="connsiteX22" fmla="*/ 3728622 w 3844031"/>
              <a:gd name="connsiteY22" fmla="*/ 2556769 h 3835154"/>
              <a:gd name="connsiteX23" fmla="*/ 3817398 w 3844031"/>
              <a:gd name="connsiteY23" fmla="*/ 2290439 h 3835154"/>
              <a:gd name="connsiteX24" fmla="*/ 3844031 w 3844031"/>
              <a:gd name="connsiteY24" fmla="*/ 1979721 h 3835154"/>
              <a:gd name="connsiteX25" fmla="*/ 3835154 w 3844031"/>
              <a:gd name="connsiteY25" fmla="*/ 1748901 h 3835154"/>
              <a:gd name="connsiteX26" fmla="*/ 3826276 w 3844031"/>
              <a:gd name="connsiteY26" fmla="*/ 1633492 h 3835154"/>
              <a:gd name="connsiteX27" fmla="*/ 3773010 w 3844031"/>
              <a:gd name="connsiteY27" fmla="*/ 1411550 h 3835154"/>
              <a:gd name="connsiteX28" fmla="*/ 3693111 w 3844031"/>
              <a:gd name="connsiteY28" fmla="*/ 1127465 h 3835154"/>
              <a:gd name="connsiteX29" fmla="*/ 3480047 w 3844031"/>
              <a:gd name="connsiteY29" fmla="*/ 816746 h 3835154"/>
              <a:gd name="connsiteX30" fmla="*/ 3249227 w 3844031"/>
              <a:gd name="connsiteY30" fmla="*/ 523783 h 3835154"/>
              <a:gd name="connsiteX31" fmla="*/ 2974020 w 3844031"/>
              <a:gd name="connsiteY31" fmla="*/ 319597 h 3835154"/>
              <a:gd name="connsiteX32" fmla="*/ 2707690 w 3844031"/>
              <a:gd name="connsiteY32" fmla="*/ 186432 h 3835154"/>
              <a:gd name="connsiteX33" fmla="*/ 2441360 w 3844031"/>
              <a:gd name="connsiteY33" fmla="*/ 79899 h 3835154"/>
              <a:gd name="connsiteX34" fmla="*/ 2246051 w 3844031"/>
              <a:gd name="connsiteY34" fmla="*/ 44389 h 3835154"/>
              <a:gd name="connsiteX35" fmla="*/ 2032987 w 3844031"/>
              <a:gd name="connsiteY35" fmla="*/ 8878 h 3835154"/>
              <a:gd name="connsiteX36" fmla="*/ 1890944 w 3844031"/>
              <a:gd name="connsiteY36" fmla="*/ 0 h 3835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844031" h="3835154">
                <a:moveTo>
                  <a:pt x="1890944" y="0"/>
                </a:moveTo>
                <a:lnTo>
                  <a:pt x="1411550" y="79899"/>
                </a:lnTo>
                <a:lnTo>
                  <a:pt x="1012055" y="230820"/>
                </a:lnTo>
                <a:lnTo>
                  <a:pt x="674703" y="488272"/>
                </a:lnTo>
                <a:lnTo>
                  <a:pt x="435006" y="745725"/>
                </a:lnTo>
                <a:lnTo>
                  <a:pt x="239697" y="1047565"/>
                </a:lnTo>
                <a:lnTo>
                  <a:pt x="79899" y="1429305"/>
                </a:lnTo>
                <a:lnTo>
                  <a:pt x="17756" y="1677880"/>
                </a:lnTo>
                <a:lnTo>
                  <a:pt x="0" y="2050742"/>
                </a:lnTo>
                <a:lnTo>
                  <a:pt x="53266" y="2334828"/>
                </a:lnTo>
                <a:lnTo>
                  <a:pt x="168676" y="2707690"/>
                </a:lnTo>
                <a:lnTo>
                  <a:pt x="355107" y="3027286"/>
                </a:lnTo>
                <a:lnTo>
                  <a:pt x="585927" y="3302494"/>
                </a:lnTo>
                <a:lnTo>
                  <a:pt x="861134" y="3533313"/>
                </a:lnTo>
                <a:lnTo>
                  <a:pt x="1180730" y="3684233"/>
                </a:lnTo>
                <a:lnTo>
                  <a:pt x="1553593" y="3799643"/>
                </a:lnTo>
                <a:lnTo>
                  <a:pt x="1917577" y="3835154"/>
                </a:lnTo>
                <a:lnTo>
                  <a:pt x="2370338" y="3781888"/>
                </a:lnTo>
                <a:lnTo>
                  <a:pt x="2778711" y="3622090"/>
                </a:lnTo>
                <a:lnTo>
                  <a:pt x="3116062" y="3426781"/>
                </a:lnTo>
                <a:lnTo>
                  <a:pt x="3355760" y="3187084"/>
                </a:lnTo>
                <a:lnTo>
                  <a:pt x="3559946" y="2894121"/>
                </a:lnTo>
                <a:lnTo>
                  <a:pt x="3728622" y="2556769"/>
                </a:lnTo>
                <a:lnTo>
                  <a:pt x="3817398" y="2290439"/>
                </a:lnTo>
                <a:lnTo>
                  <a:pt x="3844031" y="1979721"/>
                </a:lnTo>
                <a:lnTo>
                  <a:pt x="3835154" y="1748901"/>
                </a:lnTo>
                <a:lnTo>
                  <a:pt x="3826276" y="1633492"/>
                </a:lnTo>
                <a:lnTo>
                  <a:pt x="3773010" y="1411550"/>
                </a:lnTo>
                <a:lnTo>
                  <a:pt x="3693111" y="1127465"/>
                </a:lnTo>
                <a:lnTo>
                  <a:pt x="3480047" y="816746"/>
                </a:lnTo>
                <a:lnTo>
                  <a:pt x="3249227" y="523783"/>
                </a:lnTo>
                <a:lnTo>
                  <a:pt x="2974020" y="319597"/>
                </a:lnTo>
                <a:lnTo>
                  <a:pt x="2707690" y="186432"/>
                </a:lnTo>
                <a:lnTo>
                  <a:pt x="2441360" y="79899"/>
                </a:lnTo>
                <a:lnTo>
                  <a:pt x="2246051" y="44389"/>
                </a:lnTo>
                <a:lnTo>
                  <a:pt x="2032987" y="8878"/>
                </a:lnTo>
                <a:lnTo>
                  <a:pt x="1890944" y="0"/>
                </a:lnTo>
                <a:close/>
              </a:path>
            </a:pathLst>
          </a:custGeom>
          <a:noFill/>
          <a:ln w="1016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79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What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is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area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grey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region?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442052" y="1981200"/>
                <a:ext cx="5531371" cy="3489158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point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grey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region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satisfies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both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</a:p>
              <a:p>
                <a:pPr marL="914400" lvl="1" indent="-457200">
                  <a:spcBef>
                    <a:spcPts val="12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  <m:r>
                              <a:rPr lang="en-US" altLang="zh-CN" i="1">
                                <a:latin typeface="Cambria Math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≤1</m:t>
                    </m:r>
                  </m:oMath>
                </a14:m>
                <a:r>
                  <a:rPr lang="en-US" altLang="zh-CN" dirty="0"/>
                  <a:t>,</a:t>
                </a:r>
              </a:p>
              <a:p>
                <a:pPr marL="914400" lvl="1" indent="-457200">
                  <a:spcBef>
                    <a:spcPts val="12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charset="0"/>
                      </a:rPr>
                      <m:t>&gt;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1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42052" y="1981200"/>
                <a:ext cx="5531371" cy="3489158"/>
              </a:xfrm>
              <a:blipFill rotWithShape="0">
                <a:blip r:embed="rId3"/>
                <a:stretch>
                  <a:fillRect l="-1985" t="-2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1200"/>
            <a:ext cx="3952875" cy="4076700"/>
          </a:xfrm>
          <a:prstGeom prst="rect">
            <a:avLst/>
          </a:prstGeom>
        </p:spPr>
      </p:pic>
      <p:cxnSp>
        <p:nvCxnSpPr>
          <p:cNvPr id="25" name="Straight Arrow Connector 24"/>
          <p:cNvCxnSpPr/>
          <p:nvPr/>
        </p:nvCxnSpPr>
        <p:spPr>
          <a:xfrm>
            <a:off x="571500" y="5930900"/>
            <a:ext cx="5143500" cy="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/>
          <p:nvPr/>
        </p:nvCxnSpPr>
        <p:spPr>
          <a:xfrm flipV="1">
            <a:off x="863600" y="1574800"/>
            <a:ext cx="0" cy="468630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val 42"/>
          <p:cNvSpPr/>
          <p:nvPr/>
        </p:nvSpPr>
        <p:spPr>
          <a:xfrm>
            <a:off x="3331498" y="232613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3704476" y="320049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3528868" y="276334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366539" y="335289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4518939" y="362521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289028" y="244855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4386529" y="395749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681268" y="288576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362140" y="231614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6863227" y="3487603"/>
            <a:ext cx="2670240" cy="479538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3" name="Freeform 32"/>
          <p:cNvSpPr/>
          <p:nvPr/>
        </p:nvSpPr>
        <p:spPr>
          <a:xfrm>
            <a:off x="864704" y="2115047"/>
            <a:ext cx="3826566" cy="3828553"/>
          </a:xfrm>
          <a:custGeom>
            <a:avLst/>
            <a:gdLst>
              <a:gd name="connsiteX0" fmla="*/ 17891 w 3826566"/>
              <a:gd name="connsiteY0" fmla="*/ 0 h 3828553"/>
              <a:gd name="connsiteX1" fmla="*/ 272333 w 3826566"/>
              <a:gd name="connsiteY1" fmla="*/ 7951 h 3828553"/>
              <a:gd name="connsiteX2" fmla="*/ 566531 w 3826566"/>
              <a:gd name="connsiteY2" fmla="*/ 47708 h 3828553"/>
              <a:gd name="connsiteX3" fmla="*/ 820973 w 3826566"/>
              <a:gd name="connsiteY3" fmla="*/ 87464 h 3828553"/>
              <a:gd name="connsiteX4" fmla="*/ 1178781 w 3826566"/>
              <a:gd name="connsiteY4" fmla="*/ 174929 h 3828553"/>
              <a:gd name="connsiteX5" fmla="*/ 1632006 w 3826566"/>
              <a:gd name="connsiteY5" fmla="*/ 357809 h 3828553"/>
              <a:gd name="connsiteX6" fmla="*/ 1870545 w 3826566"/>
              <a:gd name="connsiteY6" fmla="*/ 485030 h 3828553"/>
              <a:gd name="connsiteX7" fmla="*/ 2212451 w 3826566"/>
              <a:gd name="connsiteY7" fmla="*/ 715617 h 3828553"/>
              <a:gd name="connsiteX8" fmla="*/ 2482795 w 3826566"/>
              <a:gd name="connsiteY8" fmla="*/ 906449 h 3828553"/>
              <a:gd name="connsiteX9" fmla="*/ 2737237 w 3826566"/>
              <a:gd name="connsiteY9" fmla="*/ 1152939 h 3828553"/>
              <a:gd name="connsiteX10" fmla="*/ 2975776 w 3826566"/>
              <a:gd name="connsiteY10" fmla="*/ 1423283 h 3828553"/>
              <a:gd name="connsiteX11" fmla="*/ 3262023 w 3826566"/>
              <a:gd name="connsiteY11" fmla="*/ 1796995 h 3828553"/>
              <a:gd name="connsiteX12" fmla="*/ 3436952 w 3826566"/>
              <a:gd name="connsiteY12" fmla="*/ 2107096 h 3828553"/>
              <a:gd name="connsiteX13" fmla="*/ 3580075 w 3826566"/>
              <a:gd name="connsiteY13" fmla="*/ 2441050 h 3828553"/>
              <a:gd name="connsiteX14" fmla="*/ 3731150 w 3826566"/>
              <a:gd name="connsiteY14" fmla="*/ 2902226 h 3828553"/>
              <a:gd name="connsiteX15" fmla="*/ 3794760 w 3826566"/>
              <a:gd name="connsiteY15" fmla="*/ 3228230 h 3828553"/>
              <a:gd name="connsiteX16" fmla="*/ 3818614 w 3826566"/>
              <a:gd name="connsiteY16" fmla="*/ 3498574 h 3828553"/>
              <a:gd name="connsiteX17" fmla="*/ 3826566 w 3826566"/>
              <a:gd name="connsiteY17" fmla="*/ 3818614 h 3828553"/>
              <a:gd name="connsiteX18" fmla="*/ 3667539 w 3826566"/>
              <a:gd name="connsiteY18" fmla="*/ 3818614 h 3828553"/>
              <a:gd name="connsiteX19" fmla="*/ 3458818 w 3826566"/>
              <a:gd name="connsiteY19" fmla="*/ 3828553 h 3828553"/>
              <a:gd name="connsiteX20" fmla="*/ 39757 w 3826566"/>
              <a:gd name="connsiteY20" fmla="*/ 3818614 h 3828553"/>
              <a:gd name="connsiteX21" fmla="*/ 39757 w 3826566"/>
              <a:gd name="connsiteY21" fmla="*/ 3818614 h 3828553"/>
              <a:gd name="connsiteX22" fmla="*/ 9939 w 3826566"/>
              <a:gd name="connsiteY22" fmla="*/ 3729162 h 3828553"/>
              <a:gd name="connsiteX23" fmla="*/ 9939 w 3826566"/>
              <a:gd name="connsiteY23" fmla="*/ 3341536 h 3828553"/>
              <a:gd name="connsiteX24" fmla="*/ 9939 w 3826566"/>
              <a:gd name="connsiteY24" fmla="*/ 240527 h 3828553"/>
              <a:gd name="connsiteX25" fmla="*/ 0 w 3826566"/>
              <a:gd name="connsiteY25" fmla="*/ 111318 h 3828553"/>
              <a:gd name="connsiteX26" fmla="*/ 17891 w 3826566"/>
              <a:gd name="connsiteY26" fmla="*/ 0 h 3828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826566" h="3828553">
                <a:moveTo>
                  <a:pt x="17891" y="0"/>
                </a:moveTo>
                <a:lnTo>
                  <a:pt x="272333" y="7951"/>
                </a:lnTo>
                <a:lnTo>
                  <a:pt x="566531" y="47708"/>
                </a:lnTo>
                <a:lnTo>
                  <a:pt x="820973" y="87464"/>
                </a:lnTo>
                <a:lnTo>
                  <a:pt x="1178781" y="174929"/>
                </a:lnTo>
                <a:lnTo>
                  <a:pt x="1632006" y="357809"/>
                </a:lnTo>
                <a:lnTo>
                  <a:pt x="1870545" y="485030"/>
                </a:lnTo>
                <a:lnTo>
                  <a:pt x="2212451" y="715617"/>
                </a:lnTo>
                <a:lnTo>
                  <a:pt x="2482795" y="906449"/>
                </a:lnTo>
                <a:lnTo>
                  <a:pt x="2737237" y="1152939"/>
                </a:lnTo>
                <a:lnTo>
                  <a:pt x="2975776" y="1423283"/>
                </a:lnTo>
                <a:lnTo>
                  <a:pt x="3262023" y="1796995"/>
                </a:lnTo>
                <a:lnTo>
                  <a:pt x="3436952" y="2107096"/>
                </a:lnTo>
                <a:lnTo>
                  <a:pt x="3580075" y="2441050"/>
                </a:lnTo>
                <a:lnTo>
                  <a:pt x="3731150" y="2902226"/>
                </a:lnTo>
                <a:lnTo>
                  <a:pt x="3794760" y="3228230"/>
                </a:lnTo>
                <a:lnTo>
                  <a:pt x="3818614" y="3498574"/>
                </a:lnTo>
                <a:lnTo>
                  <a:pt x="3826566" y="3818614"/>
                </a:lnTo>
                <a:lnTo>
                  <a:pt x="3667539" y="3818614"/>
                </a:lnTo>
                <a:lnTo>
                  <a:pt x="3458818" y="3828553"/>
                </a:lnTo>
                <a:lnTo>
                  <a:pt x="39757" y="3818614"/>
                </a:lnTo>
                <a:lnTo>
                  <a:pt x="39757" y="3818614"/>
                </a:lnTo>
                <a:lnTo>
                  <a:pt x="9939" y="3729162"/>
                </a:lnTo>
                <a:lnTo>
                  <a:pt x="9939" y="3341536"/>
                </a:lnTo>
                <a:lnTo>
                  <a:pt x="9939" y="240527"/>
                </a:lnTo>
                <a:lnTo>
                  <a:pt x="0" y="111318"/>
                </a:lnTo>
                <a:lnTo>
                  <a:pt x="17891" y="0"/>
                </a:lnTo>
                <a:close/>
              </a:path>
            </a:pathLst>
          </a:custGeom>
          <a:noFill/>
          <a:ln w="1016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1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What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is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area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grey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region?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75754" y="1904998"/>
                <a:ext cx="5697669" cy="4780615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Area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square: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=4</m:t>
                    </m:r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1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75754" y="1904998"/>
                <a:ext cx="5697669" cy="4780615"/>
              </a:xfrm>
              <a:blipFill rotWithShape="0">
                <a:blip r:embed="rId3"/>
                <a:stretch>
                  <a:fillRect l="-1925" t="-2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1200"/>
            <a:ext cx="3952875" cy="4076700"/>
          </a:xfrm>
          <a:prstGeom prst="rect">
            <a:avLst/>
          </a:prstGeom>
        </p:spPr>
      </p:pic>
      <p:cxnSp>
        <p:nvCxnSpPr>
          <p:cNvPr id="25" name="Straight Arrow Connector 24"/>
          <p:cNvCxnSpPr/>
          <p:nvPr/>
        </p:nvCxnSpPr>
        <p:spPr>
          <a:xfrm>
            <a:off x="571500" y="5930900"/>
            <a:ext cx="5143500" cy="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/>
          <p:nvPr/>
        </p:nvCxnSpPr>
        <p:spPr>
          <a:xfrm flipV="1">
            <a:off x="863600" y="1574800"/>
            <a:ext cx="0" cy="468630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/>
          <p:cNvSpPr/>
          <p:nvPr/>
        </p:nvSpPr>
        <p:spPr>
          <a:xfrm>
            <a:off x="3331498" y="232613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704476" y="320049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839322" y="3692735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366539" y="2483465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4518939" y="362521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3289028" y="50868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4386529" y="5591418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4460755" y="288576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856876" y="4312262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1458454" y="335289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1610854" y="238103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133669" y="253343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1717560" y="4354798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869960" y="5421596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482716" y="5573996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890472" y="2112885"/>
            <a:ext cx="3805815" cy="3810692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9303183" y="2389637"/>
            <a:ext cx="2126817" cy="45719"/>
          </a:xfrm>
          <a:prstGeom prst="rect">
            <a:avLst/>
          </a:prstGeom>
          <a:noFill/>
          <a:ln w="7620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7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5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95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4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85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3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9" grpId="0" animBg="1"/>
      <p:bldP spid="4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What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is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area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grey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region?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75754" y="1904998"/>
                <a:ext cx="5697669" cy="4780615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Area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square: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=4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Area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grey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region: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point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uniformly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sampled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square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falls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grey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region</a:t>
                </a:r>
                <a:r>
                  <a:rPr lang="zh-CN" altLang="en-US" dirty="0"/>
                  <a:t> </a:t>
                </a:r>
                <a:r>
                  <a:rPr lang="en-US" altLang="zh-CN" dirty="0" err="1"/>
                  <a:t>w.p</a:t>
                </a:r>
                <a:r>
                  <a:rPr lang="en-US" altLang="zh-CN" dirty="0"/>
                  <a:t>.</a:t>
                </a:r>
              </a:p>
              <a:p>
                <a:pPr marL="0" indent="0" algn="ctr">
                  <a:spcAft>
                    <a:spcPts val="600"/>
                  </a:spcAft>
                  <a:buNone/>
                </a:pP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𝑃</m:t>
                    </m:r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1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75754" y="1904998"/>
                <a:ext cx="5697669" cy="4780615"/>
              </a:xfrm>
              <a:blipFill rotWithShape="0">
                <a:blip r:embed="rId3"/>
                <a:stretch>
                  <a:fillRect l="-1925" t="-2038" r="-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1200"/>
            <a:ext cx="3952875" cy="4076700"/>
          </a:xfrm>
          <a:prstGeom prst="rect">
            <a:avLst/>
          </a:prstGeom>
        </p:spPr>
      </p:pic>
      <p:cxnSp>
        <p:nvCxnSpPr>
          <p:cNvPr id="25" name="Straight Arrow Connector 24"/>
          <p:cNvCxnSpPr/>
          <p:nvPr/>
        </p:nvCxnSpPr>
        <p:spPr>
          <a:xfrm>
            <a:off x="571500" y="5930900"/>
            <a:ext cx="5143500" cy="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/>
          <p:nvPr/>
        </p:nvCxnSpPr>
        <p:spPr>
          <a:xfrm flipV="1">
            <a:off x="863600" y="1574800"/>
            <a:ext cx="0" cy="468630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/>
          <p:cNvSpPr/>
          <p:nvPr/>
        </p:nvSpPr>
        <p:spPr>
          <a:xfrm>
            <a:off x="3331498" y="232613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704476" y="320049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839322" y="3692735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366539" y="2483465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4518939" y="362521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3289028" y="50868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4386529" y="5591418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4460755" y="288576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856876" y="4312262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1458454" y="335289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1610854" y="238103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133669" y="253343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1717560" y="4354798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869960" y="5421596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482716" y="5573996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890472" y="2112885"/>
            <a:ext cx="3805815" cy="3810692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8046059" y="4770143"/>
            <a:ext cx="2210956" cy="52868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 flipV="1">
            <a:off x="10011229" y="2463389"/>
            <a:ext cx="486785" cy="543388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320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5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What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is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area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grey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region?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8409" y="1196806"/>
                <a:ext cx="5697669" cy="5110813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Uniformly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sample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points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square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0,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e>
                    </m:d>
                    <m:r>
                      <a:rPr lang="en-US" altLang="zh-CN" i="1">
                        <a:latin typeface="Cambria Math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0,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expectation,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  <m:r>
                      <a:rPr lang="en-US" altLang="zh-CN" b="0" i="1" smtClean="0">
                        <a:latin typeface="Cambria Math" charset="0"/>
                      </a:rPr>
                      <m:t>𝑃</m:t>
                    </m:r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  <m:r>
                          <a:rPr lang="zh-CN" altLang="en-US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points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fall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grey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region.</a:t>
                </a:r>
              </a:p>
            </p:txBody>
          </p:sp>
        </mc:Choice>
        <mc:Fallback xmlns="">
          <p:sp>
            <p:nvSpPr>
              <p:cNvPr id="1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8409" y="1196806"/>
                <a:ext cx="5697669" cy="5110813"/>
              </a:xfrm>
              <a:blipFill rotWithShape="0">
                <a:blip r:embed="rId3"/>
                <a:stretch>
                  <a:fillRect l="-1927" t="-1907" r="-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1200"/>
            <a:ext cx="3952875" cy="4076700"/>
          </a:xfrm>
          <a:prstGeom prst="rect">
            <a:avLst/>
          </a:prstGeom>
        </p:spPr>
      </p:pic>
      <p:cxnSp>
        <p:nvCxnSpPr>
          <p:cNvPr id="25" name="Straight Arrow Connector 24"/>
          <p:cNvCxnSpPr/>
          <p:nvPr/>
        </p:nvCxnSpPr>
        <p:spPr>
          <a:xfrm>
            <a:off x="571500" y="5930900"/>
            <a:ext cx="5143500" cy="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/>
          <p:nvPr/>
        </p:nvCxnSpPr>
        <p:spPr>
          <a:xfrm flipV="1">
            <a:off x="863600" y="1574800"/>
            <a:ext cx="0" cy="468630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/>
          <p:cNvSpPr/>
          <p:nvPr/>
        </p:nvSpPr>
        <p:spPr>
          <a:xfrm>
            <a:off x="3331498" y="232613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704476" y="320049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839322" y="3692735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366539" y="2483465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4518939" y="362521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3289028" y="50868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4386529" y="5591418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4460755" y="288576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856876" y="4312262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1458454" y="335289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1610854" y="238103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133669" y="253343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1717560" y="4354798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869960" y="5421596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482716" y="5573996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 flipV="1">
            <a:off x="8776531" y="2164466"/>
            <a:ext cx="529515" cy="633044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 flipV="1">
            <a:off x="9604860" y="2164466"/>
            <a:ext cx="719758" cy="644618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4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What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is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area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grey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region?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8409" y="1196806"/>
                <a:ext cx="5697669" cy="5110813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Uniformly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sample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points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square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0,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e>
                    </m:d>
                    <m:r>
                      <a:rPr lang="en-US" altLang="zh-CN" i="1">
                        <a:latin typeface="Cambria Math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0,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expectation,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  <m:r>
                      <a:rPr lang="en-US" altLang="zh-CN" b="0" i="1" smtClean="0">
                        <a:latin typeface="Cambria Math" charset="0"/>
                      </a:rPr>
                      <m:t>𝑃</m:t>
                    </m:r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  <m:r>
                          <a:rPr lang="zh-CN" altLang="en-US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points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fall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grey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region.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We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actually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observe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𝑚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points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grey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region.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big,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𝑚</m:t>
                    </m:r>
                    <m:r>
                      <a:rPr lang="en-US" altLang="zh-CN" b="0" i="1" smtClean="0">
                        <a:latin typeface="Cambria Math" charset="0"/>
                      </a:rPr>
                      <m:t>≈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  <m:r>
                          <a:rPr lang="zh-CN" altLang="en-US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Thus,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≈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charset="0"/>
                          </a:rPr>
                          <m:t>4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1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8409" y="1196806"/>
                <a:ext cx="5697669" cy="5110813"/>
              </a:xfrm>
              <a:blipFill rotWithShape="0">
                <a:blip r:embed="rId3"/>
                <a:stretch>
                  <a:fillRect l="-1927" t="-1907" r="-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1200"/>
            <a:ext cx="3952875" cy="4076700"/>
          </a:xfrm>
          <a:prstGeom prst="rect">
            <a:avLst/>
          </a:prstGeom>
        </p:spPr>
      </p:pic>
      <p:cxnSp>
        <p:nvCxnSpPr>
          <p:cNvPr id="25" name="Straight Arrow Connector 24"/>
          <p:cNvCxnSpPr/>
          <p:nvPr/>
        </p:nvCxnSpPr>
        <p:spPr>
          <a:xfrm>
            <a:off x="571500" y="5930900"/>
            <a:ext cx="5143500" cy="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/>
          <p:nvPr/>
        </p:nvCxnSpPr>
        <p:spPr>
          <a:xfrm flipV="1">
            <a:off x="863600" y="1574800"/>
            <a:ext cx="0" cy="468630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/>
          <p:cNvSpPr/>
          <p:nvPr/>
        </p:nvSpPr>
        <p:spPr>
          <a:xfrm>
            <a:off x="3331498" y="232613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704476" y="320049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839322" y="3692735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366539" y="2483465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4518939" y="362521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3289028" y="50868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4386529" y="5591418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4460755" y="288576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856876" y="4312262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1458454" y="335289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1610854" y="238103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133669" y="253343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1717560" y="4354798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869960" y="5421596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482716" y="5573996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 flipV="1">
            <a:off x="8742193" y="4232889"/>
            <a:ext cx="1456105" cy="708388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 flipV="1">
            <a:off x="7363945" y="4992608"/>
            <a:ext cx="1456105" cy="708388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5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3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3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3" grpId="1" animBg="1"/>
      <p:bldP spid="4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1200"/>
            <a:ext cx="3952875" cy="407670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571500" y="5930900"/>
            <a:ext cx="5143500" cy="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 flipV="1">
            <a:off x="863600" y="1574800"/>
            <a:ext cx="0" cy="468630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What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is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area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grey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region?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84719" y="1974536"/>
                <a:ext cx="5571598" cy="4195787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/>
                  <a:t>User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specify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big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altLang="zh-CN" dirty="0"/>
                  <a:t>; reset counter: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𝑚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=0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>
                    <a:solidFill>
                      <a:schemeClr val="bg1"/>
                    </a:solidFill>
                  </a:rPr>
                  <a:t>For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charset="0"/>
                      </a:rPr>
                      <m:t>𝑖</m:t>
                    </m:r>
                    <m:r>
                      <a:rPr lang="en-US" altLang="zh-CN" i="1">
                        <a:solidFill>
                          <a:schemeClr val="bg1"/>
                        </a:solidFill>
                        <a:latin typeface="Cambria Math" charset="0"/>
                      </a:rPr>
                      <m:t>=1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to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bg1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altLang="zh-CN" dirty="0">
                    <a:solidFill>
                      <a:schemeClr val="bg1"/>
                    </a:solidFill>
                  </a:rPr>
                  <a:t>: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altLang="zh-CN" dirty="0">
                    <a:solidFill>
                      <a:schemeClr val="bg1"/>
                    </a:solidFill>
                  </a:rPr>
                  <a:t>Randomly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generate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charset="0"/>
                      </a:rPr>
                      <m:t>𝑥</m:t>
                    </m:r>
                    <m:r>
                      <a:rPr lang="en-US" altLang="zh-CN" i="1">
                        <a:solidFill>
                          <a:schemeClr val="bg1"/>
                        </a:solidFill>
                        <a:latin typeface="Cambria Math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0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altLang="zh-CN" dirty="0">
                    <a:solidFill>
                      <a:schemeClr val="bg1"/>
                    </a:solidFill>
                  </a:rPr>
                  <a:t>Randomly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generate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charset="0"/>
                      </a:rPr>
                      <m:t>𝑦</m:t>
                    </m:r>
                    <m:r>
                      <a:rPr lang="en-US" altLang="zh-CN" i="1">
                        <a:solidFill>
                          <a:schemeClr val="bg1"/>
                        </a:solidFill>
                        <a:latin typeface="Cambria Math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0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chemeClr val="bg1"/>
                    </a:solidFill>
                  </a:rPr>
                  <a:t>.</a:t>
                </a:r>
                <a:endParaRPr lang="en-US" dirty="0">
                  <a:solidFill>
                    <a:schemeClr val="bg1"/>
                  </a:solidFill>
                </a:endParaRP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altLang="zh-CN" dirty="0">
                    <a:solidFill>
                      <a:schemeClr val="bg1"/>
                    </a:solidFill>
                  </a:rPr>
                  <a:t>If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both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of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the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following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conditions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are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satisfied,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then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bg1"/>
                        </a:solidFill>
                        <a:latin typeface="Cambria Math" charset="0"/>
                      </a:rPr>
                      <m:t>𝑚</m:t>
                    </m:r>
                    <m:r>
                      <a:rPr lang="en-US" altLang="zh-CN" i="1" smtClean="0">
                        <a:solidFill>
                          <a:schemeClr val="bg1"/>
                        </a:solidFill>
                        <a:latin typeface="Cambria Math" charset="0"/>
                      </a:rPr>
                      <m:t>←</m:t>
                    </m:r>
                    <m:r>
                      <a:rPr lang="en-US" altLang="zh-CN" i="1" smtClean="0">
                        <a:solidFill>
                          <a:schemeClr val="bg1"/>
                        </a:solidFill>
                        <a:latin typeface="Cambria Math" charset="0"/>
                      </a:rPr>
                      <m:t>𝑚</m:t>
                    </m:r>
                    <m:r>
                      <a:rPr lang="en-US" altLang="zh-CN" i="1" smtClean="0">
                        <a:solidFill>
                          <a:schemeClr val="bg1"/>
                        </a:solidFill>
                        <a:latin typeface="Cambria Math" charset="0"/>
                      </a:rPr>
                      <m:t>+1</m:t>
                    </m:r>
                  </m:oMath>
                </a14:m>
                <a:r>
                  <a:rPr lang="en-US" altLang="zh-CN" dirty="0">
                    <a:solidFill>
                      <a:schemeClr val="bg1"/>
                    </a:solidFill>
                  </a:rPr>
                  <a:t>:</a:t>
                </a:r>
              </a:p>
              <a:p>
                <a:pPr marL="1428750" lvl="2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altLang="zh-CN" i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solidFill>
                          <a:schemeClr val="bg1"/>
                        </a:solidFill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  <m:t>𝑦</m:t>
                            </m:r>
                            <m:r>
                              <a:rPr lang="en-US" altLang="zh-CN" i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solidFill>
                          <a:schemeClr val="bg1"/>
                        </a:solidFill>
                        <a:latin typeface="Cambria Math" charset="0"/>
                      </a:rPr>
                      <m:t>≤1</m:t>
                    </m:r>
                  </m:oMath>
                </a14:m>
                <a:r>
                  <a:rPr lang="en-US" altLang="zh-CN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1428750" lvl="2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solidFill>
                          <a:schemeClr val="bg1"/>
                        </a:solidFill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solidFill>
                          <a:schemeClr val="bg1"/>
                        </a:solidFill>
                        <a:latin typeface="Cambria Math" charset="0"/>
                      </a:rPr>
                      <m:t>&gt;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>
                    <a:solidFill>
                      <a:schemeClr val="bg1"/>
                    </a:solidFill>
                  </a:rPr>
                  <a:t>Return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chemeClr val="bg1"/>
                        </a:solidFill>
                        <a:latin typeface="Cambria Math" charset="0"/>
                      </a:rPr>
                      <m:t>area</m:t>
                    </m:r>
                    <m:r>
                      <a:rPr lang="en-US" altLang="zh-CN" b="0" i="0" smtClean="0">
                        <a:solidFill>
                          <a:schemeClr val="bg1"/>
                        </a:solidFill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4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2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4719" y="1974536"/>
                <a:ext cx="5571598" cy="4195787"/>
              </a:xfrm>
              <a:blipFill rotWithShape="0">
                <a:blip r:embed="rId10"/>
                <a:stretch>
                  <a:fillRect l="-2298" t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384719" y="1212537"/>
            <a:ext cx="5571597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/>
              <a:t>Algorithm</a:t>
            </a:r>
            <a:endParaRPr lang="en-US" sz="3200" b="1" dirty="0"/>
          </a:p>
        </p:txBody>
      </p:sp>
      <p:sp>
        <p:nvSpPr>
          <p:cNvPr id="19" name="Oval 18"/>
          <p:cNvSpPr/>
          <p:nvPr/>
        </p:nvSpPr>
        <p:spPr>
          <a:xfrm>
            <a:off x="3331498" y="232613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704476" y="320049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839322" y="3692735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366539" y="2483465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518939" y="362521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289028" y="50868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4386529" y="5591418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460755" y="288576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3856876" y="4312262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1458454" y="335289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1610854" y="238103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1133669" y="253343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1717560" y="4354798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1869960" y="5421596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1482716" y="5573996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8158909" y="2695603"/>
            <a:ext cx="1213691" cy="45719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88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3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1200"/>
            <a:ext cx="3952875" cy="407670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571500" y="5930900"/>
            <a:ext cx="5143500" cy="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 flipV="1">
            <a:off x="863600" y="1574800"/>
            <a:ext cx="0" cy="468630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What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is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area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grey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region?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84719" y="1974536"/>
                <a:ext cx="5571598" cy="4195787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/>
                  <a:t>User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specify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big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altLang="zh-CN" dirty="0"/>
                  <a:t>; reset counter: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𝑚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=0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/>
                  <a:t>For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𝑖</m:t>
                    </m:r>
                    <m:r>
                      <a:rPr lang="en-US" altLang="zh-CN" i="1">
                        <a:latin typeface="Cambria Math" charset="0"/>
                      </a:rPr>
                      <m:t>=1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to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altLang="zh-CN" dirty="0"/>
                  <a:t>: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altLang="zh-CN" dirty="0"/>
                  <a:t>Randomly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generate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𝑥</m:t>
                    </m:r>
                    <m:r>
                      <a:rPr lang="en-US" altLang="zh-CN" i="1">
                        <a:latin typeface="Cambria Math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0</m:t>
                        </m:r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altLang="zh-CN" dirty="0"/>
                  <a:t>Randomly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generate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𝑦</m:t>
                    </m:r>
                    <m:r>
                      <a:rPr lang="en-US" altLang="zh-CN" i="1">
                        <a:latin typeface="Cambria Math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0</m:t>
                        </m:r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altLang="zh-CN" dirty="0"/>
                  <a:t>.</a:t>
                </a:r>
                <a:endParaRPr lang="en-US" dirty="0"/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both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following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conditions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are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satisfied,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𝑚</m:t>
                    </m:r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←</m:t>
                    </m:r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𝑚</m:t>
                    </m:r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+1</m:t>
                    </m:r>
                  </m:oMath>
                </a14:m>
                <a:r>
                  <a:rPr lang="en-US" altLang="zh-CN" dirty="0"/>
                  <a:t>:</a:t>
                </a:r>
              </a:p>
              <a:p>
                <a:pPr marL="1428750" lvl="2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  <m:r>
                              <a:rPr lang="en-US" altLang="zh-CN" i="1">
                                <a:latin typeface="Cambria Math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≤1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1428750" lvl="2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&gt;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>
                    <a:solidFill>
                      <a:schemeClr val="bg1"/>
                    </a:solidFill>
                  </a:rPr>
                  <a:t>Return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chemeClr val="bg1"/>
                        </a:solidFill>
                        <a:latin typeface="Cambria Math" charset="0"/>
                      </a:rPr>
                      <m:t>area</m:t>
                    </m:r>
                    <m:r>
                      <a:rPr lang="en-US" altLang="zh-CN" b="0" i="0" smtClean="0">
                        <a:solidFill>
                          <a:schemeClr val="bg1"/>
                        </a:solidFill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4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2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4719" y="1974536"/>
                <a:ext cx="5571598" cy="4195787"/>
              </a:xfrm>
              <a:blipFill rotWithShape="0">
                <a:blip r:embed="rId10"/>
                <a:stretch>
                  <a:fillRect l="-2298" t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384719" y="1212537"/>
            <a:ext cx="5571597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/>
              <a:t>Algorithm</a:t>
            </a:r>
            <a:endParaRPr lang="en-US" sz="3200" b="1" dirty="0"/>
          </a:p>
        </p:txBody>
      </p:sp>
      <p:sp>
        <p:nvSpPr>
          <p:cNvPr id="19" name="Oval 18"/>
          <p:cNvSpPr/>
          <p:nvPr/>
        </p:nvSpPr>
        <p:spPr>
          <a:xfrm>
            <a:off x="3331498" y="232613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704476" y="320049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839322" y="3692735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366539" y="2483465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518939" y="362521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289028" y="50868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4386529" y="5591418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460755" y="288576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3856876" y="4312262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1458454" y="335289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1610854" y="238103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1133669" y="253343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1717560" y="4354798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1869960" y="5421596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1482716" y="5573996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 flipV="1">
            <a:off x="7191755" y="4505705"/>
            <a:ext cx="3494174" cy="708118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076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1200"/>
            <a:ext cx="3952875" cy="407670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571500" y="5930900"/>
            <a:ext cx="5143500" cy="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655" y="5600412"/>
                <a:ext cx="548099" cy="6463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 flipV="1">
            <a:off x="863600" y="1574800"/>
            <a:ext cx="0" cy="468630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56" y="990025"/>
                <a:ext cx="554832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81" y="1904999"/>
                <a:ext cx="465191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205" y="5923577"/>
                <a:ext cx="465191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78" y="5952639"/>
                <a:ext cx="465191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5" y="3687117"/>
                <a:ext cx="465191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What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is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area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grey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region?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84719" y="1974536"/>
                <a:ext cx="5571598" cy="4195787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/>
                  <a:t>User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specify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big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altLang="zh-CN" dirty="0"/>
                  <a:t>; reset counter: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𝑚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=0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/>
                  <a:t>For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𝑖</m:t>
                    </m:r>
                    <m:r>
                      <a:rPr lang="en-US" altLang="zh-CN" i="1">
                        <a:latin typeface="Cambria Math" charset="0"/>
                      </a:rPr>
                      <m:t>=1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to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altLang="zh-CN" dirty="0"/>
                  <a:t>: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altLang="zh-CN" dirty="0"/>
                  <a:t>Randomly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generate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𝑥</m:t>
                    </m:r>
                    <m:r>
                      <a:rPr lang="en-US" altLang="zh-CN" i="1">
                        <a:latin typeface="Cambria Math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0</m:t>
                        </m:r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altLang="zh-CN" dirty="0"/>
                  <a:t>Randomly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generate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𝑦</m:t>
                    </m:r>
                    <m:r>
                      <a:rPr lang="en-US" altLang="zh-CN" i="1">
                        <a:latin typeface="Cambria Math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0</m:t>
                        </m:r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altLang="zh-CN" dirty="0"/>
                  <a:t>.</a:t>
                </a:r>
                <a:endParaRPr lang="en-US" dirty="0"/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both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following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conditions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are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satisfied,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𝑚</m:t>
                    </m:r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←</m:t>
                    </m:r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𝑚</m:t>
                    </m:r>
                    <m:r>
                      <a:rPr lang="en-US" altLang="zh-CN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+1</m:t>
                    </m:r>
                  </m:oMath>
                </a14:m>
                <a:r>
                  <a:rPr lang="en-US" altLang="zh-CN" dirty="0"/>
                  <a:t>:</a:t>
                </a:r>
              </a:p>
              <a:p>
                <a:pPr marL="1428750" lvl="2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  <m:r>
                              <a:rPr lang="en-US" altLang="zh-CN" i="1">
                                <a:latin typeface="Cambria Math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≤1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1428750" lvl="2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&gt;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/>
                  <a:t>Return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rgbClr val="C00000"/>
                        </a:solidFill>
                        <a:latin typeface="Cambria Math" charset="0"/>
                      </a:rPr>
                      <m:t>area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≈</m:t>
                    </m:r>
                    <m:f>
                      <m:f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4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12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4719" y="1974536"/>
                <a:ext cx="5571598" cy="4195787"/>
              </a:xfrm>
              <a:blipFill rotWithShape="0">
                <a:blip r:embed="rId10"/>
                <a:stretch>
                  <a:fillRect l="-2298" t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384719" y="1212537"/>
            <a:ext cx="5571597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/>
              <a:t>Algorithm</a:t>
            </a:r>
            <a:endParaRPr lang="en-US" sz="3200" b="1" dirty="0"/>
          </a:p>
        </p:txBody>
      </p:sp>
      <p:sp>
        <p:nvSpPr>
          <p:cNvPr id="19" name="Oval 18"/>
          <p:cNvSpPr/>
          <p:nvPr/>
        </p:nvSpPr>
        <p:spPr>
          <a:xfrm>
            <a:off x="3331498" y="232613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704476" y="320049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839322" y="3692735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366539" y="2483465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518939" y="362521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289028" y="50868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4386529" y="5591418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460755" y="2885767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3856876" y="4312262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1458454" y="335289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1610854" y="238103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1133669" y="253343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1717560" y="4354798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1869960" y="5421596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1482716" y="5573996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43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Application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4: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Integration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9667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85981"/>
                <a:ext cx="10515600" cy="4351338"/>
              </a:xfrm>
            </p:spPr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We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are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given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function,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e.g.,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charset="0"/>
                          </a:rPr>
                          <m:t>1+</m:t>
                        </m:r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lang="en-US" altLang="zh-CN" b="0" i="1" smtClean="0">
                            <a:latin typeface="Cambria Math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>
                                            <a:latin typeface="Cambria Math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>
                                            <a:latin typeface="Cambria Math" charset="0"/>
                                          </a:rPr>
                                          <m:t>e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altLang="zh-CN" i="1">
                                        <a:latin typeface="Cambria Math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Calculate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integral: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𝐼</m:t>
                    </m:r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charset="0"/>
                          </a:rPr>
                          <m:t>0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.8</m:t>
                        </m:r>
                      </m:sub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3</m:t>
                        </m:r>
                      </m:sup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85981"/>
                <a:ext cx="10515600" cy="4351338"/>
              </a:xfrm>
              <a:blipFill rotWithShape="0">
                <a:blip r:embed="rId3"/>
                <a:stretch>
                  <a:fillRect l="-1043" t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Integration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 flipV="1">
            <a:off x="5309167" y="1285981"/>
            <a:ext cx="3619680" cy="708118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 flipV="1">
            <a:off x="5029199" y="2700777"/>
            <a:ext cx="1846385" cy="60006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028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85981"/>
                <a:ext cx="10515600" cy="4351338"/>
              </a:xfrm>
            </p:spPr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We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are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given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function,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e.g.,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charset="0"/>
                          </a:rPr>
                          <m:t>1+</m:t>
                        </m:r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lang="en-US" altLang="zh-CN" b="0" i="1" smtClean="0">
                            <a:latin typeface="Cambria Math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>
                                            <a:latin typeface="Cambria Math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>
                                            <a:latin typeface="Cambria Math" charset="0"/>
                                          </a:rPr>
                                          <m:t>e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altLang="zh-CN" i="1">
                                        <a:latin typeface="Cambria Math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Calculate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integral: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𝐼</m:t>
                    </m:r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charset="0"/>
                          </a:rPr>
                          <m:t>0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.8</m:t>
                        </m:r>
                      </m:sub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3</m:t>
                        </m:r>
                      </m:sup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If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very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involved,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there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way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analytically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calculate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integral.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Using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Monte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Carlo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approximate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integral.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85981"/>
                <a:ext cx="10515600" cy="4351338"/>
              </a:xfrm>
              <a:blipFill rotWithShape="0">
                <a:blip r:embed="rId3"/>
                <a:stretch>
                  <a:fillRect l="-1043" t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Integration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2752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Integration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(Univariate)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38200" y="1247945"/>
                <a:ext cx="10515600" cy="68608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altLang="zh-CN" sz="2800" b="1" dirty="0"/>
                  <a:t>Task:</a:t>
                </a:r>
                <a:r>
                  <a:rPr lang="zh-CN" altLang="en-US" sz="2800" b="1" dirty="0"/>
                  <a:t>  </a:t>
                </a:r>
                <a:r>
                  <a:rPr lang="en-US" altLang="zh-CN" sz="2800" dirty="0"/>
                  <a:t>Given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univariate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function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calculate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𝐼</m:t>
                    </m:r>
                    <m:r>
                      <a:rPr lang="en-US" altLang="zh-CN" sz="2800" i="1">
                        <a:latin typeface="Cambria Math" charset="0"/>
                      </a:rPr>
                      <m:t>=</m:t>
                    </m:r>
                    <m:nary>
                      <m:nary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i="1">
                            <a:latin typeface="Cambria Math" charset="0"/>
                          </a:rPr>
                          <m:t>𝑎</m:t>
                        </m:r>
                      </m:sub>
                      <m:sup>
                        <m:r>
                          <a:rPr lang="en-US" altLang="zh-CN" sz="2800" i="1">
                            <a:latin typeface="Cambria Math" charset="0"/>
                          </a:rPr>
                          <m:t>𝑏</m:t>
                        </m:r>
                      </m:sup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2800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47945"/>
                <a:ext cx="10515600" cy="686085"/>
              </a:xfrm>
              <a:prstGeom prst="rect">
                <a:avLst/>
              </a:prstGeom>
              <a:blipFill rotWithShape="0">
                <a:blip r:embed="rId3"/>
                <a:stretch>
                  <a:fillRect b="-16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 flipV="1">
            <a:off x="8446814" y="1247945"/>
            <a:ext cx="2310833" cy="708118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81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2566737"/>
                <a:ext cx="10647947" cy="2229852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Draw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samples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charset="0"/>
                          </a:rPr>
                          <m:t>,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uniformly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random;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denote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by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,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</a:rPr>
                      <m:t>⋯,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>
                    <a:solidFill>
                      <a:schemeClr val="bg1"/>
                    </a:solidFill>
                  </a:rPr>
                  <a:t>Calculate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bg1"/>
                        </a:solidFill>
                        <a:latin typeface="Cambria Math" charset="0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𝑏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solidFill>
                          <a:schemeClr val="bg1"/>
                        </a:solidFill>
                        <a:latin typeface="Cambria Math" charset="0"/>
                      </a:rPr>
                      <m:t>⋅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𝑖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𝑛</m:t>
                        </m:r>
                      </m:sup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bg1"/>
                                    </a:solidFill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bg1"/>
                                    </a:solidFill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zh-CN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>
                    <a:solidFill>
                      <a:schemeClr val="bg1"/>
                    </a:solidFill>
                  </a:rPr>
                  <a:t>Return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as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an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approximation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to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the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integral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charset="0"/>
                      </a:rPr>
                      <m:t>𝐼</m:t>
                    </m:r>
                    <m:r>
                      <a:rPr lang="en-US" altLang="zh-CN" i="1">
                        <a:solidFill>
                          <a:schemeClr val="bg1"/>
                        </a:solidFill>
                        <a:latin typeface="Cambria Math" charset="0"/>
                      </a:rPr>
                      <m:t>=</m:t>
                    </m:r>
                    <m:nary>
                      <m:nary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𝑏</m:t>
                        </m:r>
                      </m:sup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566737"/>
                <a:ext cx="10647947" cy="2229852"/>
              </a:xfrm>
              <a:blipFill rotWithShape="0">
                <a:blip r:embed="rId3"/>
                <a:stretch>
                  <a:fillRect l="-1145" t="-6557" b="-2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Integration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(Univariate)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38200" y="1247945"/>
                <a:ext cx="10515600" cy="68608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altLang="zh-CN" sz="2800" b="1" dirty="0"/>
                  <a:t>Task:</a:t>
                </a:r>
                <a:r>
                  <a:rPr lang="zh-CN" altLang="en-US" sz="2800" b="1" dirty="0"/>
                  <a:t>  </a:t>
                </a:r>
                <a:r>
                  <a:rPr lang="en-US" altLang="zh-CN" sz="2800" dirty="0"/>
                  <a:t>Given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univariate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function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calculate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𝐼</m:t>
                    </m:r>
                    <m:r>
                      <a:rPr lang="en-US" altLang="zh-CN" sz="2800" i="1">
                        <a:latin typeface="Cambria Math" charset="0"/>
                      </a:rPr>
                      <m:t>=</m:t>
                    </m:r>
                    <m:nary>
                      <m:nary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i="1">
                            <a:latin typeface="Cambria Math" charset="0"/>
                          </a:rPr>
                          <m:t>𝑎</m:t>
                        </m:r>
                      </m:sub>
                      <m:sup>
                        <m:r>
                          <a:rPr lang="en-US" altLang="zh-CN" sz="2800" i="1">
                            <a:latin typeface="Cambria Math" charset="0"/>
                          </a:rPr>
                          <m:t>𝑏</m:t>
                        </m:r>
                      </m:sup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2800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47945"/>
                <a:ext cx="10515600" cy="686085"/>
              </a:xfrm>
              <a:prstGeom prst="rect">
                <a:avLst/>
              </a:prstGeom>
              <a:blipFill rotWithShape="0">
                <a:blip r:embed="rId4"/>
                <a:stretch>
                  <a:fillRect b="-16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 flipV="1">
            <a:off x="1465721" y="3345189"/>
            <a:ext cx="1330233" cy="45719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96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2566737"/>
                <a:ext cx="10647947" cy="2229852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Draw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samples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charset="0"/>
                          </a:rPr>
                          <m:t>,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uniformly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random;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denote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by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,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</a:rPr>
                      <m:t>⋯,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Calculate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𝑏</m:t>
                        </m:r>
                        <m:r>
                          <a:rPr lang="en-US" altLang="zh-CN" i="1">
                            <a:latin typeface="Cambria Math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latin typeface="Cambria Math" charset="0"/>
                      </a:rPr>
                      <m:t>⋅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p>
                      <m:e>
                        <m:r>
                          <a:rPr lang="en-US" altLang="zh-CN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>
                    <a:solidFill>
                      <a:schemeClr val="bg1"/>
                    </a:solidFill>
                  </a:rPr>
                  <a:t>Return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as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an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approximation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to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the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integral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charset="0"/>
                      </a:rPr>
                      <m:t>𝐼</m:t>
                    </m:r>
                    <m:r>
                      <a:rPr lang="en-US" altLang="zh-CN" i="1">
                        <a:solidFill>
                          <a:schemeClr val="bg1"/>
                        </a:solidFill>
                        <a:latin typeface="Cambria Math" charset="0"/>
                      </a:rPr>
                      <m:t>=</m:t>
                    </m:r>
                    <m:nary>
                      <m:naryPr>
                        <m:ctrl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𝑏</m:t>
                        </m:r>
                      </m:sup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566737"/>
                <a:ext cx="10647947" cy="2229852"/>
              </a:xfrm>
              <a:blipFill rotWithShape="0">
                <a:blip r:embed="rId3"/>
                <a:stretch>
                  <a:fillRect l="-1145" t="-6557" b="-2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Integration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(Univariate)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38200" y="1247945"/>
                <a:ext cx="10515600" cy="68608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altLang="zh-CN" sz="2800" b="1" dirty="0"/>
                  <a:t>Task:</a:t>
                </a:r>
                <a:r>
                  <a:rPr lang="zh-CN" altLang="en-US" sz="2800" b="1" dirty="0"/>
                  <a:t>  </a:t>
                </a:r>
                <a:r>
                  <a:rPr lang="en-US" altLang="zh-CN" sz="2800" dirty="0"/>
                  <a:t>Given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univariate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function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calculate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𝐼</m:t>
                    </m:r>
                    <m:r>
                      <a:rPr lang="en-US" altLang="zh-CN" sz="2800" i="1">
                        <a:latin typeface="Cambria Math" charset="0"/>
                      </a:rPr>
                      <m:t>=</m:t>
                    </m:r>
                    <m:nary>
                      <m:nary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i="1">
                            <a:latin typeface="Cambria Math" charset="0"/>
                          </a:rPr>
                          <m:t>𝑎</m:t>
                        </m:r>
                      </m:sub>
                      <m:sup>
                        <m:r>
                          <a:rPr lang="en-US" altLang="zh-CN" sz="2800" i="1">
                            <a:latin typeface="Cambria Math" charset="0"/>
                          </a:rPr>
                          <m:t>𝑏</m:t>
                        </m:r>
                      </m:sup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2800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47945"/>
                <a:ext cx="10515600" cy="686085"/>
              </a:xfrm>
              <a:prstGeom prst="rect">
                <a:avLst/>
              </a:prstGeom>
              <a:blipFill rotWithShape="0">
                <a:blip r:embed="rId4"/>
                <a:stretch>
                  <a:fillRect b="-16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 flipV="1">
            <a:off x="6025660" y="3358662"/>
            <a:ext cx="902677" cy="700462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 flipV="1">
            <a:off x="4947137" y="3358662"/>
            <a:ext cx="1981200" cy="700462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 flipV="1">
            <a:off x="3692768" y="3377163"/>
            <a:ext cx="1254369" cy="700462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 flipV="1">
            <a:off x="2754921" y="3377163"/>
            <a:ext cx="550987" cy="700462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77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2566737"/>
                <a:ext cx="10647947" cy="2229852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Draw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samples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charset="0"/>
                          </a:rPr>
                          <m:t>,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uniformly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random;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denote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by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,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</a:rPr>
                      <m:t>⋯,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Calculate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𝑏</m:t>
                        </m:r>
                        <m:r>
                          <a:rPr lang="en-US" altLang="zh-CN" i="1">
                            <a:latin typeface="Cambria Math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latin typeface="Cambria Math" charset="0"/>
                      </a:rPr>
                      <m:t>⋅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p>
                      <m:e>
                        <m:r>
                          <a:rPr lang="en-US" altLang="zh-CN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Return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approximation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integral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𝐼</m:t>
                    </m:r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charset="0"/>
                          </a:rPr>
                          <m:t>𝑎</m:t>
                        </m:r>
                      </m:sub>
                      <m:sup>
                        <m:r>
                          <a:rPr lang="en-US" altLang="zh-CN" i="1">
                            <a:latin typeface="Cambria Math" charset="0"/>
                          </a:rPr>
                          <m:t>𝑏</m:t>
                        </m:r>
                      </m:sup>
                      <m:e>
                        <m:r>
                          <a:rPr lang="en-US" altLang="zh-CN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566737"/>
                <a:ext cx="10647947" cy="2229852"/>
              </a:xfrm>
              <a:blipFill rotWithShape="0">
                <a:blip r:embed="rId3"/>
                <a:stretch>
                  <a:fillRect l="-1145" t="-6557" b="-2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Integration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(Univariate)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38200" y="1247945"/>
                <a:ext cx="10515600" cy="68608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altLang="zh-CN" sz="2800" b="1" dirty="0"/>
                  <a:t>Task:</a:t>
                </a:r>
                <a:r>
                  <a:rPr lang="zh-CN" altLang="en-US" sz="2800" b="1" dirty="0"/>
                  <a:t>  </a:t>
                </a:r>
                <a:r>
                  <a:rPr lang="en-US" altLang="zh-CN" sz="2800" dirty="0"/>
                  <a:t>Given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univariate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function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calculate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𝐼</m:t>
                    </m:r>
                    <m:r>
                      <a:rPr lang="en-US" altLang="zh-CN" sz="2800" i="1">
                        <a:latin typeface="Cambria Math" charset="0"/>
                      </a:rPr>
                      <m:t>=</m:t>
                    </m:r>
                    <m:nary>
                      <m:nary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i="1">
                            <a:latin typeface="Cambria Math" charset="0"/>
                          </a:rPr>
                          <m:t>𝑎</m:t>
                        </m:r>
                      </m:sub>
                      <m:sup>
                        <m:r>
                          <a:rPr lang="en-US" altLang="zh-CN" sz="2800" i="1">
                            <a:latin typeface="Cambria Math" charset="0"/>
                          </a:rPr>
                          <m:t>𝑏</m:t>
                        </m:r>
                      </m:sup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2800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47945"/>
                <a:ext cx="10515600" cy="686085"/>
              </a:xfrm>
              <a:prstGeom prst="rect">
                <a:avLst/>
              </a:prstGeom>
              <a:blipFill rotWithShape="0">
                <a:blip r:embed="rId4"/>
                <a:stretch>
                  <a:fillRect b="-16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 flipV="1">
            <a:off x="2420813" y="4096127"/>
            <a:ext cx="550987" cy="700462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 flipV="1">
            <a:off x="8094782" y="4060957"/>
            <a:ext cx="2385649" cy="700462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05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2566737"/>
                <a:ext cx="10647947" cy="2229852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Draw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samples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, 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uniformly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random;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denote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by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,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altLang="zh-CN" b="0" i="1" smtClean="0">
                        <a:latin typeface="Cambria Math" charset="0"/>
                      </a:rPr>
                      <m:t>⋯,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Calculate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𝑏</m:t>
                        </m:r>
                        <m:r>
                          <a:rPr lang="en-US" altLang="zh-CN" i="1">
                            <a:latin typeface="Cambria Math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latin typeface="Cambria Math" charset="0"/>
                      </a:rPr>
                      <m:t>⋅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p>
                      <m:e>
                        <m:r>
                          <a:rPr lang="en-US" altLang="zh-CN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Return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approximation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integral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𝐼</m:t>
                    </m:r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charset="0"/>
                          </a:rPr>
                          <m:t>𝑎</m:t>
                        </m:r>
                      </m:sub>
                      <m:sup>
                        <m:r>
                          <a:rPr lang="en-US" altLang="zh-CN" i="1">
                            <a:latin typeface="Cambria Math" charset="0"/>
                          </a:rPr>
                          <m:t>𝑏</m:t>
                        </m:r>
                      </m:sup>
                      <m:e>
                        <m:r>
                          <a:rPr lang="en-US" altLang="zh-CN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566737"/>
                <a:ext cx="10647947" cy="2229852"/>
              </a:xfrm>
              <a:blipFill rotWithShape="0">
                <a:blip r:embed="rId3"/>
                <a:stretch>
                  <a:fillRect l="-1145" t="-6557" b="-2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Integration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(Univariate)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838200" y="5242436"/>
                <a:ext cx="10515600" cy="5232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altLang="zh-CN" sz="2800" b="1" dirty="0"/>
                  <a:t>Theory:</a:t>
                </a:r>
                <a:r>
                  <a:rPr lang="zh-CN" altLang="en-US" sz="2800" b="1" dirty="0"/>
                  <a:t>   </a:t>
                </a:r>
                <a:r>
                  <a:rPr lang="en-US" altLang="zh-CN" sz="2800" dirty="0"/>
                  <a:t>Law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of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large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numbers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guarantees</a:t>
                </a:r>
                <a:r>
                  <a:rPr lang="zh-CN" altLang="en-US" sz="28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800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altLang="zh-CN" sz="2800" i="1">
                        <a:latin typeface="Cambria Math" charset="0"/>
                      </a:rPr>
                      <m:t>→</m:t>
                    </m:r>
                    <m:r>
                      <a:rPr lang="en-US" altLang="zh-CN" sz="2800" i="1">
                        <a:latin typeface="Cambria Math" charset="0"/>
                      </a:rPr>
                      <m:t>𝐼</m:t>
                    </m:r>
                  </m:oMath>
                </a14:m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as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𝑛</m:t>
                    </m:r>
                    <m:r>
                      <a:rPr lang="en-US" altLang="zh-CN" sz="2800" i="1">
                        <a:latin typeface="Cambria Math" charset="0"/>
                      </a:rPr>
                      <m:t>→∞</m:t>
                    </m:r>
                  </m:oMath>
                </a14:m>
                <a:r>
                  <a:rPr lang="en-US" altLang="zh-CN" sz="2800" dirty="0"/>
                  <a:t>.</a:t>
                </a:r>
                <a:endParaRPr lang="en-US" sz="28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242436"/>
                <a:ext cx="10515600" cy="523220"/>
              </a:xfrm>
              <a:prstGeom prst="rect">
                <a:avLst/>
              </a:prstGeom>
              <a:blipFill rotWithShape="0">
                <a:blip r:embed="rId4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38200" y="1247945"/>
                <a:ext cx="10515600" cy="68608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altLang="zh-CN" sz="2800" b="1" dirty="0"/>
                  <a:t>Task:</a:t>
                </a:r>
                <a:r>
                  <a:rPr lang="zh-CN" altLang="en-US" sz="2800" b="1" dirty="0"/>
                  <a:t>  </a:t>
                </a:r>
                <a:r>
                  <a:rPr lang="en-US" altLang="zh-CN" sz="2800" dirty="0"/>
                  <a:t>Given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univariate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function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calculate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𝐼</m:t>
                    </m:r>
                    <m:r>
                      <a:rPr lang="en-US" altLang="zh-CN" sz="2800" i="1">
                        <a:latin typeface="Cambria Math" charset="0"/>
                      </a:rPr>
                      <m:t>=</m:t>
                    </m:r>
                    <m:nary>
                      <m:nary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i="1">
                            <a:latin typeface="Cambria Math" charset="0"/>
                          </a:rPr>
                          <m:t>𝑎</m:t>
                        </m:r>
                      </m:sub>
                      <m:sup>
                        <m:r>
                          <a:rPr lang="en-US" altLang="zh-CN" sz="2800" i="1">
                            <a:latin typeface="Cambria Math" charset="0"/>
                          </a:rPr>
                          <m:t>𝑏</m:t>
                        </m:r>
                      </m:sup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2800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47945"/>
                <a:ext cx="10515600" cy="686085"/>
              </a:xfrm>
              <a:prstGeom prst="rect">
                <a:avLst/>
              </a:prstGeom>
              <a:blipFill rotWithShape="0">
                <a:blip r:embed="rId5"/>
                <a:stretch>
                  <a:fillRect b="-16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 flipV="1">
            <a:off x="9483968" y="5242436"/>
            <a:ext cx="1119556" cy="523220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 flipV="1">
            <a:off x="7807570" y="5242436"/>
            <a:ext cx="1242647" cy="523220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136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Integration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(Univariate):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Example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47963" y="1294972"/>
                <a:ext cx="10696074" cy="75777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altLang="zh-CN" sz="2800" b="1" dirty="0"/>
                  <a:t>Task:</a:t>
                </a:r>
                <a:r>
                  <a:rPr lang="zh-CN" altLang="en-US" sz="2800" b="1" dirty="0"/>
                  <a:t>  </a:t>
                </a:r>
                <a:r>
                  <a:rPr lang="en-US" altLang="zh-CN" sz="2800" dirty="0"/>
                  <a:t>Given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function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altLang="zh-CN" sz="2800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latin typeface="Cambria Math" charset="0"/>
                          </a:rPr>
                          <m:t>1+</m:t>
                        </m:r>
                        <m:func>
                          <m:func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lang="en-US" altLang="zh-CN" sz="2800" i="1">
                            <a:latin typeface="Cambria Math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800">
                                            <a:latin typeface="Cambria Math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800">
                                            <a:latin typeface="Cambria Math" charset="0"/>
                                          </a:rPr>
                                          <m:t>e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altLang="zh-CN" sz="2800" i="1">
                                        <a:latin typeface="Cambria Math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en-US" altLang="zh-CN" sz="2800" i="1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calculate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𝐼</m:t>
                    </m:r>
                    <m:r>
                      <a:rPr lang="en-US" altLang="zh-CN" sz="2800" i="1">
                        <a:latin typeface="Cambria Math" charset="0"/>
                      </a:rPr>
                      <m:t>=</m:t>
                    </m:r>
                    <m:nary>
                      <m:nary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b="0" i="1" smtClean="0">
                            <a:latin typeface="Cambria Math" charset="0"/>
                          </a:rPr>
                          <m:t>0.8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charset="0"/>
                          </a:rPr>
                          <m:t>3</m:t>
                        </m:r>
                      </m:sup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2800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63" y="1294972"/>
                <a:ext cx="10696074" cy="757772"/>
              </a:xfrm>
              <a:prstGeom prst="rect">
                <a:avLst/>
              </a:prstGeom>
              <a:blipFill rotWithShape="0">
                <a:blip r:embed="rId4"/>
                <a:stretch>
                  <a:fillRect l="-1083" r="-969" b="-3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 flipV="1">
            <a:off x="3785167" y="1223256"/>
            <a:ext cx="3637609" cy="910346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 flipV="1">
            <a:off x="8821270" y="1223256"/>
            <a:ext cx="2466799" cy="910346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5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2598821"/>
                <a:ext cx="10605837" cy="3038497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/>
                  <a:t>Draw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samples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0.8</m:t>
                        </m:r>
                        <m:r>
                          <a:rPr lang="en-US" altLang="zh-CN" i="1">
                            <a:latin typeface="Cambria Math" charset="0"/>
                          </a:rPr>
                          <m:t>, 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uniformly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random;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denote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by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,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</a:rPr>
                      <m:t>⋯,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.</a:t>
                </a: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598821"/>
                <a:ext cx="10605837" cy="3038497"/>
              </a:xfrm>
              <a:blipFill rotWithShape="0">
                <a:blip r:embed="rId3"/>
                <a:stretch>
                  <a:fillRect l="-1149" t="-3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Integration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(Univariate):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Example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47963" y="1294972"/>
                <a:ext cx="10696074" cy="75777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altLang="zh-CN" sz="2800" b="1" dirty="0"/>
                  <a:t>Task:</a:t>
                </a:r>
                <a:r>
                  <a:rPr lang="zh-CN" altLang="en-US" sz="2800" b="1" dirty="0"/>
                  <a:t>  </a:t>
                </a:r>
                <a:r>
                  <a:rPr lang="en-US" altLang="zh-CN" sz="2800" dirty="0"/>
                  <a:t>Given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function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altLang="zh-CN" sz="2800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latin typeface="Cambria Math" charset="0"/>
                          </a:rPr>
                          <m:t>1+</m:t>
                        </m:r>
                        <m:func>
                          <m:func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lang="en-US" altLang="zh-CN" sz="2800" i="1">
                            <a:latin typeface="Cambria Math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800">
                                            <a:latin typeface="Cambria Math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800">
                                            <a:latin typeface="Cambria Math" charset="0"/>
                                          </a:rPr>
                                          <m:t>e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altLang="zh-CN" sz="2800" i="1">
                                        <a:latin typeface="Cambria Math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en-US" altLang="zh-CN" sz="2800" i="1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calculate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𝐼</m:t>
                    </m:r>
                    <m:r>
                      <a:rPr lang="en-US" altLang="zh-CN" sz="2800" i="1">
                        <a:latin typeface="Cambria Math" charset="0"/>
                      </a:rPr>
                      <m:t>=</m:t>
                    </m:r>
                    <m:nary>
                      <m:nary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b="0" i="1" smtClean="0">
                            <a:latin typeface="Cambria Math" charset="0"/>
                          </a:rPr>
                          <m:t>0.8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charset="0"/>
                          </a:rPr>
                          <m:t>3</m:t>
                        </m:r>
                      </m:sup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2800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63" y="1294972"/>
                <a:ext cx="10696074" cy="757772"/>
              </a:xfrm>
              <a:prstGeom prst="rect">
                <a:avLst/>
              </a:prstGeom>
              <a:blipFill rotWithShape="0">
                <a:blip r:embed="rId4"/>
                <a:stretch>
                  <a:fillRect l="-1083" r="-969" b="-3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 flipV="1">
            <a:off x="1465721" y="3450699"/>
            <a:ext cx="1330233" cy="45719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2598821"/>
                <a:ext cx="10605837" cy="3038497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/>
                  <a:t>Draw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samples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0.8</m:t>
                        </m:r>
                        <m:r>
                          <a:rPr lang="en-US" altLang="zh-CN" i="1">
                            <a:latin typeface="Cambria Math" charset="0"/>
                          </a:rPr>
                          <m:t>, 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uniformly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random;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denote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by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,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</a:rPr>
                      <m:t>⋯,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/>
                  <a:t>Calculate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r>
                      <a:rPr lang="en-US" altLang="zh-CN" b="0" i="1" smtClean="0">
                        <a:latin typeface="Cambria Math" charset="0"/>
                      </a:rPr>
                      <m:t>2.2</m:t>
                    </m:r>
                    <m:r>
                      <a:rPr lang="en-US" altLang="zh-CN" i="1">
                        <a:latin typeface="Cambria Math" charset="0"/>
                      </a:rPr>
                      <m:t>⋅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p>
                      <m:e>
                        <m:r>
                          <a:rPr lang="en-US" altLang="zh-CN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zh-CN" dirty="0"/>
                  <a:t>.</a:t>
                </a: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598821"/>
                <a:ext cx="10605837" cy="3038497"/>
              </a:xfrm>
              <a:blipFill rotWithShape="0">
                <a:blip r:embed="rId3"/>
                <a:stretch>
                  <a:fillRect l="-1149" t="-3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Integration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(Univariate):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Example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47963" y="1294972"/>
                <a:ext cx="10696074" cy="75777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altLang="zh-CN" sz="2800" b="1" dirty="0"/>
                  <a:t>Task:</a:t>
                </a:r>
                <a:r>
                  <a:rPr lang="zh-CN" altLang="en-US" sz="2800" b="1" dirty="0"/>
                  <a:t>  </a:t>
                </a:r>
                <a:r>
                  <a:rPr lang="en-US" altLang="zh-CN" sz="2800" dirty="0"/>
                  <a:t>Given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function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altLang="zh-CN" sz="2800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latin typeface="Cambria Math" charset="0"/>
                          </a:rPr>
                          <m:t>1+</m:t>
                        </m:r>
                        <m:func>
                          <m:func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lang="en-US" altLang="zh-CN" sz="2800" i="1">
                            <a:latin typeface="Cambria Math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800">
                                            <a:latin typeface="Cambria Math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800">
                                            <a:latin typeface="Cambria Math" charset="0"/>
                                          </a:rPr>
                                          <m:t>e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altLang="zh-CN" sz="2800" i="1">
                                        <a:latin typeface="Cambria Math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en-US" altLang="zh-CN" sz="2800" i="1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calculate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𝐼</m:t>
                    </m:r>
                    <m:r>
                      <a:rPr lang="en-US" altLang="zh-CN" sz="2800" i="1">
                        <a:latin typeface="Cambria Math" charset="0"/>
                      </a:rPr>
                      <m:t>=</m:t>
                    </m:r>
                    <m:nary>
                      <m:nary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b="0" i="1" smtClean="0">
                            <a:latin typeface="Cambria Math" charset="0"/>
                          </a:rPr>
                          <m:t>0.8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charset="0"/>
                          </a:rPr>
                          <m:t>3</m:t>
                        </m:r>
                      </m:sup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2800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63" y="1294972"/>
                <a:ext cx="10696074" cy="757772"/>
              </a:xfrm>
              <a:prstGeom prst="rect">
                <a:avLst/>
              </a:prstGeom>
              <a:blipFill rotWithShape="0">
                <a:blip r:embed="rId4"/>
                <a:stretch>
                  <a:fillRect l="-1083" r="-969" b="-3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 flipV="1">
            <a:off x="5339859" y="3464172"/>
            <a:ext cx="902677" cy="700462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 flipV="1">
            <a:off x="4314086" y="3464172"/>
            <a:ext cx="1981200" cy="700462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 flipV="1">
            <a:off x="3640014" y="3447503"/>
            <a:ext cx="621318" cy="700462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88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2598821"/>
                <a:ext cx="10605837" cy="3038497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/>
                  <a:t>Draw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samples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0.8</m:t>
                        </m:r>
                        <m:r>
                          <a:rPr lang="en-US" altLang="zh-CN" i="1">
                            <a:latin typeface="Cambria Math" charset="0"/>
                          </a:rPr>
                          <m:t>, 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uniformly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random;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denote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by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,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</a:rPr>
                      <m:t>⋯,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/>
                  <a:t>Calculate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r>
                      <a:rPr lang="en-US" altLang="zh-CN" b="0" i="1" smtClean="0">
                        <a:latin typeface="Cambria Math" charset="0"/>
                      </a:rPr>
                      <m:t>2.2</m:t>
                    </m:r>
                    <m:r>
                      <a:rPr lang="en-US" altLang="zh-CN" i="1">
                        <a:latin typeface="Cambria Math" charset="0"/>
                      </a:rPr>
                      <m:t>⋅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p>
                      <m:e>
                        <m:r>
                          <a:rPr lang="en-US" altLang="zh-CN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/>
                  <a:t>Return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approximation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integral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𝐼</m:t>
                    </m:r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charset="0"/>
                          </a:rPr>
                          <m:t>0</m:t>
                        </m:r>
                        <m:r>
                          <a:rPr lang="en-US" altLang="zh-CN" i="1">
                            <a:latin typeface="Cambria Math" charset="0"/>
                          </a:rPr>
                          <m:t>.8</m:t>
                        </m:r>
                      </m:sub>
                      <m:sup>
                        <m:r>
                          <a:rPr lang="en-US" altLang="zh-CN" i="1">
                            <a:latin typeface="Cambria Math" charset="0"/>
                          </a:rPr>
                          <m:t>3</m:t>
                        </m:r>
                      </m:sup>
                      <m:e>
                        <m:r>
                          <a:rPr lang="en-US" altLang="zh-CN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dirty="0"/>
                  <a:t>.</a:t>
                </a: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598821"/>
                <a:ext cx="10605837" cy="3038497"/>
              </a:xfrm>
              <a:blipFill rotWithShape="0">
                <a:blip r:embed="rId3"/>
                <a:stretch>
                  <a:fillRect l="-1149" t="-3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Integration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(Univariate):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Example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47963" y="1294972"/>
                <a:ext cx="10696074" cy="75777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altLang="zh-CN" sz="2800" b="1" dirty="0"/>
                  <a:t>Task:</a:t>
                </a:r>
                <a:r>
                  <a:rPr lang="zh-CN" altLang="en-US" sz="2800" b="1" dirty="0"/>
                  <a:t>  </a:t>
                </a:r>
                <a:r>
                  <a:rPr lang="en-US" altLang="zh-CN" sz="2800" dirty="0"/>
                  <a:t>Given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function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altLang="zh-CN" sz="2800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latin typeface="Cambria Math" charset="0"/>
                          </a:rPr>
                          <m:t>1+</m:t>
                        </m:r>
                        <m:func>
                          <m:func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lang="en-US" altLang="zh-CN" sz="2800" i="1">
                            <a:latin typeface="Cambria Math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800">
                                            <a:latin typeface="Cambria Math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800">
                                            <a:latin typeface="Cambria Math" charset="0"/>
                                          </a:rPr>
                                          <m:t>e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altLang="zh-CN" sz="2800" i="1">
                                        <a:latin typeface="Cambria Math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en-US" altLang="zh-CN" sz="2800" i="1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calculate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𝐼</m:t>
                    </m:r>
                    <m:r>
                      <a:rPr lang="en-US" altLang="zh-CN" sz="2800" i="1">
                        <a:latin typeface="Cambria Math" charset="0"/>
                      </a:rPr>
                      <m:t>=</m:t>
                    </m:r>
                    <m:nary>
                      <m:nary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b="0" i="1" smtClean="0">
                            <a:latin typeface="Cambria Math" charset="0"/>
                          </a:rPr>
                          <m:t>0.8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charset="0"/>
                          </a:rPr>
                          <m:t>3</m:t>
                        </m:r>
                      </m:sup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2800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63" y="1294972"/>
                <a:ext cx="10696074" cy="757772"/>
              </a:xfrm>
              <a:prstGeom prst="rect">
                <a:avLst/>
              </a:prstGeom>
              <a:blipFill rotWithShape="0">
                <a:blip r:embed="rId4"/>
                <a:stretch>
                  <a:fillRect l="-1083" r="-969" b="-3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069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Integration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(Multivariate)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38200" y="1247945"/>
                <a:ext cx="10515600" cy="589713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altLang="zh-CN" sz="2800" b="1" dirty="0"/>
                  <a:t>Task:</a:t>
                </a:r>
                <a:r>
                  <a:rPr lang="zh-CN" altLang="en-US" sz="2800" b="1" dirty="0"/>
                  <a:t>  </a:t>
                </a:r>
                <a:r>
                  <a:rPr lang="en-US" altLang="zh-CN" sz="2800" dirty="0"/>
                  <a:t>Given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multivariate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function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>
                            <a:latin typeface="Cambria Math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calculate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𝐼</m:t>
                    </m:r>
                    <m:r>
                      <a:rPr lang="en-US" altLang="zh-CN" sz="2800" i="1">
                        <a:latin typeface="Cambria Math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>
                                <a:latin typeface="Cambria Math" charset="0"/>
                              </a:rPr>
                              <m:t>𝐱</m:t>
                            </m:r>
                          </m:e>
                        </m:d>
                        <m:r>
                          <a:rPr lang="zh-CN" altLang="en-US" sz="2800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𝑑</m:t>
                        </m:r>
                        <m:r>
                          <a:rPr lang="en-US" altLang="zh-CN" sz="2800" b="1">
                            <a:latin typeface="Cambria Math" charset="0"/>
                          </a:rPr>
                          <m:t>𝐱</m:t>
                        </m:r>
                      </m:e>
                    </m:nary>
                  </m:oMath>
                </a14:m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47945"/>
                <a:ext cx="10515600" cy="589713"/>
              </a:xfrm>
              <a:prstGeom prst="rect">
                <a:avLst/>
              </a:prstGeom>
              <a:blipFill rotWithShape="0">
                <a:blip r:embed="rId3"/>
                <a:stretch>
                  <a:fillRect t="-8333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478347" y="2536012"/>
                <a:ext cx="2816669" cy="53091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smtClean="0">
                        <a:solidFill>
                          <a:schemeClr val="tx1"/>
                        </a:solidFill>
                        <a:latin typeface="Cambria Math" charset="0"/>
                      </a:rPr>
                      <m:t>𝐱</m:t>
                    </m:r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800" dirty="0">
                    <a:solidFill>
                      <a:schemeClr val="tx1"/>
                    </a:solidFill>
                  </a:rPr>
                  <a:t>is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800" dirty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800" dirty="0">
                    <a:solidFill>
                      <a:schemeClr val="tx1"/>
                    </a:solidFill>
                  </a:rPr>
                  <a:t>vector</a:t>
                </a:r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347" y="2536012"/>
                <a:ext cx="2816669" cy="530915"/>
              </a:xfrm>
              <a:prstGeom prst="rect">
                <a:avLst/>
              </a:prstGeom>
              <a:blipFill rotWithShape="0">
                <a:blip r:embed="rId4"/>
                <a:stretch>
                  <a:fillRect t="-9195" r="-3030" b="-32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8810027" y="2536012"/>
                <a:ext cx="2944139" cy="53091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smtClean="0">
                        <a:solidFill>
                          <a:schemeClr val="tx1"/>
                        </a:solidFill>
                        <a:latin typeface="Cambria Math" charset="0"/>
                      </a:rPr>
                      <m:t>Ω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800" dirty="0">
                    <a:solidFill>
                      <a:schemeClr val="tx1"/>
                    </a:solidFill>
                  </a:rPr>
                  <a:t>is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800" dirty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800" dirty="0">
                    <a:solidFill>
                      <a:schemeClr val="tx1"/>
                    </a:solidFill>
                  </a:rPr>
                  <a:t>subset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800" dirty="0">
                    <a:solidFill>
                      <a:schemeClr val="tx1"/>
                    </a:solidFill>
                  </a:rPr>
                  <a:t>of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027" y="2536012"/>
                <a:ext cx="2944139" cy="530915"/>
              </a:xfrm>
              <a:prstGeom prst="rect">
                <a:avLst/>
              </a:prstGeom>
              <a:blipFill rotWithShape="0">
                <a:blip r:embed="rId5"/>
                <a:stretch>
                  <a:fillRect t="-9195" b="-32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urved Connector 8"/>
          <p:cNvCxnSpPr>
            <a:stCxn id="2" idx="0"/>
          </p:cNvCxnSpPr>
          <p:nvPr/>
        </p:nvCxnSpPr>
        <p:spPr>
          <a:xfrm rot="16200000" flipV="1">
            <a:off x="6537505" y="2186834"/>
            <a:ext cx="698354" cy="1"/>
          </a:xfrm>
          <a:prstGeom prst="curvedConnector3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/>
          <p:cNvCxnSpPr/>
          <p:nvPr/>
        </p:nvCxnSpPr>
        <p:spPr>
          <a:xfrm rot="16200000" flipV="1">
            <a:off x="9162091" y="2185135"/>
            <a:ext cx="698355" cy="3400"/>
          </a:xfrm>
          <a:prstGeom prst="curvedConnector3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21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422358"/>
                <a:ext cx="10515600" cy="3176337"/>
              </a:xfrm>
            </p:spPr>
            <p:txBody>
              <a:bodyPr/>
              <a:lstStyle/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Draw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samples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</a:t>
                </a:r>
                <a:r>
                  <a:rPr lang="zh-CN" altLang="en-US" dirty="0"/>
                  <a:t>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set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chemeClr val="tx1"/>
                        </a:solidFill>
                        <a:latin typeface="Cambria Math" charset="0"/>
                      </a:rPr>
                      <m:t>Ω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uniformly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/>
                  <a:t>at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random;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denote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by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latin typeface="Cambria Math" charset="0"/>
                          </a:rPr>
                          <m:t>𝐱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,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altLang="zh-CN" b="0" i="1" smtClean="0">
                        <a:latin typeface="Cambria Math" charset="0"/>
                      </a:rPr>
                      <m:t>⋯,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latin typeface="Cambria Math" charset="0"/>
                          </a:rPr>
                          <m:t>𝐱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Calculate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𝑉</m:t>
                    </m:r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en-US" altLang="zh-CN" i="1">
                            <a:latin typeface="Cambria Math" charset="0"/>
                          </a:rPr>
                          <m:t>𝑑</m:t>
                        </m:r>
                        <m:r>
                          <a:rPr lang="en-US" altLang="zh-CN" b="1">
                            <a:latin typeface="Cambria Math" charset="0"/>
                          </a:rPr>
                          <m:t>𝐱</m:t>
                        </m:r>
                      </m:e>
                    </m:nary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422358"/>
                <a:ext cx="10515600" cy="3176337"/>
              </a:xfrm>
              <a:blipFill rotWithShape="0">
                <a:blip r:embed="rId3"/>
                <a:stretch>
                  <a:fillRect l="-1217" t="-3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Integration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(Multivariate)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38200" y="1247945"/>
                <a:ext cx="10515600" cy="589713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altLang="zh-CN" sz="2800" b="1" dirty="0"/>
                  <a:t>Task:</a:t>
                </a:r>
                <a:r>
                  <a:rPr lang="zh-CN" altLang="en-US" sz="2800" b="1" dirty="0"/>
                  <a:t>  </a:t>
                </a:r>
                <a:r>
                  <a:rPr lang="en-US" altLang="zh-CN" sz="2800" dirty="0"/>
                  <a:t>Given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multivariate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function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>
                            <a:latin typeface="Cambria Math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calculate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𝐼</m:t>
                    </m:r>
                    <m:r>
                      <a:rPr lang="en-US" altLang="zh-CN" sz="2800" i="1">
                        <a:latin typeface="Cambria Math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>
                                <a:latin typeface="Cambria Math" charset="0"/>
                              </a:rPr>
                              <m:t>𝐱</m:t>
                            </m:r>
                          </m:e>
                        </m:d>
                        <m:r>
                          <a:rPr lang="zh-CN" altLang="en-US" sz="2800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𝑑</m:t>
                        </m:r>
                        <m:r>
                          <a:rPr lang="en-US" altLang="zh-CN" sz="2800" b="1">
                            <a:latin typeface="Cambria Math" charset="0"/>
                          </a:rPr>
                          <m:t>𝐱</m:t>
                        </m:r>
                      </m:e>
                    </m:nary>
                  </m:oMath>
                </a14:m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47945"/>
                <a:ext cx="10515600" cy="589713"/>
              </a:xfrm>
              <a:prstGeom prst="rect">
                <a:avLst/>
              </a:prstGeom>
              <a:blipFill rotWithShape="0">
                <a:blip r:embed="rId4"/>
                <a:stretch>
                  <a:fillRect t="-8333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 flipV="1">
            <a:off x="1465721" y="3257269"/>
            <a:ext cx="1330233" cy="45719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 flipV="1">
            <a:off x="2760784" y="3965063"/>
            <a:ext cx="1758461" cy="45719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65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422358"/>
                <a:ext cx="10515600" cy="3176337"/>
              </a:xfrm>
            </p:spPr>
            <p:txBody>
              <a:bodyPr/>
              <a:lstStyle/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Draw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samples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</a:t>
                </a:r>
                <a:r>
                  <a:rPr lang="zh-CN" altLang="en-US" dirty="0"/>
                  <a:t>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set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chemeClr val="tx1"/>
                        </a:solidFill>
                        <a:latin typeface="Cambria Math" charset="0"/>
                      </a:rPr>
                      <m:t>Ω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uniformly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/>
                  <a:t>at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random;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denote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by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latin typeface="Cambria Math" charset="0"/>
                          </a:rPr>
                          <m:t>𝐱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,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altLang="zh-CN" b="0" i="1" smtClean="0">
                        <a:latin typeface="Cambria Math" charset="0"/>
                      </a:rPr>
                      <m:t>⋯,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latin typeface="Cambria Math" charset="0"/>
                          </a:rPr>
                          <m:t>𝐱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Calculate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𝑉</m:t>
                    </m:r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en-US" altLang="zh-CN" i="1">
                            <a:latin typeface="Cambria Math" charset="0"/>
                          </a:rPr>
                          <m:t>𝑑</m:t>
                        </m:r>
                        <m:r>
                          <a:rPr lang="en-US" altLang="zh-CN" b="1">
                            <a:latin typeface="Cambria Math" charset="0"/>
                          </a:rPr>
                          <m:t>𝐱</m:t>
                        </m:r>
                      </m:e>
                    </m:nary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Calculate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>
                      <a:rPr lang="en-US" altLang="zh-CN" b="0" i="1" smtClean="0">
                        <a:latin typeface="Cambria Math" charset="0"/>
                      </a:rPr>
                      <m:t>𝑉</m:t>
                    </m:r>
                    <m:r>
                      <a:rPr lang="en-US" altLang="zh-CN" i="1">
                        <a:latin typeface="Cambria Math" charset="0"/>
                      </a:rPr>
                      <m:t>⋅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p>
                      <m:e>
                        <m:r>
                          <a:rPr lang="en-US" altLang="zh-CN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0">
                                    <a:latin typeface="Cambria Math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Return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approximation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integral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𝐼</m:t>
                    </m:r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en-US" altLang="zh-CN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𝐱</m:t>
                            </m:r>
                          </m:e>
                        </m:d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𝑑</m:t>
                        </m:r>
                        <m:r>
                          <a:rPr lang="en-US" altLang="zh-CN" b="1">
                            <a:latin typeface="Cambria Math" charset="0"/>
                          </a:rPr>
                          <m:t>𝐱</m:t>
                        </m:r>
                      </m:e>
                    </m:nary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422358"/>
                <a:ext cx="10515600" cy="3176337"/>
              </a:xfrm>
              <a:blipFill rotWithShape="0">
                <a:blip r:embed="rId3"/>
                <a:stretch>
                  <a:fillRect l="-1217" t="-3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Integration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(Multivariate)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38200" y="1247945"/>
                <a:ext cx="10515600" cy="589713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altLang="zh-CN" sz="2800" b="1" dirty="0"/>
                  <a:t>Task:</a:t>
                </a:r>
                <a:r>
                  <a:rPr lang="zh-CN" altLang="en-US" sz="2800" b="1" dirty="0"/>
                  <a:t>  </a:t>
                </a:r>
                <a:r>
                  <a:rPr lang="en-US" altLang="zh-CN" sz="2800" dirty="0"/>
                  <a:t>Given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multivariate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function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>
                            <a:latin typeface="Cambria Math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calculate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charset="0"/>
                      </a:rPr>
                      <m:t>𝐼</m:t>
                    </m:r>
                    <m:r>
                      <a:rPr lang="en-US" altLang="zh-CN" sz="2800" i="1">
                        <a:latin typeface="Cambria Math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>
                                <a:latin typeface="Cambria Math" charset="0"/>
                              </a:rPr>
                              <m:t>𝐱</m:t>
                            </m:r>
                          </m:e>
                        </m:d>
                        <m:r>
                          <a:rPr lang="zh-CN" altLang="en-US" sz="2800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𝑑</m:t>
                        </m:r>
                        <m:r>
                          <a:rPr lang="en-US" altLang="zh-CN" sz="2800" b="1">
                            <a:latin typeface="Cambria Math" charset="0"/>
                          </a:rPr>
                          <m:t>𝐱</m:t>
                        </m:r>
                      </m:e>
                    </m:nary>
                  </m:oMath>
                </a14:m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47945"/>
                <a:ext cx="10515600" cy="589713"/>
              </a:xfrm>
              <a:prstGeom prst="rect">
                <a:avLst/>
              </a:prstGeom>
              <a:blipFill rotWithShape="0">
                <a:blip r:embed="rId4"/>
                <a:stretch>
                  <a:fillRect t="-8333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 flipV="1">
            <a:off x="5128844" y="4026880"/>
            <a:ext cx="902677" cy="700462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 flipV="1">
            <a:off x="4085486" y="4026880"/>
            <a:ext cx="1981200" cy="700462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 flipV="1">
            <a:off x="3604845" y="4027796"/>
            <a:ext cx="445471" cy="700462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 flipV="1">
            <a:off x="2799222" y="4010526"/>
            <a:ext cx="445471" cy="700462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80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Integration: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Bivariate Example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952500" y="2357523"/>
            <a:ext cx="2743200" cy="2743200"/>
            <a:chOff x="4038600" y="2247900"/>
            <a:chExt cx="2743200" cy="2743200"/>
          </a:xfrm>
        </p:grpSpPr>
        <p:sp>
          <p:nvSpPr>
            <p:cNvPr id="6" name="Rectangle 5"/>
            <p:cNvSpPr/>
            <p:nvPr/>
          </p:nvSpPr>
          <p:spPr>
            <a:xfrm>
              <a:off x="4038600" y="2247900"/>
              <a:ext cx="2743200" cy="2743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038600" y="2247900"/>
              <a:ext cx="2743200" cy="27432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" name="Straight Arrow Connector 7"/>
          <p:cNvCxnSpPr/>
          <p:nvPr/>
        </p:nvCxnSpPr>
        <p:spPr>
          <a:xfrm>
            <a:off x="711200" y="3729123"/>
            <a:ext cx="3403600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2324100" y="1925723"/>
            <a:ext cx="0" cy="342900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076655" y="3398635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655" y="3398635"/>
                <a:ext cx="50808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070056" y="1444399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056" y="1444399"/>
                <a:ext cx="51385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264722" y="2139390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722" y="2139390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534743" y="3678322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43" y="3678322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77444" y="4907990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444" y="4907990"/>
                <a:ext cx="65274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26128" y="3242058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28" y="3242058"/>
                <a:ext cx="65274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/>
              <p:cNvSpPr txBox="1">
                <a:spLocks/>
              </p:cNvSpPr>
              <p:nvPr/>
            </p:nvSpPr>
            <p:spPr>
              <a:xfrm>
                <a:off x="4973052" y="1825625"/>
                <a:ext cx="6380747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Let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mr-I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mr-IN" altLang="zh-C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1,</m:t>
                            </m:r>
                            <m:r>
                              <a:rPr lang="zh-CN" altLang="en-US" i="1">
                                <a:latin typeface="Cambria Math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charset="0"/>
                              </a:rPr>
                              <m:t>if</m:t>
                            </m:r>
                            <m:r>
                              <a:rPr lang="zh-CN" altLang="en-US" i="1">
                                <a:latin typeface="Cambria Math" charset="0"/>
                              </a:rPr>
                              <m:t>  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charset="0"/>
                              </a:rPr>
                              <m:t>≤1;</m:t>
                            </m:r>
                          </m:e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0,</m:t>
                            </m:r>
                            <m:r>
                              <a:rPr lang="zh-CN" altLang="en-US" i="1">
                                <a:latin typeface="Cambria Math" charset="0"/>
                              </a:rPr>
                              <m:t>     </m:t>
                            </m:r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charset="0"/>
                              </a:rPr>
                              <m:t>otherwise</m:t>
                            </m:r>
                            <m:r>
                              <a:rPr lang="en-US" altLang="zh-CN" i="1">
                                <a:latin typeface="Cambria Math" charset="0"/>
                              </a:rPr>
                              <m:t>.</m:t>
                            </m:r>
                            <m:r>
                              <a:rPr lang="zh-CN" altLang="en-US" i="1">
                                <a:latin typeface="Cambria Math" charset="0"/>
                              </a:rPr>
                              <m:t>     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052" y="1825625"/>
                <a:ext cx="6380747" cy="4351338"/>
              </a:xfrm>
              <a:prstGeom prst="rect">
                <a:avLst/>
              </a:prstGeom>
              <a:blipFill rotWithShape="0">
                <a:blip r:embed="rId7"/>
                <a:stretch>
                  <a:fillRect l="-1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 flipV="1">
            <a:off x="5768545" y="1960969"/>
            <a:ext cx="1126930" cy="700462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 flipV="1">
            <a:off x="7436745" y="1810715"/>
            <a:ext cx="2651633" cy="561798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 flipV="1">
            <a:off x="7436744" y="2237088"/>
            <a:ext cx="2651633" cy="561798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479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  <p:bldP spid="1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Integration: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Bivariate Example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952500" y="2357523"/>
            <a:ext cx="2743200" cy="2743200"/>
            <a:chOff x="4038600" y="2247900"/>
            <a:chExt cx="2743200" cy="2743200"/>
          </a:xfrm>
        </p:grpSpPr>
        <p:sp>
          <p:nvSpPr>
            <p:cNvPr id="6" name="Rectangle 5"/>
            <p:cNvSpPr/>
            <p:nvPr/>
          </p:nvSpPr>
          <p:spPr>
            <a:xfrm>
              <a:off x="4038600" y="2247900"/>
              <a:ext cx="2743200" cy="2743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038600" y="2247900"/>
              <a:ext cx="2743200" cy="27432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" name="Straight Arrow Connector 7"/>
          <p:cNvCxnSpPr/>
          <p:nvPr/>
        </p:nvCxnSpPr>
        <p:spPr>
          <a:xfrm>
            <a:off x="711200" y="3729123"/>
            <a:ext cx="3403600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2324100" y="1925723"/>
            <a:ext cx="0" cy="342900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076655" y="3398635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655" y="3398635"/>
                <a:ext cx="50808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070056" y="1444399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056" y="1444399"/>
                <a:ext cx="51385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264722" y="2139390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722" y="2139390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534743" y="3678322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43" y="3678322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77444" y="4907990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444" y="4907990"/>
                <a:ext cx="65274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26128" y="3242058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28" y="3242058"/>
                <a:ext cx="65274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/>
              <p:cNvSpPr txBox="1">
                <a:spLocks/>
              </p:cNvSpPr>
              <p:nvPr/>
            </p:nvSpPr>
            <p:spPr>
              <a:xfrm>
                <a:off x="4973052" y="1825625"/>
                <a:ext cx="6380747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Let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mr-I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mr-IN" altLang="zh-C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1,</m:t>
                            </m:r>
                            <m:r>
                              <a:rPr lang="zh-CN" altLang="en-US" i="1">
                                <a:latin typeface="Cambria Math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charset="0"/>
                              </a:rPr>
                              <m:t>if</m:t>
                            </m:r>
                            <m:r>
                              <a:rPr lang="zh-CN" altLang="en-US" i="1">
                                <a:latin typeface="Cambria Math" charset="0"/>
                              </a:rPr>
                              <m:t>  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charset="0"/>
                              </a:rPr>
                              <m:t>≤1;</m:t>
                            </m:r>
                          </m:e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0,</m:t>
                            </m:r>
                            <m:r>
                              <a:rPr lang="zh-CN" altLang="en-US" i="1">
                                <a:latin typeface="Cambria Math" charset="0"/>
                              </a:rPr>
                              <m:t>     </m:t>
                            </m:r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charset="0"/>
                              </a:rPr>
                              <m:t>otherwise</m:t>
                            </m:r>
                            <m:r>
                              <a:rPr lang="en-US" altLang="zh-CN" i="1">
                                <a:latin typeface="Cambria Math" charset="0"/>
                              </a:rPr>
                              <m:t>.</m:t>
                            </m:r>
                            <m:r>
                              <a:rPr lang="zh-CN" altLang="en-US" i="1">
                                <a:latin typeface="Cambria Math" charset="0"/>
                              </a:rPr>
                              <m:t>     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Let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charset="0"/>
                      </a:rPr>
                      <m:t>Ω</m:t>
                    </m:r>
                    <m:r>
                      <a:rPr lang="en-US" altLang="zh-CN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−1,</m:t>
                        </m:r>
                        <m:r>
                          <a:rPr lang="zh-CN" altLang="en-US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1</m:t>
                        </m:r>
                      </m:e>
                    </m:d>
                    <m:r>
                      <a:rPr lang="en-US" altLang="zh-CN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−1,</m:t>
                        </m:r>
                        <m:r>
                          <a:rPr lang="zh-CN" altLang="en-US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What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𝐼</m:t>
                    </m:r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en-US" altLang="zh-CN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charset="0"/>
                              </a:rPr>
                              <m:t>𝑦</m:t>
                            </m:r>
                          </m:e>
                        </m:d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𝑑𝑥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𝑑𝑦</m:t>
                        </m:r>
                      </m:e>
                    </m:nary>
                  </m:oMath>
                </a14:m>
                <a:r>
                  <a:rPr lang="en-US" altLang="zh-CN" dirty="0"/>
                  <a:t>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052" y="1825625"/>
                <a:ext cx="6380747" cy="4351338"/>
              </a:xfrm>
              <a:prstGeom prst="rect">
                <a:avLst/>
              </a:prstGeom>
              <a:blipFill rotWithShape="0">
                <a:blip r:embed="rId7"/>
                <a:stretch>
                  <a:fillRect l="-1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 flipV="1">
            <a:off x="5925482" y="3378892"/>
            <a:ext cx="3023646" cy="45719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 flipV="1">
            <a:off x="6482616" y="4064288"/>
            <a:ext cx="3023646" cy="45719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5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Integration: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Bivariate Example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952500" y="2357523"/>
            <a:ext cx="2743200" cy="2743200"/>
            <a:chOff x="4038600" y="2247900"/>
            <a:chExt cx="2743200" cy="2743200"/>
          </a:xfrm>
        </p:grpSpPr>
        <p:sp>
          <p:nvSpPr>
            <p:cNvPr id="6" name="Rectangle 5"/>
            <p:cNvSpPr/>
            <p:nvPr/>
          </p:nvSpPr>
          <p:spPr>
            <a:xfrm>
              <a:off x="4038600" y="2247900"/>
              <a:ext cx="2743200" cy="2743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038600" y="2247900"/>
              <a:ext cx="2743200" cy="27432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" name="Straight Arrow Connector 7"/>
          <p:cNvCxnSpPr/>
          <p:nvPr/>
        </p:nvCxnSpPr>
        <p:spPr>
          <a:xfrm>
            <a:off x="711200" y="3729123"/>
            <a:ext cx="3403600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2324100" y="1925723"/>
            <a:ext cx="0" cy="342900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076655" y="3398635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655" y="3398635"/>
                <a:ext cx="50808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070056" y="1444399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056" y="1444399"/>
                <a:ext cx="51385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264722" y="2139390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722" y="2139390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534743" y="3678322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43" y="3678322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77444" y="4907990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444" y="4907990"/>
                <a:ext cx="65274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26128" y="3242058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28" y="3242058"/>
                <a:ext cx="65274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/>
              <p:cNvSpPr txBox="1">
                <a:spLocks/>
              </p:cNvSpPr>
              <p:nvPr/>
            </p:nvSpPr>
            <p:spPr>
              <a:xfrm>
                <a:off x="4973052" y="1825625"/>
                <a:ext cx="6380747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Let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mr-I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mr-IN" altLang="zh-C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1,</m:t>
                            </m:r>
                            <m:r>
                              <a:rPr lang="zh-CN" altLang="en-US" i="1">
                                <a:latin typeface="Cambria Math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charset="0"/>
                              </a:rPr>
                              <m:t>if</m:t>
                            </m:r>
                            <m:r>
                              <a:rPr lang="zh-CN" altLang="en-US" i="1">
                                <a:latin typeface="Cambria Math" charset="0"/>
                              </a:rPr>
                              <m:t>  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charset="0"/>
                              </a:rPr>
                              <m:t>≤1;</m:t>
                            </m:r>
                          </m:e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0,</m:t>
                            </m:r>
                            <m:r>
                              <a:rPr lang="zh-CN" altLang="en-US" i="1">
                                <a:latin typeface="Cambria Math" charset="0"/>
                              </a:rPr>
                              <m:t>     </m:t>
                            </m:r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charset="0"/>
                              </a:rPr>
                              <m:t>otherwise</m:t>
                            </m:r>
                            <m:r>
                              <a:rPr lang="en-US" altLang="zh-CN" i="1">
                                <a:latin typeface="Cambria Math" charset="0"/>
                              </a:rPr>
                              <m:t>.</m:t>
                            </m:r>
                            <m:r>
                              <a:rPr lang="zh-CN" altLang="en-US" i="1">
                                <a:latin typeface="Cambria Math" charset="0"/>
                              </a:rPr>
                              <m:t>     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Let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charset="0"/>
                      </a:rPr>
                      <m:t>Ω</m:t>
                    </m:r>
                    <m:r>
                      <a:rPr lang="en-US" altLang="zh-CN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−1,</m:t>
                        </m:r>
                        <m:r>
                          <a:rPr lang="zh-CN" altLang="en-US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1</m:t>
                        </m:r>
                      </m:e>
                    </m:d>
                    <m:r>
                      <a:rPr lang="en-US" altLang="zh-CN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−1,</m:t>
                        </m:r>
                        <m:r>
                          <a:rPr lang="zh-CN" altLang="en-US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What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𝐼</m:t>
                    </m:r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en-US" altLang="zh-CN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charset="0"/>
                              </a:rPr>
                              <m:t>𝑦</m:t>
                            </m:r>
                          </m:e>
                        </m:d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𝑑𝑥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𝑑𝑦</m:t>
                        </m:r>
                      </m:e>
                    </m:nary>
                  </m:oMath>
                </a14:m>
                <a:r>
                  <a:rPr lang="en-US" altLang="zh-CN" dirty="0"/>
                  <a:t>?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𝐼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area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circle:</a:t>
                </a:r>
              </a:p>
              <a:p>
                <a:pPr marL="0" indent="0" algn="ctr"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𝐼</m:t>
                    </m:r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r>
                      <a:rPr lang="en-US" altLang="zh-CN" b="0" i="1" smtClean="0">
                        <a:latin typeface="Cambria Math" charset="0"/>
                      </a:rPr>
                      <m:t>𝜋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𝑟</m:t>
                        </m:r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>
                      <a:rPr lang="en-US" altLang="zh-CN" b="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052" y="1825625"/>
                <a:ext cx="6380747" cy="4351338"/>
              </a:xfrm>
              <a:prstGeom prst="rect">
                <a:avLst/>
              </a:prstGeom>
              <a:blipFill rotWithShape="0">
                <a:blip r:embed="rId7"/>
                <a:stretch>
                  <a:fillRect l="-1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7049745" y="4668794"/>
            <a:ext cx="2154216" cy="610978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9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Integration: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Bivariate Example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952500" y="2357523"/>
            <a:ext cx="2743200" cy="2743200"/>
            <a:chOff x="4038600" y="2247900"/>
            <a:chExt cx="2743200" cy="2743200"/>
          </a:xfrm>
        </p:grpSpPr>
        <p:sp>
          <p:nvSpPr>
            <p:cNvPr id="6" name="Rectangle 5"/>
            <p:cNvSpPr/>
            <p:nvPr/>
          </p:nvSpPr>
          <p:spPr>
            <a:xfrm>
              <a:off x="4038600" y="2247900"/>
              <a:ext cx="2743200" cy="2743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038600" y="2247900"/>
              <a:ext cx="2743200" cy="27432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" name="Straight Arrow Connector 7"/>
          <p:cNvCxnSpPr/>
          <p:nvPr/>
        </p:nvCxnSpPr>
        <p:spPr>
          <a:xfrm>
            <a:off x="711200" y="3729123"/>
            <a:ext cx="3403600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2324100" y="1925723"/>
            <a:ext cx="0" cy="342900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076655" y="3398635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655" y="3398635"/>
                <a:ext cx="50808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070056" y="1444399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056" y="1444399"/>
                <a:ext cx="51385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264722" y="2139390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722" y="2139390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534743" y="3678322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43" y="3678322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77444" y="4907990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444" y="4907990"/>
                <a:ext cx="65274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26128" y="3242058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28" y="3242058"/>
                <a:ext cx="65274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/>
          <p:cNvSpPr/>
          <p:nvPr/>
        </p:nvSpPr>
        <p:spPr>
          <a:xfrm>
            <a:off x="3124200" y="33227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276600" y="26242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2476500" y="40339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549400" y="41863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600200" y="49483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973052" y="1328323"/>
                <a:ext cx="6380747" cy="4960182"/>
              </a:xfrm>
            </p:spPr>
            <p:txBody>
              <a:bodyPr/>
              <a:lstStyle/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Draw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samples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set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charset="0"/>
                      </a:rPr>
                      <m:t>Ω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uniformly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random;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denote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by</a:t>
                </a:r>
              </a:p>
              <a:p>
                <a:pPr marL="0" indent="0" algn="ctr"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solidFill>
                          <a:srgbClr val="FF0000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charset="0"/>
                      </a:rPr>
                      <m:t>⋯,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22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73052" y="1328323"/>
                <a:ext cx="6380747" cy="4960182"/>
              </a:xfrm>
              <a:blipFill rotWithShape="0">
                <a:blip r:embed="rId7"/>
                <a:stretch>
                  <a:fillRect l="-2008" t="-2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6627608" y="2859180"/>
            <a:ext cx="3024392" cy="45719"/>
          </a:xfrm>
          <a:prstGeom prst="rect">
            <a:avLst/>
          </a:prstGeom>
          <a:noFill/>
          <a:ln w="7620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32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Integration: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Bivariate Example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952500" y="2357523"/>
            <a:ext cx="2743200" cy="2743200"/>
            <a:chOff x="4038600" y="2247900"/>
            <a:chExt cx="2743200" cy="2743200"/>
          </a:xfrm>
        </p:grpSpPr>
        <p:sp>
          <p:nvSpPr>
            <p:cNvPr id="6" name="Rectangle 5"/>
            <p:cNvSpPr/>
            <p:nvPr/>
          </p:nvSpPr>
          <p:spPr>
            <a:xfrm>
              <a:off x="4038600" y="2247900"/>
              <a:ext cx="2743200" cy="2743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038600" y="2247900"/>
              <a:ext cx="2743200" cy="27432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" name="Straight Arrow Connector 7"/>
          <p:cNvCxnSpPr/>
          <p:nvPr/>
        </p:nvCxnSpPr>
        <p:spPr>
          <a:xfrm>
            <a:off x="711200" y="3729123"/>
            <a:ext cx="3403600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2324100" y="1925723"/>
            <a:ext cx="0" cy="342900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076655" y="3398635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655" y="3398635"/>
                <a:ext cx="50808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070056" y="1444399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056" y="1444399"/>
                <a:ext cx="51385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264722" y="2139390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722" y="2139390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534743" y="3678322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43" y="3678322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77444" y="4907990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444" y="4907990"/>
                <a:ext cx="65274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26128" y="3242058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28" y="3242058"/>
                <a:ext cx="65274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/>
          <p:cNvSpPr/>
          <p:nvPr/>
        </p:nvSpPr>
        <p:spPr>
          <a:xfrm>
            <a:off x="3124200" y="33227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276600" y="26242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2476500" y="40339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549400" y="41863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600200" y="49483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973052" y="1328323"/>
                <a:ext cx="6380747" cy="4960182"/>
              </a:xfrm>
            </p:spPr>
            <p:txBody>
              <a:bodyPr/>
              <a:lstStyle/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Draw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samples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set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charset="0"/>
                      </a:rPr>
                      <m:t>Ω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uniformly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random;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denote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by</a:t>
                </a:r>
              </a:p>
              <a:p>
                <a:pPr marL="0" indent="0" algn="ctr"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solidFill>
                          <a:srgbClr val="FF0000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charset="0"/>
                      </a:rPr>
                      <m:t>⋯,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spcAft>
                    <a:spcPts val="600"/>
                  </a:spcAft>
                  <a:buFont typeface="+mj-lt"/>
                  <a:buAutoNum type="arabicPeriod" startAt="2"/>
                </a:pPr>
                <a:r>
                  <a:rPr lang="en-US" altLang="zh-CN" dirty="0"/>
                  <a:t>Calculate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𝑉</m:t>
                    </m:r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en-US" altLang="zh-CN" i="1">
                            <a:latin typeface="Cambria Math" charset="0"/>
                          </a:rPr>
                          <m:t>𝑑𝑥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𝑑𝑦</m:t>
                        </m:r>
                      </m:e>
                    </m:nary>
                    <m:r>
                      <a:rPr lang="en-US" altLang="zh-CN" i="1">
                        <a:latin typeface="Cambria Math" charset="0"/>
                      </a:rPr>
                      <m:t>=4</m:t>
                    </m:r>
                  </m:oMath>
                </a14:m>
                <a:r>
                  <a:rPr lang="en-US" altLang="zh-CN" dirty="0"/>
                  <a:t>.</a:t>
                </a:r>
                <a:r>
                  <a:rPr lang="zh-CN" altLang="en-US" dirty="0"/>
                  <a:t> </a:t>
                </a:r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(It</a:t>
                </a:r>
                <a:r>
                  <a:rPr lang="zh-CN" alt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is</a:t>
                </a:r>
                <a:r>
                  <a:rPr lang="zh-CN" alt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the</a:t>
                </a:r>
                <a:r>
                  <a:rPr lang="zh-CN" alt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area</a:t>
                </a:r>
                <a:r>
                  <a:rPr lang="zh-CN" alt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of</a:t>
                </a:r>
                <a:r>
                  <a:rPr lang="zh-CN" alt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set</a:t>
                </a:r>
                <a:r>
                  <a:rPr lang="zh-CN" alt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charset="0"/>
                      </a:rPr>
                      <m:t>Ω</m:t>
                    </m:r>
                  </m:oMath>
                </a14:m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.)</a:t>
                </a:r>
              </a:p>
            </p:txBody>
          </p:sp>
        </mc:Choice>
        <mc:Fallback xmlns="">
          <p:sp>
            <p:nvSpPr>
              <p:cNvPr id="22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73052" y="1328323"/>
                <a:ext cx="6380747" cy="4960182"/>
              </a:xfrm>
              <a:blipFill rotWithShape="0">
                <a:blip r:embed="rId7"/>
                <a:stretch>
                  <a:fillRect l="-2008" t="-2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6881610" y="2859180"/>
            <a:ext cx="352084" cy="573610"/>
          </a:xfrm>
          <a:prstGeom prst="rect">
            <a:avLst/>
          </a:prstGeom>
          <a:noFill/>
          <a:ln w="7620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9342469" y="2863108"/>
            <a:ext cx="352084" cy="573610"/>
          </a:xfrm>
          <a:prstGeom prst="rect">
            <a:avLst/>
          </a:prstGeom>
          <a:noFill/>
          <a:ln w="7620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49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3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Integration: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Bivariate Example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952500" y="2357523"/>
            <a:ext cx="2743200" cy="2743200"/>
            <a:chOff x="4038600" y="2247900"/>
            <a:chExt cx="2743200" cy="2743200"/>
          </a:xfrm>
        </p:grpSpPr>
        <p:sp>
          <p:nvSpPr>
            <p:cNvPr id="6" name="Rectangle 5"/>
            <p:cNvSpPr/>
            <p:nvPr/>
          </p:nvSpPr>
          <p:spPr>
            <a:xfrm>
              <a:off x="4038600" y="2247900"/>
              <a:ext cx="2743200" cy="2743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038600" y="2247900"/>
              <a:ext cx="2743200" cy="27432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" name="Straight Arrow Connector 7"/>
          <p:cNvCxnSpPr/>
          <p:nvPr/>
        </p:nvCxnSpPr>
        <p:spPr>
          <a:xfrm>
            <a:off x="711200" y="3729123"/>
            <a:ext cx="3403600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2324100" y="1925723"/>
            <a:ext cx="0" cy="342900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076655" y="3398635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655" y="3398635"/>
                <a:ext cx="50808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070056" y="1444399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056" y="1444399"/>
                <a:ext cx="51385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264722" y="2139390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722" y="2139390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534743" y="3678322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43" y="3678322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77444" y="4907990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444" y="4907990"/>
                <a:ext cx="65274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26128" y="3242058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28" y="3242058"/>
                <a:ext cx="65274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/>
          <p:cNvSpPr/>
          <p:nvPr/>
        </p:nvSpPr>
        <p:spPr>
          <a:xfrm>
            <a:off x="3124200" y="33227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276600" y="26242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2476500" y="40339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549400" y="41863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600200" y="49483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973052" y="1328322"/>
                <a:ext cx="6380747" cy="5088519"/>
              </a:xfrm>
            </p:spPr>
            <p:txBody>
              <a:bodyPr/>
              <a:lstStyle/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Draw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samples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set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charset="0"/>
                      </a:rPr>
                      <m:t>Ω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uniformly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random;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denote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by</a:t>
                </a:r>
              </a:p>
              <a:p>
                <a:pPr marL="0" indent="0" algn="ctr"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solidFill>
                          <a:srgbClr val="FF0000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charset="0"/>
                      </a:rPr>
                      <m:t>⋯,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spcAft>
                    <a:spcPts val="600"/>
                  </a:spcAft>
                  <a:buFont typeface="+mj-lt"/>
                  <a:buAutoNum type="arabicPeriod" startAt="2"/>
                </a:pPr>
                <a:r>
                  <a:rPr lang="en-US" altLang="zh-CN" dirty="0"/>
                  <a:t>Calculate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𝑉</m:t>
                    </m:r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en-US" altLang="zh-CN" i="1">
                            <a:latin typeface="Cambria Math" charset="0"/>
                          </a:rPr>
                          <m:t>𝑑𝑥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𝑑𝑦</m:t>
                        </m:r>
                      </m:e>
                    </m:nary>
                    <m:r>
                      <a:rPr lang="en-US" altLang="zh-CN" i="1">
                        <a:latin typeface="Cambria Math" charset="0"/>
                      </a:rPr>
                      <m:t>=4</m:t>
                    </m:r>
                  </m:oMath>
                </a14:m>
                <a:r>
                  <a:rPr lang="en-US" altLang="zh-CN" dirty="0"/>
                  <a:t>.</a:t>
                </a:r>
                <a:r>
                  <a:rPr lang="zh-CN" altLang="en-US" dirty="0"/>
                  <a:t> </a:t>
                </a:r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(It</a:t>
                </a:r>
                <a:r>
                  <a:rPr lang="zh-CN" alt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is</a:t>
                </a:r>
                <a:r>
                  <a:rPr lang="zh-CN" alt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the</a:t>
                </a:r>
                <a:r>
                  <a:rPr lang="zh-CN" alt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area</a:t>
                </a:r>
                <a:r>
                  <a:rPr lang="zh-CN" alt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of</a:t>
                </a:r>
                <a:r>
                  <a:rPr lang="zh-CN" alt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set</a:t>
                </a:r>
                <a:r>
                  <a:rPr lang="zh-CN" alt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charset="0"/>
                      </a:rPr>
                      <m:t>Ω</m:t>
                    </m:r>
                  </m:oMath>
                </a14:m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.)</a:t>
                </a:r>
              </a:p>
              <a:p>
                <a:pPr marL="514350" indent="-514350">
                  <a:spcAft>
                    <a:spcPts val="600"/>
                  </a:spcAft>
                  <a:buFont typeface="+mj-lt"/>
                  <a:buAutoNum type="arabicPeriod" startAt="2"/>
                </a:pPr>
                <a:r>
                  <a:rPr lang="en-US" altLang="zh-CN" dirty="0"/>
                  <a:t>Calculate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r>
                      <a:rPr lang="en-US" altLang="zh-CN" i="1">
                        <a:latin typeface="Cambria Math" charset="0"/>
                      </a:rPr>
                      <m:t>𝑉</m:t>
                    </m:r>
                    <m:r>
                      <a:rPr lang="en-US" altLang="zh-CN" i="1">
                        <a:latin typeface="Cambria Math" charset="0"/>
                      </a:rPr>
                      <m:t>⋅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p>
                      <m:e>
                        <m:r>
                          <a:rPr lang="en-US" altLang="zh-CN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22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73052" y="1328322"/>
                <a:ext cx="6380747" cy="5088519"/>
              </a:xfrm>
              <a:blipFill rotWithShape="0">
                <a:blip r:embed="rId7"/>
                <a:stretch>
                  <a:fillRect l="-2008" t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9250382" y="3922032"/>
            <a:ext cx="1349885" cy="610978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87130" y="3850278"/>
            <a:ext cx="2413137" cy="810931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7776519" y="3944063"/>
            <a:ext cx="388309" cy="566646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934672" y="3977651"/>
            <a:ext cx="498926" cy="566646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01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4" grpId="0" animBg="1"/>
      <p:bldP spid="24" grpId="1" animBg="1"/>
      <p:bldP spid="25" grpId="0" animBg="1"/>
      <p:bldP spid="25" grpId="1" animBg="1"/>
      <p:bldP spid="2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Integration: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Bivariate Example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952500" y="2357523"/>
            <a:ext cx="2743200" cy="2743200"/>
            <a:chOff x="4038600" y="2247900"/>
            <a:chExt cx="2743200" cy="2743200"/>
          </a:xfrm>
        </p:grpSpPr>
        <p:sp>
          <p:nvSpPr>
            <p:cNvPr id="6" name="Rectangle 5"/>
            <p:cNvSpPr/>
            <p:nvPr/>
          </p:nvSpPr>
          <p:spPr>
            <a:xfrm>
              <a:off x="4038600" y="2247900"/>
              <a:ext cx="2743200" cy="2743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038600" y="2247900"/>
              <a:ext cx="2743200" cy="27432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" name="Straight Arrow Connector 7"/>
          <p:cNvCxnSpPr/>
          <p:nvPr/>
        </p:nvCxnSpPr>
        <p:spPr>
          <a:xfrm>
            <a:off x="711200" y="3729123"/>
            <a:ext cx="3403600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2324100" y="1925723"/>
            <a:ext cx="0" cy="342900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076655" y="3398635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655" y="3398635"/>
                <a:ext cx="50808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070056" y="1444399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056" y="1444399"/>
                <a:ext cx="51385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264722" y="2139390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722" y="2139390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534743" y="3678322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43" y="3678322"/>
                <a:ext cx="42351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77444" y="4907990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444" y="4907990"/>
                <a:ext cx="65274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26128" y="3242058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28" y="3242058"/>
                <a:ext cx="65274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/>
          <p:cNvSpPr/>
          <p:nvPr/>
        </p:nvSpPr>
        <p:spPr>
          <a:xfrm>
            <a:off x="3124200" y="33227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276600" y="26242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2476500" y="40339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549400" y="41863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600200" y="4948323"/>
            <a:ext cx="127000" cy="127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973052" y="1328322"/>
                <a:ext cx="6380747" cy="5088519"/>
              </a:xfrm>
            </p:spPr>
            <p:txBody>
              <a:bodyPr/>
              <a:lstStyle/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Draw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samples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set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charset="0"/>
                      </a:rPr>
                      <m:t>Ω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uniformly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random;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denote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by</a:t>
                </a:r>
              </a:p>
              <a:p>
                <a:pPr marL="0" indent="0" algn="ctr"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solidFill>
                          <a:srgbClr val="FF0000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charset="0"/>
                      </a:rPr>
                      <m:t>⋯,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spcAft>
                    <a:spcPts val="600"/>
                  </a:spcAft>
                  <a:buFont typeface="+mj-lt"/>
                  <a:buAutoNum type="arabicPeriod" startAt="2"/>
                </a:pPr>
                <a:r>
                  <a:rPr lang="en-US" altLang="zh-CN" dirty="0"/>
                  <a:t>Calculate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𝑉</m:t>
                    </m:r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en-US" altLang="zh-CN" i="1">
                            <a:latin typeface="Cambria Math" charset="0"/>
                          </a:rPr>
                          <m:t>𝑑𝑥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𝑑𝑦</m:t>
                        </m:r>
                      </m:e>
                    </m:nary>
                    <m:r>
                      <a:rPr lang="en-US" altLang="zh-CN" i="1">
                        <a:latin typeface="Cambria Math" charset="0"/>
                      </a:rPr>
                      <m:t>=4</m:t>
                    </m:r>
                  </m:oMath>
                </a14:m>
                <a:r>
                  <a:rPr lang="en-US" altLang="zh-CN" dirty="0"/>
                  <a:t>.</a:t>
                </a:r>
                <a:r>
                  <a:rPr lang="zh-CN" altLang="en-US" dirty="0"/>
                  <a:t> </a:t>
                </a:r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(It</a:t>
                </a:r>
                <a:r>
                  <a:rPr lang="zh-CN" alt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is</a:t>
                </a:r>
                <a:r>
                  <a:rPr lang="zh-CN" alt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the</a:t>
                </a:r>
                <a:r>
                  <a:rPr lang="zh-CN" alt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area</a:t>
                </a:r>
                <a:r>
                  <a:rPr lang="zh-CN" alt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of</a:t>
                </a:r>
                <a:r>
                  <a:rPr lang="zh-CN" alt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set</a:t>
                </a:r>
                <a:r>
                  <a:rPr lang="zh-CN" alt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charset="0"/>
                      </a:rPr>
                      <m:t>Ω</m:t>
                    </m:r>
                  </m:oMath>
                </a14:m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.)</a:t>
                </a:r>
              </a:p>
              <a:p>
                <a:pPr marL="514350" indent="-514350">
                  <a:spcAft>
                    <a:spcPts val="600"/>
                  </a:spcAft>
                  <a:buFont typeface="+mj-lt"/>
                  <a:buAutoNum type="arabicPeriod" startAt="2"/>
                </a:pPr>
                <a:r>
                  <a:rPr lang="en-US" altLang="zh-CN" dirty="0"/>
                  <a:t>Calculate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r>
                      <a:rPr lang="en-US" altLang="zh-CN" i="1">
                        <a:latin typeface="Cambria Math" charset="0"/>
                      </a:rPr>
                      <m:t>𝑉</m:t>
                    </m:r>
                    <m:r>
                      <a:rPr lang="en-US" altLang="zh-CN" i="1">
                        <a:latin typeface="Cambria Math" charset="0"/>
                      </a:rPr>
                      <m:t>⋅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p>
                      <m:e>
                        <m:r>
                          <a:rPr lang="en-US" altLang="zh-CN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spcAft>
                    <a:spcPts val="600"/>
                  </a:spcAft>
                  <a:buFont typeface="+mj-lt"/>
                  <a:buAutoNum type="arabicPeriod" startAt="2"/>
                </a:pPr>
                <a:r>
                  <a:rPr lang="en-US" altLang="zh-CN" dirty="0"/>
                  <a:t>Return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approximation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integral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𝜋</m:t>
                    </m:r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en-US" altLang="zh-CN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charset="0"/>
                              </a:rPr>
                              <m:t>, </m:t>
                            </m:r>
                            <m:r>
                              <a:rPr lang="en-US" altLang="zh-CN" i="1">
                                <a:latin typeface="Cambria Math" charset="0"/>
                              </a:rPr>
                              <m:t>𝑦</m:t>
                            </m:r>
                          </m:e>
                        </m:d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𝑑𝑥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𝑑𝑦</m:t>
                        </m:r>
                      </m:e>
                    </m:nary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22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73052" y="1328322"/>
                <a:ext cx="6380747" cy="5088519"/>
              </a:xfrm>
              <a:blipFill rotWithShape="0">
                <a:blip r:embed="rId7"/>
                <a:stretch>
                  <a:fillRect l="-2008" t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6588985" y="4624667"/>
            <a:ext cx="498926" cy="566646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752535" y="5024367"/>
            <a:ext cx="3205503" cy="566646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870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Application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5: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Estimate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Expectation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0548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91953" y="1443790"/>
                <a:ext cx="9608093" cy="4817644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𝑋</m:t>
                    </m:r>
                  </m:oMath>
                </a14:m>
                <a:r>
                  <a:rPr lang="en-US" dirty="0"/>
                  <a:t> be a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𝑑</m:t>
                    </m:r>
                  </m:oMath>
                </a14:m>
                <a:r>
                  <a:rPr lang="en-US" altLang="zh-CN" dirty="0"/>
                  <a:t>-dimensional</a:t>
                </a:r>
                <a:r>
                  <a:rPr lang="en-US" dirty="0"/>
                  <a:t> random vector</a:t>
                </a:r>
                <a:r>
                  <a:rPr lang="en-US" altLang="zh-CN" dirty="0"/>
                  <a:t>.</a:t>
                </a:r>
                <a:endParaRPr lang="en-US" dirty="0"/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dirty="0"/>
                  <a:t>Let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 be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dirty="0"/>
                  <a:t>probability density function (PDF).	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1953" y="1443790"/>
                <a:ext cx="9608093" cy="4817644"/>
              </a:xfrm>
              <a:blipFill rotWithShape="0">
                <a:blip r:embed="rId3"/>
                <a:stretch>
                  <a:fillRect l="-1142" t="-2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2"/>
            <a:ext cx="12192000" cy="977906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Expectation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966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91953" y="1443790"/>
                <a:ext cx="9608093" cy="4817644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𝑋</m:t>
                    </m:r>
                  </m:oMath>
                </a14:m>
                <a:r>
                  <a:rPr lang="en-US" dirty="0"/>
                  <a:t> be a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𝑑</m:t>
                    </m:r>
                  </m:oMath>
                </a14:m>
                <a:r>
                  <a:rPr lang="en-US" altLang="zh-CN" dirty="0"/>
                  <a:t>-dimensional</a:t>
                </a:r>
                <a:r>
                  <a:rPr lang="en-US" dirty="0"/>
                  <a:t> random vector</a:t>
                </a:r>
                <a:r>
                  <a:rPr lang="en-US" altLang="zh-CN" dirty="0"/>
                  <a:t>.</a:t>
                </a:r>
                <a:endParaRPr lang="en-US" dirty="0"/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dirty="0"/>
                  <a:t>Let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 be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dirty="0"/>
                  <a:t>probability density function (PDF).	</a:t>
                </a:r>
              </a:p>
              <a:p>
                <a:pPr lvl="1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sz="2600" dirty="0"/>
                  <a:t>Property:</a:t>
                </a:r>
                <a:r>
                  <a:rPr lang="zh-CN" altLang="en-US" sz="2600" dirty="0"/>
                  <a:t> 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600" i="1">
                                <a:latin typeface="Cambria Math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zh-CN" sz="2600" i="1"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sub>
                      <m:sup/>
                      <m:e>
                        <m:r>
                          <a:rPr lang="en-US" sz="26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600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𝐱</m:t>
                            </m:r>
                          </m:e>
                        </m:d>
                        <m:r>
                          <a:rPr lang="en-US" sz="2600" i="1">
                            <a:latin typeface="Cambria Math" charset="0"/>
                          </a:rPr>
                          <m:t> </m:t>
                        </m:r>
                        <m:r>
                          <a:rPr lang="en-US" sz="2600" i="1">
                            <a:latin typeface="Cambria Math" charset="0"/>
                          </a:rPr>
                          <m:t>𝑑</m:t>
                        </m:r>
                        <m:r>
                          <a:rPr lang="en-US" sz="2600" b="1">
                            <a:latin typeface="Cambria Math" charset="0"/>
                          </a:rPr>
                          <m:t>𝐱</m:t>
                        </m:r>
                      </m:e>
                    </m:nary>
                    <m:r>
                      <a:rPr lang="en-US" altLang="zh-CN" sz="2600" b="1" i="1" smtClean="0">
                        <a:latin typeface="Cambria Math" charset="0"/>
                      </a:rPr>
                      <m:t>=</m:t>
                    </m:r>
                    <m:r>
                      <a:rPr lang="en-US" altLang="zh-CN" sz="2600" b="0" i="1" smtClean="0">
                        <a:latin typeface="Cambria Math" charset="0"/>
                      </a:rPr>
                      <m:t>1</m:t>
                    </m:r>
                  </m:oMath>
                </a14:m>
                <a:r>
                  <a:rPr lang="en-US" altLang="zh-CN" sz="26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1953" y="1443790"/>
                <a:ext cx="9608093" cy="4817644"/>
              </a:xfrm>
              <a:blipFill rotWithShape="0">
                <a:blip r:embed="rId3"/>
                <a:stretch>
                  <a:fillRect l="-1142" t="-2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2"/>
            <a:ext cx="12192000" cy="977906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Expectation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3364757" y="2580970"/>
            <a:ext cx="2346495" cy="671896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7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91953" y="1443790"/>
                <a:ext cx="9608093" cy="4817644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𝑋</m:t>
                    </m:r>
                  </m:oMath>
                </a14:m>
                <a:r>
                  <a:rPr lang="en-US" dirty="0"/>
                  <a:t> be a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𝑑</m:t>
                    </m:r>
                  </m:oMath>
                </a14:m>
                <a:r>
                  <a:rPr lang="en-US" altLang="zh-CN" dirty="0"/>
                  <a:t>-dimensional</a:t>
                </a:r>
                <a:r>
                  <a:rPr lang="en-US" dirty="0"/>
                  <a:t> random vector</a:t>
                </a:r>
                <a:r>
                  <a:rPr lang="en-US" altLang="zh-CN" dirty="0"/>
                  <a:t>.</a:t>
                </a:r>
                <a:endParaRPr lang="en-US" dirty="0"/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dirty="0"/>
                  <a:t>Let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 be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dirty="0"/>
                  <a:t>probability density function (PDF).	</a:t>
                </a:r>
              </a:p>
              <a:p>
                <a:pPr lvl="1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sz="2600" dirty="0"/>
                  <a:t>Property:</a:t>
                </a:r>
                <a:r>
                  <a:rPr lang="zh-CN" altLang="en-US" sz="2600" dirty="0"/>
                  <a:t> 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600" i="1">
                                <a:latin typeface="Cambria Math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zh-CN" sz="2600" i="1"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sub>
                      <m:sup/>
                      <m:e>
                        <m:r>
                          <a:rPr lang="en-US" sz="26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600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𝐱</m:t>
                            </m:r>
                          </m:e>
                        </m:d>
                        <m:r>
                          <a:rPr lang="en-US" sz="2600" i="1">
                            <a:latin typeface="Cambria Math" charset="0"/>
                          </a:rPr>
                          <m:t> </m:t>
                        </m:r>
                        <m:r>
                          <a:rPr lang="en-US" sz="2600" i="1">
                            <a:latin typeface="Cambria Math" charset="0"/>
                          </a:rPr>
                          <m:t>𝑑</m:t>
                        </m:r>
                        <m:r>
                          <a:rPr lang="en-US" sz="2600" b="1">
                            <a:latin typeface="Cambria Math" charset="0"/>
                          </a:rPr>
                          <m:t>𝐱</m:t>
                        </m:r>
                      </m:e>
                    </m:nary>
                    <m:r>
                      <a:rPr lang="en-US" altLang="zh-CN" sz="2600" b="1" i="1" smtClean="0">
                        <a:latin typeface="Cambria Math" charset="0"/>
                      </a:rPr>
                      <m:t>=</m:t>
                    </m:r>
                    <m:r>
                      <a:rPr lang="en-US" altLang="zh-CN" sz="2600" b="0" i="1" smtClean="0">
                        <a:latin typeface="Cambria Math" charset="0"/>
                      </a:rPr>
                      <m:t>1</m:t>
                    </m:r>
                  </m:oMath>
                </a14:m>
                <a:r>
                  <a:rPr lang="en-US" altLang="zh-CN" sz="2600" dirty="0"/>
                  <a:t>.</a:t>
                </a:r>
              </a:p>
              <a:p>
                <a:pPr lvl="1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sz="2600" dirty="0"/>
                  <a:t>E.g.,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PDF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of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uniform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distribution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is</a:t>
                </a:r>
                <a:r>
                  <a:rPr lang="zh-CN" altLang="en-US" sz="2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altLang="zh-CN" sz="26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altLang="zh-CN" sz="2600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600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sz="2600" b="0" i="1" smtClean="0">
                            <a:latin typeface="Cambria Math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en-US" sz="2600" dirty="0"/>
                  <a:t> </a:t>
                </a:r>
                <a:r>
                  <a:rPr lang="en-US" altLang="zh-CN" sz="2600" dirty="0"/>
                  <a:t>,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for</a:t>
                </a:r>
                <a:r>
                  <a:rPr lang="zh-CN" altLang="en-US" sz="2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charset="0"/>
                      </a:rPr>
                      <m:t>𝑥</m:t>
                    </m:r>
                    <m:r>
                      <a:rPr lang="en-US" altLang="zh-CN" sz="2600" b="0" i="1" smtClean="0">
                        <a:latin typeface="Cambria Math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b="0" i="1" smtClean="0">
                            <a:latin typeface="Cambria Math" charset="0"/>
                          </a:rPr>
                          <m:t>0,</m:t>
                        </m:r>
                        <m:r>
                          <a:rPr lang="zh-CN" altLang="en-US" sz="26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600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sz="26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1953" y="1443790"/>
                <a:ext cx="9608093" cy="4817644"/>
              </a:xfrm>
              <a:blipFill rotWithShape="0">
                <a:blip r:embed="rId3"/>
                <a:stretch>
                  <a:fillRect l="-1142" t="-2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2"/>
            <a:ext cx="12192000" cy="977906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Expectation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6647603" y="3285509"/>
            <a:ext cx="1402115" cy="671896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568844" y="3285509"/>
            <a:ext cx="1354646" cy="671896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91953" y="1443790"/>
                <a:ext cx="9608093" cy="4817644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𝑋</m:t>
                    </m:r>
                  </m:oMath>
                </a14:m>
                <a:r>
                  <a:rPr lang="en-US" dirty="0"/>
                  <a:t> be a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𝑑</m:t>
                    </m:r>
                  </m:oMath>
                </a14:m>
                <a:r>
                  <a:rPr lang="en-US" altLang="zh-CN" dirty="0"/>
                  <a:t>-dimensional</a:t>
                </a:r>
                <a:r>
                  <a:rPr lang="en-US" dirty="0"/>
                  <a:t> random vector</a:t>
                </a:r>
                <a:r>
                  <a:rPr lang="en-US" altLang="zh-CN" dirty="0"/>
                  <a:t>.</a:t>
                </a:r>
                <a:endParaRPr lang="en-US" dirty="0"/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dirty="0"/>
                  <a:t>Let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 be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dirty="0"/>
                  <a:t>probability density function (PDF).	</a:t>
                </a:r>
              </a:p>
              <a:p>
                <a:pPr lvl="1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sz="2600" dirty="0"/>
                  <a:t>Property:</a:t>
                </a:r>
                <a:r>
                  <a:rPr lang="zh-CN" altLang="en-US" sz="2600" dirty="0"/>
                  <a:t> 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600" i="1">
                                <a:latin typeface="Cambria Math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zh-CN" sz="2600" i="1"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sub>
                      <m:sup/>
                      <m:e>
                        <m:r>
                          <a:rPr lang="en-US" sz="26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600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𝐱</m:t>
                            </m:r>
                          </m:e>
                        </m:d>
                        <m:r>
                          <a:rPr lang="en-US" sz="2600" i="1">
                            <a:latin typeface="Cambria Math" charset="0"/>
                          </a:rPr>
                          <m:t> </m:t>
                        </m:r>
                        <m:r>
                          <a:rPr lang="en-US" sz="2600" i="1">
                            <a:latin typeface="Cambria Math" charset="0"/>
                          </a:rPr>
                          <m:t>𝑑</m:t>
                        </m:r>
                        <m:r>
                          <a:rPr lang="en-US" sz="2600" b="1">
                            <a:latin typeface="Cambria Math" charset="0"/>
                          </a:rPr>
                          <m:t>𝐱</m:t>
                        </m:r>
                      </m:e>
                    </m:nary>
                    <m:r>
                      <a:rPr lang="en-US" altLang="zh-CN" sz="2600" b="1" i="1" smtClean="0">
                        <a:latin typeface="Cambria Math" charset="0"/>
                      </a:rPr>
                      <m:t>=</m:t>
                    </m:r>
                    <m:r>
                      <a:rPr lang="en-US" altLang="zh-CN" sz="2600" b="0" i="1" smtClean="0">
                        <a:latin typeface="Cambria Math" charset="0"/>
                      </a:rPr>
                      <m:t>1</m:t>
                    </m:r>
                  </m:oMath>
                </a14:m>
                <a:r>
                  <a:rPr lang="en-US" altLang="zh-CN" sz="2600" dirty="0"/>
                  <a:t>.</a:t>
                </a:r>
              </a:p>
              <a:p>
                <a:pPr lvl="1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sz="2600" dirty="0"/>
                  <a:t>E.g.,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PDF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of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uniform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distribution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is</a:t>
                </a:r>
                <a:r>
                  <a:rPr lang="zh-CN" altLang="en-US" sz="2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altLang="zh-CN" sz="26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altLang="zh-CN" sz="2600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600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sz="2600" b="0" i="1" smtClean="0">
                            <a:latin typeface="Cambria Math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en-US" sz="2600" dirty="0"/>
                  <a:t> </a:t>
                </a:r>
                <a:r>
                  <a:rPr lang="en-US" altLang="zh-CN" sz="2600" dirty="0"/>
                  <a:t>,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for</a:t>
                </a:r>
                <a:r>
                  <a:rPr lang="zh-CN" altLang="en-US" sz="2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charset="0"/>
                      </a:rPr>
                      <m:t>𝑥</m:t>
                    </m:r>
                    <m:r>
                      <a:rPr lang="en-US" altLang="zh-CN" sz="2600" b="0" i="1" smtClean="0">
                        <a:latin typeface="Cambria Math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b="0" i="1" smtClean="0">
                            <a:latin typeface="Cambria Math" charset="0"/>
                          </a:rPr>
                          <m:t>0,</m:t>
                        </m:r>
                        <m:r>
                          <a:rPr lang="zh-CN" altLang="en-US" sz="26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600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sz="2600" dirty="0"/>
                  <a:t>.</a:t>
                </a:r>
              </a:p>
              <a:p>
                <a:pPr lvl="1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sz="2600" dirty="0"/>
                  <a:t>E.g.,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PDF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of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univariate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Gaussian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is</a:t>
                </a:r>
                <a:r>
                  <a:rPr lang="zh-CN" altLang="en-US" sz="2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altLang="zh-CN" sz="26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altLang="zh-CN" sz="26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600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sz="2600" i="1">
                            <a:latin typeface="Cambria Math" charset="0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600" i="1">
                                <a:latin typeface="Cambria Math" charset="0"/>
                              </a:rPr>
                              <m:t>2</m:t>
                            </m:r>
                            <m:r>
                              <a:rPr lang="en-US" altLang="zh-CN" sz="2600" i="1">
                                <a:latin typeface="Cambria Math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func>
                      <m:funcPr>
                        <m:ctrlPr>
                          <a:rPr lang="zh-CN" altLang="en-US" sz="2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600" b="0" i="0" smtClean="0">
                            <a:latin typeface="Cambria Math" charset="0"/>
                          </a:rPr>
                          <m:t>exp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600" b="0" i="1" smtClean="0">
                                <a:latin typeface="Cambria Math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2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600" b="0" i="1" smtClean="0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CN" sz="2600" b="0" i="1" smtClean="0">
                                            <a:latin typeface="Cambria Math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600" b="0" i="1" smtClean="0">
                                            <a:latin typeface="Cambria Math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2600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2600" b="0" i="1" smtClean="0">
                                    <a:latin typeface="Cambria Math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altLang="zh-CN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600" b="0" i="1" smtClean="0">
                                        <a:latin typeface="Cambria Math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2600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zh-CN" sz="2600" dirty="0"/>
                  <a:t>.</a:t>
                </a:r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1953" y="1443790"/>
                <a:ext cx="9608093" cy="4817644"/>
              </a:xfrm>
              <a:blipFill rotWithShape="0">
                <a:blip r:embed="rId3"/>
                <a:stretch>
                  <a:fillRect l="-1142" t="-2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2"/>
            <a:ext cx="12192000" cy="977906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Expectation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6587642" y="3975057"/>
            <a:ext cx="3785551" cy="896746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76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2"/>
            <a:ext cx="12192000" cy="977906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Expectation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1291953" y="1443790"/>
                <a:ext cx="9608093" cy="48176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𝑋</m:t>
                    </m:r>
                  </m:oMath>
                </a14:m>
                <a:r>
                  <a:rPr lang="en-US" dirty="0"/>
                  <a:t> be a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charset="0"/>
                      </a:rPr>
                      <m:t>𝑑</m:t>
                    </m:r>
                  </m:oMath>
                </a14:m>
                <a:r>
                  <a:rPr lang="en-US" altLang="zh-CN" dirty="0"/>
                  <a:t>-dimensional</a:t>
                </a:r>
                <a:r>
                  <a:rPr lang="en-US" dirty="0"/>
                  <a:t> random vector</a:t>
                </a:r>
                <a:r>
                  <a:rPr lang="en-US" altLang="zh-CN" dirty="0"/>
                  <a:t>.</a:t>
                </a:r>
                <a:endParaRPr lang="en-US" dirty="0"/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dirty="0"/>
                  <a:t>Let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 be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dirty="0"/>
                  <a:t>probability density function (PDF).	</a:t>
                </a:r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dirty="0"/>
                  <a:t>Let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function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vector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variable.</a:t>
                </a:r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b="1" dirty="0"/>
                  <a:t>Expectation</a:t>
                </a:r>
                <a:r>
                  <a:rPr lang="en-US" dirty="0"/>
                  <a:t>:</a:t>
                </a:r>
                <a:r>
                  <a:rPr lang="zh-CN" altLang="en-US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𝔼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charset="0"/>
                          </a:rPr>
                          <m:t>~</m:t>
                        </m:r>
                        <m:r>
                          <a:rPr lang="en-US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𝑝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sub>
                      <m:sup/>
                      <m:e>
                        <m:r>
                          <a:rPr lang="en-US" altLang="zh-CN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latin typeface="Cambria Math" charset="0"/>
                              </a:rPr>
                              <m:t>𝐱</m:t>
                            </m:r>
                          </m:e>
                        </m:d>
                        <m:r>
                          <a:rPr lang="en-US" i="1">
                            <a:latin typeface="Cambria Math" charset="0"/>
                          </a:rPr>
                          <m:t>⋅ </m:t>
                        </m:r>
                        <m:r>
                          <a:rPr lang="en-US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𝐱</m:t>
                            </m:r>
                          </m:e>
                        </m:d>
                        <m:r>
                          <a:rPr lang="en-US" i="1">
                            <a:latin typeface="Cambria Math" charset="0"/>
                          </a:rPr>
                          <m:t> </m:t>
                        </m:r>
                        <m:r>
                          <a:rPr lang="en-US" i="1">
                            <a:latin typeface="Cambria Math" charset="0"/>
                          </a:rPr>
                          <m:t>𝑑</m:t>
                        </m:r>
                        <m:r>
                          <a:rPr lang="en-US" b="1">
                            <a:latin typeface="Cambria Math" charset="0"/>
                          </a:rPr>
                          <m:t>𝐱</m:t>
                        </m:r>
                      </m:e>
                    </m:nary>
                  </m:oMath>
                </a14:m>
                <a:r>
                  <a:rPr lang="en-US" altLang="zh-CN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953" y="1443790"/>
                <a:ext cx="9608093" cy="4817644"/>
              </a:xfrm>
              <a:prstGeom prst="rect">
                <a:avLst/>
              </a:prstGeom>
              <a:blipFill rotWithShape="0">
                <a:blip r:embed="rId3"/>
                <a:stretch>
                  <a:fillRect l="-1142" t="-2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713449" y="3806893"/>
            <a:ext cx="1898456" cy="45719"/>
          </a:xfrm>
          <a:prstGeom prst="rect">
            <a:avLst/>
          </a:prstGeom>
          <a:noFill/>
          <a:ln w="7620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5659" y="3852612"/>
            <a:ext cx="2875611" cy="45719"/>
          </a:xfrm>
          <a:prstGeom prst="rect">
            <a:avLst/>
          </a:prstGeom>
          <a:noFill/>
          <a:ln w="7620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052039" y="2557512"/>
            <a:ext cx="796092" cy="710344"/>
          </a:xfrm>
          <a:prstGeom prst="rect">
            <a:avLst/>
          </a:prstGeom>
          <a:noFill/>
          <a:ln w="7620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805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8" grpId="0" animBg="1"/>
      <p:bldP spid="8" grpId="1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2"/>
            <a:ext cx="12192000" cy="977906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Estimate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Expectation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157286" y="1247945"/>
                <a:ext cx="9915527" cy="589713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altLang="zh-CN" sz="2800" b="1" dirty="0"/>
                  <a:t>Task:</a:t>
                </a:r>
                <a:r>
                  <a:rPr lang="zh-CN" altLang="en-US" sz="2800" b="1" dirty="0"/>
                  <a:t>   </a:t>
                </a:r>
                <a:r>
                  <a:rPr lang="en-US" altLang="zh-CN" sz="2800" dirty="0"/>
                  <a:t>Estimate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expectation</a:t>
                </a:r>
                <a:r>
                  <a:rPr lang="zh-CN" altLang="en-US" sz="28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</a:rPr>
                          <m:t>𝔼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𝑋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~</m:t>
                        </m:r>
                        <m:r>
                          <a:rPr lang="en-US" sz="28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𝑝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altLang="zh-CN" sz="2800" i="1">
                        <a:latin typeface="Cambria Math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sub>
                      <m:sup/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>
                                <a:latin typeface="Cambria Math" charset="0"/>
                              </a:rPr>
                              <m:t>𝐱</m:t>
                            </m:r>
                          </m:e>
                        </m:d>
                        <m:r>
                          <a:rPr lang="en-US" sz="2800" i="1">
                            <a:latin typeface="Cambria Math" charset="0"/>
                          </a:rPr>
                          <m:t>⋅</m:t>
                        </m:r>
                        <m:r>
                          <a:rPr lang="en-US" sz="28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𝐱</m:t>
                            </m:r>
                          </m:e>
                        </m:d>
                        <m:r>
                          <a:rPr lang="en-US" sz="2800" i="1">
                            <a:latin typeface="Cambria Math" charset="0"/>
                          </a:rPr>
                          <m:t> </m:t>
                        </m:r>
                        <m:r>
                          <a:rPr lang="en-US" sz="2800" i="1">
                            <a:latin typeface="Cambria Math" charset="0"/>
                          </a:rPr>
                          <m:t>𝑑</m:t>
                        </m:r>
                        <m:r>
                          <a:rPr lang="en-US" sz="2800" b="1">
                            <a:latin typeface="Cambria Math" charset="0"/>
                          </a:rPr>
                          <m:t>𝐱</m:t>
                        </m:r>
                      </m:e>
                    </m:nary>
                  </m:oMath>
                </a14:m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286" y="1247945"/>
                <a:ext cx="9915527" cy="589713"/>
              </a:xfrm>
              <a:prstGeom prst="rect">
                <a:avLst/>
              </a:prstGeom>
              <a:blipFill rotWithShape="0">
                <a:blip r:embed="rId3"/>
                <a:stretch>
                  <a:fillRect l="-1107" t="-8333" r="-1046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1821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57287" y="2261936"/>
                <a:ext cx="9915526" cy="3967413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Draw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random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samples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probability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distribution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𝑝</m:t>
                    </m:r>
                    <m:r>
                      <a:rPr lang="en-US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(</m:t>
                    </m:r>
                    <m:r>
                      <a:rPr lang="en-US" altLang="zh-CN" b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𝐱</m:t>
                    </m:r>
                    <m:r>
                      <a:rPr lang="en-US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altLang="zh-CN" dirty="0"/>
                  <a:t>;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denote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by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,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</a:rPr>
                      <m:t>⋯,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7287" y="2261936"/>
                <a:ext cx="9915526" cy="3967413"/>
              </a:xfrm>
              <a:blipFill rotWithShape="0">
                <a:blip r:embed="rId3"/>
                <a:stretch>
                  <a:fillRect l="-1292" t="-2765" r="-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2"/>
            <a:ext cx="12192000" cy="977906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Estimate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Expectation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157286" y="1247945"/>
                <a:ext cx="9915527" cy="589713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altLang="zh-CN" sz="2800" b="1" dirty="0"/>
                  <a:t>Task:</a:t>
                </a:r>
                <a:r>
                  <a:rPr lang="zh-CN" altLang="en-US" sz="2800" b="1" dirty="0"/>
                  <a:t>   </a:t>
                </a:r>
                <a:r>
                  <a:rPr lang="en-US" altLang="zh-CN" sz="2800" dirty="0"/>
                  <a:t>Estimate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expectation</a:t>
                </a:r>
                <a:r>
                  <a:rPr lang="zh-CN" altLang="en-US" sz="28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</a:rPr>
                          <m:t>𝔼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𝑋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~</m:t>
                        </m:r>
                        <m:r>
                          <a:rPr lang="en-US" sz="28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𝑝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altLang="zh-CN" sz="2800" i="1">
                        <a:latin typeface="Cambria Math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sub>
                      <m:sup/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>
                                <a:latin typeface="Cambria Math" charset="0"/>
                              </a:rPr>
                              <m:t>𝐱</m:t>
                            </m:r>
                          </m:e>
                        </m:d>
                        <m:r>
                          <a:rPr lang="en-US" sz="2800" i="1">
                            <a:latin typeface="Cambria Math" charset="0"/>
                          </a:rPr>
                          <m:t>⋅</m:t>
                        </m:r>
                        <m:r>
                          <a:rPr lang="en-US" sz="28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𝐱</m:t>
                            </m:r>
                          </m:e>
                        </m:d>
                        <m:r>
                          <a:rPr lang="en-US" sz="2800" i="1">
                            <a:latin typeface="Cambria Math" charset="0"/>
                          </a:rPr>
                          <m:t> </m:t>
                        </m:r>
                        <m:r>
                          <a:rPr lang="en-US" sz="2800" i="1">
                            <a:latin typeface="Cambria Math" charset="0"/>
                          </a:rPr>
                          <m:t>𝑑</m:t>
                        </m:r>
                        <m:r>
                          <a:rPr lang="en-US" sz="2800" b="1">
                            <a:latin typeface="Cambria Math" charset="0"/>
                          </a:rPr>
                          <m:t>𝐱</m:t>
                        </m:r>
                      </m:e>
                    </m:nary>
                  </m:oMath>
                </a14:m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286" y="1247945"/>
                <a:ext cx="9915527" cy="589713"/>
              </a:xfrm>
              <a:prstGeom prst="rect">
                <a:avLst/>
              </a:prstGeom>
              <a:blipFill rotWithShape="0">
                <a:blip r:embed="rId4"/>
                <a:stretch>
                  <a:fillRect l="-1107" t="-8333" r="-1046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073212" y="3117345"/>
            <a:ext cx="1503129" cy="60570"/>
          </a:xfrm>
          <a:prstGeom prst="rect">
            <a:avLst/>
          </a:prstGeom>
          <a:noFill/>
          <a:ln w="7620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086767" y="2745090"/>
            <a:ext cx="736132" cy="45719"/>
          </a:xfrm>
          <a:prstGeom prst="rect">
            <a:avLst/>
          </a:prstGeom>
          <a:noFill/>
          <a:ln w="7620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42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57287" y="2261936"/>
                <a:ext cx="9915526" cy="3967413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Draw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random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samples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probability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distribution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𝑝</m:t>
                    </m:r>
                    <m:r>
                      <a:rPr lang="en-US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(</m:t>
                    </m:r>
                    <m:r>
                      <a:rPr lang="en-US" altLang="zh-CN" b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𝐱</m:t>
                    </m:r>
                    <m:r>
                      <a:rPr lang="en-US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altLang="zh-CN" dirty="0"/>
                  <a:t>;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denote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by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,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</a:rPr>
                      <m:t>⋯,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Calculate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p>
                      <m:e>
                        <m:r>
                          <a:rPr lang="en-US" altLang="zh-CN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latin typeface="Cambria Math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spcBef>
                    <a:spcPts val="600"/>
                  </a:spcBef>
                  <a:spcAft>
                    <a:spcPts val="1200"/>
                  </a:spcAft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7287" y="2261936"/>
                <a:ext cx="9915526" cy="3967413"/>
              </a:xfrm>
              <a:blipFill rotWithShape="0">
                <a:blip r:embed="rId3"/>
                <a:stretch>
                  <a:fillRect l="-1292" t="-2765" r="-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2"/>
            <a:ext cx="12192000" cy="977906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Estimate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Expectation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157286" y="1247945"/>
                <a:ext cx="9915527" cy="589713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altLang="zh-CN" sz="2800" b="1" dirty="0"/>
                  <a:t>Task:</a:t>
                </a:r>
                <a:r>
                  <a:rPr lang="zh-CN" altLang="en-US" sz="2800" b="1" dirty="0"/>
                  <a:t>   </a:t>
                </a:r>
                <a:r>
                  <a:rPr lang="en-US" altLang="zh-CN" sz="2800" dirty="0"/>
                  <a:t>Estimate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expectation</a:t>
                </a:r>
                <a:r>
                  <a:rPr lang="zh-CN" altLang="en-US" sz="28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</a:rPr>
                          <m:t>𝔼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𝑋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~</m:t>
                        </m:r>
                        <m:r>
                          <a:rPr lang="en-US" sz="28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𝑝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altLang="zh-CN" sz="2800" i="1">
                        <a:latin typeface="Cambria Math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sub>
                      <m:sup/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>
                                <a:latin typeface="Cambria Math" charset="0"/>
                              </a:rPr>
                              <m:t>𝐱</m:t>
                            </m:r>
                          </m:e>
                        </m:d>
                        <m:r>
                          <a:rPr lang="en-US" sz="2800" i="1">
                            <a:latin typeface="Cambria Math" charset="0"/>
                          </a:rPr>
                          <m:t>⋅</m:t>
                        </m:r>
                        <m:r>
                          <a:rPr lang="en-US" sz="28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𝐱</m:t>
                            </m:r>
                          </m:e>
                        </m:d>
                        <m:r>
                          <a:rPr lang="en-US" sz="2800" i="1">
                            <a:latin typeface="Cambria Math" charset="0"/>
                          </a:rPr>
                          <m:t> </m:t>
                        </m:r>
                        <m:r>
                          <a:rPr lang="en-US" sz="2800" i="1">
                            <a:latin typeface="Cambria Math" charset="0"/>
                          </a:rPr>
                          <m:t>𝑑</m:t>
                        </m:r>
                        <m:r>
                          <a:rPr lang="en-US" sz="2800" b="1">
                            <a:latin typeface="Cambria Math" charset="0"/>
                          </a:rPr>
                          <m:t>𝐱</m:t>
                        </m:r>
                      </m:e>
                    </m:nary>
                  </m:oMath>
                </a14:m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286" y="1247945"/>
                <a:ext cx="9915527" cy="589713"/>
              </a:xfrm>
              <a:prstGeom prst="rect">
                <a:avLst/>
              </a:prstGeom>
              <a:blipFill rotWithShape="0">
                <a:blip r:embed="rId4"/>
                <a:stretch>
                  <a:fillRect l="-1107" t="-8333" r="-1046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963195" y="3275274"/>
            <a:ext cx="882969" cy="610978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974895" y="3175297"/>
            <a:ext cx="1871269" cy="810931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106917" y="3260285"/>
            <a:ext cx="550684" cy="610978"/>
          </a:xfrm>
          <a:prstGeom prst="rect">
            <a:avLst/>
          </a:prstGeom>
          <a:noFill/>
          <a:ln w="57150">
            <a:solidFill>
              <a:srgbClr val="0924FC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367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57287" y="2261936"/>
                <a:ext cx="9915526" cy="3967413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Draw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random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samples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probability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distribution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𝑝</m:t>
                    </m:r>
                    <m:r>
                      <a:rPr lang="en-US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(</m:t>
                    </m:r>
                    <m:r>
                      <a:rPr lang="en-US" altLang="zh-CN" b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𝐱</m:t>
                    </m:r>
                    <m:r>
                      <a:rPr lang="en-US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altLang="zh-CN" dirty="0"/>
                  <a:t>;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denote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by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,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</a:rPr>
                      <m:t>⋯,</m:t>
                    </m:r>
                    <m:r>
                      <a:rPr lang="zh-CN" alt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Calculate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p>
                      <m:e>
                        <m:r>
                          <a:rPr lang="en-US" altLang="zh-CN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latin typeface="Cambria Math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zh-CN" dirty="0"/>
                  <a:t>Return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approximation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to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𝔼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charset="0"/>
                          </a:rPr>
                          <m:t>~</m:t>
                        </m:r>
                        <m:r>
                          <a:rPr lang="en-US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𝑝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 marL="514350" indent="-514350">
                  <a:spcBef>
                    <a:spcPts val="600"/>
                  </a:spcBef>
                  <a:spcAft>
                    <a:spcPts val="1200"/>
                  </a:spcAft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7287" y="2261936"/>
                <a:ext cx="9915526" cy="3967413"/>
              </a:xfrm>
              <a:blipFill rotWithShape="0">
                <a:blip r:embed="rId3"/>
                <a:stretch>
                  <a:fillRect l="-1292" t="-2765" r="-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2"/>
            <a:ext cx="12192000" cy="977906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Estimate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Expectation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157286" y="1247945"/>
                <a:ext cx="9915527" cy="589713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altLang="zh-CN" sz="2800" b="1" dirty="0"/>
                  <a:t>Task:</a:t>
                </a:r>
                <a:r>
                  <a:rPr lang="zh-CN" altLang="en-US" sz="2800" b="1" dirty="0"/>
                  <a:t>   </a:t>
                </a:r>
                <a:r>
                  <a:rPr lang="en-US" altLang="zh-CN" sz="2800" dirty="0"/>
                  <a:t>Estimate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expectation</a:t>
                </a:r>
                <a:r>
                  <a:rPr lang="zh-CN" altLang="en-US" sz="28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</a:rPr>
                          <m:t>𝔼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𝑋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~</m:t>
                        </m:r>
                        <m:r>
                          <a:rPr lang="en-US" sz="28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𝑝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altLang="zh-CN" sz="2800" i="1">
                        <a:latin typeface="Cambria Math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sub>
                      <m:sup/>
                      <m:e>
                        <m:r>
                          <a:rPr lang="en-US" altLang="zh-CN" sz="2800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>
                                <a:latin typeface="Cambria Math" charset="0"/>
                              </a:rPr>
                              <m:t>𝐱</m:t>
                            </m:r>
                          </m:e>
                        </m:d>
                        <m:r>
                          <a:rPr lang="en-US" sz="2800" i="1">
                            <a:latin typeface="Cambria Math" charset="0"/>
                          </a:rPr>
                          <m:t>⋅</m:t>
                        </m:r>
                        <m:r>
                          <a:rPr lang="en-US" sz="28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𝐱</m:t>
                            </m:r>
                          </m:e>
                        </m:d>
                        <m:r>
                          <a:rPr lang="en-US" sz="2800" i="1">
                            <a:latin typeface="Cambria Math" charset="0"/>
                          </a:rPr>
                          <m:t> </m:t>
                        </m:r>
                        <m:r>
                          <a:rPr lang="en-US" sz="2800" i="1">
                            <a:latin typeface="Cambria Math" charset="0"/>
                          </a:rPr>
                          <m:t>𝑑</m:t>
                        </m:r>
                        <m:r>
                          <a:rPr lang="en-US" sz="2800" b="1">
                            <a:latin typeface="Cambria Math" charset="0"/>
                          </a:rPr>
                          <m:t>𝐱</m:t>
                        </m:r>
                      </m:e>
                    </m:nary>
                  </m:oMath>
                </a14:m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286" y="1247945"/>
                <a:ext cx="9915527" cy="589713"/>
              </a:xfrm>
              <a:prstGeom prst="rect">
                <a:avLst/>
              </a:prstGeom>
              <a:blipFill rotWithShape="0">
                <a:blip r:embed="rId4"/>
                <a:stretch>
                  <a:fillRect l="-1107" t="-8333" r="-1046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1328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and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Beyond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34911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70624" y="1469034"/>
            <a:ext cx="5126636" cy="2793514"/>
          </a:xfrm>
        </p:spPr>
        <p:txBody>
          <a:bodyPr/>
          <a:lstStyle/>
          <a:p>
            <a:r>
              <a:rPr lang="en-US" dirty="0"/>
              <a:t>The term “Monte Carlo</a:t>
            </a:r>
            <a:r>
              <a:rPr lang="zh-CN" altLang="en-US" dirty="0"/>
              <a:t> </a:t>
            </a:r>
            <a:r>
              <a:rPr lang="en-US" altLang="zh-CN" dirty="0"/>
              <a:t>method</a:t>
            </a:r>
            <a:r>
              <a:rPr lang="en-US" dirty="0"/>
              <a:t>" was first</a:t>
            </a:r>
            <a:r>
              <a:rPr lang="en-US" altLang="zh-CN" dirty="0"/>
              <a:t>ly</a:t>
            </a:r>
            <a:r>
              <a:rPr lang="en-US" dirty="0"/>
              <a:t> introduced in 1947 by Nicholas Metropolis.</a:t>
            </a:r>
          </a:p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01" y="1469034"/>
            <a:ext cx="5831999" cy="388875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6927" y="5432098"/>
            <a:ext cx="48861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Casino de Monte-Carlo</a:t>
            </a:r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</a:t>
            </a: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Monaco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70624" y="4262547"/>
            <a:ext cx="5126636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Reference</a:t>
            </a:r>
            <a:endParaRPr lang="en-US" altLang="zh-CN" sz="2000" b="1" dirty="0"/>
          </a:p>
          <a:p>
            <a:endParaRPr lang="en-US" sz="2000" dirty="0"/>
          </a:p>
          <a:p>
            <a:pPr marL="342900" indent="-342900">
              <a:buFont typeface="Arial" charset="0"/>
              <a:buChar char="•"/>
            </a:pPr>
            <a:r>
              <a:rPr lang="en-US" sz="2000" dirty="0"/>
              <a:t>Metropolis. </a:t>
            </a:r>
            <a:r>
              <a:rPr lang="en-US" sz="2000" dirty="0">
                <a:solidFill>
                  <a:srgbClr val="002060"/>
                </a:solidFill>
              </a:rPr>
              <a:t>The beginning of the Monte Carlo method.</a:t>
            </a:r>
            <a:r>
              <a:rPr lang="en-US" sz="2000" dirty="0"/>
              <a:t> </a:t>
            </a:r>
            <a:r>
              <a:rPr lang="en-US" sz="2000" i="1" dirty="0"/>
              <a:t>Los Alamos Science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sz="2000" dirty="0"/>
              <a:t>125–130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sz="2000" dirty="0"/>
              <a:t>1987.</a:t>
            </a:r>
          </a:p>
        </p:txBody>
      </p:sp>
    </p:spTree>
    <p:extLst>
      <p:ext uri="{BB962C8B-B14F-4D97-AF65-F5344CB8AC3E}">
        <p14:creationId xmlns:p14="http://schemas.microsoft.com/office/powerpoint/2010/main" val="12739700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9095"/>
            <a:ext cx="10515600" cy="4797868"/>
          </a:xfrm>
        </p:spPr>
        <p:txBody>
          <a:bodyPr/>
          <a:lstStyle/>
          <a:p>
            <a:pPr>
              <a:spcBef>
                <a:spcPts val="1600"/>
              </a:spcBef>
            </a:pPr>
            <a:r>
              <a:rPr lang="en-US" dirty="0"/>
              <a:t>Monte Carlo </a:t>
            </a:r>
            <a:r>
              <a:rPr lang="en-US" altLang="zh-CN" dirty="0"/>
              <a:t>refers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dirty="0"/>
              <a:t>algorithms that rely on repeated random sampling to obtain numerical results.</a:t>
            </a:r>
          </a:p>
          <a:p>
            <a:pPr>
              <a:spcBef>
                <a:spcPts val="1600"/>
              </a:spcBef>
            </a:pP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output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Monte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Carlo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algorithms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incorrect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examples,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algorithms’</a:t>
            </a:r>
            <a:r>
              <a:rPr lang="zh-CN" altLang="en-US" dirty="0"/>
              <a:t> </a:t>
            </a:r>
            <a:r>
              <a:rPr lang="en-US" altLang="zh-CN" dirty="0"/>
              <a:t>outputs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incorrect.</a:t>
            </a:r>
          </a:p>
          <a:p>
            <a:pPr lvl="1"/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close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correct</a:t>
            </a:r>
            <a:r>
              <a:rPr lang="zh-CN" altLang="en-US" dirty="0"/>
              <a:t> </a:t>
            </a:r>
            <a:r>
              <a:rPr lang="en-US" altLang="zh-CN" dirty="0"/>
              <a:t>solution.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Algorithms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129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9095"/>
            <a:ext cx="10515600" cy="4797868"/>
          </a:xfrm>
        </p:spPr>
        <p:txBody>
          <a:bodyPr/>
          <a:lstStyle/>
          <a:p>
            <a:pPr>
              <a:spcBef>
                <a:spcPts val="1600"/>
              </a:spcBef>
            </a:pPr>
            <a:r>
              <a:rPr lang="en-US" dirty="0"/>
              <a:t>Monte Carlo </a:t>
            </a:r>
            <a:r>
              <a:rPr lang="en-US" altLang="zh-CN" dirty="0"/>
              <a:t>refers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dirty="0"/>
              <a:t>algorithms that rely on repeated random sampling to obtain numerical results.</a:t>
            </a:r>
          </a:p>
          <a:p>
            <a:pPr>
              <a:spcBef>
                <a:spcPts val="1600"/>
              </a:spcBef>
            </a:pP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output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Monte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Carlo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algorithms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incorrect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endParaRPr lang="en-US" altLang="zh-CN" dirty="0"/>
          </a:p>
          <a:p>
            <a:pPr>
              <a:spcBef>
                <a:spcPts val="1600"/>
              </a:spcBef>
            </a:pPr>
            <a:r>
              <a:rPr lang="en-US" dirty="0">
                <a:solidFill>
                  <a:srgbClr val="C00000"/>
                </a:solidFill>
              </a:rPr>
              <a:t>Las Vegas algorithms </a:t>
            </a:r>
            <a:r>
              <a:rPr lang="en-US" dirty="0"/>
              <a:t>are th</a:t>
            </a:r>
            <a:r>
              <a:rPr lang="en-US" altLang="zh-CN" dirty="0"/>
              <a:t>ose</a:t>
            </a:r>
            <a:r>
              <a:rPr lang="en-US" dirty="0"/>
              <a:t> always produce the</a:t>
            </a:r>
            <a:r>
              <a:rPr lang="en-US" dirty="0">
                <a:solidFill>
                  <a:srgbClr val="C00000"/>
                </a:solidFill>
              </a:rPr>
              <a:t> correct </a:t>
            </a:r>
            <a:r>
              <a:rPr lang="en-US" dirty="0"/>
              <a:t>answer</a:t>
            </a:r>
            <a:r>
              <a:rPr lang="en-US" altLang="zh-CN" dirty="0"/>
              <a:t>s</a:t>
            </a:r>
            <a:r>
              <a:rPr lang="en-US" dirty="0"/>
              <a:t>.</a:t>
            </a:r>
          </a:p>
          <a:p>
            <a:pPr lvl="1"/>
            <a:r>
              <a:rPr lang="en-US" altLang="zh-CN" dirty="0"/>
              <a:t>E.g.,</a:t>
            </a:r>
            <a:r>
              <a:rPr lang="zh-CN" altLang="en-US" dirty="0"/>
              <a:t> </a:t>
            </a:r>
            <a:r>
              <a:rPr lang="en-US" altLang="zh-CN" dirty="0"/>
              <a:t>random</a:t>
            </a:r>
            <a:r>
              <a:rPr lang="zh-CN" altLang="en-US" dirty="0"/>
              <a:t> </a:t>
            </a:r>
            <a:r>
              <a:rPr lang="en-US" altLang="zh-CN" dirty="0"/>
              <a:t>quicksort.</a:t>
            </a:r>
          </a:p>
          <a:p>
            <a:r>
              <a:rPr lang="en-US" dirty="0">
                <a:solidFill>
                  <a:srgbClr val="C00000"/>
                </a:solidFill>
              </a:rPr>
              <a:t>Atlantic City algorithm</a:t>
            </a:r>
            <a:r>
              <a:rPr lang="en-US" altLang="zh-CN" dirty="0">
                <a:solidFill>
                  <a:srgbClr val="C00000"/>
                </a:solidFill>
              </a:rPr>
              <a:t>s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dirty="0"/>
              <a:t>polynomial</a:t>
            </a:r>
            <a:r>
              <a:rPr lang="en-US" altLang="zh-CN" dirty="0"/>
              <a:t>-</a:t>
            </a:r>
            <a:r>
              <a:rPr lang="en-US" dirty="0"/>
              <a:t>time</a:t>
            </a:r>
            <a:r>
              <a:rPr lang="zh-CN" altLang="en-US" dirty="0"/>
              <a:t> </a:t>
            </a:r>
            <a:r>
              <a:rPr lang="en-US" altLang="zh-CN" dirty="0"/>
              <a:t>randomized</a:t>
            </a:r>
            <a:r>
              <a:rPr lang="en-US" dirty="0"/>
              <a:t> algorithm</a:t>
            </a:r>
            <a:r>
              <a:rPr lang="en-US" altLang="zh-CN" dirty="0"/>
              <a:t>s</a:t>
            </a:r>
            <a:r>
              <a:rPr lang="en-US" dirty="0"/>
              <a:t> that answer correctly </a:t>
            </a:r>
            <a:r>
              <a:rPr lang="en-US" altLang="zh-CN" dirty="0" err="1"/>
              <a:t>w.p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-US" altLang="zh-CN" dirty="0"/>
              <a:t>greater</a:t>
            </a:r>
            <a:r>
              <a:rPr lang="zh-CN" altLang="en-US" dirty="0"/>
              <a:t> </a:t>
            </a:r>
            <a:r>
              <a:rPr lang="en-US" altLang="zh-CN" dirty="0"/>
              <a:t>than</a:t>
            </a:r>
            <a:r>
              <a:rPr lang="zh-CN" altLang="en-US" dirty="0"/>
              <a:t> </a:t>
            </a:r>
            <a:r>
              <a:rPr lang="en-US" altLang="zh-CN" dirty="0"/>
              <a:t>75%.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Monte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Carlo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Algorithms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449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Question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9293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409" y="1864563"/>
            <a:ext cx="4181528" cy="4117196"/>
          </a:xfr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What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is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area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grey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region?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814771" y="5930900"/>
            <a:ext cx="5143500" cy="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970926" y="5600412"/>
                <a:ext cx="5480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0926" y="5600412"/>
                <a:ext cx="548099" cy="6463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 flipV="1">
            <a:off x="4106871" y="1574800"/>
            <a:ext cx="0" cy="468630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65527" y="990025"/>
                <a:ext cx="5548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527" y="990025"/>
                <a:ext cx="554832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668552" y="190499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552" y="1904999"/>
                <a:ext cx="465191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729476" y="592357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9476" y="5923577"/>
                <a:ext cx="465191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757849" y="595263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849" y="5952639"/>
                <a:ext cx="465191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628346" y="3687117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8346" y="3687117"/>
                <a:ext cx="465191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093537" y="5952639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537" y="5952639"/>
                <a:ext cx="465191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487158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/>
          <p:cNvSpPr/>
          <p:nvPr/>
        </p:nvSpPr>
        <p:spPr>
          <a:xfrm>
            <a:off x="5943600" y="2015694"/>
            <a:ext cx="3657600" cy="2931091"/>
          </a:xfrm>
          <a:custGeom>
            <a:avLst/>
            <a:gdLst>
              <a:gd name="connsiteX0" fmla="*/ 2192055 w 3657600"/>
              <a:gd name="connsiteY0" fmla="*/ 2931091 h 2931091"/>
              <a:gd name="connsiteX1" fmla="*/ 2304789 w 3657600"/>
              <a:gd name="connsiteY1" fmla="*/ 2843409 h 2931091"/>
              <a:gd name="connsiteX2" fmla="*/ 2486416 w 3657600"/>
              <a:gd name="connsiteY2" fmla="*/ 2693096 h 2931091"/>
              <a:gd name="connsiteX3" fmla="*/ 2686833 w 3657600"/>
              <a:gd name="connsiteY3" fmla="*/ 2492680 h 2931091"/>
              <a:gd name="connsiteX4" fmla="*/ 2874723 w 3657600"/>
              <a:gd name="connsiteY4" fmla="*/ 2273474 h 2931091"/>
              <a:gd name="connsiteX5" fmla="*/ 2999984 w 3657600"/>
              <a:gd name="connsiteY5" fmla="*/ 2098110 h 2931091"/>
              <a:gd name="connsiteX6" fmla="*/ 3187874 w 3657600"/>
              <a:gd name="connsiteY6" fmla="*/ 1810011 h 2931091"/>
              <a:gd name="connsiteX7" fmla="*/ 3325660 w 3657600"/>
              <a:gd name="connsiteY7" fmla="*/ 1540702 h 2931091"/>
              <a:gd name="connsiteX8" fmla="*/ 3419605 w 3657600"/>
              <a:gd name="connsiteY8" fmla="*/ 1315233 h 2931091"/>
              <a:gd name="connsiteX9" fmla="*/ 3488499 w 3657600"/>
              <a:gd name="connsiteY9" fmla="*/ 1089765 h 2931091"/>
              <a:gd name="connsiteX10" fmla="*/ 3563655 w 3657600"/>
              <a:gd name="connsiteY10" fmla="*/ 839244 h 2931091"/>
              <a:gd name="connsiteX11" fmla="*/ 3607496 w 3657600"/>
              <a:gd name="connsiteY11" fmla="*/ 613776 h 2931091"/>
              <a:gd name="connsiteX12" fmla="*/ 3645074 w 3657600"/>
              <a:gd name="connsiteY12" fmla="*/ 388307 h 2931091"/>
              <a:gd name="connsiteX13" fmla="*/ 3657600 w 3657600"/>
              <a:gd name="connsiteY13" fmla="*/ 237995 h 2931091"/>
              <a:gd name="connsiteX14" fmla="*/ 3657600 w 3657600"/>
              <a:gd name="connsiteY14" fmla="*/ 0 h 2931091"/>
              <a:gd name="connsiteX15" fmla="*/ 3463447 w 3657600"/>
              <a:gd name="connsiteY15" fmla="*/ 100209 h 2931091"/>
              <a:gd name="connsiteX16" fmla="*/ 0 w 3657600"/>
              <a:gd name="connsiteY16" fmla="*/ 1828800 h 2931091"/>
              <a:gd name="connsiteX17" fmla="*/ 187890 w 3657600"/>
              <a:gd name="connsiteY17" fmla="*/ 1916483 h 2931091"/>
              <a:gd name="connsiteX18" fmla="*/ 2192055 w 3657600"/>
              <a:gd name="connsiteY18" fmla="*/ 2931091 h 2931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657600" h="2931091">
                <a:moveTo>
                  <a:pt x="2192055" y="2931091"/>
                </a:moveTo>
                <a:lnTo>
                  <a:pt x="2304789" y="2843409"/>
                </a:lnTo>
                <a:lnTo>
                  <a:pt x="2486416" y="2693096"/>
                </a:lnTo>
                <a:lnTo>
                  <a:pt x="2686833" y="2492680"/>
                </a:lnTo>
                <a:lnTo>
                  <a:pt x="2874723" y="2273474"/>
                </a:lnTo>
                <a:lnTo>
                  <a:pt x="2999984" y="2098110"/>
                </a:lnTo>
                <a:lnTo>
                  <a:pt x="3187874" y="1810011"/>
                </a:lnTo>
                <a:lnTo>
                  <a:pt x="3325660" y="1540702"/>
                </a:lnTo>
                <a:lnTo>
                  <a:pt x="3419605" y="1315233"/>
                </a:lnTo>
                <a:lnTo>
                  <a:pt x="3488499" y="1089765"/>
                </a:lnTo>
                <a:lnTo>
                  <a:pt x="3563655" y="839244"/>
                </a:lnTo>
                <a:lnTo>
                  <a:pt x="3607496" y="613776"/>
                </a:lnTo>
                <a:lnTo>
                  <a:pt x="3645074" y="388307"/>
                </a:lnTo>
                <a:lnTo>
                  <a:pt x="3657600" y="237995"/>
                </a:lnTo>
                <a:lnTo>
                  <a:pt x="3657600" y="0"/>
                </a:lnTo>
                <a:lnTo>
                  <a:pt x="3463447" y="100209"/>
                </a:lnTo>
                <a:lnTo>
                  <a:pt x="0" y="1828800"/>
                </a:lnTo>
                <a:lnTo>
                  <a:pt x="187890" y="1916483"/>
                </a:lnTo>
                <a:lnTo>
                  <a:pt x="2192055" y="2931091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21"/>
          <p:cNvSpPr/>
          <p:nvPr/>
        </p:nvSpPr>
        <p:spPr>
          <a:xfrm>
            <a:off x="2283555" y="4937574"/>
            <a:ext cx="3320201" cy="728587"/>
          </a:xfrm>
          <a:custGeom>
            <a:avLst/>
            <a:gdLst>
              <a:gd name="connsiteX0" fmla="*/ 1476732 w 3320201"/>
              <a:gd name="connsiteY0" fmla="*/ 0 h 728587"/>
              <a:gd name="connsiteX1" fmla="*/ 1550079 w 3320201"/>
              <a:gd name="connsiteY1" fmla="*/ 68458 h 728587"/>
              <a:gd name="connsiteX2" fmla="*/ 1691885 w 3320201"/>
              <a:gd name="connsiteY2" fmla="*/ 146696 h 728587"/>
              <a:gd name="connsiteX3" fmla="*/ 1926597 w 3320201"/>
              <a:gd name="connsiteY3" fmla="*/ 303170 h 728587"/>
              <a:gd name="connsiteX4" fmla="*/ 2087962 w 3320201"/>
              <a:gd name="connsiteY4" fmla="*/ 376518 h 728587"/>
              <a:gd name="connsiteX5" fmla="*/ 2278665 w 3320201"/>
              <a:gd name="connsiteY5" fmla="*/ 469425 h 728587"/>
              <a:gd name="connsiteX6" fmla="*/ 2493818 w 3320201"/>
              <a:gd name="connsiteY6" fmla="*/ 547662 h 728587"/>
              <a:gd name="connsiteX7" fmla="*/ 2821438 w 3320201"/>
              <a:gd name="connsiteY7" fmla="*/ 635680 h 728587"/>
              <a:gd name="connsiteX8" fmla="*/ 3017031 w 3320201"/>
              <a:gd name="connsiteY8" fmla="*/ 674798 h 728587"/>
              <a:gd name="connsiteX9" fmla="*/ 3158836 w 3320201"/>
              <a:gd name="connsiteY9" fmla="*/ 699247 h 728587"/>
              <a:gd name="connsiteX10" fmla="*/ 3251743 w 3320201"/>
              <a:gd name="connsiteY10" fmla="*/ 718807 h 728587"/>
              <a:gd name="connsiteX11" fmla="*/ 3320201 w 3320201"/>
              <a:gd name="connsiteY11" fmla="*/ 728587 h 728587"/>
              <a:gd name="connsiteX12" fmla="*/ 0 w 3320201"/>
              <a:gd name="connsiteY12" fmla="*/ 728587 h 728587"/>
              <a:gd name="connsiteX13" fmla="*/ 92907 w 3320201"/>
              <a:gd name="connsiteY13" fmla="*/ 674798 h 728587"/>
              <a:gd name="connsiteX14" fmla="*/ 1476732 w 3320201"/>
              <a:gd name="connsiteY14" fmla="*/ 0 h 728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320201" h="728587">
                <a:moveTo>
                  <a:pt x="1476732" y="0"/>
                </a:moveTo>
                <a:lnTo>
                  <a:pt x="1550079" y="68458"/>
                </a:lnTo>
                <a:lnTo>
                  <a:pt x="1691885" y="146696"/>
                </a:lnTo>
                <a:lnTo>
                  <a:pt x="1926597" y="303170"/>
                </a:lnTo>
                <a:lnTo>
                  <a:pt x="2087962" y="376518"/>
                </a:lnTo>
                <a:lnTo>
                  <a:pt x="2278665" y="469425"/>
                </a:lnTo>
                <a:lnTo>
                  <a:pt x="2493818" y="547662"/>
                </a:lnTo>
                <a:lnTo>
                  <a:pt x="2821438" y="635680"/>
                </a:lnTo>
                <a:lnTo>
                  <a:pt x="3017031" y="674798"/>
                </a:lnTo>
                <a:lnTo>
                  <a:pt x="3158836" y="699247"/>
                </a:lnTo>
                <a:lnTo>
                  <a:pt x="3251743" y="718807"/>
                </a:lnTo>
                <a:lnTo>
                  <a:pt x="3320201" y="728587"/>
                </a:lnTo>
                <a:lnTo>
                  <a:pt x="0" y="728587"/>
                </a:lnTo>
                <a:lnTo>
                  <a:pt x="92907" y="674798"/>
                </a:lnTo>
                <a:lnTo>
                  <a:pt x="1476732" y="0"/>
                </a:lnTo>
                <a:close/>
              </a:path>
            </a:pathLst>
          </a:custGeom>
          <a:solidFill>
            <a:srgbClr val="E988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7932"/>
            <a:ext cx="12192000" cy="885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What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are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areas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red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and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blue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regions?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2288274" y="-1641709"/>
            <a:ext cx="7315200" cy="7315200"/>
            <a:chOff x="2288274" y="-770154"/>
            <a:chExt cx="7315200" cy="7315200"/>
          </a:xfrm>
        </p:grpSpPr>
        <p:sp>
          <p:nvSpPr>
            <p:cNvPr id="3" name="Rectangle 2"/>
            <p:cNvSpPr/>
            <p:nvPr/>
          </p:nvSpPr>
          <p:spPr>
            <a:xfrm>
              <a:off x="2288274" y="2887446"/>
              <a:ext cx="7315200" cy="36576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Pie 14"/>
            <p:cNvSpPr/>
            <p:nvPr/>
          </p:nvSpPr>
          <p:spPr>
            <a:xfrm>
              <a:off x="2288274" y="-770154"/>
              <a:ext cx="7315200" cy="7315200"/>
            </a:xfrm>
            <a:prstGeom prst="pie">
              <a:avLst>
                <a:gd name="adj1" fmla="val 0"/>
                <a:gd name="adj2" fmla="val 10797242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flipV="1">
              <a:off x="2288274" y="2887446"/>
              <a:ext cx="7315200" cy="3657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/>
          <p:cNvCxnSpPr>
            <a:stCxn id="15" idx="2"/>
          </p:cNvCxnSpPr>
          <p:nvPr/>
        </p:nvCxnSpPr>
        <p:spPr>
          <a:xfrm>
            <a:off x="2288274" y="2015891"/>
            <a:ext cx="7315200" cy="3657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828800" y="5666161"/>
            <a:ext cx="8634980" cy="7330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0476435" y="5343003"/>
                <a:ext cx="5480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6435" y="5343003"/>
                <a:ext cx="548099" cy="6463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/>
          <p:nvPr/>
        </p:nvCxnSpPr>
        <p:spPr>
          <a:xfrm flipV="1">
            <a:off x="2283555" y="1231863"/>
            <a:ext cx="0" cy="4954625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042211" y="647088"/>
                <a:ext cx="5548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211" y="647088"/>
                <a:ext cx="554832" cy="6463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9375619" y="5696948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5619" y="5696948"/>
                <a:ext cx="465191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603756" y="5726010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756" y="5726010"/>
                <a:ext cx="465191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695332" y="1760396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5332" y="1760396"/>
                <a:ext cx="465191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279875" y="5668380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875" y="5668380"/>
                <a:ext cx="465191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956940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Thank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you!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331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61837</TotalTime>
  <Words>12031</Words>
  <Application>Microsoft Macintosh PowerPoint</Application>
  <PresentationFormat>Widescreen</PresentationFormat>
  <Paragraphs>2565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6" baseType="lpstr">
      <vt:lpstr>Arial</vt:lpstr>
      <vt:lpstr>Calibri</vt:lpstr>
      <vt:lpstr>Calibri Light</vt:lpstr>
      <vt:lpstr>Cambria Math</vt:lpstr>
      <vt:lpstr>Lucida Bright</vt:lpstr>
      <vt:lpstr>Office Theme</vt:lpstr>
      <vt:lpstr>Monte Carlo Algorithms</vt:lpstr>
      <vt:lpstr>Application 1: Calculating Pi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 2: Buffon's Needle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 3: Area of A Region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 4: Integration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 5: Estimate of Expectation</vt:lpstr>
      <vt:lpstr>Expectation</vt:lpstr>
      <vt:lpstr>Expectation</vt:lpstr>
      <vt:lpstr>Expectation</vt:lpstr>
      <vt:lpstr>Expectation</vt:lpstr>
      <vt:lpstr>Expectation</vt:lpstr>
      <vt:lpstr>Monte Carlo Estimate of Expectation</vt:lpstr>
      <vt:lpstr>Monte Carlo Estimate of Expectation</vt:lpstr>
      <vt:lpstr>Monte Carlo Estimate of Expectation</vt:lpstr>
      <vt:lpstr>Monte Carlo Estimate of Expectation</vt:lpstr>
      <vt:lpstr>Monte Carlo and Beyond</vt:lpstr>
      <vt:lpstr>PowerPoint Presentation</vt:lpstr>
      <vt:lpstr>PowerPoint Presentation</vt:lpstr>
      <vt:lpstr>PowerPoint Presentation</vt:lpstr>
      <vt:lpstr>Question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shusen wang</dc:creator>
  <cp:lastModifiedBy>Shusen Wang</cp:lastModifiedBy>
  <cp:revision>1302</cp:revision>
  <cp:lastPrinted>2020-11-16T01:54:22Z</cp:lastPrinted>
  <dcterms:created xsi:type="dcterms:W3CDTF">2017-08-22T04:44:10Z</dcterms:created>
  <dcterms:modified xsi:type="dcterms:W3CDTF">2021-11-15T15:15:07Z</dcterms:modified>
</cp:coreProperties>
</file>