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856" r:id="rId3"/>
    <p:sldId id="834" r:id="rId4"/>
    <p:sldId id="832" r:id="rId5"/>
    <p:sldId id="833" r:id="rId6"/>
    <p:sldId id="857" r:id="rId7"/>
    <p:sldId id="835" r:id="rId8"/>
    <p:sldId id="836" r:id="rId9"/>
    <p:sldId id="837" r:id="rId10"/>
    <p:sldId id="858" r:id="rId11"/>
    <p:sldId id="859" r:id="rId12"/>
    <p:sldId id="855" r:id="rId13"/>
    <p:sldId id="873" r:id="rId14"/>
    <p:sldId id="838" r:id="rId15"/>
    <p:sldId id="860" r:id="rId16"/>
    <p:sldId id="848" r:id="rId17"/>
    <p:sldId id="842" r:id="rId18"/>
    <p:sldId id="850" r:id="rId19"/>
    <p:sldId id="843" r:id="rId20"/>
    <p:sldId id="861" r:id="rId21"/>
    <p:sldId id="863" r:id="rId22"/>
    <p:sldId id="862" r:id="rId23"/>
    <p:sldId id="864" r:id="rId24"/>
    <p:sldId id="844" r:id="rId25"/>
    <p:sldId id="854" r:id="rId26"/>
    <p:sldId id="851" r:id="rId27"/>
    <p:sldId id="852" r:id="rId28"/>
    <p:sldId id="853" r:id="rId29"/>
    <p:sldId id="786" r:id="rId30"/>
    <p:sldId id="846" r:id="rId31"/>
    <p:sldId id="866" r:id="rId32"/>
    <p:sldId id="867" r:id="rId33"/>
    <p:sldId id="868" r:id="rId34"/>
    <p:sldId id="869" r:id="rId35"/>
    <p:sldId id="870" r:id="rId36"/>
    <p:sldId id="805" r:id="rId37"/>
    <p:sldId id="845" r:id="rId38"/>
    <p:sldId id="871" r:id="rId39"/>
    <p:sldId id="87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4FB"/>
    <a:srgbClr val="F6DCDD"/>
    <a:srgbClr val="EFBEF0"/>
    <a:srgbClr val="BD1BBD"/>
    <a:srgbClr val="F80545"/>
    <a:srgbClr val="F7F7F7"/>
    <a:srgbClr val="020C7E"/>
    <a:srgbClr val="750308"/>
    <a:srgbClr val="7F0F7E"/>
    <a:srgbClr val="BFB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1"/>
    <p:restoredTop sz="62389"/>
  </p:normalViewPr>
  <p:slideViewPr>
    <p:cSldViewPr snapToGrid="0" snapToObjects="1">
      <p:cViewPr varScale="1">
        <p:scale>
          <a:sx n="70" d="100"/>
          <a:sy n="70" d="100"/>
        </p:scale>
        <p:origin x="2848" y="192"/>
      </p:cViewPr>
      <p:guideLst/>
    </p:cSldViewPr>
  </p:slid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9C357-7F3A-6747-BE66-3881BDA4D39C}" type="datetimeFigureOut">
              <a:rPr lang="en-US" smtClean="0"/>
              <a:t>7/17/22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F8700-0BCC-BB42-8973-85E47E56B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这节课我们继续学习</a:t>
            </a:r>
            <a:r>
              <a:rPr lang="en-US" altLang="zh-CN" sz="1600" dirty="0"/>
              <a:t>multi-agent</a:t>
            </a:r>
            <a:r>
              <a:rPr lang="zh-CN" altLang="en-US" sz="1600" dirty="0"/>
              <a:t> </a:t>
            </a:r>
            <a:r>
              <a:rPr lang="en-US" altLang="zh-CN" sz="1600" dirty="0"/>
              <a:t>reinforcement</a:t>
            </a:r>
            <a:r>
              <a:rPr lang="zh-CN" altLang="en-US" sz="1600" dirty="0"/>
              <a:t> </a:t>
            </a:r>
            <a:r>
              <a:rPr lang="en-US" altLang="zh-CN" sz="1600" dirty="0"/>
              <a:t>learning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zh-CN" altLang="en-US" sz="1600" dirty="0"/>
              <a:t>上节课我们学习了</a:t>
            </a:r>
            <a:r>
              <a:rPr lang="en-US" altLang="zh-CN" sz="1600" dirty="0"/>
              <a:t>multi-agent</a:t>
            </a:r>
            <a:r>
              <a:rPr lang="zh-CN" altLang="en-US" sz="1600" dirty="0"/>
              <a:t>跟</a:t>
            </a:r>
            <a:r>
              <a:rPr lang="en-US" altLang="zh-CN" sz="1600" dirty="0"/>
              <a:t>single-agent</a:t>
            </a:r>
            <a:r>
              <a:rPr lang="zh-CN" altLang="en-US" sz="1600" dirty="0"/>
              <a:t> 两者的区别。</a:t>
            </a:r>
            <a:endParaRPr lang="en-US" altLang="zh-CN" sz="1600" dirty="0"/>
          </a:p>
          <a:p>
            <a:r>
              <a:rPr lang="zh-CN" altLang="en-US" sz="1600" dirty="0"/>
              <a:t>把</a:t>
            </a:r>
            <a:r>
              <a:rPr lang="en-US" altLang="zh-CN" sz="1600" dirty="0"/>
              <a:t>single-agent</a:t>
            </a:r>
            <a:r>
              <a:rPr lang="zh-CN" altLang="en-US" sz="1600" dirty="0"/>
              <a:t>方法  直接用在</a:t>
            </a:r>
            <a:r>
              <a:rPr lang="en-US" altLang="zh-CN" sz="1600" dirty="0"/>
              <a:t>multi-agent</a:t>
            </a:r>
            <a:r>
              <a:rPr lang="zh-CN" altLang="en-US" sz="1600" dirty="0"/>
              <a:t> 问题上  效果通常不好。</a:t>
            </a:r>
            <a:endParaRPr lang="en-US" altLang="zh-CN" sz="1600" dirty="0"/>
          </a:p>
          <a:p>
            <a:r>
              <a:rPr lang="en-US" altLang="zh-CN" sz="1600" dirty="0"/>
              <a:t>multi-agent</a:t>
            </a:r>
            <a:r>
              <a:rPr lang="zh-CN" altLang="en-US" sz="1600" dirty="0"/>
              <a:t> 问题中，一个</a:t>
            </a:r>
            <a:r>
              <a:rPr lang="en-US" altLang="zh-CN" sz="1600" dirty="0"/>
              <a:t>agent</a:t>
            </a:r>
            <a:r>
              <a:rPr lang="zh-CN" altLang="en-US" sz="1600" dirty="0"/>
              <a:t>策略和动作 会影响 其他所有</a:t>
            </a:r>
            <a:r>
              <a:rPr lang="en-US" altLang="zh-CN" sz="1600" dirty="0"/>
              <a:t>agents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/>
              <a:t>-------------------------</a:t>
            </a:r>
          </a:p>
          <a:p>
            <a:r>
              <a:rPr lang="zh-CN" altLang="en-US" sz="1600" dirty="0"/>
              <a:t>所以 </a:t>
            </a:r>
            <a:r>
              <a:rPr lang="en-US" altLang="zh-CN" sz="1600" dirty="0"/>
              <a:t>agents</a:t>
            </a:r>
            <a:r>
              <a:rPr lang="zh-CN" altLang="en-US" sz="1600" dirty="0"/>
              <a:t> 之间最好要做通信，从而共享信息。</a:t>
            </a:r>
            <a:endParaRPr lang="en-US" altLang="zh-CN" sz="1600" dirty="0"/>
          </a:p>
          <a:p>
            <a:r>
              <a:rPr lang="zh-CN" altLang="en-US" sz="1600" dirty="0"/>
              <a:t>这节课的内容是</a:t>
            </a:r>
            <a:r>
              <a:rPr lang="en-US" altLang="zh-CN" sz="1600" dirty="0"/>
              <a:t>agents</a:t>
            </a:r>
            <a:r>
              <a:rPr lang="zh-CN" altLang="en-US" sz="1600" dirty="0"/>
              <a:t>之间的通信方式，主要分为中心化和去中心化。</a:t>
            </a:r>
            <a:endParaRPr lang="en-US" altLang="zh-CN" sz="1600" dirty="0"/>
          </a:p>
          <a:p>
            <a:r>
              <a:rPr lang="en-US" altLang="zh-CN" sz="1600" dirty="0"/>
              <a:t>-------------------------</a:t>
            </a:r>
          </a:p>
          <a:p>
            <a:r>
              <a:rPr lang="zh-CN" altLang="en-US" sz="1600" dirty="0"/>
              <a:t>这节课从头到尾都要用到</a:t>
            </a:r>
            <a:r>
              <a:rPr lang="en-US" altLang="zh-CN" sz="1600" dirty="0"/>
              <a:t>Actor-Critic</a:t>
            </a:r>
            <a:r>
              <a:rPr lang="zh-CN" altLang="en-US" sz="1600" dirty="0"/>
              <a:t> </a:t>
            </a:r>
            <a:r>
              <a:rPr lang="en-US" altLang="zh-CN" sz="1600" dirty="0"/>
              <a:t>method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zh-CN" altLang="en-US" sz="1600" dirty="0"/>
              <a:t>如果不熟悉的话，请先去看一下 </a:t>
            </a:r>
            <a:r>
              <a:rPr lang="en-US" altLang="zh-CN" sz="1600" dirty="0"/>
              <a:t>Actor-Critic</a:t>
            </a:r>
            <a:r>
              <a:rPr lang="zh-CN" altLang="en-US" sz="1600" dirty="0"/>
              <a:t>  那节课的视频。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5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这节课我们学习三种常见的架构。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第一种是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fully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decentralized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，翻译成去中心化，也就是说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agents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全都是独立的个体。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每个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agent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独立跟环境交互，并且用自己的观测和奖励来更新自己的策略。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Agents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彼此不交流，不知道别人的观测和动作。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上节课我简单介绍了去中心化，并且分析了它的缺点。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第二种是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fully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centralized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，完全中心化。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所有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都把信息传送给中央控制器。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中央控制器知道所有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的观测、动作、以及奖励。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----------</a:t>
                </a: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上没有策略网络，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自己不做决策。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决策都是由中央做的，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只是执行指令。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第三种是中心化训练、去中心化执行。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各自有各自的策略网络。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训练的时候有一个中央控制器，它会收集所有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的观测、动作、以及奖励。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中央控制器帮助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训练策略网络。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----------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训练结束之后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，就不再用中央控制器。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每个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根据自己的观测，用自己的策略网络做决策，不需要跟 中央控制器 通信。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0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Multi-agent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强化学习通常假设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partial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observation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（不完全观测）。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这是因为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往往 只能观测到它局部的状态，而看不到全局的状态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把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观测到的记做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它是对 状态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的局部观测。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如果是不完全观测，那么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不等于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而且 不同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通常有不同的局部观测。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完全观测的意思是每个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都能看到全局的状态。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所以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全都等于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9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首先介绍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fully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decentralized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，翻译成去中心化。</a:t>
            </a:r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49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去中心化的意思是所有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都是独立的个体，他们之间不沟通交流。</a:t>
                </a:r>
                <a:endParaRPr lang="en-US" altLang="zh-CN" sz="1600" dirty="0"/>
              </a:p>
              <a:p>
                <a:r>
                  <a:rPr lang="zh-CN" altLang="en-US" sz="1600" dirty="0"/>
                  <a:t>每个</a:t>
                </a:r>
                <a:r>
                  <a:rPr lang="en-US" altLang="zh-CN" sz="1600" dirty="0"/>
                  <a:t>agent</a:t>
                </a:r>
                <a:r>
                  <a:rPr lang="zh-CN" altLang="en-US" sz="1600" dirty="0"/>
                  <a:t>独立跟环境交互，获取 观测值</a:t>
                </a:r>
                <a:r>
                  <a:rPr lang="en-US" altLang="zh-CN" sz="1600" dirty="0"/>
                  <a:t>o</a:t>
                </a:r>
                <a:r>
                  <a:rPr lang="zh-CN" altLang="en-US" sz="1600" dirty="0"/>
                  <a:t> 和 奖励</a:t>
                </a:r>
                <a:r>
                  <a:rPr lang="en-US" altLang="zh-CN" sz="1600" dirty="0"/>
                  <a:t>r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---------------</a:t>
                </a:r>
              </a:p>
              <a:p>
                <a:r>
                  <a:rPr lang="zh-CN" altLang="en-US" sz="1600" dirty="0"/>
                  <a:t>每个</a:t>
                </a:r>
                <a:r>
                  <a:rPr lang="en-US" altLang="zh-CN" sz="1600" dirty="0"/>
                  <a:t>agent</a:t>
                </a:r>
                <a:r>
                  <a:rPr lang="zh-CN" altLang="en-US" sz="1600" dirty="0"/>
                  <a:t>都有自己的策略网络。</a:t>
                </a:r>
                <a:endParaRPr lang="en-US" altLang="zh-CN" sz="1600" dirty="0"/>
              </a:p>
              <a:p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独立训练自己的策略网络，跟</a:t>
                </a:r>
                <a:r>
                  <a:rPr lang="en-US" altLang="zh-CN" sz="1600" dirty="0"/>
                  <a:t>single-agent</a:t>
                </a:r>
                <a:r>
                  <a:rPr lang="zh-CN" altLang="en-US" sz="1600" dirty="0"/>
                  <a:t>强化学习完全一样。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11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训练结束之后，每个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用各自的策略网络来做决策。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把观测到的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输入 策略网络，策略网络输出概率分布。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抽样得到动作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然后执行动作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--------------------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不论是训练还是执行，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之间都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没有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沟通交流。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这种去中心化的方式 本质就是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single-agent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reinforcement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learning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，而不是真正的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multi-agent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reinforcement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learning.</a:t>
                </a: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15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我们来用 去中心 实现 </a:t>
                </a:r>
                <a:r>
                  <a:rPr lang="en-US" altLang="zh-CN" sz="1600" dirty="0"/>
                  <a:t>Actor-Critic</a:t>
                </a:r>
                <a:r>
                  <a:rPr lang="zh-CN" altLang="en-US" sz="1600" dirty="0"/>
                  <a:t> 。</a:t>
                </a:r>
                <a:endParaRPr lang="en-US" altLang="zh-CN" sz="1600" dirty="0"/>
              </a:p>
              <a:p>
                <a:r>
                  <a:rPr lang="zh-CN" altLang="en-US" sz="1600" dirty="0"/>
                  <a:t>假设每个</a:t>
                </a:r>
                <a:r>
                  <a:rPr lang="en-US" altLang="zh-CN" sz="1600" dirty="0"/>
                  <a:t>agent</a:t>
                </a:r>
                <a:r>
                  <a:rPr lang="zh-CN" altLang="en-US" sz="1600" dirty="0"/>
                  <a:t>都有计算能力，比如机器人上面装有</a:t>
                </a:r>
                <a:r>
                  <a:rPr lang="en-US" altLang="zh-CN" sz="1600" dirty="0"/>
                  <a:t>CPU</a:t>
                </a:r>
                <a:r>
                  <a:rPr lang="zh-CN" altLang="en-US" sz="1600" dirty="0"/>
                  <a:t>或者</a:t>
                </a:r>
                <a:r>
                  <a:rPr lang="en-US" altLang="zh-CN" sz="1600" dirty="0"/>
                  <a:t>GPU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在每个</a:t>
                </a:r>
                <a:r>
                  <a:rPr lang="en-US" altLang="zh-CN" sz="1600" dirty="0"/>
                  <a:t>agent</a:t>
                </a:r>
                <a:r>
                  <a:rPr lang="zh-CN" altLang="en-US" sz="1600" dirty="0"/>
                  <a:t>上 部署 一个策略网络 和 一个价值网络。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</a:t>
                </a:r>
              </a:p>
              <a:p>
                <a:r>
                  <a:rPr lang="zh-CN" altLang="en-US" sz="1600" dirty="0"/>
                  <a:t>策略网络也叫做</a:t>
                </a:r>
                <a:r>
                  <a:rPr lang="en-US" altLang="zh-CN" sz="1600" dirty="0"/>
                  <a:t>actor</a:t>
                </a:r>
                <a:r>
                  <a:rPr lang="zh-CN" altLang="en-US" sz="1600" dirty="0"/>
                  <a:t>，记为函数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agent</a:t>
                </a:r>
                <a:r>
                  <a:rPr lang="zh-CN" altLang="en-US" sz="1600" dirty="0"/>
                  <a:t> 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的参数是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它把 观测值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 作为输入，可以给每个动作打分，然后按照分数抽样得到动作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</a:t>
                </a:r>
              </a:p>
              <a:p>
                <a:r>
                  <a:rPr lang="zh-CN" altLang="en-US" sz="1600" dirty="0"/>
                  <a:t>价值网络也叫做</a:t>
                </a:r>
                <a:r>
                  <a:rPr lang="en-US" altLang="zh-CN" sz="1600" dirty="0"/>
                  <a:t>critic</a:t>
                </a:r>
                <a:r>
                  <a:rPr lang="zh-CN" altLang="en-US" sz="1600" dirty="0"/>
                  <a:t>，记为函数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𝑞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agent</a:t>
                </a:r>
                <a:r>
                  <a:rPr lang="zh-CN" altLang="en-US" sz="1600" dirty="0"/>
                  <a:t> 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 的参数是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它把 观测值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 和动作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 作为输入，输出一个分数，用来 评价 动作的好坏。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这个分数 会被用来 训练策略网络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</a:t>
                </a:r>
              </a:p>
              <a:p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全都独立运行，不做通信，不会把自己的 观测和动作 告知其他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。</a:t>
                </a:r>
                <a:endParaRPr lang="en-US" sz="1600" dirty="0"/>
              </a:p>
              <a:p>
                <a:r>
                  <a:rPr lang="en-US" altLang="zh-CN" sz="1600" dirty="0"/>
                  <a:t>========================</a:t>
                </a:r>
              </a:p>
              <a:p>
                <a:r>
                  <a:rPr lang="zh-CN" altLang="en-US" sz="1600" dirty="0"/>
                  <a:t>训练策略网络和价值网络的算法跟 </a:t>
                </a:r>
                <a:r>
                  <a:rPr lang="en-US" altLang="zh-CN" sz="1600" dirty="0"/>
                  <a:t>single-agent</a:t>
                </a:r>
                <a:r>
                  <a:rPr lang="zh-CN" altLang="en-US" sz="1600" dirty="0"/>
                  <a:t>完全相同。</a:t>
                </a:r>
                <a:endParaRPr lang="en-US" altLang="zh-CN" sz="1600" dirty="0"/>
              </a:p>
              <a:p>
                <a:r>
                  <a:rPr lang="zh-CN" altLang="en-US" sz="1600" dirty="0"/>
                  <a:t>用策略梯度更新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，用</a:t>
                </a:r>
                <a:r>
                  <a:rPr lang="en-US" altLang="zh-CN" sz="1600" dirty="0"/>
                  <a:t>Td</a:t>
                </a:r>
                <a:r>
                  <a:rPr lang="zh-CN" altLang="en-US" sz="1600" dirty="0"/>
                  <a:t>算法更新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</a:t>
                </a:r>
              </a:p>
              <a:p>
                <a:r>
                  <a:rPr lang="zh-CN" altLang="en-US" sz="1600" dirty="0"/>
                  <a:t>上节课讲了，用</a:t>
                </a:r>
                <a:r>
                  <a:rPr lang="en-US" altLang="zh-CN" sz="1600" dirty="0"/>
                  <a:t>single-agent</a:t>
                </a:r>
                <a:r>
                  <a:rPr lang="zh-CN" altLang="en-US" sz="1600" dirty="0"/>
                  <a:t>方法 做 </a:t>
                </a:r>
                <a:r>
                  <a:rPr lang="en-US" altLang="zh-CN" sz="1600" dirty="0"/>
                  <a:t>multi-agent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reinforcement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learning</a:t>
                </a:r>
                <a:r>
                  <a:rPr lang="zh-CN" altLang="en-US" sz="1600" dirty="0"/>
                  <a:t>效果不好。</a:t>
                </a:r>
                <a:endParaRPr lang="en-US" altLang="zh-CN" sz="1600" dirty="0"/>
              </a:p>
              <a:p>
                <a:r>
                  <a:rPr lang="zh-CN" altLang="en-US" sz="1600" dirty="0"/>
                  <a:t>原因是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不是独立的，不该忽视 他们的 相互影响，。</a:t>
                </a: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这节课我用 </a:t>
                </a:r>
                <a:r>
                  <a:rPr lang="en-US" altLang="zh-CN" sz="1600" dirty="0" smtClean="0"/>
                  <a:t>Actor-Critic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method</a:t>
                </a:r>
                <a:r>
                  <a:rPr lang="zh-CN" altLang="en-US" sz="1600" dirty="0" smtClean="0"/>
                  <a:t>来讲解三种架构，大家应该很容易看出其中的区别。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都有计算能力，比如机器人上面装有</a:t>
                </a:r>
                <a:r>
                  <a:rPr lang="en-US" altLang="zh-CN" sz="1600" dirty="0" smtClean="0"/>
                  <a:t>CPU</a:t>
                </a:r>
                <a:r>
                  <a:rPr lang="zh-CN" altLang="en-US" sz="1600" dirty="0" smtClean="0"/>
                  <a:t>或者</a:t>
                </a:r>
                <a:r>
                  <a:rPr lang="en-US" altLang="zh-CN" sz="1600" dirty="0" smtClean="0"/>
                  <a:t>GPU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上都有自己单独的策略网络和价值网络。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:r>
                  <a:rPr lang="zh-CN" altLang="en-US" sz="1600" dirty="0" smtClean="0"/>
                  <a:t>策略网络也叫做</a:t>
                </a:r>
                <a:r>
                  <a:rPr lang="en-US" altLang="zh-CN" sz="1600" dirty="0" smtClean="0"/>
                  <a:t>actor</a:t>
                </a:r>
                <a:r>
                  <a:rPr lang="zh-CN" altLang="en-US" sz="1600" dirty="0" smtClean="0"/>
                  <a:t>，记为函数 </a:t>
                </a:r>
                <a:r>
                  <a:rPr lang="en-US" altLang="zh-CN" sz="1600" b="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</a:t>
                </a:r>
                <a:r>
                  <a:rPr lang="en-US" altLang="zh-CN" sz="1600" dirty="0" err="1" smtClean="0"/>
                  <a:t>i</a:t>
                </a:r>
                <a:r>
                  <a:rPr lang="zh-CN" altLang="en-US" sz="1600" dirty="0" smtClean="0"/>
                  <a:t> 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的参数是 </a:t>
                </a:r>
                <a:r>
                  <a:rPr lang="en-US" altLang="zh-CN" sz="1600" b="1" i="0" smtClean="0">
                    <a:latin typeface="Cambria Math" charset="0"/>
                  </a:rPr>
                  <a:t>𝛉</a:t>
                </a:r>
                <a:r>
                  <a:rPr lang="en-US" altLang="zh-CN" sz="1600" b="0" i="0" smtClean="0"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它把 观测值 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𝑜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作为输入，可以给每个动作打分，然后按照分数抽样得到动作 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𝑎^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:r>
                  <a:rPr lang="zh-CN" altLang="en-US" sz="1600" dirty="0" smtClean="0"/>
                  <a:t>策略网络也</a:t>
                </a:r>
                <a:r>
                  <a:rPr lang="zh-CN" altLang="en-US" sz="1600" dirty="0" smtClean="0"/>
                  <a:t>叫做</a:t>
                </a:r>
                <a:r>
                  <a:rPr lang="en-US" altLang="zh-CN" sz="1600" dirty="0" smtClean="0"/>
                  <a:t>critic</a:t>
                </a:r>
                <a:r>
                  <a:rPr lang="zh-CN" altLang="en-US" sz="1600" dirty="0" smtClean="0"/>
                  <a:t>，</a:t>
                </a:r>
                <a:r>
                  <a:rPr lang="zh-CN" altLang="en-US" sz="1600" dirty="0" smtClean="0"/>
                  <a:t>记为函数 </a:t>
                </a:r>
                <a:r>
                  <a:rPr lang="en-US" altLang="zh-CN" sz="1600" b="0" i="0" smtClean="0">
                    <a:latin typeface="Cambria Math" charset="0"/>
                  </a:rPr>
                  <a:t>𝑞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</a:t>
                </a:r>
                <a:r>
                  <a:rPr lang="en-US" altLang="zh-CN" sz="1600" dirty="0" err="1" smtClean="0"/>
                  <a:t>i</a:t>
                </a:r>
                <a:r>
                  <a:rPr lang="zh-CN" altLang="en-US" sz="1600" dirty="0" smtClean="0"/>
                  <a:t> 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的参数是 </a:t>
                </a:r>
                <a:r>
                  <a:rPr lang="en-US" altLang="zh-CN" sz="1600" b="1" i="0" smtClean="0">
                    <a:latin typeface="Cambria Math" charset="0"/>
                  </a:rPr>
                  <a:t>𝐰</a:t>
                </a:r>
                <a:r>
                  <a:rPr lang="en-US" altLang="zh-CN" sz="1600" b="0" i="0" smtClean="0"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它把 观测值 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𝑜^𝑖</a:t>
                </a:r>
                <a:r>
                  <a:rPr lang="zh-CN" altLang="en-US" sz="1600" dirty="0" smtClean="0"/>
                  <a:t> </a:t>
                </a:r>
                <a:r>
                  <a:rPr lang="zh-CN" altLang="en-US" sz="1600" dirty="0" smtClean="0"/>
                  <a:t>和动作 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作为</a:t>
                </a:r>
                <a:r>
                  <a:rPr lang="zh-CN" altLang="en-US" sz="1600" dirty="0" smtClean="0"/>
                  <a:t>输入</a:t>
                </a:r>
                <a:r>
                  <a:rPr lang="zh-CN" altLang="en-US" sz="1600" dirty="0" smtClean="0"/>
                  <a:t>，输出一个分数，评价动作的好坏。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这个分数会被用来训练策略网络 </a:t>
                </a:r>
                <a:r>
                  <a:rPr lang="en-US" altLang="zh-CN" sz="1600" b="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全都独立运行，不做通信，不会把自己的观测和动作 告知其他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。</a:t>
                </a:r>
                <a:endParaRPr lang="en-US" sz="1600" dirty="0" smtClean="0"/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:r>
                  <a:rPr lang="zh-CN" altLang="en-US" sz="1600" dirty="0" smtClean="0"/>
                  <a:t>训练策略网络和价值网络的算法跟 </a:t>
                </a:r>
                <a:r>
                  <a:rPr lang="en-US" altLang="zh-CN" sz="1600" dirty="0" smtClean="0"/>
                  <a:t>single-agent</a:t>
                </a:r>
                <a:r>
                  <a:rPr lang="zh-CN" altLang="en-US" sz="1600" dirty="0" smtClean="0"/>
                  <a:t>完全相同。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用策略梯度更新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1" i="0" smtClean="0">
                    <a:latin typeface="Cambria Math" charset="0"/>
                  </a:rPr>
                  <a:t>𝛉</a:t>
                </a:r>
                <a:r>
                  <a:rPr lang="en-US" altLang="zh-CN" sz="1600" b="0" i="0" smtClean="0"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，用</a:t>
                </a:r>
                <a:r>
                  <a:rPr lang="en-US" altLang="zh-CN" sz="1600" dirty="0" smtClean="0"/>
                  <a:t>Td</a:t>
                </a:r>
                <a:r>
                  <a:rPr lang="zh-CN" altLang="en-US" sz="1600" dirty="0" smtClean="0"/>
                  <a:t>算法更新 </a:t>
                </a:r>
                <a:r>
                  <a:rPr lang="en-US" altLang="zh-CN" sz="1600" b="1" i="0" smtClean="0">
                    <a:latin typeface="Cambria Math" charset="0"/>
                  </a:rPr>
                  <a:t>𝐰</a:t>
                </a:r>
                <a:r>
                  <a:rPr lang="en-US" altLang="zh-CN" sz="1600" b="0" i="0" smtClean="0"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:r>
                  <a:rPr lang="zh-CN" altLang="en-US" sz="1600" dirty="0" smtClean="0"/>
                  <a:t>上节课讲了，用</a:t>
                </a:r>
                <a:r>
                  <a:rPr lang="en-US" altLang="zh-CN" sz="1600" dirty="0" smtClean="0"/>
                  <a:t>single-agent</a:t>
                </a:r>
                <a:r>
                  <a:rPr lang="zh-CN" altLang="en-US" sz="1600" dirty="0" smtClean="0"/>
                  <a:t>的方法 做 </a:t>
                </a:r>
                <a:r>
                  <a:rPr lang="en-US" altLang="zh-CN" sz="1600" dirty="0" smtClean="0"/>
                  <a:t>multi-agent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reinforcement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learning</a:t>
                </a:r>
                <a:r>
                  <a:rPr lang="zh-CN" altLang="en-US" sz="1600" dirty="0" smtClean="0"/>
                  <a:t>效果不好。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原因是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之间会相互影响，所以单独一个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smtClean="0"/>
                  <a:t>看到的 环境</a:t>
                </a:r>
                <a:r>
                  <a:rPr lang="zh-CN" altLang="en-US" sz="1600" dirty="0" smtClean="0"/>
                  <a:t>不是稳态的。</a:t>
                </a:r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04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第二种架构是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fully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centralized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，中心化。</a:t>
            </a:r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9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有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，它们跟环境交互。</a:t>
                </a:r>
                <a:endParaRPr lang="en-US" altLang="zh-CN" sz="1600" dirty="0"/>
              </a:p>
              <a:p>
                <a:r>
                  <a:rPr lang="zh-CN" altLang="en-US" sz="1600" dirty="0"/>
                  <a:t>每个</a:t>
                </a:r>
                <a:r>
                  <a:rPr lang="en-US" altLang="zh-CN" sz="1600" dirty="0"/>
                  <a:t>agent</a:t>
                </a:r>
                <a:r>
                  <a:rPr lang="zh-CN" altLang="en-US" sz="1600" dirty="0"/>
                  <a:t>动作 都会改变环境，从而影响其他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8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上面是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central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controller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，中央控制器。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Agents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上没有策略网络，所以他们自己不能做决策，全都要听中央指挥。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-----------------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训练的时候，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agents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把自己的观测 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o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 和 奖励 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r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 向中央报告。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策略网络 全都在 中央，中央做决策。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rgbClr val="C00000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90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中央把决策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 传达到 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agent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b="0" dirty="0" err="1">
                    <a:solidFill>
                      <a:schemeClr val="tx1"/>
                    </a:solidFill>
                    <a:latin typeface="+mn-lt"/>
                  </a:rPr>
                  <a:t>i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每个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agent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 都按照 中央的指示 来做动作，跟环境交互。</a:t>
                </a:r>
                <a:endParaRPr lang="en-US" altLang="zh-CN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baseline="0" dirty="0">
                    <a:solidFill>
                      <a:schemeClr val="tx1"/>
                    </a:solidFill>
                    <a:latin typeface="+mn-lt"/>
                  </a:rPr>
                  <a:t>训练在中央做。</a:t>
                </a:r>
                <a:endParaRPr lang="en-US" altLang="zh-CN" sz="1600" b="0" baseline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中央控制器 用 所有的观测 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o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，奖励 </a:t>
                </a:r>
                <a:r>
                  <a:rPr lang="en-US" altLang="zh-CN" sz="1600" b="0" dirty="0">
                    <a:solidFill>
                      <a:schemeClr val="tx1"/>
                    </a:solidFill>
                    <a:latin typeface="+mn-lt"/>
                  </a:rPr>
                  <a:t>r</a:t>
                </a:r>
                <a:r>
                  <a:rPr lang="zh-CN" altLang="en-US" sz="1600" b="0" dirty="0">
                    <a:solidFill>
                      <a:schemeClr val="tx1"/>
                    </a:solidFill>
                    <a:latin typeface="+mn-lt"/>
                  </a:rPr>
                  <a:t>，动作</a:t>
                </a:r>
                <a:r>
                  <a:rPr lang="zh-CN" altLang="en-US" sz="1600" b="0" baseline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b="0" baseline="0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lang="zh-CN" altLang="en-US" sz="1600" b="0" baseline="0" dirty="0">
                    <a:solidFill>
                      <a:schemeClr val="tx1"/>
                    </a:solidFill>
                    <a:latin typeface="+mn-lt"/>
                  </a:rPr>
                  <a:t> 来训练 策略网络。</a:t>
                </a:r>
                <a:endParaRPr lang="en-US" altLang="zh-CN" sz="1600" b="0" baseline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0" baseline="0" dirty="0">
                    <a:solidFill>
                      <a:schemeClr val="tx1"/>
                    </a:solidFill>
                    <a:latin typeface="+mn-lt"/>
                  </a:rPr>
                  <a:t>这种训练的方式 叫做 </a:t>
                </a:r>
                <a:r>
                  <a:rPr lang="en-US" altLang="zh-CN" sz="1600" b="0" baseline="0" dirty="0">
                    <a:solidFill>
                      <a:schemeClr val="tx1"/>
                    </a:solidFill>
                    <a:latin typeface="+mn-lt"/>
                  </a:rPr>
                  <a:t>centralized</a:t>
                </a:r>
                <a:r>
                  <a:rPr lang="zh-CN" altLang="en-US" sz="1600" b="0" baseline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altLang="zh-CN" sz="1600" b="0" baseline="0" dirty="0">
                    <a:solidFill>
                      <a:schemeClr val="tx1"/>
                    </a:solidFill>
                    <a:latin typeface="+mn-lt"/>
                  </a:rPr>
                  <a:t>training</a:t>
                </a:r>
                <a:r>
                  <a:rPr lang="zh-CN" altLang="en-US" sz="1600" b="0" baseline="0" dirty="0">
                    <a:solidFill>
                      <a:schemeClr val="tx1"/>
                    </a:solidFill>
                    <a:latin typeface="+mn-lt"/>
                  </a:rPr>
                  <a:t>。</a:t>
                </a: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即使做完训练，到了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execution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的时候，也需要中央控制器。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中央控制器上训练出了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个策略网络。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他们的网络结构可以相同，但是参数可能不同。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表示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的参数。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------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策略网络的输入是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的观测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第 </a:t>
                </a:r>
                <a:r>
                  <a:rPr lang="en-US" altLang="zh-CN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个策略网络 决定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的动作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------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决策只能由中央来做，这是因为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“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策略网络”要用到所有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的观测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一个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只知道自己的观测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，没有足够的信息 来做决策。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所以 策略网络不能部署到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上，只能留在中央控制器。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53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在实际运行的时候，所有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都把自己的观测 汇报给中央，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中央根据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全局的信息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，做出决策，告诉每个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该做什么，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================================</a:t>
                </a:r>
                <a:endParaRPr lang="en-US" altLang="zh-CN" sz="1600" b="0" i="1" dirty="0">
                  <a:solidFill>
                    <a:schemeClr val="tx1"/>
                  </a:solidFill>
                  <a:latin typeface="Cambria Math" charset="0"/>
                </a:endParaRPr>
              </a:p>
              <a:p>
                <a:r>
                  <a:rPr lang="zh-CN" altLang="en-US" sz="1600" b="0" dirty="0">
                    <a:solidFill>
                      <a:schemeClr val="tx1"/>
                    </a:solidFill>
                  </a:rPr>
                  <a:t>中央 把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传达到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对应的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84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我还是拿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Actor-Critic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来讲解 中心化的架构。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把 所有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的动作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堆叠起来，记做 粗体的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把所有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的观测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堆叠起来，记做 粗体的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中央控制器知道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所有的动作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、所有的观测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、以及所有的奖励。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中央控制器上有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个策略网络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和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 价值网络，对应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==================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策略网络记做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个策略网络的结构通常相同，但是参数可能不同。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第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个策略网络的参数是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，这个网络控制第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-------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它的输入是 所有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个观测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，它的输出是 动作的 概率值。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根据输出的概率值抽样得到动作，用来 控制第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==================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价值网络记做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q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>
                    <a:solidFill>
                      <a:schemeClr val="tx1"/>
                    </a:solidFill>
                  </a:rPr>
                  <a:t>第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  价值网络的参数是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，对应 第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价值网络的输入是 所有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个观测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和 所有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个动作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第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个价值网络 评价 第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个策略网络决策的好坏。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训练完全是由 中央控制器做的。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中央知道所有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的观测、动作、以及奖励。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中央用这些信息来做训练。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用策略梯度训练策略网络。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用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Temporal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Difference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算法训练价值网络。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==================================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结束训练之后，中央控制器 用策略网络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 来做决策。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所有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个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把观测值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 汇报给 中央。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中央把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输入 第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个策略网络 ，随机抽样得到动作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然后把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传达给到 </a:t>
                </a:r>
                <a:r>
                  <a:rPr lang="en-US" altLang="zh-CN" sz="1600" baseline="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，命令它执行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 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endParaRPr lang="en-US" altLang="zh-CN" sz="1600" baseline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8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中心化的好处是知道全局的信息，可以帮助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所有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做出好的决策。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---------------------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但是中心化也有缺点。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主要的缺点是 执行的速度慢。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自己没有决策权，决策都要 等中央来做。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把 自己的观测 全都汇报给中央，然后等待 中央的指示。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中央在收集全局信息之后才会做决策。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中央告诉每个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要做什么。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把动作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发送给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决策过程需要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communication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通信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和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synchronization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同步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发送信息 需要花时间。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所有人 都要 等待最慢的人，这是同步的代价。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这中间会耽误很长时间。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中心化的系统 导致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反应很慢，无法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做到 实时的决策。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到了关键时刻，总是会慢半拍。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中心化的好处是知道全局的信息，可以帮助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所有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做出好的决策。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---------------------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但是中心化也有缺点。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主要的缺点是 执行的速度慢。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中心化的系统 要“定于一尊”。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自己没有决策权，决策都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要 等中央来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做。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自己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观测 全都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汇报给中央，然后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等待 中央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的指示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中央在收集全局信息之后 才会 做决策。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中央亲自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部署，亲自指挥，告诉每个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要做什么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把动作 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𝑎</a:t>
                </a:r>
                <a:r>
                  <a:rPr lang="en-US" altLang="zh-CN" sz="1600" i="0" smtClean="0">
                    <a:solidFill>
                      <a:schemeClr val="tx1"/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solidFill>
                      <a:schemeClr val="tx1"/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发送给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决策过程需要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communication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通信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和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synchronization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同步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发送信息 需要花时间。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所有人 都要 等待最慢的人，这是 同步的代价。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中间会耽误很长时间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中心化的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系统 导致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反应很慢，无法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做到 实时的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决策。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到了关键时刻，总是会慢半拍。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想必大家 在实际生活中 都有亲身体会。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68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第三种架构是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centralized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training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with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decentralized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execution</a:t>
            </a:r>
            <a:r>
              <a:rPr lang="zh-CN" altLang="en-US" sz="1600" b="0" baseline="0" dirty="0">
                <a:solidFill>
                  <a:schemeClr val="tx1"/>
                </a:solidFill>
                <a:latin typeface="+mn-lt"/>
              </a:rPr>
              <a:t> （中心化训练，去中心化执行）。</a:t>
            </a:r>
            <a:endParaRPr lang="en-US" altLang="zh-CN" sz="1600" b="0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altLang="zh-CN" sz="1600" b="0" baseline="0" dirty="0">
                <a:solidFill>
                  <a:schemeClr val="tx1"/>
                </a:solidFill>
                <a:latin typeface="+mn-lt"/>
              </a:rPr>
              <a:t>-----------</a:t>
            </a:r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每个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agent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都有自己的策略网络。</a:t>
            </a:r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训练的时候需要一个中央控制器，它帮助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agents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训练策略网络。</a:t>
            </a:r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----------</a:t>
            </a:r>
          </a:p>
          <a:p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结束训练之后</a:t>
            </a:r>
            <a:r>
              <a:rPr lang="zh-CN" altLang="en-US" sz="1600" b="0" baseline="0" dirty="0">
                <a:solidFill>
                  <a:schemeClr val="tx1"/>
                </a:solidFill>
                <a:latin typeface="+mn-lt"/>
              </a:rPr>
              <a:t>，就不需要中央控制器了。</a:t>
            </a:r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每个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agent</a:t>
            </a:r>
            <a:r>
              <a:rPr lang="zh-CN" altLang="en-US" sz="1600" b="0" dirty="0">
                <a:solidFill>
                  <a:schemeClr val="tx1"/>
                </a:solidFill>
                <a:latin typeface="+mn-lt"/>
              </a:rPr>
              <a:t>独立跟环境交互，用自己的策略网络、基于自己局部的观测  来做决策。</a:t>
            </a:r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16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现在比较流行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Centralized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training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with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decentralized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execution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，有很多种不同的模型。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我只介绍其中一种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actor-critic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方法。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这种方法是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2017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和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2018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年两篇论文 独立提出的。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我做了些简化，所以我这里讲的 跟两篇论文不完全一样。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每个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上面 都 单独 部署一个策略网络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，它有自己 的参数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策略网络的输入是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自己的 局部观测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每个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自己的决策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不依赖于其他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的观测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========================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中央控制器 上有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个价值网络，全都记做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q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>
                    <a:solidFill>
                      <a:schemeClr val="tx1"/>
                    </a:solidFill>
                  </a:rPr>
                  <a:t>每个价值网络 对应一个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这些价值网络的结构相同，但是参数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>
                    <a:solidFill>
                      <a:schemeClr val="tx1"/>
                    </a:solidFill>
                  </a:rPr>
                  <a:t>通常不同。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---------</a:t>
                </a:r>
              </a:p>
              <a:p>
                <a:r>
                  <a:rPr lang="zh-CN" altLang="en-US" sz="1600" baseline="0" dirty="0">
                    <a:solidFill>
                      <a:schemeClr val="tx1"/>
                    </a:solidFill>
                  </a:rPr>
                  <a:t>中央知道所有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的观测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和 动作 </a:t>
                </a:r>
                <a:r>
                  <a:rPr lang="en-US" altLang="zh-CN" sz="1600" baseline="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价值网络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q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的输入是所有的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和所有的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>
                    <a:solidFill>
                      <a:schemeClr val="tx1"/>
                    </a:solidFill>
                  </a:rPr>
                  <a:t>========================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做训练的时候，中央控制器可以看到所有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的观测、动作、以及奖励。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所以叫做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centralized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training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完成训练之后，就不再需要 中央控制器 了。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它上面的 价值网络 也都没用了。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每个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独立做决策，所以叫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decentralized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execution.</a:t>
                </a: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/>
                  <a:t>Centralized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training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with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decentralized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execution</a:t>
                </a:r>
                <a:r>
                  <a:rPr lang="zh-CN" altLang="en-US" sz="1600" baseline="0" dirty="0" smtClean="0"/>
                  <a:t> 比较流行，有很多种不同的模型。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我只介绍其中一种 </a:t>
                </a:r>
                <a:r>
                  <a:rPr lang="en-US" altLang="zh-CN" sz="1600" baseline="0" dirty="0" smtClean="0"/>
                  <a:t>actor-critic</a:t>
                </a:r>
                <a:r>
                  <a:rPr lang="zh-CN" altLang="en-US" sz="1600" baseline="0" dirty="0" smtClean="0"/>
                  <a:t>方法。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这种方法是 </a:t>
                </a:r>
                <a:r>
                  <a:rPr lang="en-US" altLang="zh-CN" sz="1600" baseline="0" dirty="0" smtClean="0"/>
                  <a:t>2017</a:t>
                </a:r>
                <a:r>
                  <a:rPr lang="zh-CN" altLang="en-US" sz="1600" baseline="0" dirty="0" smtClean="0"/>
                  <a:t>和</a:t>
                </a:r>
                <a:r>
                  <a:rPr lang="en-US" altLang="zh-CN" sz="1600" baseline="0" dirty="0" smtClean="0"/>
                  <a:t>2018</a:t>
                </a:r>
                <a:r>
                  <a:rPr lang="zh-CN" altLang="en-US" sz="1600" baseline="0" dirty="0" smtClean="0"/>
                  <a:t>年两篇论文 独立提出的。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zh-CN" altLang="en-US" sz="1600" dirty="0" smtClean="0"/>
                  <a:t>每个 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都有自己的策略网络 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，每个策略网络都有自己 的参数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="1" i="0">
                    <a:latin typeface="Cambria Math" charset="0"/>
                  </a:rPr>
                  <a:t>𝛉</a:t>
                </a:r>
                <a:r>
                  <a:rPr lang="en-US" altLang="zh-CN" sz="1600" b="1" i="0" smtClean="0">
                    <a:latin typeface="Cambria Math" charset="0"/>
                  </a:rPr>
                  <a:t>^</a:t>
                </a:r>
                <a:r>
                  <a:rPr lang="en-US" altLang="zh-CN" sz="1600" i="0"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策略网络的输入是 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自己 局部的观测 </a:t>
                </a:r>
                <a:r>
                  <a:rPr lang="en-US" altLang="zh-CN" sz="1600" b="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𝑜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的决策不依赖于其他 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 的观测。</a:t>
                </a:r>
                <a:endParaRPr lang="en-US" altLang="zh-CN" sz="1600" dirty="0" smtClean="0"/>
              </a:p>
              <a:p>
                <a:r>
                  <a:rPr lang="en-US" altLang="zh-CN" sz="1600" baseline="0" dirty="0" smtClean="0"/>
                  <a:t>========================</a:t>
                </a:r>
              </a:p>
              <a:p>
                <a:r>
                  <a:rPr lang="zh-CN" altLang="en-US" sz="1600" baseline="0" dirty="0" smtClean="0"/>
                  <a:t>中央控制器 上有 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 个价值网络，记做 </a:t>
                </a:r>
                <a:r>
                  <a:rPr lang="en-US" altLang="zh-CN" sz="1600" baseline="0" dirty="0" smtClean="0"/>
                  <a:t>q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 smtClean="0"/>
                  <a:t>每个价值网络 对应一个 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这些 </a:t>
                </a:r>
                <a:r>
                  <a:rPr lang="en-US" altLang="zh-CN" sz="1600" baseline="0" dirty="0" smtClean="0"/>
                  <a:t>q</a:t>
                </a:r>
                <a:r>
                  <a:rPr lang="zh-CN" altLang="en-US" sz="1600" baseline="0" dirty="0" smtClean="0"/>
                  <a:t> 的网络结构 相同，但是参数 </a:t>
                </a:r>
                <a:r>
                  <a:rPr lang="en-US" altLang="zh-CN" sz="1600" b="1" i="0" smtClean="0">
                    <a:latin typeface="Cambria Math" charset="0"/>
                  </a:rPr>
                  <a:t>𝐰</a:t>
                </a:r>
                <a:r>
                  <a:rPr lang="zh-CN" altLang="en-US" sz="1600" baseline="0" dirty="0" smtClean="0"/>
                  <a:t> 通常不同。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价值网络</a:t>
                </a:r>
                <a:r>
                  <a:rPr lang="en-US" altLang="zh-CN" sz="1600" dirty="0" smtClean="0"/>
                  <a:t>q</a:t>
                </a:r>
                <a:r>
                  <a:rPr lang="zh-CN" altLang="en-US" sz="1600" dirty="0" smtClean="0"/>
                  <a:t> 的输入是所有 </a:t>
                </a:r>
                <a:r>
                  <a:rPr lang="en-US" altLang="zh-CN" sz="1600" dirty="0" smtClean="0"/>
                  <a:t>o</a:t>
                </a:r>
                <a:r>
                  <a:rPr lang="zh-CN" altLang="en-US" sz="1600" dirty="0" smtClean="0"/>
                  <a:t> 和 所有的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baseline="0" dirty="0" smtClean="0"/>
                  <a:t>========================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做训练的时候，中央控制器可以看到所有 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 的观测、动作、以及奖励。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所以叫做 </a:t>
                </a:r>
                <a:r>
                  <a:rPr lang="en-US" altLang="zh-CN" sz="1600" dirty="0" smtClean="0"/>
                  <a:t>centralized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training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:r>
                  <a:rPr lang="zh-CN" altLang="en-US" sz="1600" dirty="0" smtClean="0"/>
                  <a:t>完成训练之后，就不再需要 中央控制器。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它上面的 价值网络也都没用了。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独立做决策，所以叫 </a:t>
                </a:r>
                <a:r>
                  <a:rPr lang="en-US" altLang="zh-CN" sz="1600" dirty="0" smtClean="0"/>
                  <a:t>decentralized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execution.</a:t>
                </a:r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71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系统里有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每个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上有一个策略网络，也叫做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actor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跟环境 交互。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从环境中得到 观测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和奖励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r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自己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做决策，得到动作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，然后执行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训练的时候需要 有中央控制器。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跟 中央控制器 通信。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把 动作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、观测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、奖励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r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都发送给 中央控制器。</a:t>
                </a:r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57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中央控制器有 所有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的动作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，观测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o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，奖励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r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中央控制器 要用 这些信息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训练价值网络，也就是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critic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中央控制器上 有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 价值网络，每个 价值网络 都对应一个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09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在中央控制器 上 训练价值网络 </a:t>
                </a:r>
                <a:r>
                  <a:rPr lang="en-US" altLang="zh-CN" sz="1600" dirty="0"/>
                  <a:t>q</a:t>
                </a:r>
                <a:r>
                  <a:rPr lang="zh-CN" altLang="en-US" sz="1600" dirty="0"/>
                  <a:t> 的参数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============================</a:t>
                </a:r>
              </a:p>
              <a:p>
                <a:r>
                  <a:rPr lang="zh-CN" altLang="en-US" sz="1600" dirty="0"/>
                  <a:t>更新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 要用到 </a:t>
                </a:r>
                <a:r>
                  <a:rPr lang="en-US" altLang="zh-CN" sz="1600" dirty="0"/>
                  <a:t>TD</a:t>
                </a:r>
                <a:r>
                  <a:rPr lang="zh-CN" altLang="en-US" sz="1600" dirty="0"/>
                  <a:t> 算法。</a:t>
                </a:r>
                <a:endParaRPr lang="en-US" altLang="zh-CN" sz="1600" dirty="0"/>
              </a:p>
              <a:p>
                <a:r>
                  <a:rPr lang="zh-CN" altLang="en-US" sz="1600" dirty="0"/>
                  <a:t>算法需要</a:t>
                </a:r>
                <a:r>
                  <a:rPr lang="zh-CN" altLang="en-US" sz="1600" baseline="0" dirty="0"/>
                  <a:t> 知道</a:t>
                </a:r>
                <a:r>
                  <a:rPr lang="zh-CN" altLang="en-US" sz="1600" dirty="0"/>
                  <a:t> 所有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个动作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，所有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个观测 </a:t>
                </a:r>
                <a:r>
                  <a:rPr lang="en-US" altLang="zh-CN" sz="1600" dirty="0"/>
                  <a:t>o</a:t>
                </a:r>
                <a:r>
                  <a:rPr lang="zh-CN" altLang="en-US" sz="1600" dirty="0"/>
                  <a:t>，但是只用到一个奖励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sz="1600" i="1" dirty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</a:t>
                </a:r>
              </a:p>
              <a:p>
                <a:r>
                  <a:rPr lang="zh-CN" altLang="en-US" sz="1600" dirty="0"/>
                  <a:t>有了这些信息，</a:t>
                </a:r>
                <a:r>
                  <a:rPr lang="en-US" altLang="zh-CN" sz="1600" dirty="0"/>
                  <a:t>TD</a:t>
                </a:r>
                <a:r>
                  <a:rPr lang="zh-CN" altLang="en-US" sz="1600" dirty="0"/>
                  <a:t> 算法 让“价值网络”的输出 拟合 </a:t>
                </a:r>
                <a:r>
                  <a:rPr lang="en-US" altLang="zh-CN" sz="1600" dirty="0"/>
                  <a:t>TD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target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之前</a:t>
                </a:r>
                <a:r>
                  <a:rPr lang="en-US" altLang="zh-CN" sz="1600" dirty="0"/>
                  <a:t>Actor-Critic</a:t>
                </a:r>
                <a:r>
                  <a:rPr lang="zh-CN" altLang="en-US" sz="1600" dirty="0"/>
                  <a:t>课上讲过</a:t>
                </a:r>
                <a:r>
                  <a:rPr lang="en-US" altLang="zh-CN" sz="1600" dirty="0"/>
                  <a:t>TD</a:t>
                </a:r>
                <a:r>
                  <a:rPr lang="zh-CN" altLang="en-US" sz="1600" dirty="0"/>
                  <a:t>算法，于是这里</a:t>
                </a:r>
                <a:r>
                  <a:rPr lang="zh-CN" altLang="en-US" sz="1600" baseline="0" dirty="0"/>
                  <a:t> </a:t>
                </a:r>
                <a:r>
                  <a:rPr lang="zh-CN" altLang="en-US" sz="1600" dirty="0"/>
                  <a:t>就 不再具体讲解了。</a:t>
                </a: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942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把第 </a:t>
                </a:r>
                <a:r>
                  <a:rPr lang="en-US" altLang="zh-CN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个“价值网络”的输出记做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是给 状态和动作 打的分数，评判“策略网络”表现的好坏。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把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发送给第 </a:t>
                </a:r>
                <a:r>
                  <a:rPr lang="en-US" altLang="zh-CN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，帮助训练第 </a:t>
                </a:r>
                <a:r>
                  <a:rPr lang="en-US" altLang="zh-CN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 策略网络。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策略网络也叫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actor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586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每个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训练自己的 策略网络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第 </a:t>
                </a:r>
                <a:r>
                  <a:rPr lang="en-US" altLang="zh-CN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个策略网络的参数是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用策略梯度算法 更新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策略梯度算法 需要 知道 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，以及 策略网络发来的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𝑞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但是 不需要知道  其他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的 动作和观测。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所以</a:t>
                </a:r>
                <a:r>
                  <a:rPr lang="zh-CN" altLang="en-US" sz="1600" baseline="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可以在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本地 训练策略网络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197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结束训练之后，不再需要 中央控制器。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每个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独立跟环境交互，所以叫做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decentralized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execution.</a:t>
                </a: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从局部环境中观测到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每个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都有自己的策略网络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把局部观测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作为输入，策略网络会输出 一个概率分布。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根据概率分布做抽样，得到 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>
                    <a:solidFill>
                      <a:schemeClr val="tx1"/>
                    </a:solidFill>
                  </a:rPr>
                  <a:t>=======================</a:t>
                </a: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每个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执行自己的动作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>
                    <a:solidFill>
                      <a:schemeClr val="tx1"/>
                    </a:solidFill>
                  </a:rPr>
                  <a:t>然后 环境会改变状态。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81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>
                <a:solidFill>
                  <a:schemeClr val="tx1"/>
                </a:solidFill>
              </a:rPr>
              <a:t>我已经介绍了三种架构。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最后讨论一下神经网络是否应该共享参数。</a:t>
            </a:r>
            <a:endParaRPr lang="en-US" altLang="zh-CN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996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下面我来解释 </a:t>
                </a:r>
                <a:r>
                  <a:rPr lang="en-US" altLang="zh-CN" sz="1600" dirty="0"/>
                  <a:t>parameter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sharing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(</a:t>
                </a:r>
                <a:r>
                  <a:rPr lang="zh-CN" altLang="en-US" sz="1600" dirty="0"/>
                  <a:t>共享参数</a:t>
                </a:r>
                <a:r>
                  <a:rPr lang="en-US" altLang="zh-CN" sz="1600" dirty="0"/>
                  <a:t>)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这节课我一直拿</a:t>
                </a:r>
                <a:r>
                  <a:rPr lang="en-US" altLang="zh-CN" sz="1600" dirty="0"/>
                  <a:t>Actor-Critic</a:t>
                </a:r>
                <a:r>
                  <a:rPr lang="zh-CN" altLang="en-US" sz="1600" dirty="0"/>
                  <a:t>举例。</a:t>
                </a:r>
                <a:endParaRPr lang="en-US" altLang="zh-CN" sz="1600" dirty="0"/>
              </a:p>
              <a:p>
                <a:r>
                  <a:rPr lang="zh-CN" altLang="en-US" sz="1600" dirty="0"/>
                  <a:t>系统中 一共有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个 策略网络和 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 个 价值网络。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每个神经网络都有自己的参数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 或者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第 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 和第 </a:t>
                </a:r>
                <a:r>
                  <a:rPr lang="en-US" altLang="zh-CN" sz="1600" dirty="0"/>
                  <a:t>j</a:t>
                </a:r>
                <a:r>
                  <a:rPr lang="zh-CN" altLang="en-US" sz="1600" dirty="0"/>
                  <a:t> 两个神经网络共享参数的意思是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  <m:r>
                      <a:rPr lang="en-US" altLang="zh-CN" sz="16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zh-CN" altLang="en-US" sz="1600" dirty="0"/>
                  <a:t> 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  <m:r>
                      <a:rPr lang="en-US" altLang="zh-CN" sz="16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可以让所有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 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 都共享参数，可以让一组 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 之间共享参数，也可以 完全不共享参数。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===================</a:t>
                </a:r>
              </a:p>
              <a:p>
                <a:r>
                  <a:rPr lang="zh-CN" altLang="en-US" sz="1600" dirty="0"/>
                  <a:t>请问：是否应该让神经网络共享参数呢？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039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是否共享参数 要取决于具体应用。</a:t>
                </a:r>
                <a:endParaRPr lang="en-US" altLang="zh-CN" sz="1600" dirty="0"/>
              </a:p>
              <a:p>
                <a:r>
                  <a:rPr lang="zh-CN" altLang="en-US" sz="1600" dirty="0"/>
                  <a:t>在足球机器人这个应用中，不应该共享参数。</a:t>
                </a:r>
                <a:endParaRPr lang="en-US" altLang="zh-CN" sz="1600" dirty="0"/>
              </a:p>
              <a:p>
                <a:r>
                  <a:rPr lang="zh-CN" altLang="en-US" sz="1600" dirty="0"/>
                  <a:t>机器人有的负责进攻，有的负责防守，还有一个守门。</a:t>
                </a:r>
                <a:endParaRPr lang="en-US" altLang="zh-CN" sz="1600" dirty="0"/>
              </a:p>
              <a:p>
                <a:r>
                  <a:rPr lang="zh-CN" altLang="en-US" sz="1600" dirty="0"/>
                  <a:t>每个机器人的</a:t>
                </a:r>
                <a:r>
                  <a:rPr lang="zh-CN" altLang="en-US" sz="1600" baseline="0" dirty="0"/>
                  <a:t> 功能</a:t>
                </a:r>
                <a:r>
                  <a:rPr lang="zh-CN" altLang="en-US" sz="1600" dirty="0"/>
                  <a:t>不同，所以不应该 用同样的参数。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r>
                  <a:rPr lang="en-US" altLang="zh-CN" sz="1600" dirty="0"/>
                  <a:t>Striker,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defender,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goalkeeper.</a:t>
                </a: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758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假如无人车是由策略网络控制的，那么这些无人车可以共享参数。</a:t>
                </a:r>
                <a:endParaRPr lang="en-US" altLang="zh-CN" sz="1600" dirty="0"/>
              </a:p>
              <a:p>
                <a:r>
                  <a:rPr lang="zh-CN" altLang="en-US" sz="1600" dirty="0"/>
                  <a:t>相同型号的无人车的功能都一样，可以用相同的神经网络参数。</a:t>
                </a:r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503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>
                <a:solidFill>
                  <a:schemeClr val="tx1"/>
                </a:solidFill>
              </a:rPr>
              <a:t>最后总结一下 这节课的内容。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418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这节课讲解了三种架构。</a:t>
            </a:r>
            <a:endParaRPr lang="en-US" altLang="zh-CN" sz="1600" dirty="0"/>
          </a:p>
          <a:p>
            <a:r>
              <a:rPr lang="zh-CN" altLang="en-US" sz="1600" dirty="0"/>
              <a:t>第一种是去中心化，这是最简单的。</a:t>
            </a:r>
            <a:endParaRPr lang="en-US" altLang="zh-CN" sz="1600" dirty="0"/>
          </a:p>
          <a:p>
            <a:r>
              <a:rPr lang="en-US" altLang="zh-CN" sz="1600" dirty="0"/>
              <a:t>-----------------</a:t>
            </a:r>
          </a:p>
          <a:p>
            <a:r>
              <a:rPr lang="zh-CN" altLang="en-US" sz="1600" dirty="0"/>
              <a:t>所有的</a:t>
            </a:r>
            <a:r>
              <a:rPr lang="en-US" altLang="zh-CN" sz="1600" dirty="0"/>
              <a:t>agents</a:t>
            </a:r>
            <a:r>
              <a:rPr lang="zh-CN" altLang="en-US" sz="1600" dirty="0"/>
              <a:t>都独立 跟环境交互。</a:t>
            </a:r>
            <a:endParaRPr lang="en-US" altLang="zh-CN" sz="1600" dirty="0"/>
          </a:p>
          <a:p>
            <a:r>
              <a:rPr lang="en-US" altLang="zh-CN" sz="1600" dirty="0"/>
              <a:t>Agents</a:t>
            </a:r>
            <a:r>
              <a:rPr lang="zh-CN" altLang="en-US" sz="1600" dirty="0"/>
              <a:t>之间不做通信。</a:t>
            </a:r>
            <a:endParaRPr lang="en-US" altLang="zh-CN" sz="1600" dirty="0"/>
          </a:p>
          <a:p>
            <a:r>
              <a:rPr lang="zh-CN" altLang="en-US" sz="1600" dirty="0"/>
              <a:t>一个 </a:t>
            </a:r>
            <a:r>
              <a:rPr lang="en-US" altLang="zh-CN" sz="1600" dirty="0"/>
              <a:t>agent</a:t>
            </a:r>
            <a:r>
              <a:rPr lang="zh-CN" altLang="en-US" sz="1600" dirty="0"/>
              <a:t> 不知道其他 </a:t>
            </a:r>
            <a:r>
              <a:rPr lang="en-US" altLang="zh-CN" sz="1600" dirty="0"/>
              <a:t>agents</a:t>
            </a:r>
            <a:r>
              <a:rPr lang="zh-CN" altLang="en-US" sz="1600" dirty="0"/>
              <a:t> 的观测和动作。</a:t>
            </a:r>
            <a:endParaRPr lang="en-US" altLang="zh-CN" sz="1600" dirty="0"/>
          </a:p>
          <a:p>
            <a:r>
              <a:rPr lang="en-US" altLang="zh-CN" sz="1600" dirty="0"/>
              <a:t>-----------------</a:t>
            </a:r>
          </a:p>
          <a:p>
            <a:r>
              <a:rPr lang="zh-CN" altLang="en-US" sz="1600" dirty="0"/>
              <a:t>去中心化的本质跟 </a:t>
            </a:r>
            <a:r>
              <a:rPr lang="en-US" altLang="zh-CN" sz="1600" dirty="0"/>
              <a:t>single-agent reinforcement learning </a:t>
            </a:r>
            <a:r>
              <a:rPr lang="zh-CN" altLang="en-US" sz="1600" dirty="0"/>
              <a:t>完全一样，根本不考虑 </a:t>
            </a:r>
            <a:r>
              <a:rPr lang="en-US" altLang="zh-CN" sz="1600" dirty="0"/>
              <a:t>agents</a:t>
            </a:r>
            <a:r>
              <a:rPr lang="zh-CN" altLang="en-US" sz="1600" dirty="0"/>
              <a:t> 之间的影响。</a:t>
            </a:r>
            <a:endParaRPr lang="en-US" altLang="zh-CN" sz="1600" dirty="0"/>
          </a:p>
          <a:p>
            <a:r>
              <a:rPr lang="en-US" altLang="zh-CN" sz="1600" dirty="0"/>
              <a:t>-----------------</a:t>
            </a:r>
          </a:p>
          <a:p>
            <a:r>
              <a:rPr lang="zh-CN" altLang="en-US" sz="1600" dirty="0"/>
              <a:t>去中心化通常效果不好，因为实际上 </a:t>
            </a:r>
            <a:r>
              <a:rPr lang="en-US" altLang="zh-CN" sz="1600" dirty="0"/>
              <a:t>agents</a:t>
            </a:r>
            <a:r>
              <a:rPr lang="zh-CN" altLang="en-US" sz="1600" dirty="0"/>
              <a:t> 不是独立存在的个体，他们对彼此</a:t>
            </a:r>
            <a:r>
              <a:rPr lang="zh-CN" altLang="en-US" sz="1600" baseline="0" dirty="0"/>
              <a:t>有</a:t>
            </a:r>
            <a:r>
              <a:rPr lang="zh-CN" altLang="en-US" sz="1600" dirty="0"/>
              <a:t>影响。</a:t>
            </a:r>
            <a:endParaRPr lang="en-US" altLang="zh-C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8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第二种是</a:t>
            </a:r>
            <a:r>
              <a:rPr lang="zh-CN" altLang="en-US" sz="1600" baseline="0" dirty="0"/>
              <a:t> 中心化。</a:t>
            </a:r>
            <a:endParaRPr lang="en-US" altLang="zh-CN" sz="1600" baseline="0" dirty="0"/>
          </a:p>
          <a:p>
            <a:r>
              <a:rPr lang="zh-CN" altLang="en-US" sz="1600" baseline="0" dirty="0"/>
              <a:t>有一个中央控制器。</a:t>
            </a:r>
            <a:endParaRPr lang="en-US" altLang="zh-CN" sz="1600" baseline="0" dirty="0"/>
          </a:p>
          <a:p>
            <a:r>
              <a:rPr lang="zh-CN" altLang="en-US" sz="1600" baseline="0" dirty="0"/>
              <a:t>所有的策略网络和价值网络都在中央控制器上。</a:t>
            </a:r>
            <a:endParaRPr lang="en-US" altLang="zh-CN" sz="1600" baseline="0" dirty="0"/>
          </a:p>
          <a:p>
            <a:r>
              <a:rPr lang="en-US" altLang="zh-CN" sz="1600" baseline="0" dirty="0"/>
              <a:t>------------------</a:t>
            </a:r>
          </a:p>
          <a:p>
            <a:r>
              <a:rPr lang="en-US" altLang="zh-CN" sz="1600" baseline="0" dirty="0"/>
              <a:t>Agents</a:t>
            </a:r>
            <a:r>
              <a:rPr lang="zh-CN" altLang="en-US" sz="1600" baseline="0" dirty="0"/>
              <a:t>自己不能做决策。</a:t>
            </a:r>
            <a:endParaRPr lang="en-US" altLang="zh-CN" sz="1600" baseline="0" dirty="0"/>
          </a:p>
          <a:p>
            <a:r>
              <a:rPr lang="en-US" altLang="zh-CN" sz="1600" baseline="0" dirty="0"/>
              <a:t>Agents</a:t>
            </a:r>
            <a:r>
              <a:rPr lang="zh-CN" altLang="en-US" sz="1600" baseline="0" dirty="0"/>
              <a:t>把所有的信息向中央汇报。</a:t>
            </a:r>
            <a:endParaRPr lang="en-US" altLang="zh-CN" sz="1600" baseline="0" dirty="0"/>
          </a:p>
          <a:p>
            <a:r>
              <a:rPr lang="zh-CN" altLang="en-US" sz="1600" baseline="0" dirty="0"/>
              <a:t>由中央来做决策。</a:t>
            </a:r>
            <a:endParaRPr lang="en-US" altLang="zh-CN" sz="1600" baseline="0" dirty="0"/>
          </a:p>
          <a:p>
            <a:r>
              <a:rPr lang="en-US" altLang="zh-CN" sz="1600" baseline="0" dirty="0"/>
              <a:t>------------------</a:t>
            </a:r>
          </a:p>
          <a:p>
            <a:r>
              <a:rPr lang="zh-CN" altLang="en-US" sz="1600" baseline="0" dirty="0"/>
              <a:t>中央把决策传达到每个 </a:t>
            </a:r>
            <a:r>
              <a:rPr lang="en-US" altLang="zh-CN" sz="1600" baseline="0" dirty="0"/>
              <a:t>agent</a:t>
            </a:r>
            <a:r>
              <a:rPr lang="zh-CN" altLang="en-US" sz="1600" baseline="0" dirty="0"/>
              <a:t>，告诉每个</a:t>
            </a:r>
            <a:r>
              <a:rPr lang="en-US" altLang="zh-CN" sz="1600" baseline="0" dirty="0"/>
              <a:t>agent</a:t>
            </a:r>
            <a:r>
              <a:rPr lang="zh-CN" altLang="en-US" sz="1600" baseline="0" dirty="0"/>
              <a:t>应该做什么。</a:t>
            </a:r>
            <a:endParaRPr lang="en-US" altLang="zh-CN" sz="1600" baseline="0" dirty="0"/>
          </a:p>
          <a:p>
            <a:r>
              <a:rPr lang="en-US" altLang="zh-CN" sz="1600" baseline="0" dirty="0"/>
              <a:t>------------------</a:t>
            </a:r>
          </a:p>
          <a:p>
            <a:r>
              <a:rPr lang="zh-CN" altLang="en-US" sz="1600" baseline="0" dirty="0"/>
              <a:t>从训练到执行，全都是由中央指挥。</a:t>
            </a:r>
            <a:endParaRPr lang="en-US" altLang="zh-CN" sz="1600" baseline="0" dirty="0"/>
          </a:p>
          <a:p>
            <a:r>
              <a:rPr lang="en-US" altLang="zh-CN" sz="1600" baseline="0" dirty="0"/>
              <a:t>Agents</a:t>
            </a:r>
            <a:r>
              <a:rPr lang="zh-CN" altLang="en-US" sz="1600" baseline="0" dirty="0"/>
              <a:t> 不参与训练，也不参与决策。</a:t>
            </a:r>
            <a:endParaRPr lang="en-US" altLang="zh-CN" sz="1600" baseline="0" dirty="0"/>
          </a:p>
          <a:p>
            <a:r>
              <a:rPr lang="en-US" altLang="zh-CN" sz="1600" baseline="0" dirty="0"/>
              <a:t>Agents</a:t>
            </a:r>
            <a:r>
              <a:rPr lang="zh-CN" altLang="en-US" sz="1600" baseline="0" dirty="0"/>
              <a:t>不需要自己思考，只要接收指令就行了。</a:t>
            </a:r>
            <a:endParaRPr lang="en-US" altLang="zh-CN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baseline="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9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第三种架构是 中心化训练、去中心化执行。</a:t>
            </a:r>
            <a:endParaRPr lang="en-US" altLang="zh-CN" sz="1600" dirty="0"/>
          </a:p>
          <a:p>
            <a:r>
              <a:rPr lang="zh-CN" altLang="en-US" sz="1600" dirty="0"/>
              <a:t>每个</a:t>
            </a:r>
            <a:r>
              <a:rPr lang="en-US" altLang="zh-CN" sz="1600" dirty="0"/>
              <a:t>agent</a:t>
            </a:r>
            <a:r>
              <a:rPr lang="zh-CN" altLang="en-US" sz="1600" dirty="0"/>
              <a:t>上都有自己的策略网络，可以自主做决策。</a:t>
            </a:r>
            <a:endParaRPr lang="en-US" altLang="zh-CN" sz="1600" dirty="0"/>
          </a:p>
          <a:p>
            <a:r>
              <a:rPr lang="en-US" altLang="zh-CN" sz="1600" dirty="0"/>
              <a:t>---------------------</a:t>
            </a:r>
          </a:p>
          <a:p>
            <a:r>
              <a:rPr lang="zh-CN" altLang="en-US" sz="1600" dirty="0"/>
              <a:t>策略网络</a:t>
            </a:r>
            <a:r>
              <a:rPr lang="zh-CN" altLang="en-US" sz="1600" baseline="0" dirty="0"/>
              <a:t> 在 </a:t>
            </a:r>
            <a:r>
              <a:rPr lang="en-US" altLang="zh-CN" sz="1600" baseline="0" dirty="0"/>
              <a:t>agent</a:t>
            </a:r>
            <a:r>
              <a:rPr lang="zh-CN" altLang="en-US" sz="1600" baseline="0" dirty="0"/>
              <a:t> 本地，</a:t>
            </a:r>
            <a:r>
              <a:rPr lang="zh-CN" altLang="en-US" sz="1600" dirty="0"/>
              <a:t>但是价值网络都在中央控制器上。</a:t>
            </a:r>
            <a:endParaRPr lang="en-US" altLang="zh-CN" sz="1600" dirty="0"/>
          </a:p>
          <a:p>
            <a:r>
              <a:rPr lang="zh-CN" altLang="en-US" sz="1600" dirty="0"/>
              <a:t>价值网络的作用是评价动作的好坏。</a:t>
            </a:r>
            <a:endParaRPr lang="en-US" altLang="zh-CN" sz="1600" dirty="0"/>
          </a:p>
          <a:p>
            <a:r>
              <a:rPr lang="en-US" altLang="zh-CN" sz="1600" dirty="0"/>
              <a:t>---------------------</a:t>
            </a:r>
          </a:p>
          <a:p>
            <a:r>
              <a:rPr lang="zh-CN" altLang="en-US" sz="1600" dirty="0"/>
              <a:t>训练的时候要用到中央控制器。</a:t>
            </a:r>
            <a:endParaRPr lang="en-US" altLang="zh-CN" sz="1600" dirty="0"/>
          </a:p>
          <a:p>
            <a:r>
              <a:rPr lang="zh-CN" altLang="en-US" sz="1600" dirty="0"/>
              <a:t>中央不做决策，但是会对</a:t>
            </a:r>
            <a:r>
              <a:rPr lang="en-US" altLang="zh-CN" sz="1600" dirty="0"/>
              <a:t>agents</a:t>
            </a:r>
            <a:r>
              <a:rPr lang="zh-CN" altLang="en-US" sz="1600" dirty="0"/>
              <a:t>做评价，帮助 </a:t>
            </a:r>
            <a:r>
              <a:rPr lang="en-US" altLang="zh-CN" sz="1600" dirty="0"/>
              <a:t>agents</a:t>
            </a:r>
            <a:r>
              <a:rPr lang="zh-CN" altLang="en-US" sz="1600" dirty="0"/>
              <a:t>改进</a:t>
            </a:r>
            <a:r>
              <a:rPr lang="zh-CN" altLang="en-US" sz="1600" baseline="0" dirty="0"/>
              <a:t> </a:t>
            </a:r>
            <a:r>
              <a:rPr lang="zh-CN" altLang="en-US" sz="1600" dirty="0"/>
              <a:t>策略。</a:t>
            </a:r>
            <a:endParaRPr lang="en-US" altLang="zh-CN" sz="1600" dirty="0"/>
          </a:p>
          <a:p>
            <a:r>
              <a:rPr lang="en-US" altLang="zh-CN" sz="1600" dirty="0"/>
              <a:t>---------------------</a:t>
            </a:r>
          </a:p>
          <a:p>
            <a:r>
              <a:rPr lang="zh-CN" altLang="en-US" sz="1600" dirty="0"/>
              <a:t>训练结束之后，就不再用中央控制器。</a:t>
            </a:r>
            <a:endParaRPr lang="en-US" altLang="zh-CN" sz="1600" dirty="0"/>
          </a:p>
          <a:p>
            <a:r>
              <a:rPr lang="zh-CN" altLang="en-US" sz="1600" dirty="0"/>
              <a:t>每个</a:t>
            </a:r>
            <a:r>
              <a:rPr lang="en-US" altLang="zh-CN" sz="1600" dirty="0"/>
              <a:t>agent</a:t>
            </a:r>
            <a:r>
              <a:rPr lang="zh-CN" altLang="en-US" sz="1600" dirty="0"/>
              <a:t>都独立自主做决策。</a:t>
            </a:r>
            <a:endParaRPr lang="en-US" altLang="zh-C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76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我对比一下 三种架构的 策略网络 和 价值网络。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--------------------------</a:t>
                </a:r>
              </a:p>
              <a:p>
                <a:r>
                  <a:rPr lang="zh-CN" altLang="en-US" sz="1600" dirty="0"/>
                  <a:t>第一种是 完全去中心化。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</a:t>
                </a:r>
                <a:endParaRPr lang="en-US" sz="1600" dirty="0"/>
              </a:p>
              <a:p>
                <a:r>
                  <a:rPr lang="zh-CN" altLang="en-US" sz="1600" dirty="0"/>
                  <a:t>策略网络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 的输入是自己本地的观测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</a:t>
                </a:r>
                <a:endParaRPr lang="en-US" sz="1600" dirty="0"/>
              </a:p>
              <a:p>
                <a:r>
                  <a:rPr lang="zh-CN" altLang="en-US" sz="1600" dirty="0"/>
                  <a:t>价值网络 </a:t>
                </a:r>
                <a:r>
                  <a:rPr lang="en-US" altLang="zh-CN" sz="1600" dirty="0"/>
                  <a:t>q</a:t>
                </a:r>
                <a:r>
                  <a:rPr lang="zh-CN" altLang="en-US" sz="1600" dirty="0"/>
                  <a:t> 的输入是本地的观测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 和 自己的动作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--------------------------</a:t>
                </a:r>
              </a:p>
              <a:p>
                <a:r>
                  <a:rPr lang="en-US" altLang="zh-CN" sz="1600" dirty="0"/>
                  <a:t>Agent</a:t>
                </a:r>
                <a:r>
                  <a:rPr lang="zh-CN" altLang="en-US" sz="1600" dirty="0"/>
                  <a:t>不需要知道 别人的观测和动作，所以它可以 自己 在本地 做训练。</a:t>
                </a: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我对比一下 三种架构的 策略网络 和 价值网络。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--------------------------</a:t>
                </a:r>
              </a:p>
              <a:p>
                <a:r>
                  <a:rPr lang="zh-CN" altLang="en-US" sz="1600" dirty="0" smtClean="0"/>
                  <a:t>第一种是 去中心化。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</a:t>
                </a:r>
                <a:endParaRPr lang="en-US" sz="1600" dirty="0" smtClean="0"/>
              </a:p>
              <a:p>
                <a:r>
                  <a:rPr lang="zh-CN" altLang="en-US" sz="1600" dirty="0" smtClean="0"/>
                  <a:t>策略网络 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 的输入是自己本地的观测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𝑜</a:t>
                </a:r>
                <a:r>
                  <a:rPr lang="en-US" altLang="zh-CN" sz="16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</a:t>
                </a:r>
                <a:endParaRPr lang="en-US" sz="1600" dirty="0" smtClean="0"/>
              </a:p>
              <a:p>
                <a:r>
                  <a:rPr lang="zh-CN" altLang="en-US" sz="1600" dirty="0" smtClean="0"/>
                  <a:t>价值网络 </a:t>
                </a:r>
                <a:r>
                  <a:rPr lang="en-US" altLang="zh-CN" sz="1600" dirty="0" smtClean="0"/>
                  <a:t>q</a:t>
                </a:r>
                <a:r>
                  <a:rPr lang="zh-CN" altLang="en-US" sz="1600" dirty="0" smtClean="0"/>
                  <a:t> 的输入是本地的观测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𝑜</a:t>
                </a:r>
                <a:r>
                  <a:rPr lang="en-US" altLang="zh-CN" sz="16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 和 自己的动作 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𝑎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solidFill>
                      <a:srgbClr val="FF0000"/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--------------------------</a:t>
                </a:r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不需要知道别人的观测和动作，所以它可以自己做训练。</a:t>
                </a:r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650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第二种是 完全中心化。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</a:t>
                </a:r>
              </a:p>
              <a:p>
                <a:r>
                  <a:rPr lang="zh-CN" altLang="en-US" sz="1600" dirty="0"/>
                  <a:t>策略网络 的输入是</a:t>
                </a:r>
                <a:r>
                  <a:rPr lang="zh-CN" altLang="en-US" sz="1600" baseline="0" dirty="0"/>
                  <a:t> 所有</a:t>
                </a:r>
                <a:r>
                  <a:rPr lang="en-US" altLang="zh-CN" sz="1600" baseline="0" dirty="0"/>
                  <a:t>n</a:t>
                </a:r>
                <a:r>
                  <a:rPr lang="zh-CN" altLang="en-US" sz="1600" baseline="0" dirty="0"/>
                  <a:t>个 </a:t>
                </a:r>
                <a:r>
                  <a:rPr lang="en-US" altLang="zh-CN" sz="1600" baseline="0" dirty="0"/>
                  <a:t>agents</a:t>
                </a:r>
                <a:r>
                  <a:rPr lang="zh-CN" altLang="en-US" sz="1600" baseline="0" dirty="0"/>
                  <a:t> 的观测 </a:t>
                </a:r>
                <a:r>
                  <a:rPr lang="en-US" altLang="zh-CN" sz="1600" baseline="0" dirty="0"/>
                  <a:t>o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Agent</a:t>
                </a:r>
                <a:r>
                  <a:rPr lang="zh-CN" altLang="en-US" sz="1600" dirty="0"/>
                  <a:t>没有办法在本地做决策，因为它不知道其他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的观测。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所以决策只能在中央做。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</a:t>
                </a:r>
                <a:endParaRPr lang="en-US" sz="1600" dirty="0"/>
              </a:p>
              <a:p>
                <a:r>
                  <a:rPr lang="zh-CN" altLang="en-US" sz="1600" dirty="0"/>
                  <a:t>价值网络 的输入是所有的观测 </a:t>
                </a:r>
                <a:r>
                  <a:rPr lang="en-US" altLang="zh-CN" sz="1600" dirty="0"/>
                  <a:t>o</a:t>
                </a:r>
                <a:r>
                  <a:rPr lang="zh-CN" altLang="en-US" sz="1600" dirty="0"/>
                  <a:t> 和所有的动作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Agent</a:t>
                </a:r>
                <a:r>
                  <a:rPr lang="zh-CN" altLang="en-US" sz="1600" dirty="0"/>
                  <a:t>不能在本地训练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，也不能训练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charset="0"/>
                      </a:rPr>
                      <m:t>𝑞</m:t>
                    </m:r>
                  </m:oMath>
                </a14:m>
                <a:r>
                  <a:rPr lang="zh-CN" altLang="en-US" sz="1600" dirty="0"/>
                  <a:t> ，因为它不知道 其他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的观测和动作。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所以训练只能在中央做。</a:t>
                </a:r>
                <a:endParaRPr lang="en-US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dirty="0"/>
              </a:p>
              <a:p>
                <a:endParaRPr lang="en-US" altLang="zh-CN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第二种是 中心化。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</a:t>
                </a:r>
              </a:p>
              <a:p>
                <a:r>
                  <a:rPr lang="zh-CN" altLang="en-US" sz="1600" dirty="0" smtClean="0"/>
                  <a:t>策略网络 的输入是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baseline="0" dirty="0" smtClean="0"/>
                  <a:t>所有</a:t>
                </a:r>
                <a:r>
                  <a:rPr lang="en-US" altLang="zh-CN" sz="1600" baseline="0" dirty="0" smtClean="0"/>
                  <a:t>n</a:t>
                </a:r>
                <a:r>
                  <a:rPr lang="zh-CN" altLang="en-US" sz="1600" baseline="0" dirty="0" smtClean="0"/>
                  <a:t>个 </a:t>
                </a:r>
                <a:r>
                  <a:rPr lang="en-US" altLang="zh-CN" sz="1600" baseline="0" dirty="0" smtClean="0"/>
                  <a:t>agents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baseline="0" dirty="0" smtClean="0"/>
                  <a:t>的观测 </a:t>
                </a:r>
                <a:r>
                  <a:rPr lang="en-US" altLang="zh-CN" sz="1600" baseline="0" dirty="0" smtClean="0"/>
                  <a:t>o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没有办法在本地做决策，因为它不知道其他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的观测。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所以决策只能在中央做。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</a:t>
                </a:r>
                <a:endParaRPr lang="en-US" sz="1600" dirty="0" smtClean="0"/>
              </a:p>
              <a:p>
                <a:r>
                  <a:rPr lang="zh-CN" altLang="en-US" sz="1600" dirty="0" smtClean="0"/>
                  <a:t>价值网络 的输入是所有的观测 </a:t>
                </a:r>
                <a:r>
                  <a:rPr lang="en-US" altLang="zh-CN" sz="1600" dirty="0" smtClean="0"/>
                  <a:t>o</a:t>
                </a:r>
                <a:r>
                  <a:rPr lang="zh-CN" altLang="en-US" sz="1600" dirty="0" smtClean="0"/>
                  <a:t> 和所有的动作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不能在本地训练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，也不能训练</a:t>
                </a:r>
                <a:r>
                  <a:rPr lang="en-US" altLang="zh-CN" sz="1600" b="0" i="0" dirty="0" smtClean="0">
                    <a:latin typeface="Cambria Math" charset="0"/>
                  </a:rPr>
                  <a:t>𝑞</a:t>
                </a:r>
                <a:r>
                  <a:rPr lang="zh-CN" altLang="en-US" sz="1600" dirty="0" smtClean="0"/>
                  <a:t> ，因为它不知道 其他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的观测和动作。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所以训练只能在中央做。</a:t>
                </a:r>
                <a:endParaRPr lang="en-US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600" dirty="0" smtClean="0"/>
              </a:p>
              <a:p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489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第三种是 中心化训练，去中心化执行。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</a:t>
                </a:r>
                <a:endParaRPr lang="en-US" sz="1600" dirty="0"/>
              </a:p>
              <a:p>
                <a:r>
                  <a:rPr lang="zh-CN" altLang="en-US" sz="1600" dirty="0"/>
                  <a:t>策略网络</a:t>
                </a:r>
                <a:r>
                  <a:rPr lang="zh-CN" altLang="en-US" sz="1600" baseline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/>
                  <a:t> 的输入是 </a:t>
                </a:r>
                <a:r>
                  <a:rPr lang="en-US" altLang="zh-CN" sz="1600" dirty="0"/>
                  <a:t>agent</a:t>
                </a:r>
                <a:r>
                  <a:rPr lang="zh-CN" altLang="en-US" sz="1600" dirty="0"/>
                  <a:t> 自己本地的观测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Agent</a:t>
                </a:r>
                <a:r>
                  <a:rPr lang="zh-CN" altLang="en-US" sz="1600" dirty="0"/>
                  <a:t>无需知道其他人的信息</a:t>
                </a:r>
                <a:r>
                  <a:rPr lang="zh-CN" altLang="en-US" sz="1600" baseline="0" dirty="0"/>
                  <a:t> 就能用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baseline="0" dirty="0"/>
                  <a:t> 做决策，所以可以“去中心化”执行。</a:t>
                </a:r>
                <a:endParaRPr lang="en-US" altLang="zh-CN" sz="1600" baseline="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</a:t>
                </a:r>
                <a:endParaRPr lang="en-US" sz="1600" dirty="0"/>
              </a:p>
              <a:p>
                <a:r>
                  <a:rPr lang="zh-CN" altLang="en-US" sz="1600" baseline="0" dirty="0"/>
                  <a:t>第一种和第三种架构 的 策略网络是相同的。</a:t>
                </a:r>
                <a:endParaRPr lang="en-US" altLang="zh-CN" sz="1600" baseline="0" dirty="0"/>
              </a:p>
              <a:p>
                <a:r>
                  <a:rPr lang="zh-CN" altLang="en-US" sz="1600" baseline="0" dirty="0"/>
                  <a:t>所以 两者 都可以“去中心化执行”。</a:t>
                </a:r>
                <a:endParaRPr lang="en-US" altLang="zh-CN" sz="1600" dirty="0"/>
              </a:p>
              <a:p>
                <a:r>
                  <a:rPr lang="en-US" altLang="zh-CN" sz="1600" dirty="0"/>
                  <a:t>================</a:t>
                </a:r>
                <a:endParaRPr lang="en-US" sz="1600" dirty="0"/>
              </a:p>
              <a:p>
                <a:r>
                  <a:rPr lang="zh-CN" altLang="en-US" sz="1600" dirty="0"/>
                  <a:t>价值网络 的输入是全部的观测 </a:t>
                </a:r>
                <a:r>
                  <a:rPr lang="en-US" altLang="zh-CN" sz="1600" dirty="0"/>
                  <a:t>o</a:t>
                </a:r>
                <a:r>
                  <a:rPr lang="zh-CN" altLang="en-US" sz="1600" dirty="0"/>
                  <a:t> 和全部的动作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en-US" altLang="zh-CN" sz="1600" dirty="0"/>
                  <a:t>Agent</a:t>
                </a:r>
                <a:r>
                  <a:rPr lang="zh-CN" altLang="en-US" sz="1600" baseline="0" dirty="0"/>
                  <a:t> 无法</a:t>
                </a:r>
                <a:r>
                  <a:rPr lang="zh-CN" altLang="en-US" sz="1600" dirty="0"/>
                  <a:t>在本地训练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𝑞</m:t>
                    </m:r>
                  </m:oMath>
                </a14:m>
                <a:r>
                  <a:rPr lang="zh-CN" altLang="en-US" sz="1600" dirty="0"/>
                  <a:t>，因为它不知道 其他</a:t>
                </a:r>
                <a:r>
                  <a:rPr lang="en-US" altLang="zh-CN" sz="1600" dirty="0"/>
                  <a:t>agents</a:t>
                </a:r>
                <a:r>
                  <a:rPr lang="zh-CN" altLang="en-US" sz="1600" dirty="0"/>
                  <a:t>的 观测和动作。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所以训练需要 有中央控制器。</a:t>
                </a:r>
                <a:endParaRPr lang="en-US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/>
                  <a:t>================</a:t>
                </a:r>
                <a:endParaRPr lang="en-US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/>
                  <a:t>第二种和第三种架构 的“价值网络”是相同的。</a:t>
                </a:r>
                <a:endParaRPr lang="en-US" altLang="zh-CN" sz="1600" dirty="0"/>
              </a:p>
              <a:p>
                <a:r>
                  <a:rPr lang="zh-CN" altLang="en-US" sz="1600" dirty="0"/>
                  <a:t>所以两者都需要 “中心化训练”。</a:t>
                </a: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第三种是 中心化训练，去中心化执行。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</a:t>
                </a:r>
                <a:endParaRPr lang="en-US" sz="1600" dirty="0" smtClean="0"/>
              </a:p>
              <a:p>
                <a:r>
                  <a:rPr lang="zh-CN" altLang="en-US" sz="1600" dirty="0" smtClean="0"/>
                  <a:t>策略网络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zh-CN" altLang="en-US" sz="1600" dirty="0" smtClean="0"/>
                  <a:t> 的</a:t>
                </a:r>
                <a:r>
                  <a:rPr lang="zh-CN" altLang="en-US" sz="1600" dirty="0" smtClean="0"/>
                  <a:t>输入是 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自己本地的观测 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𝑜</a:t>
                </a:r>
                <a:r>
                  <a:rPr lang="en-US" altLang="zh-CN" sz="1600" i="0" smtClean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^</a:t>
                </a:r>
                <a:r>
                  <a:rPr lang="en-US" altLang="zh-CN" sz="1600" i="0">
                    <a:solidFill>
                      <a:schemeClr val="accent6">
                        <a:lumMod val="75000"/>
                      </a:schemeClr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无需知道其他人的信息</a:t>
                </a:r>
                <a:r>
                  <a:rPr lang="zh-CN" altLang="en-US" sz="1600" baseline="0" dirty="0" smtClean="0"/>
                  <a:t> 就能用 </a:t>
                </a:r>
                <a:r>
                  <a:rPr lang="en-US" altLang="zh-CN" sz="1600" i="0" smtClean="0">
                    <a:latin typeface="Cambria Math" charset="0"/>
                  </a:rPr>
                  <a:t>𝜋</a:t>
                </a:r>
                <a:r>
                  <a:rPr lang="zh-CN" altLang="en-US" sz="1600" baseline="0" dirty="0" smtClean="0"/>
                  <a:t> 做决策，所以</a:t>
                </a:r>
                <a:r>
                  <a:rPr lang="zh-CN" altLang="en-US" sz="1600" baseline="0" dirty="0" smtClean="0"/>
                  <a:t>可以中心化执行。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</a:t>
                </a:r>
                <a:endParaRPr lang="en-US" sz="1600" dirty="0" smtClean="0"/>
              </a:p>
              <a:p>
                <a:r>
                  <a:rPr lang="zh-CN" altLang="en-US" sz="1600" baseline="0" dirty="0" smtClean="0"/>
                  <a:t>第一种和第三种架构 的 策略网络是相同的。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所以都是去中心化执行。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</a:t>
                </a:r>
                <a:endParaRPr lang="en-US" sz="1600" dirty="0" smtClean="0"/>
              </a:p>
              <a:p>
                <a:r>
                  <a:rPr lang="zh-CN" altLang="en-US" sz="1600" dirty="0" smtClean="0"/>
                  <a:t>价值网络 的输入是所有的观测 </a:t>
                </a:r>
                <a:r>
                  <a:rPr lang="en-US" altLang="zh-CN" sz="1600" dirty="0" smtClean="0"/>
                  <a:t>o</a:t>
                </a:r>
                <a:r>
                  <a:rPr lang="zh-CN" altLang="en-US" sz="1600" dirty="0" smtClean="0"/>
                  <a:t> 和所有的动作 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Agent</a:t>
                </a:r>
                <a:r>
                  <a:rPr lang="zh-CN" altLang="en-US" sz="1600" baseline="0" dirty="0" smtClean="0"/>
                  <a:t> 无法</a:t>
                </a:r>
                <a:r>
                  <a:rPr lang="zh-CN" altLang="en-US" sz="1600" dirty="0" smtClean="0"/>
                  <a:t>在</a:t>
                </a:r>
                <a:r>
                  <a:rPr lang="zh-CN" altLang="en-US" sz="1600" dirty="0" smtClean="0"/>
                  <a:t>本地训练</a:t>
                </a:r>
                <a:r>
                  <a:rPr lang="en-US" altLang="zh-CN" sz="1600" b="0" i="0" smtClean="0">
                    <a:latin typeface="Cambria Math" charset="0"/>
                  </a:rPr>
                  <a:t>𝑞</a:t>
                </a:r>
                <a:r>
                  <a:rPr lang="zh-CN" altLang="en-US" sz="1600" dirty="0" smtClean="0"/>
                  <a:t>，</a:t>
                </a:r>
                <a:r>
                  <a:rPr lang="zh-CN" altLang="en-US" sz="1600" dirty="0" smtClean="0"/>
                  <a:t>因为它不知道 其他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的观测和动作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所以训练需要 有中央控制器。</a:t>
                </a:r>
                <a:endParaRPr lang="en-US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</a:t>
                </a:r>
                <a:endParaRPr lang="en-US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 smtClean="0"/>
                  <a:t>第二种和第三种架构 的 价值网络是相同的。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所以两者都需要 中心化训练。</a:t>
                </a:r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396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这节课的内容就到这里，感谢大家观看。</a:t>
            </a:r>
            <a:endParaRPr lang="en-US" altLang="zh-CN" sz="1600" dirty="0"/>
          </a:p>
          <a:p>
            <a:r>
              <a:rPr lang="zh-CN" altLang="en-US" sz="1600" dirty="0"/>
              <a:t>课件和相关信息 在视频下面的信息区。</a:t>
            </a:r>
            <a:endParaRPr lang="en-US" altLang="zh-C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698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我推荐几篇比较新的综述论文，有兴趣的话可以自己阅读。</a:t>
            </a:r>
            <a:endParaRPr lang="en-US" altLang="zh-CN" sz="1600" dirty="0"/>
          </a:p>
          <a:p>
            <a:r>
              <a:rPr lang="zh-CN" altLang="en-US" sz="1600" dirty="0"/>
              <a:t>我最喜欢的是前两篇，文章写得非常清楚。</a:t>
            </a:r>
            <a:endParaRPr lang="en-US" altLang="zh-C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655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中心化的好处是知道全局的信息，可以做出更好的决策。</a:t>
                </a:r>
                <a:endParaRPr lang="en-US" altLang="zh-CN" sz="1600" dirty="0"/>
              </a:p>
              <a:p>
                <a:r>
                  <a:rPr lang="zh-CN" altLang="en-US" sz="1600" dirty="0"/>
                  <a:t>中央的决策会兼顾全局，最大化整体的回报。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---------------------</a:t>
                </a:r>
              </a:p>
              <a:p>
                <a:r>
                  <a:rPr lang="zh-CN" altLang="en-US" sz="1600" dirty="0"/>
                  <a:t>但是中心化也有缺点。</a:t>
                </a:r>
                <a:endParaRPr lang="en-US" altLang="zh-CN" sz="1600" dirty="0"/>
              </a:p>
              <a:p>
                <a:r>
                  <a:rPr lang="zh-CN" altLang="en-US" sz="1600" dirty="0"/>
                  <a:t>第一个缺点是 训练比较困难。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---------------------</a:t>
                </a:r>
              </a:p>
              <a:p>
                <a:r>
                  <a:rPr lang="zh-CN" altLang="en-US" sz="1600" dirty="0"/>
                  <a:t>把第 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 个 </a:t>
                </a:r>
                <a:r>
                  <a:rPr lang="en-US" altLang="zh-CN" sz="1600" dirty="0"/>
                  <a:t>agent</a:t>
                </a:r>
                <a:r>
                  <a:rPr lang="zh-CN" altLang="en-US" sz="1600" dirty="0"/>
                  <a:t> 的动作空间记做 集合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𝒜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/>
                  <a:t>所有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个动作空间的 笛卡尔积 记做 集合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en-US" sz="1600" dirty="0"/>
                  <a:t>它是</a:t>
                </a:r>
                <a:r>
                  <a:rPr lang="zh-CN" altLang="en-US" sz="1600" baseline="0" dirty="0"/>
                  <a:t> </a:t>
                </a:r>
                <a:r>
                  <a:rPr lang="zh-CN" altLang="en-US" sz="1600" dirty="0"/>
                  <a:t>中央控制器的 动作空间。</a:t>
                </a:r>
                <a:endParaRPr lang="en-US" altLang="zh-CN" sz="1600" dirty="0"/>
              </a:p>
              <a:p>
                <a:r>
                  <a:rPr lang="zh-CN" altLang="en-US" sz="1600" dirty="0"/>
                  <a:t>笛卡尔积会让动作空间 指数倍增长。</a:t>
                </a:r>
                <a:endParaRPr lang="en-US" altLang="zh-CN" sz="1600" dirty="0"/>
              </a:p>
              <a:p>
                <a:r>
                  <a:rPr lang="en-US" altLang="zh-CN" sz="1600" dirty="0"/>
                  <a:t>---------------------</a:t>
                </a:r>
              </a:p>
              <a:p>
                <a:r>
                  <a:rPr lang="zh-CN" altLang="en-US" sz="1600" dirty="0"/>
                  <a:t>动作空间越大，越难训练策略网络和价值网络，也就是说收敛会越慢。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中心化的好处是知道全局的信息，可以做出更好的决策。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中央的决策会兼顾全局，最大化整体的回报。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---------------------</a:t>
                </a:r>
              </a:p>
              <a:p>
                <a:r>
                  <a:rPr lang="zh-CN" altLang="en-US" sz="1600" dirty="0" smtClean="0"/>
                  <a:t>但是中心化也有缺点。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第一个缺点是 训练比较困难。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---------------------</a:t>
                </a:r>
              </a:p>
              <a:p>
                <a:r>
                  <a:rPr lang="zh-CN" altLang="en-US" sz="1600" dirty="0" smtClean="0"/>
                  <a:t>把第 </a:t>
                </a:r>
                <a:r>
                  <a:rPr lang="en-US" altLang="zh-CN" sz="1600" dirty="0" err="1" smtClean="0"/>
                  <a:t>i</a:t>
                </a:r>
                <a:r>
                  <a:rPr lang="zh-CN" altLang="en-US" sz="1600" dirty="0" smtClean="0"/>
                  <a:t> 个 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的动作空间记做 集合 </a:t>
                </a:r>
                <a:r>
                  <a:rPr lang="en-US" altLang="zh-CN" sz="1600" i="0" smtClean="0">
                    <a:solidFill>
                      <a:srgbClr val="FF0000"/>
                    </a:solidFill>
                    <a:latin typeface="Cambria Math" charset="0"/>
                  </a:rPr>
                  <a:t>𝒜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^</a:t>
                </a:r>
                <a:r>
                  <a:rPr lang="en-US" altLang="zh-CN" sz="1600" b="0" i="0" smtClean="0">
                    <a:solidFill>
                      <a:srgbClr val="FF0000"/>
                    </a:solidFill>
                    <a:latin typeface="Cambria Math" charset="0"/>
                  </a:rPr>
                  <a:t>𝑖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所有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个动作空间的 笛卡尔积 记做 集合</a:t>
                </a:r>
                <a:r>
                  <a:rPr lang="en-US" altLang="zh-CN" sz="1600" dirty="0" smtClean="0"/>
                  <a:t>A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它是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中央控制器的 动作空间。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笛卡尔积会让动作空间 指数倍增长。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---------------------</a:t>
                </a:r>
              </a:p>
              <a:p>
                <a:r>
                  <a:rPr lang="zh-CN" altLang="en-US" sz="1600" dirty="0" smtClean="0"/>
                  <a:t>动作空间越大，越难训练策略网络和价值网络，也就是说收敛会越慢。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17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0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6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5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1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5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7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1BEC6-6A63-824C-87BE-D4DB4459AFC0}" type="datetimeFigureOut">
              <a:rPr lang="en-US" smtClean="0"/>
              <a:t>7/17/22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3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8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60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8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60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32.png"/><Relationship Id="rId3" Type="http://schemas.openxmlformats.org/officeDocument/2006/relationships/image" Target="../media/image400.png"/><Relationship Id="rId7" Type="http://schemas.openxmlformats.org/officeDocument/2006/relationships/image" Target="../media/image48.png"/><Relationship Id="rId12" Type="http://schemas.openxmlformats.org/officeDocument/2006/relationships/image" Target="../media/image310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11" Type="http://schemas.openxmlformats.org/officeDocument/2006/relationships/image" Target="../media/image330.png"/><Relationship Id="rId5" Type="http://schemas.openxmlformats.org/officeDocument/2006/relationships/image" Target="../media/image420.png"/><Relationship Id="rId15" Type="http://schemas.openxmlformats.org/officeDocument/2006/relationships/image" Target="../media/image45.png"/><Relationship Id="rId4" Type="http://schemas.openxmlformats.org/officeDocument/2006/relationships/image" Target="../media/image410.png"/><Relationship Id="rId14" Type="http://schemas.openxmlformats.org/officeDocument/2006/relationships/image" Target="../media/image4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9106" y="1179513"/>
            <a:ext cx="11377612" cy="1963737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latin typeface="Lucida Bright" charset="0"/>
                <a:ea typeface="Lucida Bright" charset="0"/>
                <a:cs typeface="Lucida Bright" charset="0"/>
              </a:rPr>
              <a:t>Multi-Agent</a:t>
            </a:r>
            <a:r>
              <a:rPr lang="zh-CN" altLang="en-US" sz="4400" b="1" dirty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>
                <a:latin typeface="Lucida Bright" charset="0"/>
                <a:ea typeface="Lucida Bright" charset="0"/>
                <a:cs typeface="Lucida Bright" charset="0"/>
              </a:rPr>
              <a:t>Reinforcement</a:t>
            </a:r>
            <a:r>
              <a:rPr lang="zh-CN" altLang="en-US" sz="4400" b="1" dirty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>
                <a:latin typeface="Lucida Bright" charset="0"/>
                <a:ea typeface="Lucida Bright" charset="0"/>
                <a:cs typeface="Lucida Bright" charset="0"/>
              </a:rPr>
              <a:t>Learning:</a:t>
            </a:r>
            <a:r>
              <a:rPr lang="zh-CN" altLang="en-US" sz="4400" b="1" dirty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>
                <a:latin typeface="Lucida Bright" charset="0"/>
                <a:ea typeface="Lucida Bright" charset="0"/>
                <a:cs typeface="Lucida Bright" charset="0"/>
              </a:rPr>
              <a:t>Centralized VS Decentralized</a:t>
            </a:r>
            <a:endParaRPr lang="en-US" sz="4400" b="1" dirty="0"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883944" y="4268789"/>
            <a:ext cx="254793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Lucida Bright" charset="0"/>
                <a:ea typeface="Lucida Bright" charset="0"/>
                <a:cs typeface="Lucida Bright" charset="0"/>
              </a:rPr>
              <a:t>Shusen</a:t>
            </a:r>
            <a:r>
              <a:rPr lang="zh-CN" altLang="en-US" b="1" dirty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b="1" dirty="0">
                <a:latin typeface="Lucida Bright" charset="0"/>
                <a:ea typeface="Lucida Bright" charset="0"/>
                <a:cs typeface="Lucida Bright" charset="0"/>
              </a:rPr>
              <a:t>Wang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11143" y="6457890"/>
            <a:ext cx="4493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http://wangshusen.github.io/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574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031" y="1422913"/>
            <a:ext cx="9709937" cy="443344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b="1" dirty="0">
                <a:solidFill>
                  <a:srgbClr val="C00000"/>
                </a:solidFill>
              </a:rPr>
              <a:t>Fully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decentralized: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Every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uses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own</a:t>
            </a:r>
            <a:r>
              <a:rPr lang="zh-CN" altLang="en-US" dirty="0"/>
              <a:t> </a:t>
            </a:r>
            <a:r>
              <a:rPr lang="en-US" altLang="zh-CN" dirty="0"/>
              <a:t>observations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rewards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policy.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communicate.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b="1" dirty="0">
                <a:solidFill>
                  <a:srgbClr val="C00000"/>
                </a:solidFill>
              </a:rPr>
              <a:t>Fully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centralized: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  <a:r>
              <a:rPr lang="zh-CN" altLang="en-US" dirty="0"/>
              <a:t> </a:t>
            </a:r>
            <a:r>
              <a:rPr lang="en-US" altLang="zh-CN" dirty="0"/>
              <a:t>send</a:t>
            </a:r>
            <a:r>
              <a:rPr lang="zh-CN" altLang="en-US" dirty="0"/>
              <a:t> </a:t>
            </a:r>
            <a:r>
              <a:rPr lang="en-US" altLang="zh-CN" dirty="0"/>
              <a:t>everything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central</a:t>
            </a:r>
            <a:r>
              <a:rPr lang="zh-CN" altLang="en-US" dirty="0"/>
              <a:t> </a:t>
            </a:r>
            <a:r>
              <a:rPr lang="en-US" altLang="zh-CN" dirty="0"/>
              <a:t>controller.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controller</a:t>
            </a:r>
            <a:r>
              <a:rPr lang="zh-CN" altLang="en-US" dirty="0"/>
              <a:t> </a:t>
            </a:r>
            <a:r>
              <a:rPr lang="en-US" altLang="zh-CN" dirty="0"/>
              <a:t>makes</a:t>
            </a:r>
            <a:r>
              <a:rPr lang="zh-CN" altLang="en-US" dirty="0"/>
              <a:t> </a:t>
            </a:r>
            <a:r>
              <a:rPr lang="en-US" altLang="zh-CN" dirty="0"/>
              <a:t>decisions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agents.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b="1" dirty="0">
                <a:solidFill>
                  <a:srgbClr val="C00000"/>
                </a:solidFill>
              </a:rPr>
              <a:t>Centralized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training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with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decentralized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execution: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central</a:t>
            </a:r>
            <a:r>
              <a:rPr lang="zh-CN" altLang="en-US" dirty="0"/>
              <a:t> </a:t>
            </a:r>
            <a:r>
              <a:rPr lang="en-US" altLang="zh-CN" dirty="0"/>
              <a:t>controller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during</a:t>
            </a:r>
            <a:r>
              <a:rPr lang="zh-CN" altLang="en-US" dirty="0"/>
              <a:t> </a:t>
            </a:r>
            <a:r>
              <a:rPr lang="en-US" altLang="zh-CN" dirty="0"/>
              <a:t>training.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controller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disabled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training.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Architectures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97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55908" y="1655669"/>
                <a:ext cx="9080184" cy="4433444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knowledge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agent’s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observation.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Partial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observation: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≠</m:t>
                    </m:r>
                    <m:r>
                      <a:rPr lang="en-US" altLang="zh-CN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Full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observation:</a:t>
                </a:r>
                <a:r>
                  <a:rPr lang="zh-CN" altLang="en-US" dirty="0"/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=⋯=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5908" y="1655669"/>
                <a:ext cx="9080184" cy="4433444"/>
              </a:xfrm>
              <a:blipFill rotWithShape="0">
                <a:blip r:embed="rId3"/>
                <a:stretch>
                  <a:fillRect l="-1208" t="-2338" r="-2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Partial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Observations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2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Decentralized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66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Decentralized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8674" y="5088770"/>
            <a:ext cx="9854652" cy="87066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36858" y="3491263"/>
                <a:ext cx="11101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𝑜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,</m:t>
                      </m:r>
                      <m:r>
                        <a:rPr lang="zh-CN" altLang="en-US" sz="28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58" y="3491263"/>
                <a:ext cx="1110112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1962538" y="2690812"/>
            <a:ext cx="3422" cy="2397958"/>
          </a:xfrm>
          <a:prstGeom prst="line">
            <a:avLst/>
          </a:prstGeom>
          <a:ln w="57150"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415582" y="3491263"/>
                <a:ext cx="6350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582" y="3491263"/>
                <a:ext cx="635046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2236858" y="2690812"/>
            <a:ext cx="3422" cy="2397958"/>
          </a:xfrm>
          <a:prstGeom prst="line">
            <a:avLst/>
          </a:prstGeom>
          <a:ln w="57150">
            <a:solidFill>
              <a:schemeClr val="tx2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68674" y="177442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269618" y="3491263"/>
                <a:ext cx="11178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𝑜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latin typeface="Cambria Math" charset="0"/>
                        </a:rPr>
                        <m:t>,</m:t>
                      </m:r>
                      <m:r>
                        <a:rPr lang="zh-CN" altLang="en-US" sz="2800" i="1" dirty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618" y="3491263"/>
                <a:ext cx="1117805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>
            <a:off x="4995298" y="2690812"/>
            <a:ext cx="3422" cy="2397958"/>
          </a:xfrm>
          <a:prstGeom prst="line">
            <a:avLst/>
          </a:prstGeom>
          <a:ln w="57150"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417862" y="3491263"/>
                <a:ext cx="6427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862" y="3491263"/>
                <a:ext cx="64274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5269618" y="2690812"/>
            <a:ext cx="3422" cy="2397958"/>
          </a:xfrm>
          <a:prstGeom prst="line">
            <a:avLst/>
          </a:prstGeom>
          <a:ln w="57150">
            <a:solidFill>
              <a:schemeClr val="tx2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01434" y="177442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198628" y="3491263"/>
                <a:ext cx="11697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𝑜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800" i="1" dirty="0">
                          <a:latin typeface="Cambria Math" charset="0"/>
                        </a:rPr>
                        <m:t>,</m:t>
                      </m:r>
                      <m:r>
                        <a:rPr lang="zh-CN" altLang="en-US" sz="2800" i="1" dirty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628" y="3491263"/>
                <a:ext cx="1169743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9924308" y="2690812"/>
            <a:ext cx="3422" cy="2397958"/>
          </a:xfrm>
          <a:prstGeom prst="line">
            <a:avLst/>
          </a:prstGeom>
          <a:ln w="57150"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331632" y="3491263"/>
                <a:ext cx="6648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632" y="3491263"/>
                <a:ext cx="66486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10198628" y="2690812"/>
            <a:ext cx="3422" cy="2397958"/>
          </a:xfrm>
          <a:prstGeom prst="line">
            <a:avLst/>
          </a:prstGeom>
          <a:ln w="57150">
            <a:solidFill>
              <a:schemeClr val="tx2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30444" y="177442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07007" y="1878826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07" y="1878826"/>
                <a:ext cx="666849" cy="73866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94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Decentralized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Execution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8674" y="5088770"/>
            <a:ext cx="9854652" cy="87066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8674" y="177442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01434" y="177442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415582" y="2690812"/>
            <a:ext cx="8580911" cy="2397958"/>
            <a:chOff x="1415582" y="2524562"/>
            <a:chExt cx="8580911" cy="2397958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962538" y="2524562"/>
              <a:ext cx="3422" cy="2397958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415582" y="3325013"/>
                  <a:ext cx="63504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582" y="3325013"/>
                  <a:ext cx="635046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/>
            <p:cNvCxnSpPr/>
            <p:nvPr/>
          </p:nvCxnSpPr>
          <p:spPr>
            <a:xfrm>
              <a:off x="4995298" y="2524562"/>
              <a:ext cx="3422" cy="2397958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417862" y="3325013"/>
                  <a:ext cx="64274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862" y="3325013"/>
                  <a:ext cx="642740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/>
            <p:cNvCxnSpPr/>
            <p:nvPr/>
          </p:nvCxnSpPr>
          <p:spPr>
            <a:xfrm>
              <a:off x="9924308" y="2524562"/>
              <a:ext cx="3422" cy="2397958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9331632" y="3325013"/>
                  <a:ext cx="66486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632" y="3325013"/>
                  <a:ext cx="664861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/>
          <p:cNvGrpSpPr/>
          <p:nvPr/>
        </p:nvGrpSpPr>
        <p:grpSpPr>
          <a:xfrm>
            <a:off x="2236858" y="2690812"/>
            <a:ext cx="8619642" cy="2397958"/>
            <a:chOff x="2236858" y="2524562"/>
            <a:chExt cx="8619642" cy="23979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236858" y="3325013"/>
                  <a:ext cx="62805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6858" y="3325013"/>
                  <a:ext cx="628056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/>
            <p:cNvCxnSpPr/>
            <p:nvPr/>
          </p:nvCxnSpPr>
          <p:spPr>
            <a:xfrm>
              <a:off x="2236858" y="2524562"/>
              <a:ext cx="3422" cy="2397958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269618" y="3325013"/>
                  <a:ext cx="63575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9618" y="3325013"/>
                  <a:ext cx="635750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/>
            <p:cNvCxnSpPr/>
            <p:nvPr/>
          </p:nvCxnSpPr>
          <p:spPr>
            <a:xfrm>
              <a:off x="5269618" y="2524562"/>
              <a:ext cx="3422" cy="2397958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0198628" y="3325013"/>
                  <a:ext cx="65787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8628" y="3325013"/>
                  <a:ext cx="657872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/>
            <p:cNvCxnSpPr/>
            <p:nvPr/>
          </p:nvCxnSpPr>
          <p:spPr>
            <a:xfrm>
              <a:off x="10198628" y="2524562"/>
              <a:ext cx="3422" cy="2397958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ounded Rectangle 23"/>
          <p:cNvSpPr/>
          <p:nvPr/>
        </p:nvSpPr>
        <p:spPr>
          <a:xfrm>
            <a:off x="9130444" y="177442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07007" y="1878826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07" y="1878826"/>
                <a:ext cx="666849" cy="73866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808528" y="1193562"/>
            <a:ext cx="10579000" cy="524164"/>
            <a:chOff x="808528" y="1027312"/>
            <a:chExt cx="10579000" cy="5241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808528" y="1027312"/>
                  <a:ext cx="27569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~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⋅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𝑜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0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528" y="1027312"/>
                  <a:ext cx="2756909" cy="52322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3769420" y="1028256"/>
                  <a:ext cx="27569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~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⋅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𝑜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0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9420" y="1028256"/>
                  <a:ext cx="2756909" cy="523220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8545853" y="1027312"/>
                  <a:ext cx="284167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~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⋅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𝑜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0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5853" y="1027312"/>
                  <a:ext cx="2841675" cy="523220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195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Decentralized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Actor-Critic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Method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3950" y="1386840"/>
                <a:ext cx="9944100" cy="457200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(actor):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(critic):</a:t>
                </a:r>
                <a:r>
                  <a:rPr lang="zh-CN" altLang="en-US" dirty="0"/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𝑞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latin typeface="Cambria Math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Agents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share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observations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actions.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Train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way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single-agent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setting.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This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does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work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well.</a:t>
                </a:r>
                <a:endParaRPr lang="en-US" dirty="0"/>
              </a:p>
            </p:txBody>
          </p:sp>
        </mc:Choice>
        <mc:Fallback xmlns="">
          <p:sp>
            <p:nvSpPr>
              <p:cNvPr id="1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3950" y="1386840"/>
                <a:ext cx="9944100" cy="4572000"/>
              </a:xfrm>
              <a:blipFill rotWithShape="0">
                <a:blip r:embed="rId3"/>
                <a:stretch>
                  <a:fillRect l="-1103" t="-1600" r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7877908" y="1934308"/>
            <a:ext cx="1688123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877908" y="2596662"/>
            <a:ext cx="1688123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26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11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168674" y="5527865"/>
            <a:ext cx="9854652" cy="6027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867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46051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13044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/>
          <p:cNvCxnSpPr/>
          <p:nvPr/>
        </p:nvCxnSpPr>
        <p:spPr>
          <a:xfrm>
            <a:off x="2115115" y="4411975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39401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008078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04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8674" y="5527865"/>
            <a:ext cx="9854652" cy="6027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867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6051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13044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ounded Rectangle 38"/>
          <p:cNvSpPr/>
          <p:nvPr/>
        </p:nvSpPr>
        <p:spPr>
          <a:xfrm>
            <a:off x="3535337" y="1716762"/>
            <a:ext cx="5117957" cy="6583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Central</a:t>
            </a:r>
            <a:r>
              <a:rPr lang="zh-CN" alt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Controller</a:t>
            </a:r>
            <a:endParaRPr lang="en-US" sz="32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407920" y="2266505"/>
            <a:ext cx="8226901" cy="1414986"/>
            <a:chOff x="2407920" y="2090655"/>
            <a:chExt cx="8226901" cy="1414986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2407920" y="2168764"/>
              <a:ext cx="1332116" cy="1336004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515469" y="2199244"/>
              <a:ext cx="16651" cy="1306397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8626798" y="2090655"/>
              <a:ext cx="1354455" cy="1414113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3107276" y="2503301"/>
                  <a:ext cx="11101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276" y="2503301"/>
                  <a:ext cx="1110112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5506049" y="2502308"/>
                  <a:ext cx="112550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6049" y="2502308"/>
                  <a:ext cx="1125501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9465078" y="2657144"/>
                  <a:ext cx="116974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5078" y="2657144"/>
                  <a:ext cx="1169743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Connector 40"/>
          <p:cNvCxnSpPr>
            <a:stCxn id="13" idx="2"/>
          </p:cNvCxnSpPr>
          <p:nvPr/>
        </p:nvCxnSpPr>
        <p:spPr>
          <a:xfrm>
            <a:off x="2115115" y="4411975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9401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008078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86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39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07920" y="2266505"/>
            <a:ext cx="8226901" cy="1414986"/>
            <a:chOff x="2407920" y="1924405"/>
            <a:chExt cx="8226901" cy="1414986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2407920" y="2002514"/>
              <a:ext cx="1332116" cy="1336004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515469" y="2032994"/>
              <a:ext cx="16651" cy="1306397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8626798" y="1924405"/>
              <a:ext cx="1354455" cy="1414113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3107276" y="2337051"/>
                  <a:ext cx="11101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276" y="2337051"/>
                  <a:ext cx="1110112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5506049" y="2336058"/>
                  <a:ext cx="112550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6049" y="2336058"/>
                  <a:ext cx="1125501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9465078" y="2490894"/>
                  <a:ext cx="116974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5078" y="2490894"/>
                  <a:ext cx="1169743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/>
          <p:cNvSpPr txBox="1"/>
          <p:nvPr/>
        </p:nvSpPr>
        <p:spPr>
          <a:xfrm>
            <a:off x="1063757" y="1350082"/>
            <a:ext cx="9959569" cy="271611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115115" y="2266505"/>
            <a:ext cx="7562654" cy="1414113"/>
            <a:chOff x="2115115" y="1924405"/>
            <a:chExt cx="7562654" cy="1414113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8449450" y="2032994"/>
              <a:ext cx="1228319" cy="1305524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2115115" y="1924405"/>
              <a:ext cx="1420222" cy="140561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257800" y="2032994"/>
              <a:ext cx="0" cy="1305524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240280" y="2337051"/>
                  <a:ext cx="63504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280" y="2337051"/>
                  <a:ext cx="635046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684773" y="2336058"/>
                  <a:ext cx="64274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4773" y="2336058"/>
                  <a:ext cx="642740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8415202" y="2490894"/>
                  <a:ext cx="66486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5202" y="2490894"/>
                  <a:ext cx="664861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8674" y="5527865"/>
            <a:ext cx="9854652" cy="6027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867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6051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13044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ounded Rectangle 38"/>
          <p:cNvSpPr/>
          <p:nvPr/>
        </p:nvSpPr>
        <p:spPr>
          <a:xfrm>
            <a:off x="3535337" y="1716762"/>
            <a:ext cx="5117957" cy="6583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Central</a:t>
            </a:r>
            <a:r>
              <a:rPr lang="zh-CN" alt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Controller</a:t>
            </a:r>
            <a:endParaRPr lang="en-US" sz="32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41" name="Straight Connector 40"/>
          <p:cNvCxnSpPr>
            <a:stCxn id="13" idx="2"/>
          </p:cNvCxnSpPr>
          <p:nvPr/>
        </p:nvCxnSpPr>
        <p:spPr>
          <a:xfrm>
            <a:off x="2115115" y="4411975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9401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008078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59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Execution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8674" y="5527865"/>
            <a:ext cx="9854652" cy="6027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867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6051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13044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2115115" y="2266505"/>
            <a:ext cx="7562654" cy="1414113"/>
            <a:chOff x="2115115" y="2266505"/>
            <a:chExt cx="7562654" cy="1414113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8449450" y="2375094"/>
              <a:ext cx="1228319" cy="1305524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endCxn id="13" idx="0"/>
            </p:cNvCxnSpPr>
            <p:nvPr/>
          </p:nvCxnSpPr>
          <p:spPr>
            <a:xfrm flipH="1">
              <a:off x="2115115" y="2266505"/>
              <a:ext cx="1420222" cy="140561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257800" y="2375094"/>
              <a:ext cx="0" cy="1305524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2240280" y="2679151"/>
                  <a:ext cx="63504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280" y="2679151"/>
                  <a:ext cx="635046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4684773" y="2678158"/>
                  <a:ext cx="64274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4773" y="2678158"/>
                  <a:ext cx="642740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8415202" y="2832994"/>
                  <a:ext cx="66486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5202" y="2832994"/>
                  <a:ext cx="664861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2407920" y="2266505"/>
            <a:ext cx="7715030" cy="1414986"/>
            <a:chOff x="2407920" y="2266505"/>
            <a:chExt cx="7715030" cy="1414986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2407920" y="2344614"/>
              <a:ext cx="1332116" cy="1336004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515469" y="2375094"/>
              <a:ext cx="16651" cy="1306397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8626798" y="2266505"/>
              <a:ext cx="1354455" cy="1414113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3107276" y="2679151"/>
                  <a:ext cx="62805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276" y="2679151"/>
                  <a:ext cx="628056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5506049" y="2678158"/>
                  <a:ext cx="63575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6049" y="2678158"/>
                  <a:ext cx="635750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9465078" y="2832994"/>
                  <a:ext cx="65787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5078" y="2832994"/>
                  <a:ext cx="657872" cy="52322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Connector 40"/>
          <p:cNvCxnSpPr>
            <a:stCxn id="13" idx="2"/>
          </p:cNvCxnSpPr>
          <p:nvPr/>
        </p:nvCxnSpPr>
        <p:spPr>
          <a:xfrm>
            <a:off x="2115115" y="4411975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9401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008078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961534" y="886400"/>
                <a:ext cx="6265561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for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all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𝑖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=1, 2, ⋯, 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534" y="886400"/>
                <a:ext cx="6265561" cy="578685"/>
              </a:xfrm>
              <a:prstGeom prst="rect">
                <a:avLst/>
              </a:prstGeom>
              <a:blipFill rotWithShape="0">
                <a:blip r:embed="rId10"/>
                <a:stretch>
                  <a:fillRect t="-4211" r="-875" b="-2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2"/>
          <p:cNvSpPr/>
          <p:nvPr/>
        </p:nvSpPr>
        <p:spPr>
          <a:xfrm>
            <a:off x="2912165" y="785191"/>
            <a:ext cx="3120887" cy="747403"/>
          </a:xfrm>
          <a:custGeom>
            <a:avLst/>
            <a:gdLst>
              <a:gd name="connsiteX0" fmla="*/ 79513 w 3120887"/>
              <a:gd name="connsiteY0" fmla="*/ 735496 h 747403"/>
              <a:gd name="connsiteX1" fmla="*/ 238539 w 3120887"/>
              <a:gd name="connsiteY1" fmla="*/ 735496 h 747403"/>
              <a:gd name="connsiteX2" fmla="*/ 705678 w 3120887"/>
              <a:gd name="connsiteY2" fmla="*/ 705679 h 747403"/>
              <a:gd name="connsiteX3" fmla="*/ 1709531 w 3120887"/>
              <a:gd name="connsiteY3" fmla="*/ 685800 h 747403"/>
              <a:gd name="connsiteX4" fmla="*/ 1938131 w 3120887"/>
              <a:gd name="connsiteY4" fmla="*/ 675861 h 747403"/>
              <a:gd name="connsiteX5" fmla="*/ 3001618 w 3120887"/>
              <a:gd name="connsiteY5" fmla="*/ 665922 h 747403"/>
              <a:gd name="connsiteX6" fmla="*/ 3061252 w 3120887"/>
              <a:gd name="connsiteY6" fmla="*/ 626166 h 747403"/>
              <a:gd name="connsiteX7" fmla="*/ 3101009 w 3120887"/>
              <a:gd name="connsiteY7" fmla="*/ 566531 h 747403"/>
              <a:gd name="connsiteX8" fmla="*/ 3120887 w 3120887"/>
              <a:gd name="connsiteY8" fmla="*/ 357809 h 747403"/>
              <a:gd name="connsiteX9" fmla="*/ 3110948 w 3120887"/>
              <a:gd name="connsiteY9" fmla="*/ 228600 h 747403"/>
              <a:gd name="connsiteX10" fmla="*/ 3071192 w 3120887"/>
              <a:gd name="connsiteY10" fmla="*/ 149087 h 747403"/>
              <a:gd name="connsiteX11" fmla="*/ 3041374 w 3120887"/>
              <a:gd name="connsiteY11" fmla="*/ 139148 h 747403"/>
              <a:gd name="connsiteX12" fmla="*/ 3011557 w 3120887"/>
              <a:gd name="connsiteY12" fmla="*/ 119270 h 747403"/>
              <a:gd name="connsiteX13" fmla="*/ 2991678 w 3120887"/>
              <a:gd name="connsiteY13" fmla="*/ 99392 h 747403"/>
              <a:gd name="connsiteX14" fmla="*/ 2961861 w 3120887"/>
              <a:gd name="connsiteY14" fmla="*/ 89452 h 747403"/>
              <a:gd name="connsiteX15" fmla="*/ 2932044 w 3120887"/>
              <a:gd name="connsiteY15" fmla="*/ 69574 h 747403"/>
              <a:gd name="connsiteX16" fmla="*/ 2872409 w 3120887"/>
              <a:gd name="connsiteY16" fmla="*/ 49696 h 747403"/>
              <a:gd name="connsiteX17" fmla="*/ 2703444 w 3120887"/>
              <a:gd name="connsiteY17" fmla="*/ 19879 h 747403"/>
              <a:gd name="connsiteX18" fmla="*/ 2584174 w 3120887"/>
              <a:gd name="connsiteY18" fmla="*/ 0 h 747403"/>
              <a:gd name="connsiteX19" fmla="*/ 1858618 w 3120887"/>
              <a:gd name="connsiteY19" fmla="*/ 9939 h 747403"/>
              <a:gd name="connsiteX20" fmla="*/ 1003852 w 3120887"/>
              <a:gd name="connsiteY20" fmla="*/ 0 h 747403"/>
              <a:gd name="connsiteX21" fmla="*/ 735496 w 3120887"/>
              <a:gd name="connsiteY21" fmla="*/ 9939 h 747403"/>
              <a:gd name="connsiteX22" fmla="*/ 447261 w 3120887"/>
              <a:gd name="connsiteY22" fmla="*/ 29818 h 747403"/>
              <a:gd name="connsiteX23" fmla="*/ 387626 w 3120887"/>
              <a:gd name="connsiteY23" fmla="*/ 49696 h 747403"/>
              <a:gd name="connsiteX24" fmla="*/ 357809 w 3120887"/>
              <a:gd name="connsiteY24" fmla="*/ 59635 h 747403"/>
              <a:gd name="connsiteX25" fmla="*/ 298174 w 3120887"/>
              <a:gd name="connsiteY25" fmla="*/ 89452 h 747403"/>
              <a:gd name="connsiteX26" fmla="*/ 268357 w 3120887"/>
              <a:gd name="connsiteY26" fmla="*/ 109331 h 747403"/>
              <a:gd name="connsiteX27" fmla="*/ 238539 w 3120887"/>
              <a:gd name="connsiteY27" fmla="*/ 119270 h 747403"/>
              <a:gd name="connsiteX28" fmla="*/ 149087 w 3120887"/>
              <a:gd name="connsiteY28" fmla="*/ 178905 h 747403"/>
              <a:gd name="connsiteX29" fmla="*/ 119270 w 3120887"/>
              <a:gd name="connsiteY29" fmla="*/ 198783 h 747403"/>
              <a:gd name="connsiteX30" fmla="*/ 89452 w 3120887"/>
              <a:gd name="connsiteY30" fmla="*/ 218661 h 747403"/>
              <a:gd name="connsiteX31" fmla="*/ 69574 w 3120887"/>
              <a:gd name="connsiteY31" fmla="*/ 248479 h 747403"/>
              <a:gd name="connsiteX32" fmla="*/ 39757 w 3120887"/>
              <a:gd name="connsiteY32" fmla="*/ 268357 h 747403"/>
              <a:gd name="connsiteX33" fmla="*/ 19878 w 3120887"/>
              <a:gd name="connsiteY33" fmla="*/ 327992 h 747403"/>
              <a:gd name="connsiteX34" fmla="*/ 0 w 3120887"/>
              <a:gd name="connsiteY34" fmla="*/ 397566 h 747403"/>
              <a:gd name="connsiteX35" fmla="*/ 9939 w 3120887"/>
              <a:gd name="connsiteY35" fmla="*/ 566531 h 747403"/>
              <a:gd name="connsiteX36" fmla="*/ 29818 w 3120887"/>
              <a:gd name="connsiteY36" fmla="*/ 586409 h 747403"/>
              <a:gd name="connsiteX37" fmla="*/ 69574 w 3120887"/>
              <a:gd name="connsiteY37" fmla="*/ 636105 h 747403"/>
              <a:gd name="connsiteX38" fmla="*/ 139148 w 3120887"/>
              <a:gd name="connsiteY38" fmla="*/ 695739 h 74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120887" h="747403">
                <a:moveTo>
                  <a:pt x="79513" y="735496"/>
                </a:moveTo>
                <a:cubicBezTo>
                  <a:pt x="156594" y="754766"/>
                  <a:pt x="109684" y="747576"/>
                  <a:pt x="238539" y="735496"/>
                </a:cubicBezTo>
                <a:cubicBezTo>
                  <a:pt x="558112" y="705536"/>
                  <a:pt x="328136" y="719662"/>
                  <a:pt x="705678" y="705679"/>
                </a:cubicBezTo>
                <a:cubicBezTo>
                  <a:pt x="1113310" y="664913"/>
                  <a:pt x="697238" y="703559"/>
                  <a:pt x="1709531" y="685800"/>
                </a:cubicBezTo>
                <a:cubicBezTo>
                  <a:pt x="1785791" y="684462"/>
                  <a:pt x="1861868" y="677034"/>
                  <a:pt x="1938131" y="675861"/>
                </a:cubicBezTo>
                <a:lnTo>
                  <a:pt x="3001618" y="665922"/>
                </a:lnTo>
                <a:cubicBezTo>
                  <a:pt x="3021496" y="652670"/>
                  <a:pt x="3048000" y="646044"/>
                  <a:pt x="3061252" y="626166"/>
                </a:cubicBezTo>
                <a:lnTo>
                  <a:pt x="3101009" y="566531"/>
                </a:lnTo>
                <a:cubicBezTo>
                  <a:pt x="3111676" y="491860"/>
                  <a:pt x="3120887" y="439067"/>
                  <a:pt x="3120887" y="357809"/>
                </a:cubicBezTo>
                <a:cubicBezTo>
                  <a:pt x="3120887" y="314612"/>
                  <a:pt x="3117685" y="271268"/>
                  <a:pt x="3110948" y="228600"/>
                </a:cubicBezTo>
                <a:cubicBezTo>
                  <a:pt x="3106799" y="202325"/>
                  <a:pt x="3097526" y="164888"/>
                  <a:pt x="3071192" y="149087"/>
                </a:cubicBezTo>
                <a:cubicBezTo>
                  <a:pt x="3062208" y="143697"/>
                  <a:pt x="3051313" y="142461"/>
                  <a:pt x="3041374" y="139148"/>
                </a:cubicBezTo>
                <a:cubicBezTo>
                  <a:pt x="3031435" y="132522"/>
                  <a:pt x="3020885" y="126732"/>
                  <a:pt x="3011557" y="119270"/>
                </a:cubicBezTo>
                <a:cubicBezTo>
                  <a:pt x="3004240" y="113416"/>
                  <a:pt x="2999713" y="104213"/>
                  <a:pt x="2991678" y="99392"/>
                </a:cubicBezTo>
                <a:cubicBezTo>
                  <a:pt x="2982694" y="94002"/>
                  <a:pt x="2971232" y="94137"/>
                  <a:pt x="2961861" y="89452"/>
                </a:cubicBezTo>
                <a:cubicBezTo>
                  <a:pt x="2951177" y="84110"/>
                  <a:pt x="2942960" y="74425"/>
                  <a:pt x="2932044" y="69574"/>
                </a:cubicBezTo>
                <a:cubicBezTo>
                  <a:pt x="2912896" y="61064"/>
                  <a:pt x="2892287" y="56322"/>
                  <a:pt x="2872409" y="49696"/>
                </a:cubicBezTo>
                <a:cubicBezTo>
                  <a:pt x="2793363" y="23348"/>
                  <a:pt x="2874339" y="48362"/>
                  <a:pt x="2703444" y="19879"/>
                </a:cubicBezTo>
                <a:lnTo>
                  <a:pt x="2584174" y="0"/>
                </a:lnTo>
                <a:lnTo>
                  <a:pt x="1858618" y="9939"/>
                </a:lnTo>
                <a:cubicBezTo>
                  <a:pt x="1573677" y="9939"/>
                  <a:pt x="1288793" y="0"/>
                  <a:pt x="1003852" y="0"/>
                </a:cubicBezTo>
                <a:cubicBezTo>
                  <a:pt x="914339" y="0"/>
                  <a:pt x="824921" y="5964"/>
                  <a:pt x="735496" y="9939"/>
                </a:cubicBezTo>
                <a:cubicBezTo>
                  <a:pt x="571592" y="17224"/>
                  <a:pt x="584497" y="17342"/>
                  <a:pt x="447261" y="29818"/>
                </a:cubicBezTo>
                <a:lnTo>
                  <a:pt x="387626" y="49696"/>
                </a:lnTo>
                <a:cubicBezTo>
                  <a:pt x="377687" y="53009"/>
                  <a:pt x="366526" y="53824"/>
                  <a:pt x="357809" y="59635"/>
                </a:cubicBezTo>
                <a:cubicBezTo>
                  <a:pt x="319275" y="85325"/>
                  <a:pt x="339324" y="75736"/>
                  <a:pt x="298174" y="89452"/>
                </a:cubicBezTo>
                <a:cubicBezTo>
                  <a:pt x="288235" y="96078"/>
                  <a:pt x="279041" y="103989"/>
                  <a:pt x="268357" y="109331"/>
                </a:cubicBezTo>
                <a:cubicBezTo>
                  <a:pt x="258986" y="114016"/>
                  <a:pt x="247698" y="114182"/>
                  <a:pt x="238539" y="119270"/>
                </a:cubicBezTo>
                <a:cubicBezTo>
                  <a:pt x="238531" y="119275"/>
                  <a:pt x="163999" y="168964"/>
                  <a:pt x="149087" y="178905"/>
                </a:cubicBezTo>
                <a:lnTo>
                  <a:pt x="119270" y="198783"/>
                </a:lnTo>
                <a:lnTo>
                  <a:pt x="89452" y="218661"/>
                </a:lnTo>
                <a:cubicBezTo>
                  <a:pt x="82826" y="228600"/>
                  <a:pt x="78021" y="240032"/>
                  <a:pt x="69574" y="248479"/>
                </a:cubicBezTo>
                <a:cubicBezTo>
                  <a:pt x="61128" y="256926"/>
                  <a:pt x="46088" y="258228"/>
                  <a:pt x="39757" y="268357"/>
                </a:cubicBezTo>
                <a:cubicBezTo>
                  <a:pt x="28652" y="286126"/>
                  <a:pt x="26504" y="308114"/>
                  <a:pt x="19878" y="327992"/>
                </a:cubicBezTo>
                <a:cubicBezTo>
                  <a:pt x="5620" y="370764"/>
                  <a:pt x="12479" y="347650"/>
                  <a:pt x="0" y="397566"/>
                </a:cubicBezTo>
                <a:cubicBezTo>
                  <a:pt x="3313" y="453888"/>
                  <a:pt x="1140" y="510802"/>
                  <a:pt x="9939" y="566531"/>
                </a:cubicBezTo>
                <a:cubicBezTo>
                  <a:pt x="11401" y="575787"/>
                  <a:pt x="23964" y="579092"/>
                  <a:pt x="29818" y="586409"/>
                </a:cubicBezTo>
                <a:cubicBezTo>
                  <a:pt x="49377" y="610857"/>
                  <a:pt x="45578" y="618108"/>
                  <a:pt x="69574" y="636105"/>
                </a:cubicBezTo>
                <a:cubicBezTo>
                  <a:pt x="139760" y="688745"/>
                  <a:pt x="117164" y="651772"/>
                  <a:pt x="139148" y="695739"/>
                </a:cubicBezTo>
              </a:path>
            </a:pathLst>
          </a:custGeom>
          <a:noFill/>
          <a:ln w="57150">
            <a:solidFill>
              <a:srgbClr val="0B24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9277" y="2110154"/>
            <a:ext cx="11218985" cy="444890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3535337" y="1716762"/>
            <a:ext cx="5117957" cy="6583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Central</a:t>
            </a:r>
            <a:r>
              <a:rPr lang="zh-CN" alt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Controller</a:t>
            </a:r>
            <a:endParaRPr lang="en-US" sz="32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84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Execution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8674" y="5527865"/>
            <a:ext cx="9854652" cy="6027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867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6051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130444" y="3672118"/>
            <a:ext cx="1892882" cy="739857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075" y="3672118"/>
                <a:ext cx="666849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ounded Rectangle 38"/>
          <p:cNvSpPr/>
          <p:nvPr/>
        </p:nvSpPr>
        <p:spPr>
          <a:xfrm>
            <a:off x="3535337" y="1716762"/>
            <a:ext cx="5117957" cy="6583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Central</a:t>
            </a:r>
            <a:r>
              <a:rPr lang="zh-CN" alt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Controller</a:t>
            </a:r>
            <a:endParaRPr lang="en-US" sz="32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115115" y="2266505"/>
            <a:ext cx="7562654" cy="1414113"/>
            <a:chOff x="2115115" y="2266505"/>
            <a:chExt cx="7562654" cy="1414113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8449450" y="2375094"/>
              <a:ext cx="1228319" cy="1305524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endCxn id="13" idx="0"/>
            </p:cNvCxnSpPr>
            <p:nvPr/>
          </p:nvCxnSpPr>
          <p:spPr>
            <a:xfrm flipH="1">
              <a:off x="2115115" y="2266505"/>
              <a:ext cx="1420222" cy="140561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257800" y="2375094"/>
              <a:ext cx="0" cy="1305524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2240280" y="2679151"/>
                  <a:ext cx="63504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280" y="2679151"/>
                  <a:ext cx="635046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4684773" y="2678158"/>
                  <a:ext cx="64274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4773" y="2678158"/>
                  <a:ext cx="642740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8415202" y="2832994"/>
                  <a:ext cx="66486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5202" y="2832994"/>
                  <a:ext cx="664861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2407920" y="2266505"/>
            <a:ext cx="7715030" cy="1414986"/>
            <a:chOff x="2407920" y="2266505"/>
            <a:chExt cx="7715030" cy="1414986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2407920" y="2344614"/>
              <a:ext cx="1332116" cy="1336004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515469" y="2375094"/>
              <a:ext cx="16651" cy="1306397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8626798" y="2266505"/>
              <a:ext cx="1354455" cy="1414113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3107276" y="2679151"/>
                  <a:ext cx="62805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276" y="2679151"/>
                  <a:ext cx="628056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5506049" y="2678158"/>
                  <a:ext cx="63575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6049" y="2678158"/>
                  <a:ext cx="635750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9465078" y="2832994"/>
                  <a:ext cx="65787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5078" y="2832994"/>
                  <a:ext cx="657872" cy="52322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Connector 40"/>
          <p:cNvCxnSpPr>
            <a:stCxn id="13" idx="2"/>
          </p:cNvCxnSpPr>
          <p:nvPr/>
        </p:nvCxnSpPr>
        <p:spPr>
          <a:xfrm>
            <a:off x="2115115" y="4411975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9401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0080783" y="4410782"/>
            <a:ext cx="0" cy="1115890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  <a:prstDash val="sysDot"/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961534" y="886400"/>
                <a:ext cx="6265561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sz="2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800" dirty="0"/>
                  <a:t>,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for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all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charset="0"/>
                      </a:rPr>
                      <m:t>𝑖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=1, 2, ⋯, </m:t>
                    </m:r>
                    <m:r>
                      <a:rPr lang="en-US" altLang="zh-CN" sz="2800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534" y="886400"/>
                <a:ext cx="6265561" cy="578685"/>
              </a:xfrm>
              <a:prstGeom prst="rect">
                <a:avLst/>
              </a:prstGeom>
              <a:blipFill rotWithShape="0">
                <a:blip r:embed="rId10"/>
                <a:stretch>
                  <a:fillRect t="-4211" r="-875" b="-2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2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50"/>
                            </p:stCondLst>
                            <p:childTnLst>
                              <p:par>
                                <p:cTn id="4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55908" y="1234440"/>
                <a:ext cx="9080184" cy="4854673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charset="0"/>
                      </a:rPr>
                      <m:t>𝐚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contain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agents’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actions.</a:t>
                </a:r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𝐨</m:t>
                    </m:r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contain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agents’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observations.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central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knows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FF0000"/>
                        </a:solidFill>
                        <a:latin typeface="Cambria Math" charset="0"/>
                      </a:rPr>
                      <m:t>𝐚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𝐨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rewards.</a:t>
                </a:r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networks: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(actor)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  <m:e>
                        <m:r>
                          <a:rPr lang="en-US" altLang="zh-C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𝐨</m:t>
                        </m:r>
                        <m:r>
                          <a:rPr lang="zh-CN" alt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smtClean="0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(critic)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agent:</a:t>
                </a:r>
                <a:r>
                  <a:rPr lang="zh-CN" altLang="en-US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𝑞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𝐨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b="1" i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𝐚</m:t>
                        </m:r>
                        <m:r>
                          <a:rPr lang="zh-CN" altLang="en-US" b="1" i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5908" y="1234440"/>
                <a:ext cx="9080184" cy="4854673"/>
              </a:xfrm>
              <a:blipFill rotWithShape="0">
                <a:blip r:embed="rId3"/>
                <a:stretch>
                  <a:fillRect l="-1208" t="-2136" r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Actor-Critic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Method</a:t>
            </a:r>
            <a:endParaRPr lang="en-US" sz="3600" dirty="0">
              <a:solidFill>
                <a:srgbClr val="0070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385539" y="4009293"/>
            <a:ext cx="1688123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7385539" y="4513385"/>
            <a:ext cx="1688123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78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55908" y="1234440"/>
                <a:ext cx="9080184" cy="4854673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Centralized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Training: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Training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performed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knows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observations,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actions,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rewards.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Train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  <m:e>
                        <m:r>
                          <a:rPr lang="en-US" altLang="zh-C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𝐨</m:t>
                        </m:r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using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gradient.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Train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𝑞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𝐨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b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𝐚</m:t>
                        </m:r>
                        <m:r>
                          <a:rPr lang="zh-CN" altLang="en-US" b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using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algorithm.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Centralized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Execution: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Decisions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made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sends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observation,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knows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𝐨</m:t>
                    </m:r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samples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  <m:r>
                      <a:rPr lang="zh-CN" altLang="en-US" b="0" i="0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0" smtClean="0">
                        <a:latin typeface="Cambria Math" charset="0"/>
                      </a:rPr>
                      <m:t>~</m:t>
                    </m:r>
                    <m:r>
                      <a:rPr lang="zh-CN" altLang="en-US" b="0" i="0" smtClean="0"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⋅</m:t>
                        </m:r>
                      </m:e>
                      <m:e>
                        <m:r>
                          <a:rPr lang="en-US" altLang="zh-C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𝐨</m:t>
                        </m:r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sends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5908" y="1234440"/>
                <a:ext cx="9080184" cy="4854673"/>
              </a:xfrm>
              <a:blipFill rotWithShape="0">
                <a:blip r:embed="rId3"/>
                <a:stretch>
                  <a:fillRect l="-1208" t="-2136" r="-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Actor-Critic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Method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2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Shortcoming: Slow during Execution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3950" y="1630016"/>
                <a:ext cx="9944100" cy="432882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All the agents send their observations to the central controller.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The central controller makes decisions, 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FF0000"/>
                        </a:solidFill>
                        <a:latin typeface="Cambria Math" charset="0"/>
                      </a:rPr>
                      <m:t>𝐚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 and sends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to 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agent.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Communication and synchronization cost time.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Real-time decision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 impossible.</a:t>
                </a:r>
              </a:p>
            </p:txBody>
          </p:sp>
        </mc:Choice>
        <mc:Fallback xmlns="">
          <p:sp>
            <p:nvSpPr>
              <p:cNvPr id="1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3950" y="1630016"/>
                <a:ext cx="9944100" cy="4328824"/>
              </a:xfrm>
              <a:blipFill rotWithShape="0">
                <a:blip r:embed="rId3"/>
                <a:stretch>
                  <a:fillRect l="-1103" t="-2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62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>
                <a:latin typeface="Lucida Bright" panose="02040602050505020304" pitchFamily="18" charset="0"/>
              </a:rPr>
              <a:t>Centralized Training with Decentralized Execution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143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>
                <a:latin typeface="Lucida Bright" panose="02040602050505020304" pitchFamily="18" charset="0"/>
              </a:rPr>
              <a:t>Centralized Training with Decentralized Execution</a:t>
            </a:r>
            <a:endParaRPr lang="en-US" sz="3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3950" y="1280160"/>
                <a:ext cx="9944100" cy="3374967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Each agent has its own policy network (actor):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The central controller has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 value networks</a:t>
                </a:r>
                <a:r>
                  <a:rPr lang="en-US" altLang="zh-CN" dirty="0">
                    <a:sym typeface="Wingdings"/>
                  </a:rPr>
                  <a:t> (critics):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𝑞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𝐨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b="1" i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𝐚</m:t>
                        </m:r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Centralized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Training: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During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training,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 central controller knows all the agents’ observations, actions,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rewards.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Decentralized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Execution: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During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execution,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central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used.</a:t>
                </a:r>
              </a:p>
            </p:txBody>
          </p:sp>
        </mc:Choice>
        <mc:Fallback xmlns="">
          <p:sp>
            <p:nvSpPr>
              <p:cNvPr id="1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3950" y="1280160"/>
                <a:ext cx="9944100" cy="3374967"/>
              </a:xfrm>
              <a:blipFill rotWithShape="0">
                <a:blip r:embed="rId3"/>
                <a:stretch>
                  <a:fillRect l="-1103" t="-1986" r="-1532" b="-3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149926" y="4793673"/>
            <a:ext cx="991812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Reference: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Lowe et al.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Multi-agent actor-critic for mixed cooperative-competitive environments. </a:t>
            </a:r>
            <a:r>
              <a:rPr lang="en-US" dirty="0"/>
              <a:t>In </a:t>
            </a:r>
            <a:r>
              <a:rPr lang="en-US" i="1" dirty="0"/>
              <a:t>NIPS</a:t>
            </a:r>
            <a:r>
              <a:rPr lang="en-US" dirty="0"/>
              <a:t>, 2017.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Foerster</a:t>
            </a:r>
            <a:r>
              <a:rPr lang="en-US" dirty="0"/>
              <a:t> et al.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Counterfactual multi-agent policy gradients.</a:t>
            </a:r>
            <a:r>
              <a:rPr lang="en-US" dirty="0"/>
              <a:t> In </a:t>
            </a:r>
            <a:r>
              <a:rPr lang="en-US" i="1" dirty="0"/>
              <a:t>AAAI</a:t>
            </a:r>
            <a:r>
              <a:rPr lang="en-US" dirty="0"/>
              <a:t>, 2018.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165121" y="1828800"/>
            <a:ext cx="1840526" cy="2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8950568" y="2526489"/>
            <a:ext cx="1840526" cy="2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72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99160" y="5363090"/>
            <a:ext cx="10332720" cy="66920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507022" y="4250570"/>
            <a:ext cx="8196091" cy="1112520"/>
            <a:chOff x="1507022" y="4250570"/>
            <a:chExt cx="8196091" cy="111252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2057400" y="4250570"/>
              <a:ext cx="0" cy="111252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507022" y="4479251"/>
                  <a:ext cx="63504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7022" y="4479251"/>
                  <a:ext cx="635046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60"/>
            <p:cNvCxnSpPr/>
            <p:nvPr/>
          </p:nvCxnSpPr>
          <p:spPr>
            <a:xfrm>
              <a:off x="9588630" y="4250570"/>
              <a:ext cx="0" cy="111252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9038252" y="4479251"/>
                  <a:ext cx="66486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8252" y="4479251"/>
                  <a:ext cx="664861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/>
          <p:cNvGrpSpPr/>
          <p:nvPr/>
        </p:nvGrpSpPr>
        <p:grpSpPr>
          <a:xfrm>
            <a:off x="1260114" y="3553578"/>
            <a:ext cx="9424112" cy="738664"/>
            <a:chOff x="1260114" y="3553578"/>
            <a:chExt cx="9424112" cy="738664"/>
          </a:xfrm>
        </p:grpSpPr>
        <p:sp>
          <p:nvSpPr>
            <p:cNvPr id="13" name="Rounded Rectangle 12"/>
            <p:cNvSpPr/>
            <p:nvPr/>
          </p:nvSpPr>
          <p:spPr>
            <a:xfrm>
              <a:off x="1260114" y="3581364"/>
              <a:ext cx="1892882" cy="665836"/>
            </a:xfrm>
            <a:prstGeom prst="roundRect">
              <a:avLst/>
            </a:prstGeom>
            <a:solidFill>
              <a:srgbClr val="F6DC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Actor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1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5761231" y="3553578"/>
                  <a:ext cx="666849" cy="7386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8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31" y="3553578"/>
                  <a:ext cx="666849" cy="73866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Rounded Rectangle 63"/>
            <p:cNvSpPr/>
            <p:nvPr/>
          </p:nvSpPr>
          <p:spPr>
            <a:xfrm>
              <a:off x="8791344" y="3581364"/>
              <a:ext cx="1892882" cy="665836"/>
            </a:xfrm>
            <a:prstGeom prst="roundRect">
              <a:avLst/>
            </a:prstGeom>
            <a:solidFill>
              <a:srgbClr val="F6DC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Actor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328298" y="4250570"/>
            <a:ext cx="8700974" cy="1112520"/>
            <a:chOff x="2328298" y="4250570"/>
            <a:chExt cx="8700974" cy="111252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2328298" y="4250570"/>
              <a:ext cx="3422" cy="1112520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328298" y="4479251"/>
                  <a:ext cx="11101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8298" y="4479251"/>
                  <a:ext cx="1110112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Connector 62"/>
            <p:cNvCxnSpPr/>
            <p:nvPr/>
          </p:nvCxnSpPr>
          <p:spPr>
            <a:xfrm>
              <a:off x="9859528" y="4250570"/>
              <a:ext cx="3422" cy="1112520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9859528" y="4479251"/>
                  <a:ext cx="116974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9528" y="4479251"/>
                  <a:ext cx="1169744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899160" y="1376877"/>
            <a:ext cx="10332720" cy="1151195"/>
            <a:chOff x="899160" y="1376877"/>
            <a:chExt cx="10332720" cy="1151195"/>
          </a:xfrm>
        </p:grpSpPr>
        <p:sp>
          <p:nvSpPr>
            <p:cNvPr id="2" name="Rounded Rectangle 1"/>
            <p:cNvSpPr/>
            <p:nvPr/>
          </p:nvSpPr>
          <p:spPr>
            <a:xfrm>
              <a:off x="899160" y="1376877"/>
              <a:ext cx="10332720" cy="1151195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872892" y="1664848"/>
              <a:ext cx="4443525" cy="4924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Central Controller</a:t>
              </a:r>
              <a:endParaRPr lang="en-US" sz="3200" b="1" dirty="0">
                <a:solidFill>
                  <a:schemeClr val="tx2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254920" y="2513210"/>
            <a:ext cx="9232978" cy="1064784"/>
            <a:chOff x="2254920" y="2513210"/>
            <a:chExt cx="9232978" cy="1064784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328298" y="2513210"/>
              <a:ext cx="3422" cy="1064784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2254920" y="2760124"/>
                  <a:ext cx="161230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4920" y="2760124"/>
                  <a:ext cx="1612301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Connector 33"/>
            <p:cNvCxnSpPr/>
            <p:nvPr/>
          </p:nvCxnSpPr>
          <p:spPr>
            <a:xfrm>
              <a:off x="9859528" y="2513210"/>
              <a:ext cx="3422" cy="1064784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9786150" y="2760124"/>
                  <a:ext cx="170174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6150" y="2760124"/>
                  <a:ext cx="1701748" cy="52322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583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9160" y="1376877"/>
            <a:ext cx="10332720" cy="11511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198312" y="1608929"/>
            <a:ext cx="9547716" cy="665836"/>
            <a:chOff x="1198312" y="1608929"/>
            <a:chExt cx="9547716" cy="665836"/>
          </a:xfrm>
        </p:grpSpPr>
        <p:sp>
          <p:nvSpPr>
            <p:cNvPr id="41" name="Rounded Rectangle 40"/>
            <p:cNvSpPr/>
            <p:nvPr/>
          </p:nvSpPr>
          <p:spPr>
            <a:xfrm>
              <a:off x="1198312" y="160892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1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729542" y="160892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872892" y="1664848"/>
            <a:ext cx="444352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Central Controller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957716" y="2023151"/>
                <a:ext cx="2215607" cy="684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latin typeface="Cambria Math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latin typeface="Cambria Math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16" y="2023151"/>
                <a:ext cx="2215607" cy="68499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42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9160" y="1376877"/>
            <a:ext cx="10332720" cy="11511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198312" y="1608929"/>
            <a:ext cx="9547716" cy="665836"/>
            <a:chOff x="1198312" y="1608929"/>
            <a:chExt cx="9547716" cy="665836"/>
          </a:xfrm>
        </p:grpSpPr>
        <p:sp>
          <p:nvSpPr>
            <p:cNvPr id="41" name="Rounded Rectangle 40"/>
            <p:cNvSpPr/>
            <p:nvPr/>
          </p:nvSpPr>
          <p:spPr>
            <a:xfrm>
              <a:off x="1198312" y="160892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1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729542" y="160892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872892" y="1664848"/>
            <a:ext cx="444352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Central Controller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957716" y="2023151"/>
                <a:ext cx="2215607" cy="684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latin typeface="Cambria Math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latin typeface="Cambria Math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16" y="2023151"/>
                <a:ext cx="2215607" cy="68499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99160" y="3066450"/>
                <a:ext cx="10332719" cy="3374967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central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controller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trains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critics,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𝑞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𝐨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b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𝐚</m:t>
                        </m:r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update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algorithm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takes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inputs: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actions: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FF0000"/>
                        </a:solidFill>
                        <a:latin typeface="Cambria Math" charset="0"/>
                      </a:rPr>
                      <m:t>𝐚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observations: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𝐨</m:t>
                    </m:r>
                    <m:r>
                      <a:rPr lang="en-US" altLang="zh-CN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reward: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1200"/>
                  </a:spcAft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9160" y="3066450"/>
                <a:ext cx="10332719" cy="3374967"/>
              </a:xfrm>
              <a:blipFill rotWithShape="0">
                <a:blip r:embed="rId4"/>
                <a:stretch>
                  <a:fillRect l="-1063" t="-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V="1">
            <a:off x="6801091" y="3622431"/>
            <a:ext cx="1840526" cy="2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9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9160" y="1376877"/>
            <a:ext cx="10332720" cy="11511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260114" y="3553578"/>
            <a:ext cx="9424112" cy="738664"/>
            <a:chOff x="1260114" y="3553578"/>
            <a:chExt cx="9424112" cy="738664"/>
          </a:xfrm>
        </p:grpSpPr>
        <p:sp>
          <p:nvSpPr>
            <p:cNvPr id="13" name="Rounded Rectangle 12"/>
            <p:cNvSpPr/>
            <p:nvPr/>
          </p:nvSpPr>
          <p:spPr>
            <a:xfrm>
              <a:off x="1260114" y="3581364"/>
              <a:ext cx="1892882" cy="665836"/>
            </a:xfrm>
            <a:prstGeom prst="roundRect">
              <a:avLst/>
            </a:prstGeom>
            <a:solidFill>
              <a:srgbClr val="F6DC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Actor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1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5761231" y="3553578"/>
                  <a:ext cx="666849" cy="7386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800" b="0" i="1" smtClean="0">
                            <a:latin typeface="Cambria Math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31" y="3553578"/>
                  <a:ext cx="666849" cy="73866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Rounded Rectangle 63"/>
            <p:cNvSpPr/>
            <p:nvPr/>
          </p:nvSpPr>
          <p:spPr>
            <a:xfrm>
              <a:off x="8791344" y="3581364"/>
              <a:ext cx="1892882" cy="665836"/>
            </a:xfrm>
            <a:prstGeom prst="roundRect">
              <a:avLst/>
            </a:prstGeom>
            <a:solidFill>
              <a:srgbClr val="F6DC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Actor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198312" y="1608929"/>
            <a:ext cx="9547716" cy="665836"/>
            <a:chOff x="1198312" y="1608929"/>
            <a:chExt cx="9547716" cy="665836"/>
          </a:xfrm>
        </p:grpSpPr>
        <p:sp>
          <p:nvSpPr>
            <p:cNvPr id="41" name="Rounded Rectangle 40"/>
            <p:cNvSpPr/>
            <p:nvPr/>
          </p:nvSpPr>
          <p:spPr>
            <a:xfrm>
              <a:off x="1198312" y="160892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1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729542" y="160892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540710" y="2274765"/>
            <a:ext cx="10387820" cy="1304914"/>
            <a:chOff x="1540710" y="2274765"/>
            <a:chExt cx="10387820" cy="1304914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2057400" y="2274765"/>
              <a:ext cx="0" cy="1304914"/>
            </a:xfrm>
            <a:prstGeom prst="line">
              <a:avLst/>
            </a:prstGeom>
            <a:ln w="38100">
              <a:solidFill>
                <a:srgbClr val="7030A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1540710" y="2684732"/>
                  <a:ext cx="283994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𝐨</m:t>
                            </m:r>
                            <m:r>
                              <a:rPr lang="en-US" altLang="zh-CN" sz="28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800" b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𝐚</m:t>
                            </m:r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sz="2800" i="1"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>
                                    <a:latin typeface="Cambria Math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0710" y="2684732"/>
                  <a:ext cx="2839945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Connector 66"/>
            <p:cNvCxnSpPr/>
            <p:nvPr/>
          </p:nvCxnSpPr>
          <p:spPr>
            <a:xfrm>
              <a:off x="9588630" y="2274765"/>
              <a:ext cx="0" cy="1304914"/>
            </a:xfrm>
            <a:prstGeom prst="line">
              <a:avLst/>
            </a:prstGeom>
            <a:ln w="38100">
              <a:solidFill>
                <a:srgbClr val="7030A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9038252" y="2695840"/>
                  <a:ext cx="2890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=</m:t>
                        </m:r>
                        <m:r>
                          <a:rPr lang="en-US" altLang="zh-CN" sz="2800" i="1">
                            <a:latin typeface="Cambria Math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𝐨</m:t>
                            </m:r>
                            <m:r>
                              <a:rPr lang="en-US" altLang="zh-CN" sz="2800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800" b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𝐚</m:t>
                            </m:r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sz="2800" i="1"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>
                                    <a:latin typeface="Cambria Math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8252" y="2695840"/>
                  <a:ext cx="2890278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/>
          <p:cNvSpPr txBox="1"/>
          <p:nvPr/>
        </p:nvSpPr>
        <p:spPr>
          <a:xfrm>
            <a:off x="3872892" y="1664848"/>
            <a:ext cx="444352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Central Controller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8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9160" y="1376877"/>
            <a:ext cx="10332720" cy="11511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260114" y="3581364"/>
            <a:ext cx="1892882" cy="665836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Actor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761231" y="3553578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231" y="3553578"/>
                <a:ext cx="666849" cy="73866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ounded Rectangle 63"/>
          <p:cNvSpPr/>
          <p:nvPr/>
        </p:nvSpPr>
        <p:spPr>
          <a:xfrm>
            <a:off x="8791344" y="3581364"/>
            <a:ext cx="1892882" cy="665836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Actor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198312" y="1608929"/>
            <a:ext cx="9547716" cy="665836"/>
            <a:chOff x="1198312" y="1608929"/>
            <a:chExt cx="9547716" cy="665836"/>
          </a:xfrm>
        </p:grpSpPr>
        <p:sp>
          <p:nvSpPr>
            <p:cNvPr id="41" name="Rounded Rectangle 40"/>
            <p:cNvSpPr/>
            <p:nvPr/>
          </p:nvSpPr>
          <p:spPr>
            <a:xfrm>
              <a:off x="1198312" y="160892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1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729542" y="160892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872892" y="1664848"/>
            <a:ext cx="4443525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Central Controller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99160" y="4605185"/>
                <a:ext cx="10489276" cy="1836232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Each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locally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trains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actor,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using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gradient.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update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gradient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algorithm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takes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input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dirty="0"/>
                          <m:t>,</m:t>
                        </m:r>
                        <m:r>
                          <m:rPr>
                            <m:nor/>
                          </m:rPr>
                          <a:rPr lang="zh-CN" altLang="en-US" dirty="0"/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dirty="0"/>
                          <m:t>,</m:t>
                        </m:r>
                        <m:r>
                          <m:rPr>
                            <m:nor/>
                          </m:rPr>
                          <a:rPr lang="zh-CN" altLang="en-US" dirty="0"/>
                          <m:t> 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1200"/>
                  </a:spcAft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9160" y="4605185"/>
                <a:ext cx="10489276" cy="1836232"/>
              </a:xfrm>
              <a:blipFill rotWithShape="0">
                <a:blip r:embed="rId6"/>
                <a:stretch>
                  <a:fillRect l="-1047" t="-3642" r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540710" y="2274765"/>
            <a:ext cx="10387820" cy="1304914"/>
            <a:chOff x="1540710" y="2274765"/>
            <a:chExt cx="10387820" cy="130491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2057400" y="2274765"/>
              <a:ext cx="0" cy="1304914"/>
            </a:xfrm>
            <a:prstGeom prst="line">
              <a:avLst/>
            </a:prstGeom>
            <a:ln w="38100">
              <a:solidFill>
                <a:srgbClr val="7030A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1540710" y="2684732"/>
                  <a:ext cx="283994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𝐨</m:t>
                            </m:r>
                            <m: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800" b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𝐚</m:t>
                            </m:r>
                            <m:r>
                              <a:rPr lang="zh-CN" altLang="en-US" sz="2800" b="1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0710" y="2684732"/>
                  <a:ext cx="2839945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/>
            <p:cNvCxnSpPr/>
            <p:nvPr/>
          </p:nvCxnSpPr>
          <p:spPr>
            <a:xfrm>
              <a:off x="9588630" y="2274765"/>
              <a:ext cx="0" cy="1304914"/>
            </a:xfrm>
            <a:prstGeom prst="line">
              <a:avLst/>
            </a:prstGeom>
            <a:ln w="38100">
              <a:solidFill>
                <a:srgbClr val="7030A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9038252" y="2695840"/>
                  <a:ext cx="2890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i="1" dirty="0" smtClean="0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𝐨</m:t>
                            </m:r>
                            <m: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800" b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𝐚</m:t>
                            </m:r>
                            <m:r>
                              <a:rPr lang="zh-CN" altLang="en-US" sz="2800" b="1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chemeClr val="bg1"/>
                                    </a:solidFill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8252" y="2695840"/>
                  <a:ext cx="2890278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" name="Straight Connector 21"/>
          <p:cNvCxnSpPr/>
          <p:nvPr/>
        </p:nvCxnSpPr>
        <p:spPr>
          <a:xfrm flipV="1">
            <a:off x="6161383" y="5169485"/>
            <a:ext cx="1840526" cy="2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9495753" y="5831839"/>
            <a:ext cx="1840526" cy="2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27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/>
          <p:cNvSpPr txBox="1"/>
          <p:nvPr/>
        </p:nvSpPr>
        <p:spPr>
          <a:xfrm>
            <a:off x="4579079" y="1498598"/>
            <a:ext cx="3031151" cy="49244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Central Controller</a:t>
            </a:r>
            <a:endParaRPr lang="en-US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2057400" y="2274765"/>
            <a:ext cx="0" cy="1304914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507022" y="2662590"/>
                <a:ext cx="6350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022" y="2662590"/>
                <a:ext cx="63504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/>
          <p:cNvCxnSpPr/>
          <p:nvPr/>
        </p:nvCxnSpPr>
        <p:spPr>
          <a:xfrm>
            <a:off x="2328298" y="2254130"/>
            <a:ext cx="3422" cy="1323864"/>
          </a:xfrm>
          <a:prstGeom prst="line">
            <a:avLst/>
          </a:prstGeom>
          <a:ln w="38100">
            <a:solidFill>
              <a:srgbClr val="FF0000"/>
            </a:solidFill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2254920" y="2726874"/>
                <a:ext cx="6350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920" y="2726874"/>
                <a:ext cx="635046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/>
          <p:cNvCxnSpPr/>
          <p:nvPr/>
        </p:nvCxnSpPr>
        <p:spPr>
          <a:xfrm>
            <a:off x="9588630" y="2274765"/>
            <a:ext cx="0" cy="1304914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9038252" y="2662590"/>
                <a:ext cx="6605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252" y="2662590"/>
                <a:ext cx="660565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/>
          <p:cNvCxnSpPr/>
          <p:nvPr/>
        </p:nvCxnSpPr>
        <p:spPr>
          <a:xfrm>
            <a:off x="9859528" y="2254130"/>
            <a:ext cx="3422" cy="1323864"/>
          </a:xfrm>
          <a:prstGeom prst="line">
            <a:avLst/>
          </a:prstGeom>
          <a:ln w="38100">
            <a:solidFill>
              <a:srgbClr val="FF0000"/>
            </a:solidFill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9786150" y="2726874"/>
                <a:ext cx="6648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150" y="2726874"/>
                <a:ext cx="66486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899160" y="1210627"/>
            <a:ext cx="11064434" cy="4003072"/>
            <a:chOff x="899160" y="1210627"/>
            <a:chExt cx="11064434" cy="4003072"/>
          </a:xfrm>
        </p:grpSpPr>
        <p:sp>
          <p:nvSpPr>
            <p:cNvPr id="2" name="Rounded Rectangle 1"/>
            <p:cNvSpPr/>
            <p:nvPr/>
          </p:nvSpPr>
          <p:spPr>
            <a:xfrm>
              <a:off x="899160" y="1210627"/>
              <a:ext cx="10332720" cy="1151195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198312" y="144267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1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3339226" y="2346960"/>
              <a:ext cx="3422" cy="2866739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3262621" y="3366858"/>
                  <a:ext cx="11101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621" y="3366858"/>
                  <a:ext cx="1110112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Rounded Rectangle 65"/>
            <p:cNvSpPr/>
            <p:nvPr/>
          </p:nvSpPr>
          <p:spPr>
            <a:xfrm>
              <a:off x="8729542" y="1442679"/>
              <a:ext cx="2016486" cy="665836"/>
            </a:xfrm>
            <a:prstGeom prst="roundRect">
              <a:avLst/>
            </a:prstGeom>
            <a:solidFill>
              <a:srgbClr val="EFB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Critic</a:t>
              </a:r>
              <a:r>
                <a:rPr lang="zh-CN" altLang="en-US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</a:t>
              </a:r>
              <a:endParaRPr 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endParaRPr>
            </a:p>
          </p:txBody>
        </p:sp>
        <p:cxnSp>
          <p:nvCxnSpPr>
            <p:cNvPr id="69" name="Straight Connector 68"/>
            <p:cNvCxnSpPr/>
            <p:nvPr/>
          </p:nvCxnSpPr>
          <p:spPr>
            <a:xfrm>
              <a:off x="10870456" y="2346960"/>
              <a:ext cx="3422" cy="2866739"/>
            </a:xfrm>
            <a:prstGeom prst="line">
              <a:avLst/>
            </a:prstGeom>
            <a:ln w="38100">
              <a:solidFill>
                <a:schemeClr val="tx2"/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10793851" y="3366858"/>
                  <a:ext cx="116974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3851" y="3366858"/>
                  <a:ext cx="1169743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/>
          <p:cNvSpPr txBox="1"/>
          <p:nvPr/>
        </p:nvSpPr>
        <p:spPr>
          <a:xfrm>
            <a:off x="731520" y="1098899"/>
            <a:ext cx="11232074" cy="413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Decentralized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Execution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99160" y="5363090"/>
            <a:ext cx="10332720" cy="66920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0114" y="3581364"/>
            <a:ext cx="1892882" cy="665836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Actor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761231" y="3553578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231" y="3553578"/>
                <a:ext cx="666849" cy="73866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1507022" y="4250570"/>
            <a:ext cx="8196091" cy="1112520"/>
            <a:chOff x="1507022" y="4250570"/>
            <a:chExt cx="8196091" cy="111252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2057400" y="4250570"/>
              <a:ext cx="0" cy="111252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507022" y="4479251"/>
                  <a:ext cx="63504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7022" y="4479251"/>
                  <a:ext cx="635046" cy="523220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60"/>
            <p:cNvCxnSpPr/>
            <p:nvPr/>
          </p:nvCxnSpPr>
          <p:spPr>
            <a:xfrm>
              <a:off x="9588630" y="4250570"/>
              <a:ext cx="0" cy="111252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9038252" y="4479251"/>
                  <a:ext cx="66486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8252" y="4479251"/>
                  <a:ext cx="664861" cy="523220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Rounded Rectangle 63"/>
          <p:cNvSpPr/>
          <p:nvPr/>
        </p:nvSpPr>
        <p:spPr>
          <a:xfrm>
            <a:off x="8791344" y="3581364"/>
            <a:ext cx="1892882" cy="665836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Actor</a:t>
            </a:r>
            <a:r>
              <a:rPr lang="zh-CN" altLang="en-US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328298" y="4250570"/>
            <a:ext cx="8189102" cy="1112520"/>
            <a:chOff x="2328298" y="4250570"/>
            <a:chExt cx="8189102" cy="111252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2328298" y="4250570"/>
              <a:ext cx="3422" cy="111252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328298" y="4479251"/>
                  <a:ext cx="62805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8298" y="4479251"/>
                  <a:ext cx="628056" cy="523220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Connector 62"/>
            <p:cNvCxnSpPr/>
            <p:nvPr/>
          </p:nvCxnSpPr>
          <p:spPr>
            <a:xfrm>
              <a:off x="9859528" y="4250570"/>
              <a:ext cx="3422" cy="111252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stealth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9859528" y="4479251"/>
                  <a:ext cx="65787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9528" y="4479251"/>
                  <a:ext cx="657872" cy="523220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906487" y="2893972"/>
            <a:ext cx="10150044" cy="523220"/>
            <a:chOff x="906487" y="2893972"/>
            <a:chExt cx="10150044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906487" y="2893972"/>
                  <a:ext cx="27569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~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⋅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𝑜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0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487" y="2893972"/>
                  <a:ext cx="2756909" cy="523220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8210175" y="2893972"/>
                  <a:ext cx="284635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~ </m:t>
                        </m:r>
                        <m:r>
                          <a:rPr lang="en-US" altLang="zh-CN" sz="28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⋅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𝑜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2800" b="0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0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sz="2800" b="0" i="1" dirty="0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0175" y="2893972"/>
                  <a:ext cx="2846356" cy="523220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5479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Parameter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Sharing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88968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55908" y="1234441"/>
                <a:ext cx="9080184" cy="3200400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networks: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𝑖</m:t>
                    </m:r>
                    <m:r>
                      <a:rPr lang="en-US" altLang="zh-CN" b="0" i="1" smtClean="0">
                        <a:latin typeface="Cambria Math" charset="0"/>
                      </a:rPr>
                      <m:t>=1, 2, ⋯, </m:t>
                    </m:r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networks: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𝑞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𝐨</m:t>
                        </m:r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en-US" altLang="zh-CN" b="1" i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𝐚</m:t>
                        </m:r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  <m:r>
                      <a:rPr lang="en-US" altLang="zh-CN" i="1">
                        <a:latin typeface="Cambria Math" charset="0"/>
                      </a:rPr>
                      <m:t>=1, 2, ⋯, </m:t>
                    </m:r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/>
                  <a:t>.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Trainable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parameters: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0" smtClean="0">
                                    <a:latin typeface="Cambria Math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Parameter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sharing: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charset="0"/>
                          </a:rPr>
                          <m:t>𝐰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some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𝑗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5908" y="1234441"/>
                <a:ext cx="9080184" cy="3200400"/>
              </a:xfrm>
              <a:blipFill rotWithShape="0">
                <a:blip r:embed="rId3"/>
                <a:stretch>
                  <a:fillRect l="-1208" t="-2286" r="-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Parameter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Sharing?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5908" y="4892040"/>
            <a:ext cx="90801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Question:</a:t>
            </a:r>
            <a:r>
              <a:rPr lang="zh-CN" altLang="en-US" sz="2800" b="1" dirty="0"/>
              <a:t>  </a:t>
            </a:r>
            <a:r>
              <a:rPr lang="en-US" altLang="zh-CN" sz="2800" dirty="0"/>
              <a:t>Shall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networks</a:t>
            </a:r>
            <a:r>
              <a:rPr lang="zh-CN" altLang="en-US" sz="2800" dirty="0"/>
              <a:t> </a:t>
            </a:r>
            <a:r>
              <a:rPr lang="en-US" altLang="zh-CN" sz="2800" dirty="0"/>
              <a:t>share</a:t>
            </a:r>
            <a:r>
              <a:rPr lang="zh-CN" altLang="en-US" sz="2800" dirty="0"/>
              <a:t> </a:t>
            </a:r>
            <a:r>
              <a:rPr lang="en-US" altLang="zh-CN" sz="2800" dirty="0"/>
              <a:t>parameters?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813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Parameter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Sharing?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950" y="1986320"/>
            <a:ext cx="7758530" cy="43659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98830" y="1253044"/>
            <a:ext cx="899433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Do</a:t>
            </a:r>
            <a:r>
              <a:rPr lang="zh-CN" altLang="en-US" sz="2800" dirty="0"/>
              <a:t> </a:t>
            </a:r>
            <a:r>
              <a:rPr lang="en-US" altLang="zh-CN" sz="2800" dirty="0"/>
              <a:t>not</a:t>
            </a:r>
            <a:r>
              <a:rPr lang="zh-CN" altLang="en-US" sz="2800" dirty="0"/>
              <a:t> </a:t>
            </a:r>
            <a:r>
              <a:rPr lang="en-US" altLang="zh-CN" sz="2800" dirty="0"/>
              <a:t>share</a:t>
            </a:r>
            <a:r>
              <a:rPr lang="zh-CN" altLang="en-US" sz="2800" dirty="0"/>
              <a:t> </a:t>
            </a:r>
            <a:r>
              <a:rPr lang="en-US" altLang="zh-CN" sz="2800" dirty="0"/>
              <a:t>parameters</a:t>
            </a:r>
            <a:r>
              <a:rPr lang="zh-CN" altLang="en-US" sz="2800" dirty="0"/>
              <a:t> </a:t>
            </a:r>
            <a:r>
              <a:rPr lang="en-US" altLang="zh-CN" sz="2800" dirty="0"/>
              <a:t>if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agents</a:t>
            </a:r>
            <a:r>
              <a:rPr lang="zh-CN" altLang="en-US" sz="2800" dirty="0"/>
              <a:t> </a:t>
            </a:r>
            <a:r>
              <a:rPr lang="en-US" altLang="zh-CN" sz="2800" dirty="0"/>
              <a:t>are</a:t>
            </a:r>
            <a:r>
              <a:rPr lang="zh-CN" altLang="en-US" sz="2800" dirty="0"/>
              <a:t> </a:t>
            </a:r>
            <a:r>
              <a:rPr lang="en-US" altLang="zh-CN" sz="2800" dirty="0"/>
              <a:t>non-exchangeable.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420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Parameter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Sharing?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014" y="1986320"/>
            <a:ext cx="6636306" cy="44242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68021" y="1253044"/>
            <a:ext cx="7655958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Share</a:t>
            </a:r>
            <a:r>
              <a:rPr lang="zh-CN" altLang="en-US" sz="2800" dirty="0"/>
              <a:t> </a:t>
            </a:r>
            <a:r>
              <a:rPr lang="en-US" altLang="zh-CN" sz="2800" dirty="0"/>
              <a:t>parameters</a:t>
            </a:r>
            <a:r>
              <a:rPr lang="zh-CN" altLang="en-US" sz="2800" dirty="0"/>
              <a:t> </a:t>
            </a:r>
            <a:r>
              <a:rPr lang="en-US" altLang="zh-CN" sz="2800" dirty="0"/>
              <a:t>if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agents</a:t>
            </a:r>
            <a:r>
              <a:rPr lang="zh-CN" altLang="en-US" sz="2800" dirty="0"/>
              <a:t> </a:t>
            </a:r>
            <a:r>
              <a:rPr lang="en-US" altLang="zh-CN" sz="2800" dirty="0"/>
              <a:t>are</a:t>
            </a:r>
            <a:r>
              <a:rPr lang="zh-CN" altLang="en-US" sz="2800" dirty="0"/>
              <a:t> </a:t>
            </a:r>
            <a:r>
              <a:rPr lang="en-US" altLang="zh-CN" sz="2800" dirty="0"/>
              <a:t>exchangeable.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17025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Summary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02407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Decentralized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123949" y="1662544"/>
            <a:ext cx="10167505" cy="429629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independent.</a:t>
            </a:r>
          </a:p>
          <a:p>
            <a:pPr>
              <a:spcAft>
                <a:spcPts val="1200"/>
              </a:spcAft>
            </a:pPr>
            <a:r>
              <a:rPr lang="en-US" altLang="zh-CN" dirty="0"/>
              <a:t>One agent is unaware of the</a:t>
            </a:r>
            <a:r>
              <a:rPr lang="zh-CN" altLang="en-US" dirty="0"/>
              <a:t> </a:t>
            </a:r>
            <a:r>
              <a:rPr lang="en-US" altLang="zh-CN" dirty="0"/>
              <a:t>other agents’ observations and actions.</a:t>
            </a:r>
          </a:p>
          <a:p>
            <a:pPr>
              <a:spcAft>
                <a:spcPts val="1200"/>
              </a:spcAft>
            </a:pPr>
            <a:r>
              <a:rPr lang="en-US" altLang="zh-CN" dirty="0"/>
              <a:t>Train every agent in the same way as single-agent RL.</a:t>
            </a:r>
          </a:p>
          <a:p>
            <a:pPr>
              <a:spcAft>
                <a:spcPts val="1200"/>
              </a:spcAft>
            </a:pPr>
            <a:r>
              <a:rPr lang="en-US" altLang="zh-CN" dirty="0"/>
              <a:t>This does not work well.</a:t>
            </a:r>
          </a:p>
        </p:txBody>
      </p:sp>
    </p:spTree>
    <p:extLst>
      <p:ext uri="{BB962C8B-B14F-4D97-AF65-F5344CB8AC3E}">
        <p14:creationId xmlns:p14="http://schemas.microsoft.com/office/powerpoint/2010/main" val="1242211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925390" y="1680129"/>
            <a:ext cx="10341220" cy="429629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altLang="zh-CN" dirty="0"/>
              <a:t>All the policy and value networks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central</a:t>
            </a:r>
            <a:r>
              <a:rPr lang="zh-CN" altLang="en-US" dirty="0"/>
              <a:t> </a:t>
            </a:r>
            <a:r>
              <a:rPr lang="en-US" altLang="zh-CN" dirty="0"/>
              <a:t>controller.</a:t>
            </a:r>
          </a:p>
          <a:p>
            <a:pPr>
              <a:spcAft>
                <a:spcPts val="1200"/>
              </a:spcAft>
            </a:pPr>
            <a:r>
              <a:rPr lang="en-US" altLang="zh-CN" dirty="0"/>
              <a:t>Agents</a:t>
            </a:r>
            <a:r>
              <a:rPr lang="zh-CN" altLang="en-US" dirty="0"/>
              <a:t> </a:t>
            </a:r>
            <a:r>
              <a:rPr lang="en-US" altLang="zh-CN" dirty="0"/>
              <a:t>send</a:t>
            </a:r>
            <a:r>
              <a:rPr lang="zh-CN" altLang="en-US" dirty="0"/>
              <a:t> </a:t>
            </a:r>
            <a:r>
              <a:rPr lang="en-US" altLang="zh-CN" dirty="0"/>
              <a:t>everything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controller.</a:t>
            </a:r>
          </a:p>
          <a:p>
            <a:pPr>
              <a:spcAft>
                <a:spcPts val="1200"/>
              </a:spcAft>
            </a:pPr>
            <a:r>
              <a:rPr lang="en-US" altLang="zh-CN" dirty="0"/>
              <a:t>The controller makes decisions based on all the agents’ observations.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decisions.</a:t>
            </a:r>
          </a:p>
          <a:p>
            <a:pPr>
              <a:spcAft>
                <a:spcPts val="1200"/>
              </a:spcAft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controller</a:t>
            </a:r>
            <a:r>
              <a:rPr lang="zh-CN" altLang="en-US" dirty="0"/>
              <a:t> </a:t>
            </a:r>
            <a:r>
              <a:rPr lang="en-US" altLang="zh-CN" dirty="0"/>
              <a:t>tells</a:t>
            </a:r>
            <a:r>
              <a:rPr lang="zh-CN" altLang="en-US" dirty="0"/>
              <a:t> </a:t>
            </a:r>
            <a:r>
              <a:rPr lang="en-US" altLang="zh-CN" dirty="0"/>
              <a:t>every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do.</a:t>
            </a:r>
          </a:p>
        </p:txBody>
      </p:sp>
    </p:spTree>
    <p:extLst>
      <p:ext uri="{BB962C8B-B14F-4D97-AF65-F5344CB8AC3E}">
        <p14:creationId xmlns:p14="http://schemas.microsoft.com/office/powerpoint/2010/main" val="1080461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Training,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Decentralized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Execution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123949" y="1662544"/>
            <a:ext cx="10167505" cy="429629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altLang="zh-CN" dirty="0"/>
              <a:t>Each agent has its own policy network.</a:t>
            </a:r>
          </a:p>
          <a:p>
            <a:pPr>
              <a:spcAft>
                <a:spcPts val="1200"/>
              </a:spcAft>
            </a:pPr>
            <a:r>
              <a:rPr lang="en-US" altLang="zh-CN" dirty="0"/>
              <a:t>The central controller has all the value networks.</a:t>
            </a:r>
          </a:p>
          <a:p>
            <a:pPr>
              <a:spcAft>
                <a:spcPts val="1200"/>
              </a:spcAft>
            </a:pPr>
            <a:r>
              <a:rPr lang="en-US" altLang="zh-CN" dirty="0"/>
              <a:t>The central controller helps with the training; it is disabled during execution.</a:t>
            </a:r>
          </a:p>
        </p:txBody>
      </p:sp>
    </p:spTree>
    <p:extLst>
      <p:ext uri="{BB962C8B-B14F-4D97-AF65-F5344CB8AC3E}">
        <p14:creationId xmlns:p14="http://schemas.microsoft.com/office/powerpoint/2010/main" val="20520525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55935" y="1745680"/>
            <a:ext cx="10880129" cy="897772"/>
            <a:chOff x="641311" y="1812175"/>
            <a:chExt cx="10880129" cy="897772"/>
          </a:xfrm>
        </p:grpSpPr>
        <p:sp>
          <p:nvSpPr>
            <p:cNvPr id="6" name="Rounded Rectangle 5"/>
            <p:cNvSpPr/>
            <p:nvPr/>
          </p:nvSpPr>
          <p:spPr>
            <a:xfrm>
              <a:off x="641311" y="1812175"/>
              <a:ext cx="10880129" cy="89777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1311" y="1962975"/>
              <a:ext cx="396134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Fully</a:t>
              </a:r>
              <a:r>
                <a:rPr lang="zh-CN" altLang="en-US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 </a:t>
              </a:r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Decentralized</a:t>
              </a:r>
              <a:endParaRPr 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475250" y="823538"/>
            <a:ext cx="281679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Policy</a:t>
            </a:r>
            <a:r>
              <a:rPr lang="zh-CN" alt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(Actor)</a:t>
            </a:r>
            <a:endParaRPr lang="en-US" sz="3000" b="1" dirty="0">
              <a:solidFill>
                <a:schemeClr val="tx2"/>
              </a:solidFill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97572" y="823538"/>
            <a:ext cx="27109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Value</a:t>
            </a:r>
            <a:r>
              <a:rPr lang="zh-CN" alt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(Critic)</a:t>
            </a:r>
            <a:endParaRPr lang="en-US" sz="3000" b="1" dirty="0">
              <a:solidFill>
                <a:schemeClr val="tx2"/>
              </a:solidFill>
              <a:latin typeface="Lucida Bright" charset="0"/>
              <a:ea typeface="Lucida Bright" charset="0"/>
              <a:cs typeface="Lucida Br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783914" y="1868747"/>
                <a:ext cx="2321020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charset="0"/>
                        </a:rPr>
                        <m:t>𝜋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𝑜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𝛉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914" y="1868747"/>
                <a:ext cx="2321020" cy="64819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844959" y="1868746"/>
                <a:ext cx="2520049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charset="0"/>
                        </a:rPr>
                        <m:t>𝑞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𝑜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959" y="1868746"/>
                <a:ext cx="2520049" cy="64819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5783914" y="2552107"/>
            <a:ext cx="2321020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944473" y="2552107"/>
            <a:ext cx="2321020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1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55935" y="1745680"/>
            <a:ext cx="10880129" cy="897772"/>
            <a:chOff x="641311" y="1812175"/>
            <a:chExt cx="10880129" cy="897772"/>
          </a:xfrm>
        </p:grpSpPr>
        <p:sp>
          <p:nvSpPr>
            <p:cNvPr id="6" name="Rounded Rectangle 5"/>
            <p:cNvSpPr/>
            <p:nvPr/>
          </p:nvSpPr>
          <p:spPr>
            <a:xfrm>
              <a:off x="641311" y="1812175"/>
              <a:ext cx="10880129" cy="89777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1311" y="1962975"/>
              <a:ext cx="396134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Fully</a:t>
              </a:r>
              <a:r>
                <a:rPr lang="zh-CN" altLang="en-US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 </a:t>
              </a:r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Decentralized</a:t>
              </a:r>
              <a:endParaRPr 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55935" y="2963751"/>
            <a:ext cx="10880129" cy="897772"/>
            <a:chOff x="641311" y="1812175"/>
            <a:chExt cx="10880129" cy="897772"/>
          </a:xfrm>
        </p:grpSpPr>
        <p:sp>
          <p:nvSpPr>
            <p:cNvPr id="12" name="Rounded Rectangle 11"/>
            <p:cNvSpPr/>
            <p:nvPr/>
          </p:nvSpPr>
          <p:spPr>
            <a:xfrm>
              <a:off x="641311" y="1812175"/>
              <a:ext cx="10880129" cy="897772"/>
            </a:xfrm>
            <a:prstGeom prst="roundRect">
              <a:avLst/>
            </a:prstGeom>
            <a:solidFill>
              <a:srgbClr val="F6DC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1311" y="1962975"/>
              <a:ext cx="350608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Fully</a:t>
              </a:r>
              <a:r>
                <a:rPr lang="zh-CN" altLang="en-US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 </a:t>
              </a:r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Centralized</a:t>
              </a:r>
              <a:endParaRPr 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475250" y="823538"/>
            <a:ext cx="281679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Policy</a:t>
            </a:r>
            <a:r>
              <a:rPr lang="zh-CN" alt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(Actor)</a:t>
            </a:r>
            <a:endParaRPr lang="en-US" sz="3000" b="1" dirty="0">
              <a:solidFill>
                <a:schemeClr val="tx2"/>
              </a:solidFill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97572" y="823538"/>
            <a:ext cx="27109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Value</a:t>
            </a:r>
            <a:r>
              <a:rPr lang="zh-CN" alt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(Critic)</a:t>
            </a:r>
            <a:endParaRPr lang="en-US" sz="3000" b="1" dirty="0">
              <a:solidFill>
                <a:schemeClr val="tx2"/>
              </a:solidFill>
              <a:latin typeface="Lucida Bright" charset="0"/>
              <a:ea typeface="Lucida Bright" charset="0"/>
              <a:cs typeface="Lucida Br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783914" y="1868747"/>
                <a:ext cx="2321020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charset="0"/>
                        </a:rPr>
                        <m:t>𝜋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𝑜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𝛉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914" y="1868747"/>
                <a:ext cx="2321020" cy="64819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844959" y="1868746"/>
                <a:ext cx="2520049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charset="0"/>
                        </a:rPr>
                        <m:t>𝑞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𝑜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959" y="1868746"/>
                <a:ext cx="2520049" cy="64819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783914" y="3086818"/>
                <a:ext cx="2183868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charset="0"/>
                        </a:rPr>
                        <m:t>𝜋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  <m:e>
                          <m:r>
                            <a:rPr lang="en-US" altLang="zh-CN" sz="32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𝐨</m:t>
                          </m:r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𝛉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914" y="3086818"/>
                <a:ext cx="2183868" cy="64819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844959" y="3086817"/>
                <a:ext cx="2160207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charset="0"/>
                        </a:rPr>
                        <m:t>𝑞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𝐨</m:t>
                          </m:r>
                          <m:r>
                            <a:rPr lang="en-US" altLang="zh-CN" sz="32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3200" b="1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𝐚</m:t>
                          </m:r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959" y="3086817"/>
                <a:ext cx="2160207" cy="64819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5783914" y="3800615"/>
            <a:ext cx="2321020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944473" y="3800615"/>
            <a:ext cx="2321020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89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55935" y="1745680"/>
            <a:ext cx="10880129" cy="897772"/>
            <a:chOff x="641311" y="1812175"/>
            <a:chExt cx="10880129" cy="897772"/>
          </a:xfrm>
        </p:grpSpPr>
        <p:sp>
          <p:nvSpPr>
            <p:cNvPr id="6" name="Rounded Rectangle 5"/>
            <p:cNvSpPr/>
            <p:nvPr/>
          </p:nvSpPr>
          <p:spPr>
            <a:xfrm>
              <a:off x="641311" y="1812175"/>
              <a:ext cx="10880129" cy="89777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1311" y="1962975"/>
              <a:ext cx="396134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Fully</a:t>
              </a:r>
              <a:r>
                <a:rPr lang="zh-CN" altLang="en-US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 </a:t>
              </a:r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Decentralized</a:t>
              </a:r>
              <a:endParaRPr 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55935" y="2963751"/>
            <a:ext cx="10880129" cy="897772"/>
            <a:chOff x="641311" y="1812175"/>
            <a:chExt cx="10880129" cy="897772"/>
          </a:xfrm>
        </p:grpSpPr>
        <p:sp>
          <p:nvSpPr>
            <p:cNvPr id="12" name="Rounded Rectangle 11"/>
            <p:cNvSpPr/>
            <p:nvPr/>
          </p:nvSpPr>
          <p:spPr>
            <a:xfrm>
              <a:off x="641311" y="1812175"/>
              <a:ext cx="10880129" cy="897772"/>
            </a:xfrm>
            <a:prstGeom prst="roundRect">
              <a:avLst/>
            </a:prstGeom>
            <a:solidFill>
              <a:srgbClr val="F6DC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5769290" y="1935242"/>
                  <a:ext cx="2183868" cy="648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i="1" smtClean="0">
                            <a:latin typeface="Cambria Math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sz="3200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𝐨</m:t>
                            </m:r>
                            <m:r>
                              <a:rPr lang="en-US" altLang="zh-CN" sz="3200" i="1"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9290" y="1935242"/>
                  <a:ext cx="2183868" cy="648191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/>
            <p:cNvSpPr txBox="1"/>
            <p:nvPr/>
          </p:nvSpPr>
          <p:spPr>
            <a:xfrm>
              <a:off x="641311" y="1962975"/>
              <a:ext cx="350608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Fully</a:t>
              </a:r>
              <a:r>
                <a:rPr lang="zh-CN" altLang="en-US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 </a:t>
              </a:r>
              <a:r>
                <a:rPr lang="en-US" altLang="zh-CN" sz="30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Centralized</a:t>
              </a:r>
              <a:endParaRPr 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934" y="4181822"/>
            <a:ext cx="10880129" cy="1021782"/>
            <a:chOff x="641311" y="1812175"/>
            <a:chExt cx="10880129" cy="1021782"/>
          </a:xfrm>
        </p:grpSpPr>
        <p:sp>
          <p:nvSpPr>
            <p:cNvPr id="17" name="Rounded Rectangle 16"/>
            <p:cNvSpPr/>
            <p:nvPr/>
          </p:nvSpPr>
          <p:spPr>
            <a:xfrm>
              <a:off x="641311" y="1812175"/>
              <a:ext cx="10880129" cy="102178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1311" y="1863225"/>
              <a:ext cx="457689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Centralized</a:t>
              </a:r>
              <a:r>
                <a:rPr lang="zh-CN" altLang="en-US" sz="28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 </a:t>
              </a:r>
              <a:r>
                <a:rPr lang="en-US" altLang="zh-CN" sz="28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Training,</a:t>
              </a:r>
            </a:p>
            <a:p>
              <a:r>
                <a:rPr lang="en-US" altLang="zh-CN" sz="28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Decentralized</a:t>
              </a:r>
              <a:r>
                <a:rPr lang="zh-CN" altLang="en-US" sz="28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 </a:t>
              </a:r>
              <a:r>
                <a:rPr lang="en-US" altLang="zh-CN" sz="2800" b="1" dirty="0">
                  <a:solidFill>
                    <a:schemeClr val="tx2"/>
                  </a:solidFill>
                  <a:latin typeface="Lucida Bright" charset="0"/>
                  <a:ea typeface="Lucida Bright" charset="0"/>
                  <a:cs typeface="Lucida Bright" charset="0"/>
                </a:rPr>
                <a:t>Execution</a:t>
              </a:r>
              <a:endParaRPr lang="en-US" sz="28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475250" y="823538"/>
            <a:ext cx="281679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Policy</a:t>
            </a:r>
            <a:r>
              <a:rPr lang="zh-CN" alt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(Actor)</a:t>
            </a:r>
            <a:endParaRPr lang="en-US" sz="3000" b="1" dirty="0">
              <a:solidFill>
                <a:schemeClr val="tx2"/>
              </a:solidFill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97572" y="823538"/>
            <a:ext cx="27109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Value</a:t>
            </a:r>
            <a:r>
              <a:rPr lang="zh-CN" altLang="en-US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3000" b="1" dirty="0">
                <a:solidFill>
                  <a:schemeClr val="tx2"/>
                </a:solidFill>
                <a:latin typeface="Lucida Bright" charset="0"/>
                <a:ea typeface="Lucida Bright" charset="0"/>
                <a:cs typeface="Lucida Bright" charset="0"/>
              </a:rPr>
              <a:t>(Critic)</a:t>
            </a:r>
            <a:endParaRPr lang="en-US" sz="3000" b="1" dirty="0">
              <a:solidFill>
                <a:schemeClr val="tx2"/>
              </a:solidFill>
              <a:latin typeface="Lucida Bright" charset="0"/>
              <a:ea typeface="Lucida Bright" charset="0"/>
              <a:cs typeface="Lucida Br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783914" y="1868747"/>
                <a:ext cx="2321020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charset="0"/>
                        </a:rPr>
                        <m:t>𝜋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𝑜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𝛉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914" y="1868747"/>
                <a:ext cx="2321020" cy="64819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844959" y="1868746"/>
                <a:ext cx="2520049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charset="0"/>
                        </a:rPr>
                        <m:t>𝑞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𝑜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959" y="1868746"/>
                <a:ext cx="2520049" cy="64819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783913" y="4371389"/>
                <a:ext cx="2321020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charset="0"/>
                        </a:rPr>
                        <m:t>𝜋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𝑜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𝛉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913" y="4371389"/>
                <a:ext cx="2321020" cy="64819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8844958" y="4371388"/>
                <a:ext cx="2160207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charset="0"/>
                        </a:rPr>
                        <m:t>𝑞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𝐨</m:t>
                          </m:r>
                          <m:r>
                            <a:rPr lang="en-US" altLang="zh-CN" sz="32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3200" b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𝐚</m:t>
                          </m:r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958" y="4371388"/>
                <a:ext cx="2160207" cy="64819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844959" y="3086817"/>
                <a:ext cx="2160207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charset="0"/>
                        </a:rPr>
                        <m:t>𝑞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𝐨</m:t>
                          </m:r>
                          <m:r>
                            <a:rPr lang="en-US" altLang="zh-CN" sz="32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3200" b="1" i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𝐚</m:t>
                          </m:r>
                          <m:r>
                            <a:rPr lang="en-US" altLang="zh-CN" sz="3200" i="1">
                              <a:latin typeface="Cambria Math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>
                                  <a:latin typeface="Cambria Math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959" y="3086817"/>
                <a:ext cx="2160207" cy="64819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5783914" y="5101879"/>
            <a:ext cx="2321020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792203" y="5101879"/>
            <a:ext cx="2321020" cy="0"/>
          </a:xfrm>
          <a:prstGeom prst="line">
            <a:avLst/>
          </a:prstGeom>
          <a:ln w="76200">
            <a:solidFill>
              <a:srgbClr val="0B24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52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5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4" grpId="2"/>
      <p:bldP spid="24" grpId="3"/>
      <p:bldP spid="26" grpId="0"/>
      <p:bldP spid="26" grpId="1"/>
      <p:bldP spid="26" grpId="2"/>
      <p:bldP spid="26" grpId="3"/>
      <p:bldP spid="26" grpId="4"/>
      <p:bldP spid="27" grpId="0"/>
      <p:bldP spid="27" grpId="1"/>
      <p:bldP spid="27" grpId="2"/>
      <p:bldP spid="27" grpId="3"/>
      <p:bldP spid="27" grpId="4"/>
      <p:bldP spid="28" grpId="0"/>
      <p:bldP spid="28" grpId="1"/>
      <p:bldP spid="28" grpId="2"/>
      <p:bldP spid="28" grpId="3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Thank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>
                <a:latin typeface="Lucida Bright" panose="02040602050505020304" pitchFamily="18" charset="0"/>
              </a:rPr>
              <a:t>you!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91103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205" y="1280161"/>
            <a:ext cx="9735589" cy="491342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Zhang, Yang, &amp; </a:t>
            </a:r>
            <a:r>
              <a:rPr lang="en-US" sz="2400" dirty="0" err="1"/>
              <a:t>Başar</a:t>
            </a:r>
            <a:r>
              <a:rPr lang="en-US" sz="2400" dirty="0"/>
              <a:t>.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Multi-agent reinforcement learning: a selective overview of theories and algorithms. </a:t>
            </a:r>
            <a:r>
              <a:rPr lang="en-US" sz="2400" i="1" dirty="0" err="1"/>
              <a:t>arXiv</a:t>
            </a:r>
            <a:r>
              <a:rPr lang="en-US" sz="2400" dirty="0"/>
              <a:t>, 2019.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François-</a:t>
            </a:r>
            <a:r>
              <a:rPr lang="en-US" sz="2400" dirty="0" err="1"/>
              <a:t>Lavet</a:t>
            </a:r>
            <a:r>
              <a:rPr lang="en-US" sz="2400" dirty="0"/>
              <a:t> et al.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An Introduction to Deep Reinforcement Learning. </a:t>
            </a:r>
            <a:r>
              <a:rPr lang="en-US" sz="2400" i="1" dirty="0"/>
              <a:t>Foundations and Trends in Machine Learning</a:t>
            </a:r>
            <a:r>
              <a:rPr lang="en-US" sz="2400" dirty="0"/>
              <a:t>, 2018.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Hernandez-Leal et al.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A survey of learning in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multiagent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environments: dealing with non-stationarity. </a:t>
            </a:r>
            <a:r>
              <a:rPr lang="en-US" sz="2400" i="1" dirty="0" err="1"/>
              <a:t>arXiv</a:t>
            </a:r>
            <a:r>
              <a:rPr lang="en-US" sz="2400" dirty="0"/>
              <a:t>, 2017.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Nguyen, Nguyen, &amp; </a:t>
            </a:r>
            <a:r>
              <a:rPr lang="en-US" sz="2400" dirty="0" err="1"/>
              <a:t>Nahavandi</a:t>
            </a:r>
            <a:r>
              <a:rPr lang="en-US" sz="2400" dirty="0"/>
              <a:t>.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Deep reinforcement learning for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multiagent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systems: A review of challenges, solutions, and applications. </a:t>
            </a:r>
            <a:r>
              <a:rPr lang="en-US" sz="2400" i="1" dirty="0"/>
              <a:t>IEEE Transactions on Cybernetics, </a:t>
            </a:r>
            <a:r>
              <a:rPr lang="en-US" sz="2400" dirty="0"/>
              <a:t>2020.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Li.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Deep reinforcement learning. </a:t>
            </a:r>
            <a:r>
              <a:rPr lang="en-US" sz="2400" i="1" dirty="0" err="1"/>
              <a:t>arXiv</a:t>
            </a:r>
            <a:r>
              <a:rPr lang="en-US" sz="2400" dirty="0"/>
              <a:t>, 2018.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Recommended Survey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Papers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595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28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Shortcoming: Difficult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to Train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3950" y="1630016"/>
                <a:ext cx="9944100" cy="4328823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 be the action space of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agent.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The action space of the central controller is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𝒜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×⋯×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𝒜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. (The action space is exponentially bigger.)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Bigger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space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makes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more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difficult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train.</a:t>
                </a:r>
              </a:p>
            </p:txBody>
          </p:sp>
        </mc:Choice>
        <mc:Fallback xmlns="">
          <p:sp>
            <p:nvSpPr>
              <p:cNvPr id="1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3950" y="1630016"/>
                <a:ext cx="9944100" cy="4328823"/>
              </a:xfrm>
              <a:blipFill rotWithShape="0">
                <a:blip r:embed="rId3"/>
                <a:stretch>
                  <a:fillRect l="-1103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502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56418</TotalTime>
  <Words>4715</Words>
  <Application>Microsoft Macintosh PowerPoint</Application>
  <PresentationFormat>Widescreen</PresentationFormat>
  <Paragraphs>1116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Courier New</vt:lpstr>
      <vt:lpstr>Lucida Bright</vt:lpstr>
      <vt:lpstr>Office Theme</vt:lpstr>
      <vt:lpstr>Multi-Agent Reinforcement Learning: Centralized VS Decentralized</vt:lpstr>
      <vt:lpstr>Architectures</vt:lpstr>
      <vt:lpstr>Partial Observations</vt:lpstr>
      <vt:lpstr>Fully Decentralized</vt:lpstr>
      <vt:lpstr>Fully Decentralized Training</vt:lpstr>
      <vt:lpstr>Fully Decentralized Execution</vt:lpstr>
      <vt:lpstr>Fully Decentralized Actor-Critic Method</vt:lpstr>
      <vt:lpstr>Fully Centralized</vt:lpstr>
      <vt:lpstr>Centralized Training</vt:lpstr>
      <vt:lpstr>Centralized Training</vt:lpstr>
      <vt:lpstr>Centralized Training</vt:lpstr>
      <vt:lpstr>Centralized Execution</vt:lpstr>
      <vt:lpstr>Centralized Execution</vt:lpstr>
      <vt:lpstr>Centralized Actor-Critic Method</vt:lpstr>
      <vt:lpstr>Centralized Actor-Critic Method</vt:lpstr>
      <vt:lpstr>Shortcoming: Slow during Execution</vt:lpstr>
      <vt:lpstr>Centralized Training with Decentralized Execution</vt:lpstr>
      <vt:lpstr>Centralized Training with Decentralized Execution</vt:lpstr>
      <vt:lpstr>Centralized Training</vt:lpstr>
      <vt:lpstr>Centralized Training</vt:lpstr>
      <vt:lpstr>Centralized Training</vt:lpstr>
      <vt:lpstr>Centralized Training</vt:lpstr>
      <vt:lpstr>Centralized Training</vt:lpstr>
      <vt:lpstr>Decentralized Execution</vt:lpstr>
      <vt:lpstr>Parameter Sharing</vt:lpstr>
      <vt:lpstr>Parameter Sharing?</vt:lpstr>
      <vt:lpstr>Parameter Sharing?</vt:lpstr>
      <vt:lpstr>Parameter Sharing?</vt:lpstr>
      <vt:lpstr>Summary</vt:lpstr>
      <vt:lpstr>Fully Decentralized</vt:lpstr>
      <vt:lpstr>Fully Centralized</vt:lpstr>
      <vt:lpstr>Centralized Training, Decentralized Execution</vt:lpstr>
      <vt:lpstr>PowerPoint Presentation</vt:lpstr>
      <vt:lpstr>PowerPoint Presentation</vt:lpstr>
      <vt:lpstr>PowerPoint Presentation</vt:lpstr>
      <vt:lpstr>Thank you!</vt:lpstr>
      <vt:lpstr>Recommended Survey Papers</vt:lpstr>
      <vt:lpstr>PowerPoint Presentation</vt:lpstr>
      <vt:lpstr>Shortcoming: Difficult to Train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shusen wang</dc:creator>
  <cp:lastModifiedBy>Shusen Wang</cp:lastModifiedBy>
  <cp:revision>1210</cp:revision>
  <cp:lastPrinted>2019-11-21T20:50:17Z</cp:lastPrinted>
  <dcterms:created xsi:type="dcterms:W3CDTF">2017-08-22T04:44:10Z</dcterms:created>
  <dcterms:modified xsi:type="dcterms:W3CDTF">2022-07-17T11:18:27Z</dcterms:modified>
</cp:coreProperties>
</file>