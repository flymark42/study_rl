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gif" ContentType="image/gi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862" r:id="rId3"/>
    <p:sldId id="858" r:id="rId4"/>
    <p:sldId id="876" r:id="rId5"/>
    <p:sldId id="859" r:id="rId6"/>
    <p:sldId id="880" r:id="rId7"/>
    <p:sldId id="866" r:id="rId8"/>
    <p:sldId id="885" r:id="rId9"/>
    <p:sldId id="867" r:id="rId10"/>
    <p:sldId id="868" r:id="rId11"/>
    <p:sldId id="870" r:id="rId12"/>
    <p:sldId id="871" r:id="rId13"/>
    <p:sldId id="864" r:id="rId14"/>
    <p:sldId id="882" r:id="rId15"/>
    <p:sldId id="872" r:id="rId16"/>
    <p:sldId id="887" r:id="rId17"/>
    <p:sldId id="857" r:id="rId18"/>
    <p:sldId id="832" r:id="rId19"/>
    <p:sldId id="873" r:id="rId20"/>
    <p:sldId id="878" r:id="rId21"/>
    <p:sldId id="874" r:id="rId22"/>
    <p:sldId id="886" r:id="rId23"/>
    <p:sldId id="875" r:id="rId24"/>
    <p:sldId id="883" r:id="rId25"/>
    <p:sldId id="879" r:id="rId26"/>
    <p:sldId id="884" r:id="rId27"/>
    <p:sldId id="888" r:id="rId28"/>
    <p:sldId id="80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24FB"/>
    <a:srgbClr val="EFBEF0"/>
    <a:srgbClr val="F6DCDD"/>
    <a:srgbClr val="BD1BBD"/>
    <a:srgbClr val="F80545"/>
    <a:srgbClr val="F7F7F7"/>
    <a:srgbClr val="020C7E"/>
    <a:srgbClr val="750308"/>
    <a:srgbClr val="7F0F7E"/>
    <a:srgbClr val="BFBE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73"/>
    <p:restoredTop sz="63659"/>
  </p:normalViewPr>
  <p:slideViewPr>
    <p:cSldViewPr snapToGrid="0" snapToObjects="1">
      <p:cViewPr>
        <p:scale>
          <a:sx n="75" d="100"/>
          <a:sy n="75" d="100"/>
        </p:scale>
        <p:origin x="2664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49C357-7F3A-6747-BE66-3881BDA4D39C}" type="datetimeFigureOut">
              <a:rPr lang="en-US" smtClean="0"/>
              <a:t>12/26/20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1F8700-0BCC-BB42-8973-85E47E56B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4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dirty="0" smtClean="0"/>
              <a:t>大家好，我是王树森。</a:t>
            </a:r>
            <a:endParaRPr lang="en-US" altLang="zh-CN" sz="1600" dirty="0" smtClean="0"/>
          </a:p>
          <a:p>
            <a:r>
              <a:rPr lang="zh-CN" altLang="en-US" sz="1600" dirty="0" smtClean="0"/>
              <a:t>在前面的五节课中，我介绍了强化学习的基础知识。</a:t>
            </a:r>
            <a:endParaRPr lang="en-US" altLang="zh-CN" sz="1600" dirty="0" smtClean="0"/>
          </a:p>
          <a:p>
            <a:r>
              <a:rPr lang="zh-CN" altLang="en-US" sz="1600" dirty="0" smtClean="0"/>
              <a:t>我用了一节课讲解 </a:t>
            </a:r>
            <a:r>
              <a:rPr lang="en-US" altLang="zh-CN" sz="1600" dirty="0" smtClean="0"/>
              <a:t>DQN</a:t>
            </a:r>
            <a:r>
              <a:rPr lang="zh-CN" altLang="en-US" sz="1600" dirty="0" smtClean="0"/>
              <a:t> 和 </a:t>
            </a:r>
            <a:r>
              <a:rPr lang="en-US" altLang="zh-CN" sz="1600" dirty="0" smtClean="0"/>
              <a:t>TD</a:t>
            </a:r>
            <a:r>
              <a:rPr lang="zh-CN" altLang="en-US" sz="1600" dirty="0" smtClean="0"/>
              <a:t> 算法的基础。</a:t>
            </a:r>
            <a:endParaRPr lang="en-US" altLang="zh-CN" sz="1600" dirty="0" smtClean="0"/>
          </a:p>
          <a:p>
            <a:r>
              <a:rPr lang="zh-CN" altLang="en-US" sz="1600" dirty="0" smtClean="0"/>
              <a:t>我讲的是最 </a:t>
            </a:r>
            <a:r>
              <a:rPr lang="en-US" altLang="zh-CN" sz="1600" dirty="0" smtClean="0"/>
              <a:t>simple</a:t>
            </a:r>
            <a:r>
              <a:rPr lang="zh-CN" altLang="en-US" sz="1600" dirty="0" smtClean="0"/>
              <a:t>、最 </a:t>
            </a:r>
            <a:r>
              <a:rPr lang="en-US" altLang="zh-CN" sz="1600" dirty="0" smtClean="0"/>
              <a:t>naive</a:t>
            </a:r>
            <a:r>
              <a:rPr lang="zh-CN" altLang="en-US" sz="1600" dirty="0" smtClean="0"/>
              <a:t> 的实现。</a:t>
            </a:r>
            <a:endParaRPr lang="en-US" altLang="zh-CN" sz="1600" dirty="0" smtClean="0"/>
          </a:p>
          <a:p>
            <a:r>
              <a:rPr lang="zh-CN" altLang="en-US" sz="1600" dirty="0" smtClean="0"/>
              <a:t>你要是按照那种去方式训练 </a:t>
            </a:r>
            <a:r>
              <a:rPr lang="en-US" altLang="zh-CN" sz="1600" dirty="0" smtClean="0"/>
              <a:t>DQN</a:t>
            </a:r>
            <a:r>
              <a:rPr lang="zh-CN" altLang="en-US" sz="1600" dirty="0" smtClean="0"/>
              <a:t>，效果应该会很差。</a:t>
            </a:r>
            <a:endParaRPr lang="en-US" altLang="zh-CN" sz="1600" dirty="0" smtClean="0"/>
          </a:p>
          <a:p>
            <a:r>
              <a:rPr lang="en-US" altLang="zh-CN" sz="1600" dirty="0" smtClean="0"/>
              <a:t>--------------</a:t>
            </a:r>
          </a:p>
          <a:p>
            <a:r>
              <a:rPr lang="zh-CN" altLang="en-US" sz="1600" dirty="0" smtClean="0"/>
              <a:t>这节课和接下来几节课，我要介绍 </a:t>
            </a:r>
            <a:r>
              <a:rPr lang="en-US" altLang="zh-CN" sz="1600" dirty="0" smtClean="0"/>
              <a:t>DQN</a:t>
            </a:r>
            <a:r>
              <a:rPr lang="zh-CN" altLang="en-US" sz="1600" dirty="0" smtClean="0"/>
              <a:t> 的一些高级技巧，可以大幅提升</a:t>
            </a:r>
            <a:r>
              <a:rPr lang="en-US" altLang="zh-CN" sz="1600" dirty="0" smtClean="0"/>
              <a:t>DQN</a:t>
            </a:r>
            <a:r>
              <a:rPr lang="zh-CN" altLang="en-US" sz="1600" dirty="0" smtClean="0"/>
              <a:t>的表现。</a:t>
            </a:r>
            <a:endParaRPr lang="en-US" altLang="zh-CN" sz="1600" dirty="0" smtClean="0"/>
          </a:p>
          <a:p>
            <a:r>
              <a:rPr lang="zh-CN" altLang="en-US" sz="1600" dirty="0" smtClean="0"/>
              <a:t>这节课我们学习最重要的技巧： </a:t>
            </a:r>
            <a:r>
              <a:rPr lang="en-US" altLang="zh-CN" sz="1600" dirty="0" smtClean="0">
                <a:solidFill>
                  <a:schemeClr val="tx1"/>
                </a:solidFill>
              </a:rPr>
              <a:t>Experience</a:t>
            </a:r>
            <a:r>
              <a:rPr lang="zh-CN" altLang="en-US" sz="1600" dirty="0" smtClean="0">
                <a:solidFill>
                  <a:schemeClr val="tx1"/>
                </a:solidFill>
              </a:rPr>
              <a:t> </a:t>
            </a:r>
            <a:r>
              <a:rPr lang="en-US" altLang="zh-CN" sz="1600" dirty="0" smtClean="0">
                <a:solidFill>
                  <a:schemeClr val="tx1"/>
                </a:solidFill>
              </a:rPr>
              <a:t>Replay</a:t>
            </a:r>
            <a:r>
              <a:rPr lang="zh-CN" altLang="en-US" sz="1600" dirty="0" smtClean="0">
                <a:solidFill>
                  <a:schemeClr val="tx1"/>
                </a:solidFill>
              </a:rPr>
              <a:t>，翻译成“经验回放”。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950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b="0" dirty="0" smtClean="0">
                <a:solidFill>
                  <a:schemeClr val="tx1"/>
                </a:solidFill>
                <a:latin typeface="+mn-lt"/>
              </a:rPr>
              <a:t>在开始这节课内容之前，我们先来回顾一下 </a:t>
            </a:r>
            <a:r>
              <a:rPr lang="en-US" altLang="zh-CN" sz="1600" b="0" dirty="0" smtClean="0">
                <a:solidFill>
                  <a:schemeClr val="tx1"/>
                </a:solidFill>
                <a:latin typeface="+mn-lt"/>
              </a:rPr>
              <a:t>DQN</a:t>
            </a:r>
            <a:r>
              <a:rPr lang="zh-CN" altLang="en-US" sz="1600" b="0" dirty="0" smtClean="0">
                <a:solidFill>
                  <a:schemeClr val="tx1"/>
                </a:solidFill>
                <a:latin typeface="+mn-lt"/>
              </a:rPr>
              <a:t> 和 </a:t>
            </a:r>
            <a:r>
              <a:rPr lang="en-US" altLang="zh-CN" sz="1600" b="0" dirty="0" smtClean="0">
                <a:solidFill>
                  <a:schemeClr val="tx1"/>
                </a:solidFill>
                <a:latin typeface="+mn-lt"/>
              </a:rPr>
              <a:t>TD</a:t>
            </a:r>
            <a:r>
              <a:rPr lang="zh-CN" altLang="en-US" sz="1600" b="0" dirty="0" smtClean="0">
                <a:solidFill>
                  <a:schemeClr val="tx1"/>
                </a:solidFill>
                <a:latin typeface="+mn-lt"/>
              </a:rPr>
              <a:t> 算法。</a:t>
            </a:r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10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我们之前学过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𝑄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⋆</m:t>
                        </m:r>
                      </m:sup>
                    </m:sSup>
                  </m:oMath>
                </a14:m>
                <a:r>
                  <a:rPr lang="zh-CN" altLang="en-US" sz="1600" dirty="0" smtClean="0"/>
                  <a:t> 函数，它叫做“最优动作价值函数”。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它依赖于当前状态 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baseline="0" dirty="0" smtClean="0"/>
                  <a:t> 和 </a:t>
                </a:r>
                <a:r>
                  <a:rPr lang="zh-CN" altLang="en-US" sz="1600" dirty="0" smtClean="0"/>
                  <a:t>动作 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它基于当前状态 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dirty="0" smtClean="0"/>
                  <a:t>，给所有动作 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 打分。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分数反映出动作的好坏。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 应该执行分数最高的动作。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=========================</a:t>
                </a:r>
              </a:p>
              <a:p>
                <a:r>
                  <a:rPr lang="en-US" altLang="zh-CN" sz="1600" dirty="0" smtClean="0"/>
                  <a:t>DQN</a:t>
                </a:r>
                <a:r>
                  <a:rPr lang="zh-CN" altLang="en-US" sz="1600" dirty="0" smtClean="0"/>
                  <a:t> 的意思是用神经网络来近似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𝑄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⋆</m:t>
                        </m:r>
                      </m:sup>
                    </m:sSup>
                  </m:oMath>
                </a14:m>
                <a:r>
                  <a:rPr lang="zh-CN" altLang="en-US" sz="1600" dirty="0" smtClean="0"/>
                  <a:t>函数。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神经网络的参数记做 </a:t>
                </a:r>
                <a:r>
                  <a:rPr lang="en-US" altLang="zh-CN" sz="1600" dirty="0" smtClean="0"/>
                  <a:t>w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训练好</a:t>
                </a:r>
                <a:r>
                  <a:rPr lang="en-US" altLang="zh-CN" sz="1600" dirty="0" smtClean="0"/>
                  <a:t>DQN</a:t>
                </a:r>
                <a:r>
                  <a:rPr lang="zh-CN" altLang="en-US" sz="1600" dirty="0" smtClean="0"/>
                  <a:t>之后，可以拿</a:t>
                </a:r>
                <a:r>
                  <a:rPr lang="en-US" altLang="zh-CN" sz="1600" dirty="0" smtClean="0"/>
                  <a:t>DQN</a:t>
                </a:r>
                <a:r>
                  <a:rPr lang="zh-CN" altLang="en-US" sz="1600" dirty="0" smtClean="0"/>
                  <a:t>来控制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我们之前学过 </a:t>
                </a:r>
                <a:r>
                  <a:rPr lang="en-US" altLang="zh-CN" sz="1600" i="0">
                    <a:latin typeface="Cambria Math" charset="0"/>
                  </a:rPr>
                  <a:t>𝑄</a:t>
                </a:r>
                <a:r>
                  <a:rPr lang="en-US" altLang="zh-CN" sz="1600" i="0" smtClean="0">
                    <a:latin typeface="Cambria Math" charset="0"/>
                  </a:rPr>
                  <a:t>^</a:t>
                </a:r>
                <a:r>
                  <a:rPr lang="en-US" altLang="zh-CN" sz="1600" i="0">
                    <a:latin typeface="Cambria Math" charset="0"/>
                  </a:rPr>
                  <a:t>⋆</a:t>
                </a:r>
                <a:r>
                  <a:rPr lang="zh-CN" altLang="en-US" sz="1600" dirty="0" smtClean="0"/>
                  <a:t> 函数，它是“动作价值函数”。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它依赖于当前状态 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baseline="0" dirty="0" smtClean="0"/>
                  <a:t> 和 </a:t>
                </a:r>
                <a:r>
                  <a:rPr lang="zh-CN" altLang="en-US" sz="1600" dirty="0" smtClean="0"/>
                  <a:t>动作 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它基于当前状态 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dirty="0" smtClean="0"/>
                  <a:t>，给所有动作 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 打分。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分数反映出动作的好坏。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 应该执行分数最高的动作。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=========================</a:t>
                </a:r>
              </a:p>
              <a:p>
                <a:r>
                  <a:rPr lang="en-US" altLang="zh-CN" sz="1600" dirty="0" smtClean="0"/>
                  <a:t>DQN</a:t>
                </a:r>
                <a:r>
                  <a:rPr lang="zh-CN" altLang="en-US" sz="1600" dirty="0" smtClean="0"/>
                  <a:t> 的意思是用神经网络来近似 </a:t>
                </a:r>
                <a:r>
                  <a:rPr lang="en-US" altLang="zh-CN" sz="1600" i="0">
                    <a:latin typeface="Cambria Math" charset="0"/>
                  </a:rPr>
                  <a:t>𝑄</a:t>
                </a:r>
                <a:r>
                  <a:rPr lang="en-US" altLang="zh-CN" sz="1600" i="0" smtClean="0">
                    <a:latin typeface="Cambria Math" charset="0"/>
                  </a:rPr>
                  <a:t>^</a:t>
                </a:r>
                <a:r>
                  <a:rPr lang="en-US" altLang="zh-CN" sz="1600" i="0">
                    <a:latin typeface="Cambria Math" charset="0"/>
                  </a:rPr>
                  <a:t>⋆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神经网络的参数记做 </a:t>
                </a:r>
                <a:r>
                  <a:rPr lang="en-US" altLang="zh-CN" sz="1600" dirty="0" smtClean="0"/>
                  <a:t>w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训练好</a:t>
                </a:r>
                <a:r>
                  <a:rPr lang="en-US" altLang="zh-CN" sz="1600" dirty="0" smtClean="0"/>
                  <a:t>DQN</a:t>
                </a:r>
                <a:r>
                  <a:rPr lang="zh-CN" altLang="en-US" sz="1600" dirty="0" smtClean="0"/>
                  <a:t>之后，可以拿</a:t>
                </a:r>
                <a:r>
                  <a:rPr lang="en-US" altLang="zh-CN" sz="1600" dirty="0" smtClean="0"/>
                  <a:t>DQN</a:t>
                </a:r>
                <a:r>
                  <a:rPr lang="zh-CN" altLang="en-US" sz="1600" dirty="0" smtClean="0"/>
                  <a:t>来控制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13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 smtClean="0"/>
              <a:t>DQN</a:t>
            </a:r>
            <a:r>
              <a:rPr lang="zh-CN" altLang="en-US" sz="1600" baseline="0" dirty="0" smtClean="0"/>
              <a:t> 的输入是当前状态 </a:t>
            </a:r>
            <a:r>
              <a:rPr lang="en-US" altLang="zh-CN" sz="1600" baseline="0" dirty="0" smtClean="0"/>
              <a:t>s</a:t>
            </a:r>
            <a:r>
              <a:rPr lang="zh-CN" altLang="en-US" sz="1600" baseline="0" dirty="0" smtClean="0"/>
              <a:t>。</a:t>
            </a:r>
            <a:endParaRPr lang="en-US" altLang="zh-CN" sz="1600" baseline="0" dirty="0" smtClean="0"/>
          </a:p>
          <a:p>
            <a:r>
              <a:rPr lang="zh-CN" altLang="en-US" sz="1600" baseline="0" dirty="0" smtClean="0"/>
              <a:t>比如超级玛丽游戏屏幕的画面。</a:t>
            </a:r>
            <a:endParaRPr lang="en-US" altLang="zh-CN" sz="1600" dirty="0" smtClean="0"/>
          </a:p>
          <a:p>
            <a:r>
              <a:rPr lang="en-US" altLang="zh-CN" sz="1600" dirty="0" smtClean="0"/>
              <a:t>=========================</a:t>
            </a:r>
          </a:p>
          <a:p>
            <a:r>
              <a:rPr lang="zh-CN" altLang="en-US" sz="1600" dirty="0" smtClean="0"/>
              <a:t>把状态 </a:t>
            </a:r>
            <a:r>
              <a:rPr lang="en-US" altLang="zh-CN" sz="1600" dirty="0" smtClean="0"/>
              <a:t>s</a:t>
            </a:r>
            <a:r>
              <a:rPr lang="zh-CN" altLang="en-US" sz="1600" dirty="0" smtClean="0"/>
              <a:t> 输入</a:t>
            </a:r>
            <a:r>
              <a:rPr lang="en-US" altLang="zh-CN" sz="1600" dirty="0" smtClean="0"/>
              <a:t>DQN</a:t>
            </a:r>
            <a:r>
              <a:rPr lang="zh-CN" altLang="en-US" sz="1600" dirty="0" smtClean="0"/>
              <a:t>。</a:t>
            </a:r>
            <a:endParaRPr lang="en-US" altLang="zh-CN" sz="1600" dirty="0" smtClean="0"/>
          </a:p>
          <a:p>
            <a:r>
              <a:rPr lang="en-US" altLang="zh-CN" sz="1600" dirty="0" smtClean="0"/>
              <a:t>DQN</a:t>
            </a:r>
            <a:r>
              <a:rPr lang="zh-CN" altLang="en-US" sz="1600" dirty="0" smtClean="0"/>
              <a:t> 中有卷积层和全连接层。</a:t>
            </a:r>
            <a:endParaRPr lang="en-US" altLang="zh-CN" sz="1600" dirty="0" smtClean="0"/>
          </a:p>
          <a:p>
            <a:r>
              <a:rPr lang="zh-CN" altLang="en-US" sz="1600" dirty="0" smtClean="0"/>
              <a:t>把它们的参数记做 </a:t>
            </a:r>
            <a:r>
              <a:rPr lang="en-US" altLang="zh-CN" sz="1600" dirty="0" smtClean="0"/>
              <a:t>w</a:t>
            </a:r>
            <a:r>
              <a:rPr lang="zh-CN" altLang="en-US" sz="1600" dirty="0" smtClean="0"/>
              <a:t>。</a:t>
            </a:r>
            <a:endParaRPr lang="en-US" altLang="zh-CN" sz="1600" dirty="0" smtClean="0"/>
          </a:p>
          <a:p>
            <a:r>
              <a:rPr lang="en-US" altLang="zh-CN" sz="1600" dirty="0" smtClean="0"/>
              <a:t>=========================</a:t>
            </a:r>
          </a:p>
          <a:p>
            <a:r>
              <a:rPr lang="en-US" altLang="zh-CN" sz="1600" dirty="0" smtClean="0"/>
              <a:t>DQN</a:t>
            </a:r>
            <a:r>
              <a:rPr lang="zh-CN" altLang="en-US" sz="1600" dirty="0" smtClean="0"/>
              <a:t> 的输出是所有动作的分数。</a:t>
            </a:r>
            <a:endParaRPr lang="en-US" altLang="zh-CN" sz="1600" dirty="0" smtClean="0"/>
          </a:p>
          <a:p>
            <a:r>
              <a:rPr lang="zh-CN" altLang="en-US" sz="1600" dirty="0" smtClean="0"/>
              <a:t>如果一共有</a:t>
            </a:r>
            <a:r>
              <a:rPr lang="en-US" altLang="zh-CN" sz="1600" dirty="0" smtClean="0"/>
              <a:t>3</a:t>
            </a:r>
            <a:r>
              <a:rPr lang="zh-CN" altLang="en-US" sz="1600" dirty="0" smtClean="0"/>
              <a:t>个可能的动作，那么</a:t>
            </a:r>
            <a:r>
              <a:rPr lang="en-US" altLang="zh-CN" sz="1600" dirty="0" smtClean="0"/>
              <a:t>DQN</a:t>
            </a:r>
            <a:r>
              <a:rPr lang="zh-CN" altLang="en-US" sz="1600" dirty="0" smtClean="0"/>
              <a:t>的输出是</a:t>
            </a:r>
            <a:r>
              <a:rPr lang="en-US" altLang="zh-CN" sz="1600" dirty="0" smtClean="0"/>
              <a:t>3</a:t>
            </a:r>
            <a:r>
              <a:rPr lang="zh-CN" altLang="en-US" sz="1600" dirty="0" smtClean="0"/>
              <a:t>维的向量。</a:t>
            </a:r>
            <a:endParaRPr lang="en-US" altLang="zh-CN" sz="1600" dirty="0" smtClean="0"/>
          </a:p>
          <a:p>
            <a:r>
              <a:rPr lang="en-US" altLang="zh-CN" sz="1600" dirty="0" smtClean="0"/>
              <a:t>=========================</a:t>
            </a:r>
          </a:p>
          <a:p>
            <a:r>
              <a:rPr lang="zh-CN" altLang="en-US" sz="1600" dirty="0" smtClean="0"/>
              <a:t>向量元素分别对应向左、向右、向上这三个动作。</a:t>
            </a:r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957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通常用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算法来训练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DQN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我们来简单复习一下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TD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算法。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===========================</a:t>
                </a: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观测到当前状态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，并且执行动作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环境会给出新的状态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，并且返回奖励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把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target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记做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部分基于真实观测的奖励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部分基于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DQN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在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t+1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时刻做的预测。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zh-CN" altLang="en-US" sz="16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TD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target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b="0" i="0" smtClean="0">
                    <a:latin typeface="Cambria Math" charset="0"/>
                  </a:rPr>
                  <a:t>𝑦</a:t>
                </a:r>
                <a:r>
                  <a:rPr lang="en-US" altLang="zh-CN" sz="1600" b="0" i="0" smtClean="0"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latin typeface="Cambria Math" charset="0"/>
                  </a:rPr>
                  <a:t>𝑡</a:t>
                </a:r>
                <a:r>
                  <a:rPr lang="zh-CN" altLang="en-US" sz="1600" dirty="0" smtClean="0"/>
                  <a:t> 部分基于真实观测。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而</a:t>
                </a:r>
                <a:r>
                  <a:rPr lang="en-US" altLang="zh-CN" sz="1600" dirty="0" smtClean="0"/>
                  <a:t>DQN</a:t>
                </a:r>
                <a:r>
                  <a:rPr lang="zh-CN" altLang="en-US" sz="1600" dirty="0" smtClean="0"/>
                  <a:t>的预测 </a:t>
                </a:r>
                <a:r>
                  <a:rPr lang="en-US" altLang="zh-CN" sz="1600" b="0" i="0" smtClean="0">
                    <a:solidFill>
                      <a:srgbClr val="7030A0"/>
                    </a:solidFill>
                    <a:latin typeface="Cambria Math" charset="0"/>
                  </a:rPr>
                  <a:t>𝑞</a:t>
                </a:r>
                <a:r>
                  <a:rPr lang="en-US" altLang="zh-CN" sz="1600" b="0" i="0" smtClean="0">
                    <a:solidFill>
                      <a:srgbClr val="7030A0"/>
                    </a:solidFill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solidFill>
                      <a:srgbClr val="7030A0"/>
                    </a:solidFill>
                    <a:latin typeface="Cambria Math" charset="0"/>
                  </a:rPr>
                  <a:t>𝑡</a:t>
                </a:r>
                <a:r>
                  <a:rPr lang="zh-CN" altLang="en-US" sz="1600" dirty="0" smtClean="0"/>
                  <a:t> 没有基于实际观测。</a:t>
                </a:r>
                <a:endParaRPr lang="en-US" altLang="zh-CN" sz="1600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1822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把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DQN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在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时刻做出的预测记做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𝑞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把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𝑞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减去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叫做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Error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，记为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DQN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的预测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𝑞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完全是凭空猜测的，没有基于实际观测。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而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target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部分基于真实观测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 部分基于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DQN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自己的预测。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所以我们认为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𝑞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更靠谱。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我们希望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𝑞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能接近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，也就是说让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Error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尽量小。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zh-CN" altLang="en-US" sz="16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TD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target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b="0" i="0" smtClean="0">
                    <a:latin typeface="Cambria Math" charset="0"/>
                  </a:rPr>
                  <a:t>𝑦</a:t>
                </a:r>
                <a:r>
                  <a:rPr lang="en-US" altLang="zh-CN" sz="1600" b="0" i="0" smtClean="0"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latin typeface="Cambria Math" charset="0"/>
                  </a:rPr>
                  <a:t>𝑡</a:t>
                </a:r>
                <a:r>
                  <a:rPr lang="zh-CN" altLang="en-US" sz="1600" dirty="0" smtClean="0"/>
                  <a:t> 部分基于真实观测。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而</a:t>
                </a:r>
                <a:r>
                  <a:rPr lang="en-US" altLang="zh-CN" sz="1600" dirty="0" smtClean="0"/>
                  <a:t>DQN</a:t>
                </a:r>
                <a:r>
                  <a:rPr lang="zh-CN" altLang="en-US" sz="1600" dirty="0" smtClean="0"/>
                  <a:t>的预测 </a:t>
                </a:r>
                <a:r>
                  <a:rPr lang="en-US" altLang="zh-CN" sz="1600" b="0" i="0" smtClean="0">
                    <a:solidFill>
                      <a:srgbClr val="7030A0"/>
                    </a:solidFill>
                    <a:latin typeface="Cambria Math" charset="0"/>
                  </a:rPr>
                  <a:t>𝑞</a:t>
                </a:r>
                <a:r>
                  <a:rPr lang="en-US" altLang="zh-CN" sz="1600" b="0" i="0" smtClean="0">
                    <a:solidFill>
                      <a:srgbClr val="7030A0"/>
                    </a:solidFill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solidFill>
                      <a:srgbClr val="7030A0"/>
                    </a:solidFill>
                    <a:latin typeface="Cambria Math" charset="0"/>
                  </a:rPr>
                  <a:t>𝑡</a:t>
                </a:r>
                <a:r>
                  <a:rPr lang="zh-CN" altLang="en-US" sz="1600" dirty="0" smtClean="0"/>
                  <a:t> 没有基于实际观测。</a:t>
                </a:r>
                <a:endParaRPr lang="en-US" altLang="zh-CN" sz="1600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7782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这是我们刚才定义的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Error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：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等于预测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𝑞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减去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Target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TD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算法的目标是让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尽量小，所以要最小化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的平方。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把所有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的平方的均值记做函数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L(w)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w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是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DQN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的参数，它影响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𝑞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，从而影响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我们想要找到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w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，使得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L(w)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尽量小。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这是我们刚才定义的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Error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：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𝛿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𝑡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等于预测 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𝑞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𝑡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减去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Target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i="0">
                    <a:solidFill>
                      <a:schemeClr val="tx1"/>
                    </a:solidFill>
                    <a:latin typeface="Cambria Math" charset="0"/>
                  </a:rPr>
                  <a:t>𝑦</a:t>
                </a:r>
                <a:r>
                  <a:rPr lang="en-US" altLang="zh-CN" sz="1600" i="0" smtClean="0">
                    <a:solidFill>
                      <a:schemeClr val="tx1"/>
                    </a:solidFill>
                    <a:latin typeface="Cambria Math" charset="0"/>
                  </a:rPr>
                  <a:t>_</a:t>
                </a:r>
                <a:r>
                  <a:rPr lang="en-US" altLang="zh-CN" sz="1600" i="0">
                    <a:solidFill>
                      <a:schemeClr val="tx1"/>
                    </a:solidFill>
                    <a:latin typeface="Cambria Math" charset="0"/>
                  </a:rPr>
                  <a:t>𝑡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TD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算法的目标是让 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𝛿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𝑡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尽量小，所以要最小化 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𝛿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𝑡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的平方。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把所有 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𝛿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𝑡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的平方的均值记做函数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L(w)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w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是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DQN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的参数，它影响 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𝑞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𝑡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，从而影响 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𝛿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𝑡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我们想要找到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w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，使得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L(w)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尽量小。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之前我们用在线梯度下降来更新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w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在时刻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观测到 </a:t>
                </a:r>
                <a:r>
                  <a:rPr lang="en-US" sz="1600" i="0">
                    <a:solidFill>
                      <a:schemeClr val="tx1"/>
                    </a:solidFill>
                    <a:latin typeface="Cambria Math" charset="0"/>
                  </a:rPr>
                  <a:t>𝑠</a:t>
                </a:r>
                <a:r>
                  <a:rPr lang="en-US" sz="1600" i="0" smtClean="0">
                    <a:solidFill>
                      <a:schemeClr val="tx1"/>
                    </a:solidFill>
                    <a:latin typeface="Cambria Math" charset="0"/>
                  </a:rPr>
                  <a:t>_</a:t>
                </a:r>
                <a:r>
                  <a:rPr lang="en-US" sz="1600" i="0">
                    <a:solidFill>
                      <a:schemeClr val="tx1"/>
                    </a:solidFill>
                    <a:latin typeface="Cambria Math" charset="0"/>
                  </a:rPr>
                  <a:t>𝑡, 𝑎</a:t>
                </a:r>
                <a:r>
                  <a:rPr lang="en-US" altLang="zh-CN" sz="1600" i="0">
                    <a:solidFill>
                      <a:schemeClr val="tx1"/>
                    </a:solidFill>
                    <a:latin typeface="Cambria Math" charset="0"/>
                  </a:rPr>
                  <a:t>_𝑡</a:t>
                </a:r>
                <a:r>
                  <a:rPr lang="en-US" altLang="zh-CN" sz="1600" b="1" i="0" smtClean="0">
                    <a:solidFill>
                      <a:schemeClr val="tx1"/>
                    </a:solidFill>
                    <a:latin typeface="Cambria Math" charset="0"/>
                  </a:rPr>
                  <a:t>,</a:t>
                </a:r>
                <a:r>
                  <a:rPr lang="zh-CN" altLang="en-US" sz="1600" b="1" i="0" smtClean="0">
                    <a:solidFill>
                      <a:schemeClr val="tx1"/>
                    </a:solidFill>
                    <a:latin typeface="Cambria Math" charset="0"/>
                  </a:rPr>
                  <a:t> 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𝑟_𝑡,</a:t>
                </a:r>
                <a:r>
                  <a:rPr lang="zh-CN" altLang="en-US" sz="1600" b="0" i="0" smtClean="0">
                    <a:solidFill>
                      <a:schemeClr val="tx1"/>
                    </a:solidFill>
                    <a:latin typeface="Cambria Math" charset="0"/>
                  </a:rPr>
                  <a:t> 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𝑠_(𝑡+1)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用他们计算出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error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i="0">
                    <a:solidFill>
                      <a:schemeClr val="tx1"/>
                    </a:solidFill>
                    <a:latin typeface="Cambria Math" charset="0"/>
                  </a:rPr>
                  <a:t>𝛿</a:t>
                </a:r>
                <a:r>
                  <a:rPr lang="en-US" altLang="zh-CN" sz="1600" i="0" smtClean="0">
                    <a:solidFill>
                      <a:schemeClr val="tx1"/>
                    </a:solidFill>
                    <a:latin typeface="Cambria Math" charset="0"/>
                  </a:rPr>
                  <a:t>_</a:t>
                </a:r>
                <a:r>
                  <a:rPr lang="en-US" altLang="zh-CN" sz="1600" i="0">
                    <a:solidFill>
                      <a:schemeClr val="tx1"/>
                    </a:solidFill>
                    <a:latin typeface="Cambria Math" charset="0"/>
                  </a:rPr>
                  <a:t>𝑡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把 </a:t>
                </a:r>
                <a:r>
                  <a:rPr lang="en-US" altLang="zh-CN" sz="1600" i="0">
                    <a:solidFill>
                      <a:schemeClr val="tx1"/>
                    </a:solidFill>
                    <a:latin typeface="Cambria Math" charset="0"/>
                  </a:rPr>
                  <a:t>𝛿</a:t>
                </a:r>
                <a:r>
                  <a:rPr lang="en-US" altLang="zh-CN" sz="1600" i="0" smtClean="0">
                    <a:solidFill>
                      <a:schemeClr val="tx1"/>
                    </a:solidFill>
                    <a:latin typeface="Cambria Math" charset="0"/>
                  </a:rPr>
                  <a:t>_</a:t>
                </a:r>
                <a:r>
                  <a:rPr lang="en-US" altLang="zh-CN" sz="1600" i="0">
                    <a:solidFill>
                      <a:schemeClr val="tx1"/>
                    </a:solidFill>
                    <a:latin typeface="Cambria Math" charset="0"/>
                  </a:rPr>
                  <a:t>𝑡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的平方除以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2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关于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w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求梯度，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得到这个公式。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把梯度记做 </a:t>
                </a:r>
                <a:r>
                  <a:rPr lang="en-US" altLang="zh-CN" sz="1600" b="1" i="0" smtClean="0">
                    <a:solidFill>
                      <a:schemeClr val="tx1"/>
                    </a:solidFill>
                    <a:latin typeface="Cambria Math" charset="0"/>
                  </a:rPr>
                  <a:t>𝐠</a:t>
                </a:r>
                <a:r>
                  <a:rPr lang="en-US" altLang="zh-CN" sz="1600" b="1" i="0" smtClean="0">
                    <a:solidFill>
                      <a:schemeClr val="tx1"/>
                    </a:solidFill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𝑡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然后做梯度下降，更新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w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这样可以让 </a:t>
                </a:r>
                <a:r>
                  <a:rPr lang="en-US" altLang="zh-CN" sz="1600" i="0">
                    <a:solidFill>
                      <a:schemeClr val="tx1"/>
                    </a:solidFill>
                    <a:latin typeface="Cambria Math" charset="0"/>
                  </a:rPr>
                  <a:t>𝛿</a:t>
                </a:r>
                <a:r>
                  <a:rPr lang="en-US" altLang="zh-CN" sz="1600" i="0" smtClean="0">
                    <a:solidFill>
                      <a:schemeClr val="tx1"/>
                    </a:solidFill>
                    <a:latin typeface="Cambria Math" charset="0"/>
                  </a:rPr>
                  <a:t>_</a:t>
                </a:r>
                <a:r>
                  <a:rPr lang="en-US" altLang="zh-CN" sz="1600" i="0">
                    <a:solidFill>
                      <a:schemeClr val="tx1"/>
                    </a:solidFill>
                    <a:latin typeface="Cambria Math" charset="0"/>
                  </a:rPr>
                  <a:t>𝑡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减小。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850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之前我们用在线梯度下降来更新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w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在时刻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观测到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sz="1600" i="1">
                        <a:solidFill>
                          <a:schemeClr val="tx1"/>
                        </a:solidFill>
                        <a:latin typeface="Cambria Math" charset="0"/>
                      </a:rPr>
                      <m:t>, 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charset="0"/>
                      </a:rPr>
                      <m:t>,</m:t>
                    </m:r>
                    <m:r>
                      <a:rPr lang="zh-CN" altLang="en-US" sz="1600" b="1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,</m:t>
                    </m:r>
                    <m:r>
                      <a:rPr lang="zh-CN" altLang="en-US" sz="16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这个四元组。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用他们计算出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error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把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的平方除以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2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关于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w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求梯度，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得到这个公式。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把梯度记做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1" i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𝐠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然后做梯度下降来更新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w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这样可以让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Error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减小。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这是我们刚才定义的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Error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：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𝛿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𝑡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等于预测 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𝑞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𝑡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减去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Target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i="0">
                    <a:solidFill>
                      <a:schemeClr val="tx1"/>
                    </a:solidFill>
                    <a:latin typeface="Cambria Math" charset="0"/>
                  </a:rPr>
                  <a:t>𝑦</a:t>
                </a:r>
                <a:r>
                  <a:rPr lang="en-US" altLang="zh-CN" sz="1600" i="0" smtClean="0">
                    <a:solidFill>
                      <a:schemeClr val="tx1"/>
                    </a:solidFill>
                    <a:latin typeface="Cambria Math" charset="0"/>
                  </a:rPr>
                  <a:t>_</a:t>
                </a:r>
                <a:r>
                  <a:rPr lang="en-US" altLang="zh-CN" sz="1600" i="0">
                    <a:solidFill>
                      <a:schemeClr val="tx1"/>
                    </a:solidFill>
                    <a:latin typeface="Cambria Math" charset="0"/>
                  </a:rPr>
                  <a:t>𝑡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TD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算法的目标是让 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𝛿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𝑡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尽量小，所以要最小化 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𝛿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𝑡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的平方。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把所有 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𝛿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𝑡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的平方的均值记做函数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L(w)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w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是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DQN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的参数，它影响 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𝑞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𝑡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，从而影响 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𝛿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𝑡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我们想要找到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w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，使得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L(w)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尽量小。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之前我们用在线梯度下降来更新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w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在时刻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观测到 </a:t>
                </a:r>
                <a:r>
                  <a:rPr lang="en-US" sz="1600" i="0">
                    <a:solidFill>
                      <a:schemeClr val="tx1"/>
                    </a:solidFill>
                    <a:latin typeface="Cambria Math" charset="0"/>
                  </a:rPr>
                  <a:t>𝑠</a:t>
                </a:r>
                <a:r>
                  <a:rPr lang="en-US" sz="1600" i="0" smtClean="0">
                    <a:solidFill>
                      <a:schemeClr val="tx1"/>
                    </a:solidFill>
                    <a:latin typeface="Cambria Math" charset="0"/>
                  </a:rPr>
                  <a:t>_</a:t>
                </a:r>
                <a:r>
                  <a:rPr lang="en-US" sz="1600" i="0">
                    <a:solidFill>
                      <a:schemeClr val="tx1"/>
                    </a:solidFill>
                    <a:latin typeface="Cambria Math" charset="0"/>
                  </a:rPr>
                  <a:t>𝑡, 𝑎</a:t>
                </a:r>
                <a:r>
                  <a:rPr lang="en-US" altLang="zh-CN" sz="1600" i="0">
                    <a:solidFill>
                      <a:schemeClr val="tx1"/>
                    </a:solidFill>
                    <a:latin typeface="Cambria Math" charset="0"/>
                  </a:rPr>
                  <a:t>_𝑡</a:t>
                </a:r>
                <a:r>
                  <a:rPr lang="en-US" altLang="zh-CN" sz="1600" b="1" i="0" smtClean="0">
                    <a:solidFill>
                      <a:schemeClr val="tx1"/>
                    </a:solidFill>
                    <a:latin typeface="Cambria Math" charset="0"/>
                  </a:rPr>
                  <a:t>,</a:t>
                </a:r>
                <a:r>
                  <a:rPr lang="zh-CN" altLang="en-US" sz="1600" b="1" i="0" smtClean="0">
                    <a:solidFill>
                      <a:schemeClr val="tx1"/>
                    </a:solidFill>
                    <a:latin typeface="Cambria Math" charset="0"/>
                  </a:rPr>
                  <a:t> 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𝑟_𝑡,</a:t>
                </a:r>
                <a:r>
                  <a:rPr lang="zh-CN" altLang="en-US" sz="1600" b="0" i="0" smtClean="0">
                    <a:solidFill>
                      <a:schemeClr val="tx1"/>
                    </a:solidFill>
                    <a:latin typeface="Cambria Math" charset="0"/>
                  </a:rPr>
                  <a:t> 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𝑠_(𝑡+1)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用他们计算出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error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i="0">
                    <a:solidFill>
                      <a:schemeClr val="tx1"/>
                    </a:solidFill>
                    <a:latin typeface="Cambria Math" charset="0"/>
                  </a:rPr>
                  <a:t>𝛿</a:t>
                </a:r>
                <a:r>
                  <a:rPr lang="en-US" altLang="zh-CN" sz="1600" i="0" smtClean="0">
                    <a:solidFill>
                      <a:schemeClr val="tx1"/>
                    </a:solidFill>
                    <a:latin typeface="Cambria Math" charset="0"/>
                  </a:rPr>
                  <a:t>_</a:t>
                </a:r>
                <a:r>
                  <a:rPr lang="en-US" altLang="zh-CN" sz="1600" i="0">
                    <a:solidFill>
                      <a:schemeClr val="tx1"/>
                    </a:solidFill>
                    <a:latin typeface="Cambria Math" charset="0"/>
                  </a:rPr>
                  <a:t>𝑡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把 </a:t>
                </a:r>
                <a:r>
                  <a:rPr lang="en-US" altLang="zh-CN" sz="1600" i="0">
                    <a:solidFill>
                      <a:schemeClr val="tx1"/>
                    </a:solidFill>
                    <a:latin typeface="Cambria Math" charset="0"/>
                  </a:rPr>
                  <a:t>𝛿</a:t>
                </a:r>
                <a:r>
                  <a:rPr lang="en-US" altLang="zh-CN" sz="1600" i="0" smtClean="0">
                    <a:solidFill>
                      <a:schemeClr val="tx1"/>
                    </a:solidFill>
                    <a:latin typeface="Cambria Math" charset="0"/>
                  </a:rPr>
                  <a:t>_</a:t>
                </a:r>
                <a:r>
                  <a:rPr lang="en-US" altLang="zh-CN" sz="1600" i="0">
                    <a:solidFill>
                      <a:schemeClr val="tx1"/>
                    </a:solidFill>
                    <a:latin typeface="Cambria Math" charset="0"/>
                  </a:rPr>
                  <a:t>𝑡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的平方除以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2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关于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w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求梯度，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得到这个公式。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把梯度记做 </a:t>
                </a:r>
                <a:r>
                  <a:rPr lang="en-US" altLang="zh-CN" sz="1600" b="1" i="0" smtClean="0">
                    <a:solidFill>
                      <a:schemeClr val="tx1"/>
                    </a:solidFill>
                    <a:latin typeface="Cambria Math" charset="0"/>
                  </a:rPr>
                  <a:t>𝐠</a:t>
                </a:r>
                <a:r>
                  <a:rPr lang="en-US" altLang="zh-CN" sz="1600" b="1" i="0" smtClean="0">
                    <a:solidFill>
                      <a:schemeClr val="tx1"/>
                    </a:solidFill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𝑡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然后做梯度下降，更新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w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这样可以让 </a:t>
                </a:r>
                <a:r>
                  <a:rPr lang="en-US" altLang="zh-CN" sz="1600" i="0">
                    <a:solidFill>
                      <a:schemeClr val="tx1"/>
                    </a:solidFill>
                    <a:latin typeface="Cambria Math" charset="0"/>
                  </a:rPr>
                  <a:t>𝛿</a:t>
                </a:r>
                <a:r>
                  <a:rPr lang="en-US" altLang="zh-CN" sz="1600" i="0" smtClean="0">
                    <a:solidFill>
                      <a:schemeClr val="tx1"/>
                    </a:solidFill>
                    <a:latin typeface="Cambria Math" charset="0"/>
                  </a:rPr>
                  <a:t>_</a:t>
                </a:r>
                <a:r>
                  <a:rPr lang="en-US" altLang="zh-CN" sz="1600" i="0">
                    <a:solidFill>
                      <a:schemeClr val="tx1"/>
                    </a:solidFill>
                    <a:latin typeface="Cambria Math" charset="0"/>
                  </a:rPr>
                  <a:t>𝑡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减小。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127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sz="1600" i="1">
                        <a:solidFill>
                          <a:schemeClr val="tx1"/>
                        </a:solidFill>
                        <a:latin typeface="Cambria Math" charset="0"/>
                      </a:rPr>
                      <m:t>, 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sz="1600" b="1" i="1">
                        <a:solidFill>
                          <a:schemeClr val="tx1"/>
                        </a:solidFill>
                        <a:latin typeface="Cambria Math" charset="0"/>
                      </a:rPr>
                      <m:t>,</m:t>
                    </m:r>
                    <m:r>
                      <a:rPr lang="zh-CN" altLang="en-US" sz="1600" b="1" i="1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charset="0"/>
                      </a:rPr>
                      <m:t>,</m:t>
                    </m:r>
                    <m:r>
                      <a:rPr lang="zh-CN" altLang="en-US" sz="1600" i="1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这个四元组 相当于一条训练数据。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刚才我们用 这个四元组 来计算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Error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，并且对参数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w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做了一轮更新。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用完之后，把这个四元组给丢掉。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----------------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刚才我介绍的是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TD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算法最原始的实现。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这样的效果并不好。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这节课和后面几节课 我要讲如何做改进，让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TD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算法收敛变得更快。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刚才我们用了 </a:t>
                </a:r>
                <a:r>
                  <a:rPr lang="en-US" sz="1600" i="0">
                    <a:solidFill>
                      <a:schemeClr val="tx1"/>
                    </a:solidFill>
                    <a:latin typeface="Cambria Math" charset="0"/>
                  </a:rPr>
                  <a:t>𝑠</a:t>
                </a:r>
                <a:r>
                  <a:rPr lang="en-US" sz="1600" i="0" smtClean="0">
                    <a:solidFill>
                      <a:schemeClr val="tx1"/>
                    </a:solidFill>
                    <a:latin typeface="Cambria Math" charset="0"/>
                  </a:rPr>
                  <a:t>_</a:t>
                </a:r>
                <a:r>
                  <a:rPr lang="en-US" sz="1600" i="0">
                    <a:solidFill>
                      <a:schemeClr val="tx1"/>
                    </a:solidFill>
                    <a:latin typeface="Cambria Math" charset="0"/>
                  </a:rPr>
                  <a:t>𝑡, 𝑎</a:t>
                </a:r>
                <a:r>
                  <a:rPr lang="en-US" altLang="zh-CN" sz="1600" i="0">
                    <a:solidFill>
                      <a:schemeClr val="tx1"/>
                    </a:solidFill>
                    <a:latin typeface="Cambria Math" charset="0"/>
                  </a:rPr>
                  <a:t>_𝑡</a:t>
                </a:r>
                <a:r>
                  <a:rPr lang="en-US" altLang="zh-CN" sz="1600" b="1" i="0">
                    <a:solidFill>
                      <a:schemeClr val="tx1"/>
                    </a:solidFill>
                    <a:latin typeface="Cambria Math" charset="0"/>
                  </a:rPr>
                  <a:t>,</a:t>
                </a:r>
                <a:r>
                  <a:rPr lang="zh-CN" altLang="en-US" sz="1600" b="1" i="0">
                    <a:solidFill>
                      <a:schemeClr val="tx1"/>
                    </a:solidFill>
                    <a:latin typeface="Cambria Math" charset="0"/>
                  </a:rPr>
                  <a:t> </a:t>
                </a:r>
                <a:r>
                  <a:rPr lang="en-US" altLang="zh-CN" sz="1600" i="0">
                    <a:solidFill>
                      <a:schemeClr val="tx1"/>
                    </a:solidFill>
                    <a:latin typeface="Cambria Math" charset="0"/>
                  </a:rPr>
                  <a:t>𝑟_𝑡,</a:t>
                </a:r>
                <a:r>
                  <a:rPr lang="zh-CN" altLang="en-US" sz="1600" i="0">
                    <a:solidFill>
                      <a:schemeClr val="tx1"/>
                    </a:solidFill>
                    <a:latin typeface="Cambria Math" charset="0"/>
                  </a:rPr>
                  <a:t> </a:t>
                </a:r>
                <a:r>
                  <a:rPr lang="en-US" altLang="zh-CN" sz="1600" i="0">
                    <a:solidFill>
                      <a:schemeClr val="tx1"/>
                    </a:solidFill>
                    <a:latin typeface="Cambria Math" charset="0"/>
                  </a:rPr>
                  <a:t>𝑠_(𝑡+1)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这个四元组 来计算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Error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，并且对参数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w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做了一轮更新。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用完之后，把这个四元组给丢掉。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5226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baseline="0" dirty="0" smtClean="0">
                <a:solidFill>
                  <a:schemeClr val="tx1"/>
                </a:solidFill>
              </a:rPr>
              <a:t>这节课我要讲 </a:t>
            </a:r>
            <a:r>
              <a:rPr lang="en-US" altLang="zh-CN" sz="1600" baseline="0" dirty="0" smtClean="0">
                <a:solidFill>
                  <a:schemeClr val="tx1"/>
                </a:solidFill>
              </a:rPr>
              <a:t>Experience</a:t>
            </a:r>
            <a:r>
              <a:rPr lang="zh-CN" altLang="en-US" sz="1600" baseline="0" dirty="0" smtClean="0">
                <a:solidFill>
                  <a:schemeClr val="tx1"/>
                </a:solidFill>
              </a:rPr>
              <a:t> </a:t>
            </a:r>
            <a:r>
              <a:rPr lang="en-US" altLang="zh-CN" sz="1600" baseline="0" dirty="0" smtClean="0">
                <a:solidFill>
                  <a:schemeClr val="tx1"/>
                </a:solidFill>
              </a:rPr>
              <a:t>Replay</a:t>
            </a:r>
            <a:r>
              <a:rPr lang="zh-CN" altLang="en-US" sz="1600" baseline="0" dirty="0" smtClean="0">
                <a:solidFill>
                  <a:schemeClr val="tx1"/>
                </a:solidFill>
              </a:rPr>
              <a:t>，经验回放。</a:t>
            </a:r>
            <a:endParaRPr lang="en-US" altLang="zh-CN" sz="1600" baseline="0" dirty="0" smtClean="0">
              <a:solidFill>
                <a:schemeClr val="tx1"/>
              </a:solidFill>
            </a:endParaRPr>
          </a:p>
          <a:p>
            <a:r>
              <a:rPr lang="zh-CN" altLang="en-US" sz="1600" baseline="0" dirty="0" smtClean="0">
                <a:solidFill>
                  <a:schemeClr val="tx1"/>
                </a:solidFill>
              </a:rPr>
              <a:t>我们来讨论 </a:t>
            </a:r>
            <a:r>
              <a:rPr lang="en-US" altLang="zh-CN" sz="1600" baseline="0" dirty="0" smtClean="0">
                <a:solidFill>
                  <a:schemeClr val="tx1"/>
                </a:solidFill>
              </a:rPr>
              <a:t>motivation</a:t>
            </a:r>
            <a:r>
              <a:rPr lang="zh-CN" altLang="en-US" sz="1600" baseline="0" dirty="0" smtClean="0">
                <a:solidFill>
                  <a:schemeClr val="tx1"/>
                </a:solidFill>
              </a:rPr>
              <a:t>，也就是 为什么做“经验回放”。</a:t>
            </a:r>
            <a:endParaRPr lang="en-US" altLang="zh-CN" sz="1600" baseline="0" dirty="0" smtClean="0">
              <a:solidFill>
                <a:schemeClr val="tx1"/>
              </a:solidFill>
            </a:endParaRPr>
          </a:p>
          <a:p>
            <a:r>
              <a:rPr lang="zh-CN" altLang="en-US" sz="1600" baseline="0" dirty="0" smtClean="0">
                <a:solidFill>
                  <a:schemeClr val="tx1"/>
                </a:solidFill>
              </a:rPr>
              <a:t>先来分析一下刚才那种 </a:t>
            </a:r>
            <a:r>
              <a:rPr lang="en-US" altLang="zh-CN" sz="1600" baseline="0" dirty="0" smtClean="0">
                <a:solidFill>
                  <a:schemeClr val="tx1"/>
                </a:solidFill>
              </a:rPr>
              <a:t>TD</a:t>
            </a:r>
            <a:r>
              <a:rPr lang="zh-CN" altLang="en-US" sz="1600" baseline="0" dirty="0" smtClean="0">
                <a:solidFill>
                  <a:schemeClr val="tx1"/>
                </a:solidFill>
              </a:rPr>
              <a:t> 算法的缺点。</a:t>
            </a:r>
            <a:endParaRPr lang="en-US" altLang="zh-CN" sz="1600" baseline="0" dirty="0" smtClean="0">
              <a:solidFill>
                <a:schemeClr val="tx1"/>
              </a:solidFill>
            </a:endParaRPr>
          </a:p>
          <a:p>
            <a:r>
              <a:rPr lang="zh-CN" altLang="en-US" sz="1600" baseline="0" dirty="0" smtClean="0">
                <a:solidFill>
                  <a:schemeClr val="tx1"/>
                </a:solidFill>
              </a:rPr>
              <a:t>第一个缺点是浪费经验。</a:t>
            </a:r>
            <a:endParaRPr lang="en-US" altLang="zh-CN" sz="1600" baseline="0" dirty="0" smtClean="0">
              <a:solidFill>
                <a:schemeClr val="tx1"/>
              </a:solidFill>
            </a:endParaRPr>
          </a:p>
          <a:p>
            <a:r>
              <a:rPr lang="en-US" altLang="zh-CN" sz="1600" dirty="0" smtClean="0">
                <a:solidFill>
                  <a:schemeClr val="tx1"/>
                </a:solidFill>
              </a:rPr>
              <a:t>============================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aseline="0" dirty="0" smtClean="0">
                <a:solidFill>
                  <a:schemeClr val="tx1"/>
                </a:solidFill>
              </a:rPr>
              <a:t>我们把这个四元组称作一个 </a:t>
            </a:r>
            <a:r>
              <a:rPr lang="en-US" altLang="zh-CN" sz="1600" baseline="0" dirty="0" smtClean="0">
                <a:solidFill>
                  <a:schemeClr val="tx1"/>
                </a:solidFill>
              </a:rPr>
              <a:t>transition</a:t>
            </a:r>
            <a:r>
              <a:rPr lang="zh-CN" altLang="en-US" sz="1600" baseline="0" dirty="0" smtClean="0">
                <a:solidFill>
                  <a:schemeClr val="tx1"/>
                </a:solidFill>
              </a:rPr>
              <a:t>。</a:t>
            </a:r>
            <a:endParaRPr lang="en-US" altLang="zh-CN" sz="1600" baseline="0" dirty="0" smtClean="0">
              <a:solidFill>
                <a:schemeClr val="tx1"/>
              </a:solidFill>
            </a:endParaRPr>
          </a:p>
          <a:p>
            <a:r>
              <a:rPr lang="en-US" altLang="zh-CN" sz="1600" dirty="0" smtClean="0">
                <a:solidFill>
                  <a:schemeClr val="tx1"/>
                </a:solidFill>
              </a:rPr>
              <a:t>============================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aseline="0" dirty="0" smtClean="0">
                <a:solidFill>
                  <a:schemeClr val="tx1"/>
                </a:solidFill>
              </a:rPr>
              <a:t>经验指的是从开始到结束 所有的</a:t>
            </a:r>
            <a:r>
              <a:rPr lang="en-US" altLang="zh-CN" sz="1600" baseline="0" dirty="0" smtClean="0">
                <a:solidFill>
                  <a:schemeClr val="tx1"/>
                </a:solidFill>
              </a:rPr>
              <a:t>transitions</a:t>
            </a:r>
            <a:r>
              <a:rPr lang="zh-CN" altLang="en-US" sz="1600" baseline="0" dirty="0" smtClean="0">
                <a:solidFill>
                  <a:schemeClr val="tx1"/>
                </a:solidFill>
              </a:rPr>
              <a:t>。</a:t>
            </a:r>
            <a:endParaRPr lang="en-US" altLang="zh-CN" sz="1600" baseline="0" dirty="0" smtClean="0">
              <a:solidFill>
                <a:schemeClr val="tx1"/>
              </a:solidFill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 smtClean="0">
                <a:solidFill>
                  <a:schemeClr val="tx1"/>
                </a:solidFill>
              </a:rPr>
              <a:t>============================</a:t>
            </a:r>
          </a:p>
          <a:p>
            <a:r>
              <a:rPr lang="zh-CN" altLang="en-US" sz="1600" baseline="0" dirty="0" smtClean="0">
                <a:solidFill>
                  <a:schemeClr val="tx1"/>
                </a:solidFill>
              </a:rPr>
              <a:t>刚才的 </a:t>
            </a:r>
            <a:r>
              <a:rPr lang="en-US" altLang="zh-CN" sz="1600" baseline="0" dirty="0" smtClean="0">
                <a:solidFill>
                  <a:schemeClr val="tx1"/>
                </a:solidFill>
              </a:rPr>
              <a:t>TD</a:t>
            </a:r>
            <a:r>
              <a:rPr lang="zh-CN" altLang="en-US" sz="1600" baseline="0" dirty="0" smtClean="0">
                <a:solidFill>
                  <a:schemeClr val="tx1"/>
                </a:solidFill>
              </a:rPr>
              <a:t> 算法在用完一个 </a:t>
            </a:r>
            <a:r>
              <a:rPr lang="en-US" altLang="zh-CN" sz="1600" baseline="0" dirty="0" smtClean="0">
                <a:solidFill>
                  <a:schemeClr val="tx1"/>
                </a:solidFill>
              </a:rPr>
              <a:t>transition</a:t>
            </a:r>
            <a:r>
              <a:rPr lang="zh-CN" altLang="en-US" sz="1600" baseline="0" dirty="0" smtClean="0">
                <a:solidFill>
                  <a:schemeClr val="tx1"/>
                </a:solidFill>
              </a:rPr>
              <a:t>之后 就把它给丢弃，不再使用。</a:t>
            </a:r>
            <a:endParaRPr lang="en-US" altLang="zh-CN" sz="1600" baseline="0" dirty="0" smtClean="0">
              <a:solidFill>
                <a:schemeClr val="tx1"/>
              </a:solidFill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 smtClean="0">
                <a:solidFill>
                  <a:schemeClr val="tx1"/>
                </a:solidFill>
              </a:rPr>
              <a:t>============================</a:t>
            </a:r>
          </a:p>
          <a:p>
            <a:r>
              <a:rPr lang="zh-CN" altLang="en-US" sz="1600" baseline="0" dirty="0" smtClean="0">
                <a:solidFill>
                  <a:schemeClr val="tx1"/>
                </a:solidFill>
              </a:rPr>
              <a:t>这会造成对经验的浪费。</a:t>
            </a:r>
            <a:endParaRPr lang="en-US" altLang="zh-CN" sz="1600" baseline="0" dirty="0" smtClean="0">
              <a:solidFill>
                <a:schemeClr val="tx1"/>
              </a:solidFill>
            </a:endParaRPr>
          </a:p>
          <a:p>
            <a:r>
              <a:rPr lang="zh-CN" altLang="en-US" sz="1600" baseline="0" smtClean="0">
                <a:solidFill>
                  <a:schemeClr val="tx1"/>
                </a:solidFill>
              </a:rPr>
              <a:t>事实上经验是可以</a:t>
            </a:r>
            <a:r>
              <a:rPr lang="zh-CN" altLang="en-US" sz="1600" baseline="0" dirty="0" smtClean="0">
                <a:solidFill>
                  <a:schemeClr val="tx1"/>
                </a:solidFill>
              </a:rPr>
              <a:t>被</a:t>
            </a:r>
            <a:r>
              <a:rPr lang="zh-CN" altLang="en-US" sz="1600" baseline="0" smtClean="0">
                <a:solidFill>
                  <a:schemeClr val="tx1"/>
                </a:solidFill>
              </a:rPr>
              <a:t>重复利用的。</a:t>
            </a:r>
            <a:endParaRPr lang="en-US" altLang="zh-CN" sz="1600" baseline="0" dirty="0" smtClean="0">
              <a:solidFill>
                <a:schemeClr val="tx1"/>
              </a:solidFill>
            </a:endParaRPr>
          </a:p>
          <a:p>
            <a:r>
              <a:rPr lang="zh-CN" altLang="en-US" sz="1600" baseline="0" dirty="0" smtClean="0">
                <a:solidFill>
                  <a:schemeClr val="tx1"/>
                </a:solidFill>
              </a:rPr>
              <a:t>这就是做“经验回放”的主要原因。</a:t>
            </a:r>
            <a:endParaRPr lang="en-US" altLang="zh-CN" sz="1600" baseline="0" dirty="0" smtClean="0">
              <a:solidFill>
                <a:schemeClr val="tx1"/>
              </a:solidFill>
            </a:endParaRPr>
          </a:p>
          <a:p>
            <a:endParaRPr lang="en-US" altLang="zh-CN" sz="1600" baseline="0" dirty="0" smtClean="0">
              <a:solidFill>
                <a:schemeClr val="tx1"/>
              </a:solidFill>
            </a:endParaRPr>
          </a:p>
          <a:p>
            <a:endParaRPr lang="en-US" altLang="zh-CN" sz="1600" baseline="0" dirty="0" smtClean="0">
              <a:solidFill>
                <a:schemeClr val="tx1"/>
              </a:solidFill>
            </a:endParaRPr>
          </a:p>
          <a:p>
            <a:endParaRPr lang="en-US" altLang="zh-CN" sz="1600" baseline="0" dirty="0" smtClean="0">
              <a:solidFill>
                <a:schemeClr val="tx1"/>
              </a:solidFill>
            </a:endParaRPr>
          </a:p>
          <a:p>
            <a:endParaRPr lang="en-US" altLang="zh-CN" sz="1600" baseline="0" dirty="0" smtClean="0">
              <a:solidFill>
                <a:schemeClr val="tx1"/>
              </a:solidFill>
            </a:endParaRPr>
          </a:p>
          <a:p>
            <a:endParaRPr lang="en-US" altLang="zh-CN" sz="1600" baseline="0" dirty="0" smtClean="0">
              <a:solidFill>
                <a:schemeClr val="tx1"/>
              </a:solidFill>
            </a:endParaRPr>
          </a:p>
          <a:p>
            <a:endParaRPr lang="en-US" altLang="zh-CN" sz="1600" baseline="0" dirty="0" smtClean="0">
              <a:solidFill>
                <a:schemeClr val="tx1"/>
              </a:solidFill>
            </a:endParaRPr>
          </a:p>
          <a:p>
            <a:endParaRPr lang="en-US" altLang="zh-CN" sz="1600" baseline="0" dirty="0" smtClean="0">
              <a:solidFill>
                <a:schemeClr val="tx1"/>
              </a:solidFill>
            </a:endParaRPr>
          </a:p>
          <a:p>
            <a:endParaRPr lang="en-US" altLang="zh-CN" sz="1600" baseline="0" dirty="0" smtClean="0">
              <a:solidFill>
                <a:schemeClr val="tx1"/>
              </a:solidFill>
            </a:endParaRPr>
          </a:p>
          <a:p>
            <a:endParaRPr lang="en-US" altLang="zh-CN" sz="1600" baseline="0" dirty="0" smtClean="0">
              <a:solidFill>
                <a:schemeClr val="tx1"/>
              </a:solidFill>
            </a:endParaRPr>
          </a:p>
          <a:p>
            <a:endParaRPr lang="en-US" altLang="zh-CN" sz="1600" baseline="0" dirty="0" smtClean="0">
              <a:solidFill>
                <a:schemeClr val="tx1"/>
              </a:solidFill>
            </a:endParaRPr>
          </a:p>
          <a:p>
            <a:endParaRPr lang="en-US" altLang="zh-CN" sz="1600" baseline="0" dirty="0" smtClean="0">
              <a:solidFill>
                <a:schemeClr val="tx1"/>
              </a:solidFill>
            </a:endParaRPr>
          </a:p>
          <a:p>
            <a:endParaRPr lang="en-US" altLang="zh-CN" sz="1600" baseline="0" dirty="0" smtClean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6874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刚才那种原始的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算法还有一个缺点。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这个缺点是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transitions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之间的相关性。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之前我们按顺序使用每一条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transition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来更新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w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第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条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transition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包括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sz="1600" i="1">
                        <a:latin typeface="Cambria Math" charset="0"/>
                      </a:rPr>
                      <m:t>, 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sz="1600" b="1" i="1">
                        <a:latin typeface="Cambria Math" charset="0"/>
                      </a:rPr>
                      <m:t>,</m:t>
                    </m:r>
                    <m:r>
                      <a:rPr lang="zh-CN" altLang="en-US" sz="1600" b="1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sz="1600" i="1">
                        <a:latin typeface="Cambria Math" charset="0"/>
                      </a:rPr>
                      <m:t>,</m:t>
                    </m:r>
                    <m:r>
                      <a:rPr lang="zh-CN" altLang="en-US" sz="1600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前后两条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transitions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之间有很强的关联。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道理很显然。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比如超级玛丽游戏，当前画面和下一帧画面非常相似，他们的区别很微小。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也就是说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非常接近。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------------------------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实验证明这种相关性是有害的。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如果能把序列打散，消除相关性，则有利于把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DQN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训练得更好。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刚才那种原始的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算法另一个缺点是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transitions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之间的相关性。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之前我们按顺序使用每一条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transition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来更新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w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第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条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transition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包括 </a:t>
                </a:r>
                <a:r>
                  <a:rPr lang="en-US" sz="16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</a:t>
                </a:r>
                <a:r>
                  <a:rPr lang="en-US" sz="160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_</a:t>
                </a:r>
                <a:r>
                  <a:rPr lang="en-US" sz="16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𝑡</a:t>
                </a:r>
                <a:r>
                  <a:rPr lang="en-US" sz="1600" i="0">
                    <a:latin typeface="Cambria Math" charset="0"/>
                  </a:rPr>
                  <a:t>, </a:t>
                </a:r>
                <a:r>
                  <a:rPr lang="en-US" sz="1600" i="0">
                    <a:solidFill>
                      <a:srgbClr val="FF0000"/>
                    </a:solidFill>
                    <a:latin typeface="Cambria Math" charset="0"/>
                  </a:rPr>
                  <a:t>𝑎</a:t>
                </a:r>
                <a:r>
                  <a:rPr lang="en-US" altLang="zh-CN" sz="1600" i="0">
                    <a:solidFill>
                      <a:srgbClr val="FF0000"/>
                    </a:solidFill>
                    <a:latin typeface="Cambria Math" charset="0"/>
                  </a:rPr>
                  <a:t>_𝑡</a:t>
                </a:r>
                <a:r>
                  <a:rPr lang="en-US" altLang="zh-CN" sz="1600" b="1" i="0">
                    <a:latin typeface="Cambria Math" charset="0"/>
                  </a:rPr>
                  <a:t>,</a:t>
                </a:r>
                <a:r>
                  <a:rPr lang="zh-CN" altLang="en-US" sz="1600" b="1" i="0">
                    <a:latin typeface="Cambria Math" charset="0"/>
                  </a:rPr>
                  <a:t> </a:t>
                </a:r>
                <a:r>
                  <a:rPr lang="en-US" altLang="zh-CN" sz="1600" i="0">
                    <a:solidFill>
                      <a:schemeClr val="accent5"/>
                    </a:solidFill>
                    <a:latin typeface="Cambria Math" charset="0"/>
                  </a:rPr>
                  <a:t>𝑟_𝑡</a:t>
                </a:r>
                <a:r>
                  <a:rPr lang="en-US" altLang="zh-CN" sz="1600" i="0">
                    <a:latin typeface="Cambria Math" charset="0"/>
                  </a:rPr>
                  <a:t>,</a:t>
                </a:r>
                <a:r>
                  <a:rPr lang="zh-CN" altLang="en-US" sz="1600" i="0">
                    <a:latin typeface="Cambria Math" charset="0"/>
                  </a:rPr>
                  <a:t> </a:t>
                </a:r>
                <a:r>
                  <a:rPr lang="en-US" altLang="zh-CN" sz="16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𝑠_(𝑡+1)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前后两条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transitions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之间有很强的关联。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道理很显然。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比如超级玛丽游戏，当前画面和下一帧画面非常相似，区别很微小。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也就是说 </a:t>
                </a:r>
                <a:r>
                  <a:rPr lang="en-US" sz="16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</a:t>
                </a:r>
                <a:r>
                  <a:rPr lang="en-US" sz="160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_</a:t>
                </a:r>
                <a:r>
                  <a:rPr lang="en-US" sz="16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𝑡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和 </a:t>
                </a:r>
                <a:r>
                  <a:rPr lang="en-US" sz="16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</a:t>
                </a:r>
                <a:r>
                  <a:rPr lang="en-US" sz="160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_(</a:t>
                </a:r>
                <a:r>
                  <a:rPr lang="en-US" sz="16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𝑡</a:t>
                </a:r>
                <a:r>
                  <a:rPr lang="en-US" altLang="zh-CN" sz="16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+1</a:t>
                </a:r>
                <a:r>
                  <a:rPr lang="en-US" altLang="zh-CN" sz="16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)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非常接近。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------------------------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实验证明这种相关性是有害的。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把序列打散，消除相关性，有利于把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DQN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训练得更好。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3261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b="0" dirty="0" smtClean="0">
                <a:solidFill>
                  <a:schemeClr val="tx1"/>
                </a:solidFill>
                <a:latin typeface="+mn-lt"/>
              </a:rPr>
              <a:t>“经验回放”可以有效克服刚才提到的两个缺点。</a:t>
            </a:r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r>
              <a:rPr lang="zh-CN" altLang="en-US" sz="1600" b="0" dirty="0" smtClean="0">
                <a:solidFill>
                  <a:schemeClr val="tx1"/>
                </a:solidFill>
                <a:latin typeface="+mn-lt"/>
              </a:rPr>
              <a:t>既可以重复利用经验，避免浪费。</a:t>
            </a:r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r>
              <a:rPr lang="zh-CN" altLang="en-US" sz="1600" b="0" dirty="0" smtClean="0">
                <a:solidFill>
                  <a:schemeClr val="tx1"/>
                </a:solidFill>
                <a:latin typeface="+mn-lt"/>
              </a:rPr>
              <a:t>也可以把序列打散，消除相关性。</a:t>
            </a:r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99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之前说了，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i="1">
                            <a:latin typeface="Cambria Math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1600" b="1" i="1">
                            <a:latin typeface="Cambria Math" charset="0"/>
                          </a:rPr>
                          <m:t>,</m:t>
                        </m:r>
                        <m:r>
                          <a:rPr lang="zh-CN" altLang="en-US" sz="1600" b="1" i="1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1600" i="1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charset="0"/>
                          </a:rPr>
                          <m:t>,</m:t>
                        </m:r>
                        <m:r>
                          <a:rPr lang="zh-CN" altLang="en-US" sz="1600" i="1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1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altLang="zh-CN" sz="1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600" dirty="0" smtClean="0"/>
                  <a:t>这样一个四元组是一条 </a:t>
                </a:r>
                <a:r>
                  <a:rPr lang="en-US" altLang="zh-CN" sz="1600" dirty="0" smtClean="0"/>
                  <a:t>transition</a:t>
                </a:r>
                <a:r>
                  <a:rPr lang="zh-CN" altLang="en-US" sz="1600" dirty="0" smtClean="0"/>
                  <a:t>，相当于一条训练数据。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>
                    <a:solidFill>
                      <a:schemeClr val="tx1"/>
                    </a:solidFill>
                  </a:rPr>
                  <a:t>把最新的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transitions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存到一个队列里。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>
                    <a:solidFill>
                      <a:schemeClr val="tx1"/>
                    </a:solidFill>
                  </a:rPr>
                  <a:t>这个队列叫做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Replay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buffer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Replay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buffer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的容量是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，最多能存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条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transitions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之前说了，</a:t>
                </a:r>
                <a:r>
                  <a:rPr lang="en-US" sz="1600" i="0" smtClean="0">
                    <a:latin typeface="Cambria Math" charset="0"/>
                  </a:rPr>
                  <a:t>(</a:t>
                </a:r>
                <a:r>
                  <a:rPr lang="en-US" sz="16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𝑠_𝑡</a:t>
                </a:r>
                <a:r>
                  <a:rPr lang="en-US" sz="1600" i="0">
                    <a:latin typeface="Cambria Math" charset="0"/>
                  </a:rPr>
                  <a:t>, </a:t>
                </a:r>
                <a:r>
                  <a:rPr lang="en-US" sz="1600" i="0">
                    <a:solidFill>
                      <a:srgbClr val="FF0000"/>
                    </a:solidFill>
                    <a:latin typeface="Cambria Math" charset="0"/>
                  </a:rPr>
                  <a:t>𝑎</a:t>
                </a:r>
                <a:r>
                  <a:rPr lang="en-US" altLang="zh-CN" sz="1600" i="0">
                    <a:solidFill>
                      <a:srgbClr val="FF0000"/>
                    </a:solidFill>
                    <a:latin typeface="Cambria Math" charset="0"/>
                  </a:rPr>
                  <a:t>_𝑡</a:t>
                </a:r>
                <a:r>
                  <a:rPr lang="en-US" altLang="zh-CN" sz="1600" b="1" i="0">
                    <a:latin typeface="Cambria Math" charset="0"/>
                  </a:rPr>
                  <a:t>,</a:t>
                </a:r>
                <a:r>
                  <a:rPr lang="zh-CN" altLang="en-US" sz="1600" b="1" i="0">
                    <a:latin typeface="Cambria Math" charset="0"/>
                  </a:rPr>
                  <a:t> </a:t>
                </a:r>
                <a:r>
                  <a:rPr lang="en-US" altLang="zh-CN" sz="1600" i="0">
                    <a:solidFill>
                      <a:schemeClr val="accent5"/>
                    </a:solidFill>
                    <a:latin typeface="Cambria Math" charset="0"/>
                  </a:rPr>
                  <a:t>𝑟_𝑡</a:t>
                </a:r>
                <a:r>
                  <a:rPr lang="en-US" altLang="zh-CN" sz="1600" i="0">
                    <a:latin typeface="Cambria Math" charset="0"/>
                  </a:rPr>
                  <a:t>,</a:t>
                </a:r>
                <a:r>
                  <a:rPr lang="zh-CN" altLang="en-US" sz="1600" i="0">
                    <a:latin typeface="Cambria Math" charset="0"/>
                  </a:rPr>
                  <a:t> </a:t>
                </a:r>
                <a:r>
                  <a:rPr lang="en-US" altLang="zh-CN" sz="16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𝑠_(𝑡+1) )</a:t>
                </a:r>
                <a:r>
                  <a:rPr lang="zh-CN" altLang="en-US" sz="1600" dirty="0" smtClean="0"/>
                  <a:t>这样一个四元组是一条 </a:t>
                </a:r>
                <a:r>
                  <a:rPr lang="en-US" altLang="zh-CN" sz="1600" dirty="0" smtClean="0"/>
                  <a:t>transition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>
                    <a:solidFill>
                      <a:schemeClr val="tx1"/>
                    </a:solidFill>
                  </a:rPr>
                  <a:t>把最近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条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transitions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存入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Replay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buffer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>
                    <a:solidFill>
                      <a:schemeClr val="tx1"/>
                    </a:solidFill>
                  </a:rPr>
                  <a:t>如果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Replay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buffer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存满了，每存入一条新的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transition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，就要删掉一条最老的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transition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Buffer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的大小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是个超参数。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的大小对训练的结果有影响。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-------------------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通常都设置得很大，大约在十万到百万之间。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>
                    <a:solidFill>
                      <a:schemeClr val="tx1"/>
                    </a:solidFill>
                  </a:rPr>
                  <a:t>具体要把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设置多大要取决于具体应用。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>
                    <a:solidFill>
                      <a:schemeClr val="tx1"/>
                    </a:solidFill>
                  </a:rPr>
                  <a:t>要对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做调参。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259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>
                    <a:solidFill>
                      <a:schemeClr val="tx1"/>
                    </a:solidFill>
                  </a:rPr>
                  <a:t>如果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Replay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buffer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存满了，每存入一条新的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transition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，就要删掉一条最老的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transition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Buffer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的容量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是个超参数。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>
                    <a:solidFill>
                      <a:schemeClr val="tx1"/>
                    </a:solidFill>
                  </a:rPr>
                  <a:t>有很多实验表明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的大小对训练的结果有影响。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通常都设置得很大，大约在十万到百万之间。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>
                    <a:solidFill>
                      <a:schemeClr val="tx1"/>
                    </a:solidFill>
                  </a:rPr>
                  <a:t>把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设置成多大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取决于具体应用。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>
                    <a:solidFill>
                      <a:schemeClr val="tx1"/>
                    </a:solidFill>
                  </a:rPr>
                  <a:t>我们要对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做调参。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之前说了，</a:t>
                </a:r>
                <a:r>
                  <a:rPr lang="en-US" sz="1600" i="0" smtClean="0">
                    <a:latin typeface="Cambria Math" charset="0"/>
                  </a:rPr>
                  <a:t>(</a:t>
                </a:r>
                <a:r>
                  <a:rPr lang="en-US" sz="16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𝑠_𝑡</a:t>
                </a:r>
                <a:r>
                  <a:rPr lang="en-US" sz="1600" i="0">
                    <a:latin typeface="Cambria Math" charset="0"/>
                  </a:rPr>
                  <a:t>, </a:t>
                </a:r>
                <a:r>
                  <a:rPr lang="en-US" sz="1600" i="0">
                    <a:solidFill>
                      <a:srgbClr val="FF0000"/>
                    </a:solidFill>
                    <a:latin typeface="Cambria Math" charset="0"/>
                  </a:rPr>
                  <a:t>𝑎</a:t>
                </a:r>
                <a:r>
                  <a:rPr lang="en-US" altLang="zh-CN" sz="1600" i="0">
                    <a:solidFill>
                      <a:srgbClr val="FF0000"/>
                    </a:solidFill>
                    <a:latin typeface="Cambria Math" charset="0"/>
                  </a:rPr>
                  <a:t>_𝑡</a:t>
                </a:r>
                <a:r>
                  <a:rPr lang="en-US" altLang="zh-CN" sz="1600" b="1" i="0">
                    <a:latin typeface="Cambria Math" charset="0"/>
                  </a:rPr>
                  <a:t>,</a:t>
                </a:r>
                <a:r>
                  <a:rPr lang="zh-CN" altLang="en-US" sz="1600" b="1" i="0">
                    <a:latin typeface="Cambria Math" charset="0"/>
                  </a:rPr>
                  <a:t> </a:t>
                </a:r>
                <a:r>
                  <a:rPr lang="en-US" altLang="zh-CN" sz="1600" i="0">
                    <a:solidFill>
                      <a:schemeClr val="accent5"/>
                    </a:solidFill>
                    <a:latin typeface="Cambria Math" charset="0"/>
                  </a:rPr>
                  <a:t>𝑟_𝑡</a:t>
                </a:r>
                <a:r>
                  <a:rPr lang="en-US" altLang="zh-CN" sz="1600" i="0">
                    <a:latin typeface="Cambria Math" charset="0"/>
                  </a:rPr>
                  <a:t>,</a:t>
                </a:r>
                <a:r>
                  <a:rPr lang="zh-CN" altLang="en-US" sz="1600" i="0">
                    <a:latin typeface="Cambria Math" charset="0"/>
                  </a:rPr>
                  <a:t> </a:t>
                </a:r>
                <a:r>
                  <a:rPr lang="en-US" altLang="zh-CN" sz="16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𝑠_(𝑡+1) )</a:t>
                </a:r>
                <a:r>
                  <a:rPr lang="zh-CN" altLang="en-US" sz="1600" dirty="0" smtClean="0"/>
                  <a:t>这样一个四元组是一条 </a:t>
                </a:r>
                <a:r>
                  <a:rPr lang="en-US" altLang="zh-CN" sz="1600" dirty="0" smtClean="0"/>
                  <a:t>transition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>
                    <a:solidFill>
                      <a:schemeClr val="tx1"/>
                    </a:solidFill>
                  </a:rPr>
                  <a:t>把最近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条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transitions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存入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Replay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buffer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>
                    <a:solidFill>
                      <a:schemeClr val="tx1"/>
                    </a:solidFill>
                  </a:rPr>
                  <a:t>如果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Replay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buffer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存满了，每存入一条新的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transition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，就要删掉一条最老的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transition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Buffer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的大小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是个超参数。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的大小对训练的结果有影响。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-------------------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通常都设置得很大，大约在十万到百万之间。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>
                    <a:solidFill>
                      <a:schemeClr val="tx1"/>
                    </a:solidFill>
                  </a:rPr>
                  <a:t>具体要把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设置多大要取决于具体应用。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>
                    <a:solidFill>
                      <a:schemeClr val="tx1"/>
                    </a:solidFill>
                  </a:rPr>
                  <a:t>要对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做调参。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7597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用 </a:t>
                </a:r>
                <a:r>
                  <a:rPr lang="en-US" altLang="zh-CN" sz="1600" dirty="0" smtClean="0"/>
                  <a:t>TD</a:t>
                </a:r>
                <a:r>
                  <a:rPr lang="zh-CN" altLang="en-US" sz="1600" dirty="0" smtClean="0"/>
                  <a:t> 算法训练 </a:t>
                </a:r>
                <a:r>
                  <a:rPr lang="en-US" altLang="zh-CN" sz="1600" dirty="0" smtClean="0"/>
                  <a:t>DQN</a:t>
                </a:r>
                <a:r>
                  <a:rPr lang="zh-CN" altLang="en-US" sz="1600" baseline="0" dirty="0" smtClean="0"/>
                  <a:t> 的时候，应该这样做“经验回放”。</a:t>
                </a:r>
                <a:endParaRPr lang="en-US" altLang="zh-CN" sz="1600" baseline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zh-CN" altLang="en-US" sz="1600" dirty="0" smtClean="0"/>
                  <a:t>之前推导过，训练 </a:t>
                </a:r>
                <a:r>
                  <a:rPr lang="en-US" altLang="zh-CN" sz="1600" dirty="0" smtClean="0"/>
                  <a:t>DQN</a:t>
                </a:r>
                <a:r>
                  <a:rPr lang="zh-CN" altLang="en-US" sz="1600" dirty="0" smtClean="0"/>
                  <a:t> 的目标函数是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𝐿</m:t>
                    </m:r>
                    <m:d>
                      <m:dPr>
                        <m:ctrlPr>
                          <a:rPr lang="en-US" altLang="zh-CN" sz="1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600" b="1">
                            <a:latin typeface="Cambria Math" charset="0"/>
                          </a:rPr>
                          <m:t>𝐰</m:t>
                        </m:r>
                      </m:e>
                    </m:d>
                  </m:oMath>
                </a14:m>
                <a:r>
                  <a:rPr lang="zh-CN" altLang="en-US" sz="1600" dirty="0" smtClean="0"/>
                  <a:t>，它等于 </a:t>
                </a:r>
                <a:r>
                  <a:rPr lang="en-US" altLang="zh-CN" sz="1600" dirty="0" smtClean="0"/>
                  <a:t>TD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error</a:t>
                </a:r>
                <a:r>
                  <a:rPr lang="zh-CN" altLang="en-US" sz="1600" dirty="0" smtClean="0"/>
                  <a:t> 平方的均值。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我们希望最小化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𝐿</m:t>
                    </m:r>
                    <m:d>
                      <m:dPr>
                        <m:ctrlPr>
                          <a:rPr lang="en-US" altLang="zh-CN" sz="1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600" b="1">
                            <a:latin typeface="Cambria Math" charset="0"/>
                          </a:rPr>
                          <m:t>𝐰</m:t>
                        </m:r>
                      </m:e>
                    </m:d>
                  </m:oMath>
                </a14:m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zh-CN" altLang="en-US" sz="1600" dirty="0" smtClean="0"/>
                  <a:t>于是我们可以用“随机梯度下降”来最小化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𝐿</m:t>
                    </m:r>
                    <m:d>
                      <m:dPr>
                        <m:ctrlPr>
                          <a:rPr lang="en-US" altLang="zh-CN" sz="1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600" b="1">
                            <a:latin typeface="Cambria Math" charset="0"/>
                          </a:rPr>
                          <m:t>𝐰</m:t>
                        </m:r>
                      </m:e>
                    </m:d>
                  </m:oMath>
                </a14:m>
                <a:r>
                  <a:rPr lang="zh-CN" altLang="en-US" sz="1600" dirty="0" smtClean="0"/>
                  <a:t>，改进参数 </a:t>
                </a:r>
                <a:r>
                  <a:rPr lang="en-US" altLang="zh-CN" sz="1600" dirty="0" smtClean="0"/>
                  <a:t>w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zh-CN" altLang="en-US" sz="1600" dirty="0" smtClean="0"/>
                  <a:t>每次从</a:t>
                </a:r>
                <a:r>
                  <a:rPr lang="en-US" altLang="zh-CN" sz="1600" dirty="0" smtClean="0"/>
                  <a:t>Replay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buffer</a:t>
                </a:r>
                <a:r>
                  <a:rPr lang="zh-CN" altLang="en-US" sz="1600" dirty="0" smtClean="0"/>
                  <a:t>中随机均匀抽样一个</a:t>
                </a:r>
                <a:r>
                  <a:rPr lang="en-US" altLang="zh-CN" sz="1600" dirty="0" smtClean="0"/>
                  <a:t>transition</a:t>
                </a:r>
                <a:r>
                  <a:rPr lang="zh-CN" altLang="en-US" sz="1600" dirty="0" smtClean="0"/>
                  <a:t>，记做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 smtClean="0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600" b="1" i="1">
                            <a:latin typeface="Cambria Math" charset="0"/>
                          </a:rPr>
                          <m:t>,</m:t>
                        </m:r>
                        <m:r>
                          <a:rPr lang="zh-CN" altLang="en-US" sz="1600" b="1" i="1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1600" i="1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charset="0"/>
                          </a:rPr>
                          <m:t>,</m:t>
                        </m:r>
                        <m:r>
                          <a:rPr lang="zh-CN" altLang="en-US" sz="1600" i="1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1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𝑖</m:t>
                            </m:r>
                            <m:r>
                              <a:rPr lang="en-US" altLang="zh-CN" sz="1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zh-CN" altLang="en-US" sz="1600" dirty="0" smtClean="0"/>
                  <a:t>然后用这个 </a:t>
                </a:r>
                <a:r>
                  <a:rPr lang="en-US" altLang="zh-CN" sz="1600" dirty="0" smtClean="0"/>
                  <a:t>transition</a:t>
                </a:r>
                <a:r>
                  <a:rPr lang="zh-CN" altLang="en-US" sz="1600" dirty="0" smtClean="0"/>
                  <a:t> 来计算 </a:t>
                </a:r>
                <a:r>
                  <a:rPr lang="en-US" altLang="zh-CN" sz="1600" dirty="0" smtClean="0"/>
                  <a:t>TD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error</a:t>
                </a:r>
                <a:r>
                  <a:rPr lang="zh-CN" altLang="en-US" sz="1600" dirty="0" smtClean="0"/>
                  <a:t>，记做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zh-CN" altLang="en-US" sz="1600" dirty="0" smtClean="0"/>
                  <a:t>对 二分之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平方</a:t>
                </a:r>
                <a:r>
                  <a:rPr lang="zh-CN" altLang="en-US" sz="1600" baseline="0" dirty="0" smtClean="0"/>
                  <a:t>关于 </a:t>
                </a:r>
                <a:r>
                  <a:rPr lang="en-US" altLang="zh-CN" sz="1600" baseline="0" dirty="0" smtClean="0"/>
                  <a:t>w</a:t>
                </a:r>
                <a:r>
                  <a:rPr lang="zh-CN" altLang="en-US" sz="1600" baseline="0" dirty="0" smtClean="0"/>
                  <a:t> 求导，得到随机梯度。</a:t>
                </a:r>
                <a:endParaRPr lang="en-US" altLang="zh-CN" sz="1600" baseline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zh-CN" altLang="en-US" sz="1600" baseline="0" dirty="0" smtClean="0"/>
                  <a:t>把随机梯度记做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1">
                            <a:latin typeface="Cambria Math" charset="0"/>
                          </a:rPr>
                          <m:t>𝐠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zh-CN" altLang="en-US" sz="1600" dirty="0" smtClean="0"/>
                  <a:t>最后做随机梯度下降，用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1">
                            <a:latin typeface="Cambria Math" charset="0"/>
                          </a:rPr>
                          <m:t>𝐠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来更新 </a:t>
                </a:r>
                <a14:m>
                  <m:oMath xmlns:m="http://schemas.openxmlformats.org/officeDocument/2006/math">
                    <m:r>
                      <a:rPr lang="en-US" altLang="zh-CN" sz="1600" b="1" smtClean="0">
                        <a:latin typeface="Cambria Math" charset="0"/>
                      </a:rPr>
                      <m:t>𝐰</m:t>
                    </m:r>
                  </m:oMath>
                </a14:m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-------------------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这里我只用了一个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transition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来更新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w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实践中通常用 </a:t>
                </a:r>
                <a:r>
                  <a:rPr lang="en-US" altLang="zh-CN" sz="1600" dirty="0" smtClean="0"/>
                  <a:t>mini-batch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SGD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每次随机抽多个 </a:t>
                </a:r>
                <a:r>
                  <a:rPr lang="en-US" altLang="zh-CN" sz="1600" dirty="0" smtClean="0"/>
                  <a:t>transitions</a:t>
                </a:r>
                <a:r>
                  <a:rPr lang="zh-CN" altLang="en-US" sz="1600" dirty="0" smtClean="0"/>
                  <a:t>，算出多个随机梯度，拿梯度的平均来更新 </a:t>
                </a:r>
                <a:r>
                  <a:rPr lang="en-US" altLang="zh-CN" sz="1600" dirty="0" smtClean="0"/>
                  <a:t>w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用 </a:t>
                </a:r>
                <a:r>
                  <a:rPr lang="en-US" altLang="zh-CN" sz="1600" dirty="0" smtClean="0"/>
                  <a:t>TD</a:t>
                </a:r>
                <a:r>
                  <a:rPr lang="zh-CN" altLang="en-US" sz="1600" dirty="0" smtClean="0"/>
                  <a:t> 算法训练 </a:t>
                </a:r>
                <a:r>
                  <a:rPr lang="en-US" altLang="zh-CN" sz="1600" dirty="0" smtClean="0"/>
                  <a:t>DQN</a:t>
                </a:r>
                <a:r>
                  <a:rPr lang="zh-CN" altLang="en-US" sz="1600" baseline="0" dirty="0" smtClean="0"/>
                  <a:t> 的时候，应该这样做“经验回放”。</a:t>
                </a:r>
                <a:endParaRPr lang="en-US" altLang="zh-CN" sz="1600" baseline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zh-CN" altLang="en-US" sz="1600" dirty="0" smtClean="0"/>
                  <a:t>之前推导过，训练 </a:t>
                </a:r>
                <a:r>
                  <a:rPr lang="en-US" altLang="zh-CN" sz="1600" dirty="0" smtClean="0"/>
                  <a:t>DQN</a:t>
                </a:r>
                <a:r>
                  <a:rPr lang="zh-CN" altLang="en-US" sz="1600" dirty="0" smtClean="0"/>
                  <a:t> 的目标函数是 </a:t>
                </a:r>
                <a:r>
                  <a:rPr lang="en-US" altLang="zh-CN" sz="1600" i="0" smtClean="0">
                    <a:latin typeface="Cambria Math" charset="0"/>
                  </a:rPr>
                  <a:t>𝐿</a:t>
                </a:r>
                <a:r>
                  <a:rPr lang="en-US" altLang="zh-CN" sz="1600" i="0">
                    <a:latin typeface="Cambria Math" charset="0"/>
                  </a:rPr>
                  <a:t>(</a:t>
                </a:r>
                <a:r>
                  <a:rPr lang="en-US" altLang="zh-CN" sz="1600" b="1" i="0">
                    <a:latin typeface="Cambria Math" charset="0"/>
                  </a:rPr>
                  <a:t>𝐰)</a:t>
                </a:r>
                <a:r>
                  <a:rPr lang="zh-CN" altLang="en-US" sz="1600" dirty="0" smtClean="0"/>
                  <a:t>，它等于 </a:t>
                </a:r>
                <a:r>
                  <a:rPr lang="en-US" altLang="zh-CN" sz="1600" dirty="0" smtClean="0"/>
                  <a:t>TD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error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i="0" smtClean="0">
                    <a:latin typeface="Cambria Math" charset="0"/>
                  </a:rPr>
                  <a:t>𝛿</a:t>
                </a:r>
                <a:r>
                  <a:rPr lang="zh-CN" altLang="en-US" sz="1600" dirty="0" smtClean="0"/>
                  <a:t> 平方的均值。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我们希望最小化 </a:t>
                </a:r>
                <a:r>
                  <a:rPr lang="en-US" altLang="zh-CN" sz="1600" i="0" smtClean="0">
                    <a:latin typeface="Cambria Math" charset="0"/>
                  </a:rPr>
                  <a:t>𝐿</a:t>
                </a:r>
                <a:r>
                  <a:rPr lang="en-US" altLang="zh-CN" sz="1600" i="0">
                    <a:latin typeface="Cambria Math" charset="0"/>
                  </a:rPr>
                  <a:t>(</a:t>
                </a:r>
                <a:r>
                  <a:rPr lang="en-US" altLang="zh-CN" sz="1600" b="1" i="0">
                    <a:latin typeface="Cambria Math" charset="0"/>
                  </a:rPr>
                  <a:t>𝐰)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zh-CN" altLang="en-US" sz="1600" dirty="0" smtClean="0"/>
                  <a:t>于是我们可以用“随机梯度下降”来最小化 </a:t>
                </a:r>
                <a:r>
                  <a:rPr lang="en-US" altLang="zh-CN" sz="1600" i="0" smtClean="0">
                    <a:latin typeface="Cambria Math" charset="0"/>
                  </a:rPr>
                  <a:t>𝐿</a:t>
                </a:r>
                <a:r>
                  <a:rPr lang="en-US" altLang="zh-CN" sz="1600" i="0">
                    <a:latin typeface="Cambria Math" charset="0"/>
                  </a:rPr>
                  <a:t>(</a:t>
                </a:r>
                <a:r>
                  <a:rPr lang="en-US" altLang="zh-CN" sz="1600" b="1" i="0">
                    <a:latin typeface="Cambria Math" charset="0"/>
                  </a:rPr>
                  <a:t>𝐰)</a:t>
                </a:r>
                <a:r>
                  <a:rPr lang="zh-CN" altLang="en-US" sz="1600" dirty="0" smtClean="0"/>
                  <a:t>，改进参数 </a:t>
                </a:r>
                <a:r>
                  <a:rPr lang="en-US" altLang="zh-CN" sz="1600" dirty="0" smtClean="0"/>
                  <a:t>w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zh-CN" altLang="en-US" sz="1600" dirty="0" smtClean="0"/>
                  <a:t>每次从</a:t>
                </a:r>
                <a:r>
                  <a:rPr lang="en-US" altLang="zh-CN" sz="1600" dirty="0" smtClean="0"/>
                  <a:t>Replay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buffer</a:t>
                </a:r>
                <a:r>
                  <a:rPr lang="zh-CN" altLang="en-US" sz="1600" dirty="0" smtClean="0"/>
                  <a:t>中随机均匀抽样一个</a:t>
                </a:r>
                <a:r>
                  <a:rPr lang="en-US" altLang="zh-CN" sz="1600" dirty="0" smtClean="0"/>
                  <a:t>transition</a:t>
                </a:r>
                <a:r>
                  <a:rPr lang="zh-CN" altLang="en-US" sz="1600" dirty="0" smtClean="0"/>
                  <a:t>，记做 </a:t>
                </a:r>
                <a:r>
                  <a:rPr lang="en-US" sz="1600" i="0" smtClean="0">
                    <a:latin typeface="Cambria Math" charset="0"/>
                  </a:rPr>
                  <a:t>(</a:t>
                </a:r>
                <a:r>
                  <a:rPr lang="en-US" sz="16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𝑠_</a:t>
                </a:r>
                <a:r>
                  <a:rPr lang="en-US" altLang="zh-CN" sz="16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𝑖</a:t>
                </a:r>
                <a:r>
                  <a:rPr lang="en-US" sz="1600" i="0">
                    <a:latin typeface="Cambria Math" charset="0"/>
                  </a:rPr>
                  <a:t>, </a:t>
                </a:r>
                <a:r>
                  <a:rPr lang="en-US" sz="1600" i="0">
                    <a:solidFill>
                      <a:srgbClr val="FF0000"/>
                    </a:solidFill>
                    <a:latin typeface="Cambria Math" charset="0"/>
                  </a:rPr>
                  <a:t>𝑎</a:t>
                </a:r>
                <a:r>
                  <a:rPr lang="en-US" altLang="zh-CN" sz="1600" i="0">
                    <a:solidFill>
                      <a:srgbClr val="FF0000"/>
                    </a:solidFill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solidFill>
                      <a:srgbClr val="FF0000"/>
                    </a:solidFill>
                    <a:latin typeface="Cambria Math" charset="0"/>
                  </a:rPr>
                  <a:t>𝑖</a:t>
                </a:r>
                <a:r>
                  <a:rPr lang="en-US" altLang="zh-CN" sz="1600" b="1" i="0">
                    <a:latin typeface="Cambria Math" charset="0"/>
                  </a:rPr>
                  <a:t>,</a:t>
                </a:r>
                <a:r>
                  <a:rPr lang="zh-CN" altLang="en-US" sz="1600" b="1" i="0">
                    <a:latin typeface="Cambria Math" charset="0"/>
                  </a:rPr>
                  <a:t> </a:t>
                </a:r>
                <a:r>
                  <a:rPr lang="en-US" altLang="zh-CN" sz="1600" i="0">
                    <a:solidFill>
                      <a:schemeClr val="accent5"/>
                    </a:solidFill>
                    <a:latin typeface="Cambria Math" charset="0"/>
                  </a:rPr>
                  <a:t>𝑟_</a:t>
                </a:r>
                <a:r>
                  <a:rPr lang="en-US" altLang="zh-CN" sz="1600" b="0" i="0" smtClean="0">
                    <a:solidFill>
                      <a:schemeClr val="accent5"/>
                    </a:solidFill>
                    <a:latin typeface="Cambria Math" charset="0"/>
                  </a:rPr>
                  <a:t>𝑖</a:t>
                </a:r>
                <a:r>
                  <a:rPr lang="en-US" altLang="zh-CN" sz="1600" i="0">
                    <a:latin typeface="Cambria Math" charset="0"/>
                  </a:rPr>
                  <a:t>,</a:t>
                </a:r>
                <a:r>
                  <a:rPr lang="zh-CN" altLang="en-US" sz="1600" i="0">
                    <a:latin typeface="Cambria Math" charset="0"/>
                  </a:rPr>
                  <a:t> </a:t>
                </a:r>
                <a:r>
                  <a:rPr lang="en-US" altLang="zh-CN" sz="16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𝑠_(</a:t>
                </a:r>
                <a:r>
                  <a:rPr lang="en-US" altLang="zh-CN" sz="16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𝑖</a:t>
                </a:r>
                <a:r>
                  <a:rPr lang="en-US" altLang="zh-CN" sz="16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+1) )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zh-CN" altLang="en-US" sz="1600" dirty="0" smtClean="0"/>
                  <a:t>然后用这个 </a:t>
                </a:r>
                <a:r>
                  <a:rPr lang="en-US" altLang="zh-CN" sz="1600" dirty="0" smtClean="0"/>
                  <a:t>transition</a:t>
                </a:r>
                <a:r>
                  <a:rPr lang="zh-CN" altLang="en-US" sz="1600" dirty="0" smtClean="0"/>
                  <a:t> 来计算 </a:t>
                </a:r>
                <a:r>
                  <a:rPr lang="en-US" altLang="zh-CN" sz="1600" dirty="0" smtClean="0"/>
                  <a:t>TD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error</a:t>
                </a:r>
                <a:r>
                  <a:rPr lang="zh-CN" altLang="en-US" sz="1600" dirty="0" smtClean="0"/>
                  <a:t>，记做 </a:t>
                </a:r>
                <a:r>
                  <a:rPr lang="en-US" altLang="zh-CN" sz="1600" i="0">
                    <a:latin typeface="Cambria Math" charset="0"/>
                  </a:rPr>
                  <a:t>𝛿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latin typeface="Cambria Math" charset="0"/>
                  </a:rPr>
                  <a:t>𝑖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zh-CN" altLang="en-US" sz="1600" dirty="0" smtClean="0"/>
                  <a:t>对 二分之 </a:t>
                </a:r>
                <a:r>
                  <a:rPr lang="en-US" altLang="zh-CN" sz="1600" i="0">
                    <a:latin typeface="Cambria Math" charset="0"/>
                  </a:rPr>
                  <a:t>𝛿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latin typeface="Cambria Math" charset="0"/>
                  </a:rPr>
                  <a:t>𝑖</a:t>
                </a:r>
                <a:r>
                  <a:rPr lang="zh-CN" altLang="en-US" sz="1600" dirty="0" smtClean="0"/>
                  <a:t> 平方</a:t>
                </a:r>
                <a:r>
                  <a:rPr lang="zh-CN" altLang="en-US" sz="1600" baseline="0" dirty="0" smtClean="0"/>
                  <a:t>关于 </a:t>
                </a:r>
                <a:r>
                  <a:rPr lang="en-US" altLang="zh-CN" sz="1600" baseline="0" dirty="0" smtClean="0"/>
                  <a:t>w</a:t>
                </a:r>
                <a:r>
                  <a:rPr lang="zh-CN" altLang="en-US" sz="1600" baseline="0" dirty="0" smtClean="0"/>
                  <a:t> 求导，得到随机梯度。</a:t>
                </a:r>
                <a:endParaRPr lang="en-US" altLang="zh-CN" sz="1600" baseline="0" dirty="0" smtClean="0"/>
              </a:p>
              <a:p>
                <a:r>
                  <a:rPr lang="zh-CN" altLang="en-US" sz="1600" baseline="0" dirty="0" smtClean="0"/>
                  <a:t>把随机梯度记做 </a:t>
                </a:r>
                <a:r>
                  <a:rPr lang="en-US" altLang="zh-CN" sz="1600" b="1" i="0">
                    <a:latin typeface="Cambria Math" charset="0"/>
                  </a:rPr>
                  <a:t>𝐠</a:t>
                </a:r>
                <a:r>
                  <a:rPr lang="en-US" altLang="zh-CN" sz="1600" b="1" i="0" smtClean="0"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latin typeface="Cambria Math" charset="0"/>
                  </a:rPr>
                  <a:t>𝑖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zh-CN" altLang="en-US" sz="1600" dirty="0" smtClean="0"/>
                  <a:t>最后做随机梯度下降，用 </a:t>
                </a:r>
                <a:r>
                  <a:rPr lang="en-US" altLang="zh-CN" sz="1600" b="1" i="0">
                    <a:latin typeface="Cambria Math" charset="0"/>
                  </a:rPr>
                  <a:t>𝐠</a:t>
                </a:r>
                <a:r>
                  <a:rPr lang="en-US" altLang="zh-CN" sz="1600" b="1" i="0" smtClean="0"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latin typeface="Cambria Math" charset="0"/>
                  </a:rPr>
                  <a:t>𝑖</a:t>
                </a:r>
                <a:r>
                  <a:rPr lang="zh-CN" altLang="en-US" sz="1600" dirty="0" smtClean="0"/>
                  <a:t> 来更新 </a:t>
                </a:r>
                <a:r>
                  <a:rPr lang="en-US" altLang="zh-CN" sz="1600" b="1" i="0" smtClean="0">
                    <a:latin typeface="Cambria Math" charset="0"/>
                  </a:rPr>
                  <a:t>𝐰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-------------------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这里我只用了一个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transition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来更新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w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实践中通常用 </a:t>
                </a:r>
                <a:r>
                  <a:rPr lang="en-US" altLang="zh-CN" sz="1600" dirty="0" smtClean="0"/>
                  <a:t>mini-batch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SGD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每次随机抽多个 </a:t>
                </a:r>
                <a:r>
                  <a:rPr lang="en-US" altLang="zh-CN" sz="1600" dirty="0" smtClean="0"/>
                  <a:t>transitions</a:t>
                </a:r>
                <a:r>
                  <a:rPr lang="zh-CN" altLang="en-US" sz="1600" dirty="0" smtClean="0"/>
                  <a:t>，算出多个随机梯度，拿梯度的平均来更新 </a:t>
                </a:r>
                <a:r>
                  <a:rPr lang="en-US" altLang="zh-CN" sz="1600" dirty="0" smtClean="0"/>
                  <a:t>w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-------------------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做“经验回放”有两个好处。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第一，打破</a:t>
                </a:r>
                <a:r>
                  <a:rPr lang="zh-CN" altLang="en-US" sz="1600" dirty="0" smtClean="0"/>
                  <a:t>了序列的</a:t>
                </a:r>
                <a:r>
                  <a:rPr lang="zh-CN" altLang="en-US" sz="1600" dirty="0" smtClean="0"/>
                  <a:t>相关性。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第二，能重复</a:t>
                </a:r>
                <a:r>
                  <a:rPr lang="zh-CN" altLang="en-US" sz="1600" dirty="0" smtClean="0"/>
                  <a:t>利用过去的经验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267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dirty="0" smtClean="0"/>
              <a:t>做“经验回放”有两个好处。</a:t>
            </a:r>
            <a:endParaRPr lang="en-US" altLang="zh-CN" sz="1600" dirty="0" smtClean="0"/>
          </a:p>
          <a:p>
            <a:r>
              <a:rPr lang="zh-CN" altLang="en-US" sz="1600" dirty="0" smtClean="0"/>
              <a:t>第一，打破了序列的相关性。</a:t>
            </a:r>
            <a:endParaRPr lang="en-US" altLang="zh-CN" sz="1600" dirty="0" smtClean="0"/>
          </a:p>
          <a:p>
            <a:r>
              <a:rPr lang="zh-CN" altLang="en-US" sz="1600" dirty="0" smtClean="0"/>
              <a:t>第二，能重复利用过去的经验。</a:t>
            </a:r>
            <a:endParaRPr lang="en-US" altLang="zh-CN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9858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简单介绍一下“经验回放”的历史。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“经验回放”是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Lin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Long-Ji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在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1993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年提出的。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============================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DQN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的论文在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2015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年发表，这篇论文使用了“经验回放”，说明“经验回放”很有效。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之后“经验回放”变得非常流行，训练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DQN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和其他很多模型 都会用到“经验回放”。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“经验回放”现在是深度强化学习一种标准的技巧。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后来有各种对“经验回放”的改进。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我下面要介绍其中一种改进。</a:t>
                </a:r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这节课主要讲了强化学习中的基本概念。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就是会做动作的那个东西，</a:t>
                </a:r>
                <a:r>
                  <a:rPr lang="zh-CN" altLang="en-US" dirty="0" smtClean="0"/>
                  <a:t>比如超级玛丽中</a:t>
                </a:r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Mario</a:t>
                </a:r>
                <a:r>
                  <a:rPr lang="zh-CN" altLang="en-US" dirty="0" smtClean="0"/>
                  <a:t>就是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跟环境交互；超级玛丽中的环境就是游戏程序本身。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，环境就会更新状态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，并且给出一个奖励 </a:t>
                </a: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你可以认为状态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就是当前屏幕上显示的画面；游戏玩家会根据这个</a:t>
                </a:r>
                <a:r>
                  <a:rPr lang="zh-CN" altLang="en-US" dirty="0" smtClean="0"/>
                  <a:t>画面做操作。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如果状态、动作、奖励等变量被观测到，就用小写字母表示；如果没观测到，他们就是随机变量，用大写字母表示。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我们还讲了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</a:t>
                </a:r>
                <a:r>
                  <a:rPr lang="zh-CN" altLang="en-US" dirty="0" smtClean="0"/>
                  <a:t>和状态转移函数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这两个都是条件概率密度函数。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</a:t>
                </a:r>
                <a:r>
                  <a:rPr lang="zh-CN" altLang="en-US" dirty="0" smtClean="0"/>
                  <a:t>状态状态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函数会输出每个动作的概率密度，告诉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该做什么动作。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我们是不知道的；环境通过函数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来随机选下一个状态。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053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b="0" dirty="0" smtClean="0">
                <a:solidFill>
                  <a:schemeClr val="tx1"/>
                </a:solidFill>
                <a:latin typeface="+mn-lt"/>
              </a:rPr>
              <a:t>Prioritized</a:t>
            </a:r>
            <a:r>
              <a:rPr lang="zh-CN" altLang="en-US" sz="1600" b="0" baseline="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sz="1600" b="0" baseline="0" dirty="0" smtClean="0">
                <a:solidFill>
                  <a:schemeClr val="tx1"/>
                </a:solidFill>
                <a:latin typeface="+mn-lt"/>
              </a:rPr>
              <a:t>experience</a:t>
            </a:r>
            <a:r>
              <a:rPr lang="zh-CN" altLang="en-US" sz="1600" b="0" baseline="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sz="1600" b="0" baseline="0" dirty="0" smtClean="0">
                <a:solidFill>
                  <a:schemeClr val="tx1"/>
                </a:solidFill>
                <a:latin typeface="+mn-lt"/>
              </a:rPr>
              <a:t>replay</a:t>
            </a:r>
            <a:r>
              <a:rPr lang="zh-CN" altLang="en-US" sz="1600" b="0" baseline="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sz="1600" b="0" baseline="0" dirty="0" smtClean="0">
                <a:solidFill>
                  <a:schemeClr val="tx1"/>
                </a:solidFill>
                <a:latin typeface="+mn-lt"/>
              </a:rPr>
              <a:t>(</a:t>
            </a:r>
            <a:r>
              <a:rPr lang="zh-CN" altLang="en-US" sz="1600" b="0" baseline="0" dirty="0" smtClean="0">
                <a:solidFill>
                  <a:schemeClr val="tx1"/>
                </a:solidFill>
                <a:latin typeface="+mn-lt"/>
              </a:rPr>
              <a:t>优先经验回放</a:t>
            </a:r>
            <a:r>
              <a:rPr lang="en-US" altLang="zh-CN" sz="1600" b="0" baseline="0" dirty="0" smtClean="0">
                <a:solidFill>
                  <a:schemeClr val="tx1"/>
                </a:solidFill>
                <a:latin typeface="+mn-lt"/>
              </a:rPr>
              <a:t>)</a:t>
            </a:r>
            <a:r>
              <a:rPr lang="zh-CN" altLang="en-US" sz="1600" b="0" baseline="0" dirty="0" smtClean="0">
                <a:solidFill>
                  <a:schemeClr val="tx1"/>
                </a:solidFill>
                <a:latin typeface="+mn-lt"/>
              </a:rPr>
              <a:t>。</a:t>
            </a:r>
            <a:endParaRPr lang="en-US" altLang="zh-CN" sz="1600" b="0" baseline="0" dirty="0" smtClean="0">
              <a:solidFill>
                <a:schemeClr val="tx1"/>
              </a:solidFill>
              <a:latin typeface="+mn-lt"/>
            </a:endParaRPr>
          </a:p>
          <a:p>
            <a:r>
              <a:rPr lang="zh-CN" altLang="en-US" sz="1600" b="0" baseline="0" dirty="0" smtClean="0">
                <a:solidFill>
                  <a:schemeClr val="tx1"/>
                </a:solidFill>
                <a:latin typeface="+mn-lt"/>
              </a:rPr>
              <a:t>它的区别在于用“非均匀抽样”代替“均匀抽样”。</a:t>
            </a:r>
            <a:endParaRPr lang="en-US" altLang="zh-CN" sz="1600" b="0" baseline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6495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我先介绍“优先经验回放”的基本想法。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Buffer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里面有很多条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transitions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，他们的重要性各有不同。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我拿超级玛丽游戏来举例。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左边是游戏中常见的场景，可能有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90%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都是这种场景。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右边是对决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boss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，很多关才会出现一个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boss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，这种场景非常少。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你觉得这两种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transitions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哪种对训练更重要呢？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-------------------------------------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左边这样的经验太多了，要多少有多少。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所以训练出的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DQN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很容易应对左边的场景，可以轻松过关。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-------------------------------------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然而右边这种经验非常稀缺。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几百条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transitions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里面，可能才一条是 对决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boss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的。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由于这种经验很少，训练出来的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DQN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不知道该怎么打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boss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，恐怕无法通过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boss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关。</a:t>
                </a:r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-------------------------------------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在这个例子里面，右边的经验更重要，因为它很稀少。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要充分利用右边的经验，否则总是会被卡在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boss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关。</a:t>
                </a:r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这节课主要讲了强化学习中的基本概念。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就是会做动作的那个东西，</a:t>
                </a:r>
                <a:r>
                  <a:rPr lang="zh-CN" altLang="en-US" dirty="0" smtClean="0"/>
                  <a:t>比如超级玛丽中</a:t>
                </a:r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Mario</a:t>
                </a:r>
                <a:r>
                  <a:rPr lang="zh-CN" altLang="en-US" dirty="0" smtClean="0"/>
                  <a:t>就是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跟环境交互；超级玛丽中的环境就是游戏程序本身。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，环境就会更新状态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，并且给出一个奖励 </a:t>
                </a: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你可以认为状态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就是当前屏幕上显示的画面；游戏玩家会根据这个</a:t>
                </a:r>
                <a:r>
                  <a:rPr lang="zh-CN" altLang="en-US" dirty="0" smtClean="0"/>
                  <a:t>画面做操作。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如果状态、动作、奖励等变量被观测到，就用小写字母表示；如果没观测到，他们就是随机变量，用大写字母表示。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我们还讲了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</a:t>
                </a:r>
                <a:r>
                  <a:rPr lang="zh-CN" altLang="en-US" dirty="0" smtClean="0"/>
                  <a:t>和状态转移函数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这两个都是条件概率密度函数。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</a:t>
                </a:r>
                <a:r>
                  <a:rPr lang="zh-CN" altLang="en-US" dirty="0" smtClean="0"/>
                  <a:t>状态状态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函数会输出每个动作的概率密度，告诉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该做什么动作。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我们是不知道的；环境通过函数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来随机选下一个状态。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721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实际训练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DQN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的时候，算法怎么知道哪条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transition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更重要呢？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可以用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Error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来判断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transitions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的重要性。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TD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Error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的绝对值越大，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transition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就越重要，应该给较高的优先级。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-------------------------------------</a:t>
                </a:r>
              </a:p>
              <a:p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道理是这样的。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训练出的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DQN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不熟悉右边的场景，所以预测会偏离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TD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target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，导致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TD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Error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较大。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DQN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不熟悉右边的 场景，所以要给右边更高权重，让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DQN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能更好应对右边的场景。</a:t>
                </a:r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这节课主要讲了强化学习中的基本概念。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就是会做动作的那个东西，</a:t>
                </a:r>
                <a:r>
                  <a:rPr lang="zh-CN" altLang="en-US" dirty="0" smtClean="0"/>
                  <a:t>比如超级玛丽中</a:t>
                </a:r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Mario</a:t>
                </a:r>
                <a:r>
                  <a:rPr lang="zh-CN" altLang="en-US" dirty="0" smtClean="0"/>
                  <a:t>就是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跟环境交互；超级玛丽中的环境就是游戏程序本身。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，环境就会更新状态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，并且给出一个奖励 </a:t>
                </a: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你可以认为状态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就是当前屏幕上显示的画面；游戏玩家会根据这个</a:t>
                </a:r>
                <a:r>
                  <a:rPr lang="zh-CN" altLang="en-US" dirty="0" smtClean="0"/>
                  <a:t>画面做操作。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如果状态、动作、奖励等变量被观测到，就用小写字母表示；如果没观测到，他们就是随机变量，用大写字母表示。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我们还讲了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</a:t>
                </a:r>
                <a:r>
                  <a:rPr lang="zh-CN" altLang="en-US" dirty="0" smtClean="0"/>
                  <a:t>和状态转移函数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这两个都是条件概率密度函数。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</a:t>
                </a:r>
                <a:r>
                  <a:rPr lang="zh-CN" altLang="en-US" dirty="0" smtClean="0"/>
                  <a:t>状态状态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函数会输出每个动作的概率密度，告诉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该做什么动作。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我们是不知道的；环境通过函数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来随机选下一个状态。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085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“优先经验回放”的基本想法就是用非均匀抽样代替均匀抽样。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有两种不同的抽样方式。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第一种是让抽样概率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正比于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error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的绝对值再加上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charset="0"/>
                      </a:rPr>
                      <m:t>𝜖</m:t>
                    </m:r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charset="0"/>
                      </a:rPr>
                      <m:t>𝜖</m:t>
                    </m:r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是个很小的数，避免概率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等于零。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这节课主要讲了强化学习中的基本概念。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就是会做动作的那个东西，</a:t>
                </a:r>
                <a:r>
                  <a:rPr lang="zh-CN" altLang="en-US" dirty="0" smtClean="0"/>
                  <a:t>比如超级玛丽中</a:t>
                </a:r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Mario</a:t>
                </a:r>
                <a:r>
                  <a:rPr lang="zh-CN" altLang="en-US" dirty="0" smtClean="0"/>
                  <a:t>就是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跟环境交互；超级玛丽中的环境就是游戏程序本身。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，环境就会更新状态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，并且给出一个奖励 </a:t>
                </a: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你可以认为状态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就是当前屏幕上显示的画面；游戏玩家会根据这个</a:t>
                </a:r>
                <a:r>
                  <a:rPr lang="zh-CN" altLang="en-US" dirty="0" smtClean="0"/>
                  <a:t>画面做操作。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如果状态、动作、奖励等变量被观测到，就用小写字母表示；如果没观测到，他们就是随机变量，用大写字母表示。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我们还讲了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</a:t>
                </a:r>
                <a:r>
                  <a:rPr lang="zh-CN" altLang="en-US" dirty="0" smtClean="0"/>
                  <a:t>和状态转移函数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这两个都是条件概率密度函数。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</a:t>
                </a:r>
                <a:r>
                  <a:rPr lang="zh-CN" altLang="en-US" dirty="0" smtClean="0"/>
                  <a:t>状态状态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函数会输出每个动作的概率密度，告诉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该做什么动作。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我们是不知道的；环境通过函数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来随机选下一个状态。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1378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第二种方式是对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的绝对值 做排序，让大的靠前，小的靠后。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</a:t>
                </a: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Rank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(t)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是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的序号。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>
                    <a:solidFill>
                      <a:schemeClr val="tx1"/>
                    </a:solidFill>
                  </a:rPr>
                  <a:t>让 抽样概率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反比于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rank(t)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绝对值越大，它的序号越小，那么抽样概率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就越大。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</a:t>
                </a:r>
              </a:p>
              <a:p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两种方式的原理是一样的：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TD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error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越大，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transition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被抽样的概率就越大。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这节课主要讲了强化学习中的基本概念。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就是会做动作的那个东西，</a:t>
                </a:r>
                <a:r>
                  <a:rPr lang="zh-CN" altLang="en-US" dirty="0" smtClean="0"/>
                  <a:t>比如超级玛丽中</a:t>
                </a:r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Mario</a:t>
                </a:r>
                <a:r>
                  <a:rPr lang="zh-CN" altLang="en-US" dirty="0" smtClean="0"/>
                  <a:t>就是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跟环境交互；超级玛丽中的环境就是游戏程序本身。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，环境就会更新状态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，并且给出一个奖励 </a:t>
                </a: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你可以认为状态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就是当前屏幕上显示的画面；游戏玩家会根据这个</a:t>
                </a:r>
                <a:r>
                  <a:rPr lang="zh-CN" altLang="en-US" dirty="0" smtClean="0"/>
                  <a:t>画面做操作。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如果状态、动作、奖励等变量被观测到，就用小写字母表示；如果没观测到，他们就是随机变量，用大写字母表示。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我们还讲了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</a:t>
                </a:r>
                <a:r>
                  <a:rPr lang="zh-CN" altLang="en-US" dirty="0" smtClean="0"/>
                  <a:t>和状态转移函数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这两个都是条件概率密度函数。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</a:t>
                </a:r>
                <a:r>
                  <a:rPr lang="zh-CN" altLang="en-US" dirty="0" smtClean="0"/>
                  <a:t>状态状态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函数会输出每个动作的概率密度，告诉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该做什么动作。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我们是不知道的；环境通过函数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来随机选下一个状态。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0847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抽样的时候是非均匀的，不同的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transitions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有不同的抽样概率。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这样会导致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DQN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的预测有偏差。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应该相应调整 学习率，抵消掉不同抽样概率造成的偏差。</a:t>
                </a:r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</a:t>
                </a: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TD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算法用“随机梯度下降”来更新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w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这里的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𝛼</m:t>
                    </m:r>
                  </m:oMath>
                </a14:m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是学习率，也叫做步长。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</a:t>
                </a:r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如果做均匀抽样，所有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transitions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都有相同的 学习率。</a:t>
                </a:r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</a:t>
                </a:r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如果做 非均匀抽样的话，应该根据抽样概率来调整 学习率。</a:t>
                </a:r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这节课主要讲了强化学习中的基本概念。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就是会做动作的那个东西，</a:t>
                </a:r>
                <a:r>
                  <a:rPr lang="zh-CN" altLang="en-US" dirty="0" smtClean="0"/>
                  <a:t>比如超级玛丽中</a:t>
                </a:r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Mario</a:t>
                </a:r>
                <a:r>
                  <a:rPr lang="zh-CN" altLang="en-US" dirty="0" smtClean="0"/>
                  <a:t>就是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跟环境交互；超级玛丽中的环境就是游戏程序本身。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，环境就会更新状态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，并且给出一个奖励 </a:t>
                </a: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你可以认为状态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就是当前屏幕上显示的画面；游戏玩家会根据这个</a:t>
                </a:r>
                <a:r>
                  <a:rPr lang="zh-CN" altLang="en-US" dirty="0" smtClean="0"/>
                  <a:t>画面做操作。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如果状态、动作、奖励等变量被观测到，就用小写字母表示；如果没观测到，他们就是随机变量，用大写字母表示。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我们还讲了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</a:t>
                </a:r>
                <a:r>
                  <a:rPr lang="zh-CN" altLang="en-US" dirty="0" smtClean="0"/>
                  <a:t>和状态转移函数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这两个都是条件概率密度函数。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</a:t>
                </a:r>
                <a:r>
                  <a:rPr lang="zh-CN" altLang="en-US" dirty="0" smtClean="0"/>
                  <a:t>状态状态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函数会输出每个动作的概率密度，告诉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该做什么动作。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我们是不知道的；环境通过函数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来随机选下一个状态。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6870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如果一条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transition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有较大的抽样的概率，那么 应该把它的学习率设置得较小。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</a:t>
                </a:r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计算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乘以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，求负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𝛽</m:t>
                    </m:r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次幂。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把它乘到学习率上。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这里的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𝛽</m:t>
                    </m:r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是介于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0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到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1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之间的数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</a:t>
                </a:r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均匀抽样是一种特殊情况：抽样概率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全都等于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sz="1600" i="1">
                            <a:latin typeface="Cambria Math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这种情况下，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乘以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等于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1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，不会影响到学习率；所有的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transitions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都有相同的学习率。</a:t>
                </a:r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>
                    <a:solidFill>
                      <a:schemeClr val="tx1"/>
                    </a:solidFill>
                  </a:rPr>
                  <a:t>如果是非均匀抽样，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各不相同，于是学习率会有所不同。</a:t>
                </a:r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>
                    <a:solidFill>
                      <a:schemeClr val="tx1"/>
                    </a:solidFill>
                  </a:rPr>
                  <a:t>对于较大的抽样概率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，算出来的幂较小，会让学习率变小。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>
                    <a:solidFill>
                      <a:schemeClr val="tx1"/>
                    </a:solidFill>
                  </a:rPr>
                  <a:t>反之亦然，如果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小，那么学习率会变大。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</a:t>
                </a:r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160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𝛽</m:t>
                    </m:r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是个超参数，需要调参。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论文里建议一开始让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𝛽</m:t>
                    </m:r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很小，然后逐渐让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𝛽</m:t>
                    </m:r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增长，最终增长到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1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这节课主要讲了强化学习中的基本概念。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就是会做动作的那个东西，</a:t>
                </a:r>
                <a:r>
                  <a:rPr lang="zh-CN" altLang="en-US" dirty="0" smtClean="0"/>
                  <a:t>比如超级玛丽中</a:t>
                </a:r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Mario</a:t>
                </a:r>
                <a:r>
                  <a:rPr lang="zh-CN" altLang="en-US" dirty="0" smtClean="0"/>
                  <a:t>就是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跟环境交互；超级玛丽中的环境就是游戏程序本身。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，环境就会更新状态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，并且给出一个奖励 </a:t>
                </a: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你可以认为状态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就是当前屏幕上显示的画面；游戏玩家会根据这个</a:t>
                </a:r>
                <a:r>
                  <a:rPr lang="zh-CN" altLang="en-US" dirty="0" smtClean="0"/>
                  <a:t>画面做操作。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如果状态、动作、奖励等变量被观测到，就用小写字母表示；如果没观测到，他们就是随机变量，用大写字母表示。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我们还讲了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</a:t>
                </a:r>
                <a:r>
                  <a:rPr lang="zh-CN" altLang="en-US" dirty="0" smtClean="0"/>
                  <a:t>和状态转移函数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这两个都是条件概率密度函数。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</a:t>
                </a:r>
                <a:r>
                  <a:rPr lang="zh-CN" altLang="en-US" dirty="0" smtClean="0"/>
                  <a:t>状态状态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函数会输出每个动作的概率密度，告诉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该做什么动作。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我们是不知道的；环境通过函数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来随机选下一个状态。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2738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为了做“优先经验回放”，要把每一条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transition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都标记上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Error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决定了 这一条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transition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的重要性，决定了它被抽样的概率。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如果一条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transition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刚刚被收集到，还没被用来训练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DQN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，那么我们不知道它的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error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我们直接把它的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设置为最大值。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也就是说如果一条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transition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还没被用过，那么给它最高的权重。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>
                    <a:solidFill>
                      <a:schemeClr val="tx1"/>
                    </a:solidFill>
                  </a:rPr>
                  <a:t>在训练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DQN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的同时，要对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做更新。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>
                    <a:solidFill>
                      <a:schemeClr val="tx1"/>
                    </a:solidFill>
                  </a:rPr>
                  <a:t>每次我们使用一条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transition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的时候，我们要重新计算它的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，这条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transition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就有了新的权重。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这节课主要讲了强化学习中的基本概念。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就是会做动作的那个东西，</a:t>
                </a:r>
                <a:r>
                  <a:rPr lang="zh-CN" altLang="en-US" dirty="0" smtClean="0"/>
                  <a:t>比如超级玛丽中</a:t>
                </a:r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Mario</a:t>
                </a:r>
                <a:r>
                  <a:rPr lang="zh-CN" altLang="en-US" dirty="0" smtClean="0"/>
                  <a:t>就是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跟环境交互；超级玛丽中的环境就是游戏程序本身。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，环境就会更新状态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，并且给出一个奖励 </a:t>
                </a: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你可以认为状态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就是当前屏幕上显示的画面；游戏玩家会根据这个</a:t>
                </a:r>
                <a:r>
                  <a:rPr lang="zh-CN" altLang="en-US" dirty="0" smtClean="0"/>
                  <a:t>画面做操作。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如果状态、动作、奖励等变量被观测到，就用小写字母表示；如果没观测到，他们就是随机变量，用大写字母表示。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我们还讲了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</a:t>
                </a:r>
                <a:r>
                  <a:rPr lang="zh-CN" altLang="en-US" dirty="0" smtClean="0"/>
                  <a:t>和状态转移函数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这两个都是条件概率密度函数。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</a:t>
                </a:r>
                <a:r>
                  <a:rPr lang="zh-CN" altLang="en-US" dirty="0" smtClean="0"/>
                  <a:t>状态状态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函数会输出每个动作的概率密度，告诉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该做什么动作。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我们是不知道的；环境通过函数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来随机选下一个状态。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5686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总结一下“优先经验回放”。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Replay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Buffer</a:t>
                </a:r>
                <a:r>
                  <a:rPr lang="zh-CN" altLang="en-US" sz="1600" dirty="0" smtClean="0"/>
                  <a:t> 里存了 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 条 </a:t>
                </a:r>
                <a:r>
                  <a:rPr lang="en-US" altLang="zh-CN" sz="1600" dirty="0" smtClean="0"/>
                  <a:t>transitions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</a:t>
                </a:r>
              </a:p>
              <a:p>
                <a:r>
                  <a:rPr lang="zh-CN" altLang="en-US" sz="1600" dirty="0" smtClean="0"/>
                  <a:t>每条 </a:t>
                </a:r>
                <a:r>
                  <a:rPr lang="en-US" altLang="zh-CN" sz="1600" dirty="0" smtClean="0"/>
                  <a:t>transition</a:t>
                </a:r>
                <a:r>
                  <a:rPr lang="zh-CN" altLang="en-US" sz="1600" dirty="0" smtClean="0"/>
                  <a:t> 都是一个四元组。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除此之外，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</a:t>
                </a:r>
              </a:p>
              <a:p>
                <a:r>
                  <a:rPr lang="zh-CN" altLang="en-US" sz="1600" dirty="0" smtClean="0"/>
                  <a:t>我们还知道每条 </a:t>
                </a:r>
                <a:r>
                  <a:rPr lang="en-US" altLang="zh-CN" sz="1600" dirty="0" smtClean="0"/>
                  <a:t>transition</a:t>
                </a:r>
                <a:r>
                  <a:rPr lang="zh-CN" altLang="en-US" sz="1600" dirty="0" smtClean="0"/>
                  <a:t> 的 </a:t>
                </a:r>
                <a:r>
                  <a:rPr lang="en-US" altLang="zh-CN" sz="1600" dirty="0" smtClean="0"/>
                  <a:t>TD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Error,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𝛿</m:t>
                    </m:r>
                  </m:oMath>
                </a14:m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</a:t>
                </a:r>
              </a:p>
              <a:p>
                <a:r>
                  <a:rPr lang="zh-CN" altLang="en-US" sz="1600" dirty="0" smtClean="0"/>
                  <a:t>“优先经验回放”要根据 </a:t>
                </a:r>
                <a:r>
                  <a:rPr lang="en-US" altLang="zh-CN" sz="1600" dirty="0" smtClean="0"/>
                  <a:t>transition</a:t>
                </a:r>
                <a:r>
                  <a:rPr lang="zh-CN" altLang="en-US" sz="1600" dirty="0" smtClean="0"/>
                  <a:t> 的重要性做抽样。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抽样概率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正比于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 smtClean="0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的绝对值。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TD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error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 smtClean="0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越大，</a:t>
                </a:r>
                <a:r>
                  <a:rPr lang="en-US" altLang="zh-CN" sz="1600" dirty="0" smtClean="0"/>
                  <a:t>transition</a:t>
                </a:r>
                <a:r>
                  <a:rPr lang="zh-CN" altLang="en-US" sz="1600" dirty="0" smtClean="0"/>
                  <a:t> 被抽到的概率就越大。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原本用均匀抽样的时候，学习率固定成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charset="0"/>
                      </a:rPr>
                      <m:t>𝛼</m:t>
                    </m:r>
                  </m:oMath>
                </a14:m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现在我们使用了不同的抽样概率，这样会造成 </a:t>
                </a:r>
                <a:r>
                  <a:rPr lang="en-US" altLang="zh-CN" sz="1600" dirty="0" smtClean="0"/>
                  <a:t>DQN</a:t>
                </a:r>
                <a:r>
                  <a:rPr lang="zh-CN" altLang="en-US" sz="1600" dirty="0" smtClean="0"/>
                  <a:t> 的预测有偏差。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为了消除偏差，应该相应调整学习率。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把学习率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charset="0"/>
                      </a:rPr>
                      <m:t>𝛼</m:t>
                    </m:r>
                  </m:oMath>
                </a14:m>
                <a:r>
                  <a:rPr lang="zh-CN" altLang="en-US" sz="1600" dirty="0" smtClean="0"/>
                  <a:t> 按照抽样概率 </a:t>
                </a:r>
                <a:r>
                  <a:rPr lang="en-US" altLang="zh-CN" sz="1600" dirty="0" smtClean="0"/>
                  <a:t>p</a:t>
                </a:r>
                <a:r>
                  <a:rPr lang="zh-CN" altLang="en-US" sz="1600" dirty="0" smtClean="0"/>
                  <a:t> 来做调整。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学习率变成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charset="0"/>
                      </a:rPr>
                      <m:t>𝛼</m:t>
                    </m:r>
                    <m:r>
                      <a:rPr lang="en-US" altLang="zh-CN" sz="1600" b="0" i="1" smtClean="0">
                        <a:latin typeface="Cambria Math" charset="0"/>
                      </a:rPr>
                      <m:t>⋅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charset="0"/>
                              </a:rPr>
                              <m:t>𝑛</m:t>
                            </m:r>
                            <m:r>
                              <a:rPr lang="zh-CN" altLang="en-US" sz="1600" b="0" i="1" smtClean="0">
                                <a:latin typeface="Cambria Math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latin typeface="Cambria Math" charset="0"/>
                          </a:rPr>
                          <m:t>−</m:t>
                        </m:r>
                        <m:r>
                          <a:rPr lang="en-US" altLang="zh-CN" sz="1600" b="0" i="1" smtClean="0">
                            <a:latin typeface="Cambria Math" charset="0"/>
                          </a:rPr>
                          <m:t>𝛽</m:t>
                        </m:r>
                      </m:sup>
                    </m:sSup>
                  </m:oMath>
                </a14:m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抽样概率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越大，学习率越小。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---------------</a:t>
                </a:r>
              </a:p>
              <a:p>
                <a:r>
                  <a:rPr lang="zh-CN" altLang="en-US" sz="1600" dirty="0" smtClean="0"/>
                  <a:t>概括一下。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总结一下“优先经验回放”。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Replay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Buffer</a:t>
                </a:r>
                <a:r>
                  <a:rPr lang="zh-CN" altLang="en-US" sz="1600" dirty="0" smtClean="0"/>
                  <a:t> 里存了 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 条 </a:t>
                </a:r>
                <a:r>
                  <a:rPr lang="en-US" altLang="zh-CN" sz="1600" dirty="0" smtClean="0"/>
                  <a:t>transitions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每条 </a:t>
                </a:r>
                <a:r>
                  <a:rPr lang="en-US" altLang="zh-CN" sz="1600" dirty="0" smtClean="0"/>
                  <a:t>transition</a:t>
                </a:r>
                <a:r>
                  <a:rPr lang="zh-CN" altLang="en-US" sz="1600" dirty="0" smtClean="0"/>
                  <a:t> 都是一个四元组。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除此之外，我们还知道每条 </a:t>
                </a:r>
                <a:r>
                  <a:rPr lang="en-US" altLang="zh-CN" sz="1600" dirty="0" smtClean="0"/>
                  <a:t>transition</a:t>
                </a:r>
                <a:r>
                  <a:rPr lang="zh-CN" altLang="en-US" sz="1600" dirty="0" smtClean="0"/>
                  <a:t> 的 </a:t>
                </a:r>
                <a:r>
                  <a:rPr lang="en-US" altLang="zh-CN" sz="1600" dirty="0" smtClean="0"/>
                  <a:t>TD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Error,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𝛿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</a:t>
                </a:r>
              </a:p>
              <a:p>
                <a:r>
                  <a:rPr lang="zh-CN" altLang="en-US" sz="1600" dirty="0" smtClean="0"/>
                  <a:t>“优先经验回放”要根据 </a:t>
                </a:r>
                <a:r>
                  <a:rPr lang="en-US" altLang="zh-CN" sz="1600" dirty="0" smtClean="0"/>
                  <a:t>transition</a:t>
                </a:r>
                <a:r>
                  <a:rPr lang="zh-CN" altLang="en-US" sz="1600" dirty="0" smtClean="0"/>
                  <a:t> 的重要性做抽样。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抽样概率 </a:t>
                </a:r>
                <a:r>
                  <a:rPr lang="en-US" altLang="zh-CN" sz="1600" b="0" i="0" smtClean="0">
                    <a:latin typeface="Cambria Math" charset="0"/>
                  </a:rPr>
                  <a:t>𝑝</a:t>
                </a:r>
                <a:r>
                  <a:rPr lang="en-US" altLang="zh-CN" sz="1600" b="0" i="0" smtClean="0"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latin typeface="Cambria Math" charset="0"/>
                  </a:rPr>
                  <a:t>𝑡</a:t>
                </a:r>
                <a:r>
                  <a:rPr lang="zh-CN" altLang="en-US" sz="1600" dirty="0" smtClean="0"/>
                  <a:t> 正比于 </a:t>
                </a:r>
                <a:r>
                  <a:rPr lang="en-US" altLang="zh-CN" sz="1600" i="0" smtClean="0">
                    <a:latin typeface="Cambria Math" charset="0"/>
                  </a:rPr>
                  <a:t>𝛿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latin typeface="Cambria Math" charset="0"/>
                  </a:rPr>
                  <a:t>𝑡</a:t>
                </a:r>
                <a:r>
                  <a:rPr lang="zh-CN" altLang="en-US" sz="1600" dirty="0" smtClean="0"/>
                  <a:t> 的绝对值。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TD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error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i="0" smtClean="0">
                    <a:latin typeface="Cambria Math" charset="0"/>
                  </a:rPr>
                  <a:t>𝛿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latin typeface="Cambria Math" charset="0"/>
                  </a:rPr>
                  <a:t>𝑡</a:t>
                </a:r>
                <a:r>
                  <a:rPr lang="zh-CN" altLang="en-US" sz="1600" dirty="0" smtClean="0"/>
                  <a:t> 越大，</a:t>
                </a:r>
                <a:r>
                  <a:rPr lang="en-US" altLang="zh-CN" sz="1600" dirty="0" smtClean="0"/>
                  <a:t>transition</a:t>
                </a:r>
                <a:r>
                  <a:rPr lang="zh-CN" altLang="en-US" sz="1600" dirty="0" smtClean="0"/>
                  <a:t> 被抽到的概率就越大。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原本用均匀抽样的时候，学习率固定成 </a:t>
                </a:r>
                <a:r>
                  <a:rPr lang="en-US" altLang="zh-CN" sz="1600" b="0" i="0" smtClean="0">
                    <a:latin typeface="Cambria Math" charset="0"/>
                  </a:rPr>
                  <a:t>𝛼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现在我们使用了不同的抽样概率，这样会造成 </a:t>
                </a:r>
                <a:r>
                  <a:rPr lang="en-US" altLang="zh-CN" sz="1600" dirty="0" smtClean="0"/>
                  <a:t>DQN</a:t>
                </a:r>
                <a:r>
                  <a:rPr lang="zh-CN" altLang="en-US" sz="1600" dirty="0" smtClean="0"/>
                  <a:t> 的预测有偏差。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为了消除偏差，应该相应调整学习率。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把学习率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b="0" i="0" smtClean="0">
                    <a:latin typeface="Cambria Math" charset="0"/>
                  </a:rPr>
                  <a:t>𝛼</a:t>
                </a:r>
                <a:r>
                  <a:rPr lang="zh-CN" altLang="en-US" sz="1600" dirty="0" smtClean="0"/>
                  <a:t> 按照抽样概率 </a:t>
                </a:r>
                <a:r>
                  <a:rPr lang="en-US" altLang="zh-CN" sz="1600" dirty="0" smtClean="0"/>
                  <a:t>p</a:t>
                </a:r>
                <a:r>
                  <a:rPr lang="zh-CN" altLang="en-US" sz="1600" dirty="0" smtClean="0"/>
                  <a:t> 来做调整。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学习率变成 </a:t>
                </a:r>
                <a:r>
                  <a:rPr lang="en-US" altLang="zh-CN" sz="1600" b="0" i="0" smtClean="0">
                    <a:latin typeface="Cambria Math" charset="0"/>
                  </a:rPr>
                  <a:t>𝛼⋅</a:t>
                </a:r>
                <a:r>
                  <a:rPr lang="en-US" altLang="zh-CN" sz="1600" b="0" i="0" smtClean="0">
                    <a:latin typeface="Cambria Math" charset="0"/>
                  </a:rPr>
                  <a:t>(𝑛</a:t>
                </a:r>
                <a:r>
                  <a:rPr lang="zh-CN" altLang="en-US" sz="1600" b="0" i="0" smtClean="0">
                    <a:latin typeface="Cambria Math" charset="0"/>
                  </a:rPr>
                  <a:t> </a:t>
                </a:r>
                <a:r>
                  <a:rPr lang="en-US" altLang="zh-CN" sz="1600" b="0" i="0" smtClean="0">
                    <a:latin typeface="Cambria Math" charset="0"/>
                  </a:rPr>
                  <a:t>𝑝_𝑡 )^(−𝛽)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抽样概率 </a:t>
                </a:r>
                <a:r>
                  <a:rPr lang="en-US" altLang="zh-CN" sz="1600" b="0" i="0" smtClean="0">
                    <a:latin typeface="Cambria Math" charset="0"/>
                  </a:rPr>
                  <a:t>𝑝</a:t>
                </a:r>
                <a:r>
                  <a:rPr lang="en-US" altLang="zh-CN" sz="1600" b="0" i="0" smtClean="0"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latin typeface="Cambria Math" charset="0"/>
                  </a:rPr>
                  <a:t>𝑡</a:t>
                </a:r>
                <a:r>
                  <a:rPr lang="zh-CN" altLang="en-US" sz="1600" dirty="0" smtClean="0"/>
                  <a:t> 越大，学习率越小。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 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5921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一个 </a:t>
                </a:r>
                <a:r>
                  <a:rPr lang="en-US" altLang="zh-CN" sz="1600" dirty="0" smtClean="0"/>
                  <a:t>transition</a:t>
                </a:r>
                <a:r>
                  <a:rPr lang="zh-CN" altLang="en-US" sz="1600" dirty="0" smtClean="0"/>
                  <a:t> 的 </a:t>
                </a:r>
                <a:r>
                  <a:rPr lang="en-US" altLang="zh-CN" sz="1600" dirty="0" smtClean="0"/>
                  <a:t>TD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error</a:t>
                </a:r>
                <a:r>
                  <a:rPr lang="zh-CN" altLang="en-US" sz="1600" dirty="0" smtClean="0"/>
                  <a:t> 越大，说明它越重要。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=================</a:t>
                </a:r>
              </a:p>
              <a:p>
                <a:r>
                  <a:rPr lang="zh-CN" altLang="en-US" sz="1600" dirty="0" smtClean="0"/>
                  <a:t>它的抽样概率应该大，应该频繁使用这条 </a:t>
                </a:r>
                <a:r>
                  <a:rPr lang="en-US" altLang="zh-CN" sz="1600" dirty="0" smtClean="0"/>
                  <a:t>transition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=================</a:t>
                </a:r>
              </a:p>
              <a:p>
                <a:r>
                  <a:rPr lang="zh-CN" altLang="en-US" sz="1600" dirty="0" smtClean="0"/>
                  <a:t>但是它的学习率小，用来抵消大抽样概率造成的偏差。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总结一下“优先经验回放”。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Replay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Buffer</a:t>
                </a:r>
                <a:r>
                  <a:rPr lang="zh-CN" altLang="en-US" sz="1600" dirty="0" smtClean="0"/>
                  <a:t> 里存了 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 条 </a:t>
                </a:r>
                <a:r>
                  <a:rPr lang="en-US" altLang="zh-CN" sz="1600" dirty="0" smtClean="0"/>
                  <a:t>transitions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每条 </a:t>
                </a:r>
                <a:r>
                  <a:rPr lang="en-US" altLang="zh-CN" sz="1600" dirty="0" smtClean="0"/>
                  <a:t>transition</a:t>
                </a:r>
                <a:r>
                  <a:rPr lang="zh-CN" altLang="en-US" sz="1600" dirty="0" smtClean="0"/>
                  <a:t> 都是一个四元组。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除此之外，我们还知道每条 </a:t>
                </a:r>
                <a:r>
                  <a:rPr lang="en-US" altLang="zh-CN" sz="1600" dirty="0" smtClean="0"/>
                  <a:t>transition</a:t>
                </a:r>
                <a:r>
                  <a:rPr lang="zh-CN" altLang="en-US" sz="1600" dirty="0" smtClean="0"/>
                  <a:t> 的 </a:t>
                </a:r>
                <a:r>
                  <a:rPr lang="en-US" altLang="zh-CN" sz="1600" dirty="0" smtClean="0"/>
                  <a:t>TD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Error,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𝛿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</a:t>
                </a:r>
              </a:p>
              <a:p>
                <a:r>
                  <a:rPr lang="zh-CN" altLang="en-US" sz="1600" dirty="0" smtClean="0"/>
                  <a:t>“优先经验回放”要根据 </a:t>
                </a:r>
                <a:r>
                  <a:rPr lang="en-US" altLang="zh-CN" sz="1600" dirty="0" smtClean="0"/>
                  <a:t>transition</a:t>
                </a:r>
                <a:r>
                  <a:rPr lang="zh-CN" altLang="en-US" sz="1600" dirty="0" smtClean="0"/>
                  <a:t> 的重要性做抽样。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抽样概率 </a:t>
                </a:r>
                <a:r>
                  <a:rPr lang="en-US" altLang="zh-CN" sz="1600" b="0" i="0" smtClean="0">
                    <a:latin typeface="Cambria Math" charset="0"/>
                  </a:rPr>
                  <a:t>𝑝</a:t>
                </a:r>
                <a:r>
                  <a:rPr lang="en-US" altLang="zh-CN" sz="1600" b="0" i="0" smtClean="0"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latin typeface="Cambria Math" charset="0"/>
                  </a:rPr>
                  <a:t>𝑡</a:t>
                </a:r>
                <a:r>
                  <a:rPr lang="zh-CN" altLang="en-US" sz="1600" dirty="0" smtClean="0"/>
                  <a:t> 正比于 </a:t>
                </a:r>
                <a:r>
                  <a:rPr lang="en-US" altLang="zh-CN" sz="1600" i="0" smtClean="0">
                    <a:latin typeface="Cambria Math" charset="0"/>
                  </a:rPr>
                  <a:t>𝛿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latin typeface="Cambria Math" charset="0"/>
                  </a:rPr>
                  <a:t>𝑡</a:t>
                </a:r>
                <a:r>
                  <a:rPr lang="zh-CN" altLang="en-US" sz="1600" dirty="0" smtClean="0"/>
                  <a:t> 的绝对值。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TD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error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i="0" smtClean="0">
                    <a:latin typeface="Cambria Math" charset="0"/>
                  </a:rPr>
                  <a:t>𝛿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latin typeface="Cambria Math" charset="0"/>
                  </a:rPr>
                  <a:t>𝑡</a:t>
                </a:r>
                <a:r>
                  <a:rPr lang="zh-CN" altLang="en-US" sz="1600" dirty="0" smtClean="0"/>
                  <a:t> 越大，</a:t>
                </a:r>
                <a:r>
                  <a:rPr lang="en-US" altLang="zh-CN" sz="1600" dirty="0" smtClean="0"/>
                  <a:t>transition</a:t>
                </a:r>
                <a:r>
                  <a:rPr lang="zh-CN" altLang="en-US" sz="1600" dirty="0" smtClean="0"/>
                  <a:t> 被抽到的概率就越大。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原本用均匀抽样的时候，学习率固定成 </a:t>
                </a:r>
                <a:r>
                  <a:rPr lang="en-US" altLang="zh-CN" sz="1600" b="0" i="0" smtClean="0">
                    <a:latin typeface="Cambria Math" charset="0"/>
                  </a:rPr>
                  <a:t>𝛼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现在我们使用了不同的抽样概率，这样会造成 </a:t>
                </a:r>
                <a:r>
                  <a:rPr lang="en-US" altLang="zh-CN" sz="1600" dirty="0" smtClean="0"/>
                  <a:t>DQN</a:t>
                </a:r>
                <a:r>
                  <a:rPr lang="zh-CN" altLang="en-US" sz="1600" dirty="0" smtClean="0"/>
                  <a:t> 的预测有偏差。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为了消除偏差，应该相应调整学习率。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把学习率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b="0" i="0" smtClean="0">
                    <a:latin typeface="Cambria Math" charset="0"/>
                  </a:rPr>
                  <a:t>𝛼</a:t>
                </a:r>
                <a:r>
                  <a:rPr lang="zh-CN" altLang="en-US" sz="1600" dirty="0" smtClean="0"/>
                  <a:t> 按照抽样概率 </a:t>
                </a:r>
                <a:r>
                  <a:rPr lang="en-US" altLang="zh-CN" sz="1600" dirty="0" smtClean="0"/>
                  <a:t>p</a:t>
                </a:r>
                <a:r>
                  <a:rPr lang="zh-CN" altLang="en-US" sz="1600" dirty="0" smtClean="0"/>
                  <a:t> 来做调整。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学习率变成 </a:t>
                </a:r>
                <a:r>
                  <a:rPr lang="en-US" altLang="zh-CN" sz="1600" b="0" i="0" smtClean="0">
                    <a:latin typeface="Cambria Math" charset="0"/>
                  </a:rPr>
                  <a:t>𝛼⋅</a:t>
                </a:r>
                <a:r>
                  <a:rPr lang="en-US" altLang="zh-CN" sz="1600" b="0" i="0" smtClean="0">
                    <a:latin typeface="Cambria Math" charset="0"/>
                  </a:rPr>
                  <a:t>(𝑛</a:t>
                </a:r>
                <a:r>
                  <a:rPr lang="zh-CN" altLang="en-US" sz="1600" b="0" i="0" smtClean="0">
                    <a:latin typeface="Cambria Math" charset="0"/>
                  </a:rPr>
                  <a:t> </a:t>
                </a:r>
                <a:r>
                  <a:rPr lang="en-US" altLang="zh-CN" sz="1600" b="0" i="0" smtClean="0">
                    <a:latin typeface="Cambria Math" charset="0"/>
                  </a:rPr>
                  <a:t>𝑝_𝑡 )^(−𝛽)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抽样概率 </a:t>
                </a:r>
                <a:r>
                  <a:rPr lang="en-US" altLang="zh-CN" sz="1600" b="0" i="0" smtClean="0">
                    <a:latin typeface="Cambria Math" charset="0"/>
                  </a:rPr>
                  <a:t>𝑝</a:t>
                </a:r>
                <a:r>
                  <a:rPr lang="en-US" altLang="zh-CN" sz="1600" b="0" i="0" smtClean="0"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latin typeface="Cambria Math" charset="0"/>
                  </a:rPr>
                  <a:t>𝑡</a:t>
                </a:r>
                <a:r>
                  <a:rPr lang="zh-CN" altLang="en-US" sz="1600" dirty="0" smtClean="0"/>
                  <a:t> 越大，学习率越小。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 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714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dirty="0" smtClean="0"/>
              <a:t>这节课的内容就到这里，感谢大家观看。</a:t>
            </a:r>
            <a:endParaRPr lang="en-US" altLang="zh-CN" sz="1600" dirty="0" smtClean="0"/>
          </a:p>
          <a:p>
            <a:r>
              <a:rPr lang="zh-CN" altLang="en-US" sz="1600" dirty="0" smtClean="0"/>
              <a:t>课件和相关信息 在视频下面的信息区。</a:t>
            </a:r>
            <a:endParaRPr lang="en-US" altLang="zh-CN" sz="1600" dirty="0" smtClean="0"/>
          </a:p>
          <a:p>
            <a:r>
              <a:rPr lang="zh-CN" altLang="en-US" sz="1600" dirty="0" smtClean="0"/>
              <a:t>下节课我们研究 </a:t>
            </a:r>
            <a:r>
              <a:rPr lang="en-US" altLang="zh-CN" sz="1600" dirty="0" smtClean="0"/>
              <a:t>DQN</a:t>
            </a:r>
            <a:r>
              <a:rPr lang="zh-CN" altLang="en-US" sz="1600" dirty="0" smtClean="0"/>
              <a:t> 的高估问题，然后用 </a:t>
            </a:r>
            <a:r>
              <a:rPr lang="en-US" altLang="zh-CN" sz="1600" dirty="0" smtClean="0"/>
              <a:t>target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network</a:t>
            </a:r>
            <a:r>
              <a:rPr lang="zh-CN" altLang="en-US" sz="1600" dirty="0" smtClean="0"/>
              <a:t> 和 </a:t>
            </a:r>
            <a:r>
              <a:rPr lang="en-US" altLang="zh-CN" sz="1600" dirty="0" smtClean="0"/>
              <a:t>Double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DQN</a:t>
            </a:r>
            <a:r>
              <a:rPr lang="zh-CN" altLang="en-US" sz="1600" dirty="0" smtClean="0"/>
              <a:t> 来缓解高估问题。</a:t>
            </a:r>
            <a:endParaRPr lang="en-US" altLang="zh-CN" sz="1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69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12/26/20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99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12/26/20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69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12/26/20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68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12/26/20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807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12/26/20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324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12/26/20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76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12/26/20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751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12/26/20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18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12/26/20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50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12/26/20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878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12/26/20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45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41BEC6-6A63-824C-87BE-D4DB4459AFC0}" type="datetimeFigureOut">
              <a:rPr lang="en-US" smtClean="0"/>
              <a:t>12/26/20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030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4" Type="http://schemas.openxmlformats.org/officeDocument/2006/relationships/image" Target="../media/image3.gi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2.gif"/><Relationship Id="rId5" Type="http://schemas.openxmlformats.org/officeDocument/2006/relationships/image" Target="../media/image3.gi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11" Type="http://schemas.openxmlformats.org/officeDocument/2006/relationships/image" Target="../media/image34.png"/><Relationship Id="rId12" Type="http://schemas.openxmlformats.org/officeDocument/2006/relationships/image" Target="../media/image35.png"/><Relationship Id="rId13" Type="http://schemas.openxmlformats.org/officeDocument/2006/relationships/image" Target="../media/image36.png"/><Relationship Id="rId14" Type="http://schemas.openxmlformats.org/officeDocument/2006/relationships/image" Target="../media/image37.png"/><Relationship Id="rId15" Type="http://schemas.openxmlformats.org/officeDocument/2006/relationships/image" Target="../media/image38.png"/><Relationship Id="rId16" Type="http://schemas.openxmlformats.org/officeDocument/2006/relationships/image" Target="../media/image39.png"/><Relationship Id="rId17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11" Type="http://schemas.openxmlformats.org/officeDocument/2006/relationships/image" Target="../media/image34.png"/><Relationship Id="rId12" Type="http://schemas.openxmlformats.org/officeDocument/2006/relationships/image" Target="../media/image35.png"/><Relationship Id="rId13" Type="http://schemas.openxmlformats.org/officeDocument/2006/relationships/image" Target="../media/image36.png"/><Relationship Id="rId14" Type="http://schemas.openxmlformats.org/officeDocument/2006/relationships/image" Target="../media/image37.png"/><Relationship Id="rId15" Type="http://schemas.openxmlformats.org/officeDocument/2006/relationships/image" Target="../media/image38.png"/><Relationship Id="rId16" Type="http://schemas.openxmlformats.org/officeDocument/2006/relationships/image" Target="../media/image39.png"/><Relationship Id="rId17" Type="http://schemas.openxmlformats.org/officeDocument/2006/relationships/image" Target="../media/image40.png"/><Relationship Id="rId18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9106" y="1179513"/>
            <a:ext cx="11377612" cy="1963737"/>
          </a:xfrm>
        </p:spPr>
        <p:txBody>
          <a:bodyPr>
            <a:normAutofit/>
          </a:bodyPr>
          <a:lstStyle/>
          <a:p>
            <a:r>
              <a:rPr lang="en-US" altLang="zh-CN" sz="4400" b="1" dirty="0" smtClean="0">
                <a:latin typeface="Lucida Bright" charset="0"/>
                <a:ea typeface="Lucida Bright" charset="0"/>
                <a:cs typeface="Lucida Bright" charset="0"/>
              </a:rPr>
              <a:t>Experience</a:t>
            </a:r>
            <a:r>
              <a:rPr lang="zh-CN" altLang="en-US" sz="4400" b="1" dirty="0" smtClean="0">
                <a:latin typeface="Lucida Bright" charset="0"/>
                <a:ea typeface="Lucida Bright" charset="0"/>
                <a:cs typeface="Lucida Bright" charset="0"/>
              </a:rPr>
              <a:t> </a:t>
            </a:r>
            <a:r>
              <a:rPr lang="en-US" altLang="zh-CN" sz="4400" b="1" dirty="0" smtClean="0">
                <a:latin typeface="Lucida Bright" charset="0"/>
                <a:ea typeface="Lucida Bright" charset="0"/>
                <a:cs typeface="Lucida Bright" charset="0"/>
              </a:rPr>
              <a:t>Replay</a:t>
            </a:r>
            <a:endParaRPr lang="en-US" sz="4400" b="1" dirty="0">
              <a:latin typeface="Lucida Bright" charset="0"/>
              <a:ea typeface="Lucida Bright" charset="0"/>
              <a:cs typeface="Lucida Bright" charset="0"/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4883944" y="4268789"/>
            <a:ext cx="2547937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 smtClean="0">
                <a:latin typeface="Lucida Bright" charset="0"/>
                <a:ea typeface="Lucida Bright" charset="0"/>
                <a:cs typeface="Lucida Bright" charset="0"/>
              </a:rPr>
              <a:t>Shusen</a:t>
            </a:r>
            <a:r>
              <a:rPr lang="zh-CN" altLang="en-US" b="1" dirty="0" smtClean="0">
                <a:latin typeface="Lucida Bright" charset="0"/>
                <a:ea typeface="Lucida Bright" charset="0"/>
                <a:cs typeface="Lucida Bright" charset="0"/>
              </a:rPr>
              <a:t> </a:t>
            </a:r>
            <a:r>
              <a:rPr lang="en-US" altLang="zh-CN" b="1" dirty="0" smtClean="0">
                <a:latin typeface="Lucida Bright" charset="0"/>
                <a:ea typeface="Lucida Bright" charset="0"/>
                <a:cs typeface="Lucida Bright" charset="0"/>
              </a:rPr>
              <a:t>Wang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911143" y="6457890"/>
            <a:ext cx="44935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http://wangshusen.github.io/</a:t>
            </a: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574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2244725"/>
            <a:ext cx="11823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Revisiting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DQN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and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TD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Learning</a:t>
            </a:r>
            <a:endParaRPr lang="en-US" sz="4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747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Deep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Q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Network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(DQN)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758888" y="1299181"/>
                <a:ext cx="10674223" cy="52322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800" dirty="0" smtClean="0"/>
                  <a:t>Approximate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/>
                  <a:t>the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optimal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action-value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function,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𝑄</m:t>
                        </m:r>
                      </m:e>
                      <m:sup>
                        <m:r>
                          <a:rPr lang="en-US" altLang="zh-CN" sz="2800" i="1">
                            <a:latin typeface="Cambria Math" charset="0"/>
                          </a:rPr>
                          <m:t>⋆</m:t>
                        </m:r>
                      </m:sup>
                    </m:sSup>
                    <m:d>
                      <m:dPr>
                        <m:ctrlPr>
                          <a:rPr lang="en-US" altLang="zh-CN" sz="28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altLang="zh-CN" sz="2800" i="1">
                            <a:latin typeface="Cambria Math" charset="0"/>
                          </a:rPr>
                          <m:t>,</m:t>
                        </m:r>
                        <m:r>
                          <a:rPr lang="zh-CN" altLang="en-US" sz="2800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altLang="zh-CN" sz="2800" dirty="0" smtClean="0"/>
                  <a:t>,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by</a:t>
                </a:r>
                <a:r>
                  <a:rPr lang="zh-CN" altLang="en-US" sz="28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charset="0"/>
                      </a:rPr>
                      <m:t>𝑄</m:t>
                    </m:r>
                    <m:d>
                      <m:dPr>
                        <m:ctrlPr>
                          <a:rPr lang="en-US" altLang="zh-CN" sz="28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altLang="zh-CN" sz="2800" i="1">
                            <a:latin typeface="Cambria Math" charset="0"/>
                          </a:rPr>
                          <m:t>,</m:t>
                        </m:r>
                        <m:r>
                          <a:rPr lang="zh-CN" altLang="en-US" sz="2800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  <m:r>
                          <a:rPr lang="en-US" altLang="zh-CN" sz="2800" i="1">
                            <a:latin typeface="Cambria Math" charset="0"/>
                          </a:rPr>
                          <m:t>;</m:t>
                        </m:r>
                        <m:r>
                          <a:rPr lang="en-US" altLang="zh-CN" sz="2800" b="1">
                            <a:latin typeface="Cambria Math" charset="0"/>
                          </a:rPr>
                          <m:t>𝐰</m:t>
                        </m:r>
                      </m:e>
                    </m:d>
                  </m:oMath>
                </a14:m>
                <a:r>
                  <a:rPr lang="en-US" altLang="zh-CN" sz="2800" dirty="0" smtClean="0"/>
                  <a:t>.</a:t>
                </a:r>
                <a:endParaRPr lang="en-US" sz="28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888" y="1299181"/>
                <a:ext cx="10674223" cy="523220"/>
              </a:xfrm>
              <a:prstGeom prst="rect">
                <a:avLst/>
              </a:prstGeom>
              <a:blipFill rotWithShape="0">
                <a:blip r:embed="rId3"/>
                <a:stretch>
                  <a:fillRect l="-285" t="-10465" r="-28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reeform 2"/>
          <p:cNvSpPr/>
          <p:nvPr/>
        </p:nvSpPr>
        <p:spPr>
          <a:xfrm>
            <a:off x="7747462" y="1205519"/>
            <a:ext cx="1395573" cy="682538"/>
          </a:xfrm>
          <a:custGeom>
            <a:avLst/>
            <a:gdLst>
              <a:gd name="connsiteX0" fmla="*/ 5056 w 1334127"/>
              <a:gd name="connsiteY0" fmla="*/ 234899 h 593414"/>
              <a:gd name="connsiteX1" fmla="*/ 171310 w 1334127"/>
              <a:gd name="connsiteY1" fmla="*/ 18768 h 593414"/>
              <a:gd name="connsiteX2" fmla="*/ 603572 w 1334127"/>
              <a:gd name="connsiteY2" fmla="*/ 18768 h 593414"/>
              <a:gd name="connsiteX3" fmla="*/ 1069085 w 1334127"/>
              <a:gd name="connsiteY3" fmla="*/ 85270 h 593414"/>
              <a:gd name="connsiteX4" fmla="*/ 1301841 w 1334127"/>
              <a:gd name="connsiteY4" fmla="*/ 218274 h 593414"/>
              <a:gd name="connsiteX5" fmla="*/ 1301841 w 1334127"/>
              <a:gd name="connsiteY5" fmla="*/ 517532 h 593414"/>
              <a:gd name="connsiteX6" fmla="*/ 1019208 w 1334127"/>
              <a:gd name="connsiteY6" fmla="*/ 584034 h 593414"/>
              <a:gd name="connsiteX7" fmla="*/ 354190 w 1334127"/>
              <a:gd name="connsiteY7" fmla="*/ 584034 h 593414"/>
              <a:gd name="connsiteX8" fmla="*/ 71557 w 1334127"/>
              <a:gd name="connsiteY8" fmla="*/ 500907 h 593414"/>
              <a:gd name="connsiteX9" fmla="*/ 5056 w 1334127"/>
              <a:gd name="connsiteY9" fmla="*/ 234899 h 593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34127" h="593414">
                <a:moveTo>
                  <a:pt x="5056" y="234899"/>
                </a:moveTo>
                <a:cubicBezTo>
                  <a:pt x="21681" y="154543"/>
                  <a:pt x="71557" y="54790"/>
                  <a:pt x="171310" y="18768"/>
                </a:cubicBezTo>
                <a:cubicBezTo>
                  <a:pt x="271063" y="-17254"/>
                  <a:pt x="453943" y="7684"/>
                  <a:pt x="603572" y="18768"/>
                </a:cubicBezTo>
                <a:cubicBezTo>
                  <a:pt x="753201" y="29852"/>
                  <a:pt x="952707" y="52019"/>
                  <a:pt x="1069085" y="85270"/>
                </a:cubicBezTo>
                <a:cubicBezTo>
                  <a:pt x="1185463" y="118521"/>
                  <a:pt x="1263048" y="146231"/>
                  <a:pt x="1301841" y="218274"/>
                </a:cubicBezTo>
                <a:cubicBezTo>
                  <a:pt x="1340634" y="290317"/>
                  <a:pt x="1348946" y="456572"/>
                  <a:pt x="1301841" y="517532"/>
                </a:cubicBezTo>
                <a:cubicBezTo>
                  <a:pt x="1254736" y="578492"/>
                  <a:pt x="1177150" y="572950"/>
                  <a:pt x="1019208" y="584034"/>
                </a:cubicBezTo>
                <a:cubicBezTo>
                  <a:pt x="861266" y="595118"/>
                  <a:pt x="512132" y="597889"/>
                  <a:pt x="354190" y="584034"/>
                </a:cubicBezTo>
                <a:cubicBezTo>
                  <a:pt x="196248" y="570180"/>
                  <a:pt x="129746" y="550783"/>
                  <a:pt x="71557" y="500907"/>
                </a:cubicBezTo>
                <a:cubicBezTo>
                  <a:pt x="13368" y="451031"/>
                  <a:pt x="-11569" y="315255"/>
                  <a:pt x="5056" y="234899"/>
                </a:cubicBezTo>
                <a:close/>
              </a:path>
            </a:pathLst>
          </a:custGeom>
          <a:noFill/>
          <a:ln w="57150">
            <a:solidFill>
              <a:srgbClr val="0B24F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/>
          <p:cNvSpPr/>
          <p:nvPr/>
        </p:nvSpPr>
        <p:spPr>
          <a:xfrm>
            <a:off x="9590361" y="1224165"/>
            <a:ext cx="1566553" cy="705785"/>
          </a:xfrm>
          <a:custGeom>
            <a:avLst/>
            <a:gdLst>
              <a:gd name="connsiteX0" fmla="*/ 2527 w 1566553"/>
              <a:gd name="connsiteY0" fmla="*/ 305378 h 705785"/>
              <a:gd name="connsiteX1" fmla="*/ 168782 w 1566553"/>
              <a:gd name="connsiteY1" fmla="*/ 637887 h 705785"/>
              <a:gd name="connsiteX2" fmla="*/ 700796 w 1566553"/>
              <a:gd name="connsiteY2" fmla="*/ 687763 h 705785"/>
              <a:gd name="connsiteX3" fmla="*/ 1299313 w 1566553"/>
              <a:gd name="connsiteY3" fmla="*/ 687763 h 705785"/>
              <a:gd name="connsiteX4" fmla="*/ 1532069 w 1566553"/>
              <a:gd name="connsiteY4" fmla="*/ 471632 h 705785"/>
              <a:gd name="connsiteX5" fmla="*/ 1532069 w 1566553"/>
              <a:gd name="connsiteY5" fmla="*/ 122498 h 705785"/>
              <a:gd name="connsiteX6" fmla="*/ 1216185 w 1566553"/>
              <a:gd name="connsiteY6" fmla="*/ 22745 h 705785"/>
              <a:gd name="connsiteX7" fmla="*/ 268534 w 1566553"/>
              <a:gd name="connsiteY7" fmla="*/ 22745 h 705785"/>
              <a:gd name="connsiteX8" fmla="*/ 2527 w 1566553"/>
              <a:gd name="connsiteY8" fmla="*/ 305378 h 705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66553" h="705785">
                <a:moveTo>
                  <a:pt x="2527" y="305378"/>
                </a:moveTo>
                <a:cubicBezTo>
                  <a:pt x="-14098" y="407902"/>
                  <a:pt x="52404" y="574156"/>
                  <a:pt x="168782" y="637887"/>
                </a:cubicBezTo>
                <a:cubicBezTo>
                  <a:pt x="285160" y="701618"/>
                  <a:pt x="512374" y="679450"/>
                  <a:pt x="700796" y="687763"/>
                </a:cubicBezTo>
                <a:cubicBezTo>
                  <a:pt x="889218" y="696076"/>
                  <a:pt x="1160768" y="723785"/>
                  <a:pt x="1299313" y="687763"/>
                </a:cubicBezTo>
                <a:cubicBezTo>
                  <a:pt x="1437858" y="651741"/>
                  <a:pt x="1493276" y="565843"/>
                  <a:pt x="1532069" y="471632"/>
                </a:cubicBezTo>
                <a:cubicBezTo>
                  <a:pt x="1570862" y="377421"/>
                  <a:pt x="1584716" y="197312"/>
                  <a:pt x="1532069" y="122498"/>
                </a:cubicBezTo>
                <a:cubicBezTo>
                  <a:pt x="1479422" y="47683"/>
                  <a:pt x="1426774" y="39370"/>
                  <a:pt x="1216185" y="22745"/>
                </a:cubicBezTo>
                <a:cubicBezTo>
                  <a:pt x="1005596" y="6120"/>
                  <a:pt x="470810" y="-18819"/>
                  <a:pt x="268534" y="22745"/>
                </a:cubicBezTo>
                <a:cubicBezTo>
                  <a:pt x="66258" y="64309"/>
                  <a:pt x="19152" y="202854"/>
                  <a:pt x="2527" y="305378"/>
                </a:cubicBezTo>
                <a:close/>
              </a:path>
            </a:pathLst>
          </a:custGeom>
          <a:noFill/>
          <a:ln w="57150">
            <a:solidFill>
              <a:srgbClr val="0B24F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324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314" y="2987195"/>
            <a:ext cx="2311523" cy="1541015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37315" y="4528210"/>
                <a:ext cx="231152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600" b="1" dirty="0" smtClean="0">
                    <a:solidFill>
                      <a:schemeClr val="accent6">
                        <a:lumMod val="75000"/>
                      </a:schemeClr>
                    </a:solidFill>
                    <a:latin typeface="Courier New" charset="0"/>
                    <a:ea typeface="Courier New" charset="0"/>
                    <a:cs typeface="Courier New" charset="0"/>
                  </a:rPr>
                  <a:t>state </a:t>
                </a:r>
                <a14:m>
                  <m:oMath xmlns:m="http://schemas.openxmlformats.org/officeDocument/2006/math">
                    <m:r>
                      <a:rPr lang="en-US" altLang="zh-CN" sz="36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  <a:ea typeface="Courier New" charset="0"/>
                        <a:cs typeface="Courier New" charset="0"/>
                      </a:rPr>
                      <m:t>𝑠</m:t>
                    </m:r>
                  </m:oMath>
                </a14:m>
                <a:endParaRPr lang="en-US" sz="3600" i="1" dirty="0">
                  <a:latin typeface="Courier New" charset="0"/>
                  <a:ea typeface="Courier New" charset="0"/>
                  <a:cs typeface="Courier New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315" y="4528210"/>
                <a:ext cx="2311522" cy="646331"/>
              </a:xfrm>
              <a:prstGeom prst="rect">
                <a:avLst/>
              </a:prstGeom>
              <a:blipFill rotWithShape="0">
                <a:blip r:embed="rId4"/>
                <a:stretch>
                  <a:fillRect l="-2375" t="-14151" b="-358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/>
          <p:cNvCxnSpPr/>
          <p:nvPr/>
        </p:nvCxnSpPr>
        <p:spPr>
          <a:xfrm flipH="1">
            <a:off x="2919177" y="3800074"/>
            <a:ext cx="1544215" cy="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8532363" y="3412899"/>
            <a:ext cx="168145" cy="728562"/>
            <a:chOff x="8532363" y="3412899"/>
            <a:chExt cx="168145" cy="728562"/>
          </a:xfrm>
        </p:grpSpPr>
        <p:sp>
          <p:nvSpPr>
            <p:cNvPr id="12" name="Rectangle 11"/>
            <p:cNvSpPr/>
            <p:nvPr/>
          </p:nvSpPr>
          <p:spPr>
            <a:xfrm>
              <a:off x="8534708" y="3412899"/>
              <a:ext cx="165800" cy="210402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534708" y="3665505"/>
              <a:ext cx="165800" cy="210402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532363" y="3931059"/>
              <a:ext cx="165800" cy="210402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" name="Curved Connector 14"/>
          <p:cNvCxnSpPr/>
          <p:nvPr/>
        </p:nvCxnSpPr>
        <p:spPr>
          <a:xfrm flipV="1">
            <a:off x="8697348" y="2987195"/>
            <a:ext cx="810968" cy="530905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urved Connector 15"/>
          <p:cNvCxnSpPr/>
          <p:nvPr/>
        </p:nvCxnSpPr>
        <p:spPr>
          <a:xfrm flipV="1">
            <a:off x="8692049" y="3769206"/>
            <a:ext cx="816266" cy="30868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urved Connector 16"/>
          <p:cNvCxnSpPr/>
          <p:nvPr/>
        </p:nvCxnSpPr>
        <p:spPr>
          <a:xfrm>
            <a:off x="8701973" y="4081489"/>
            <a:ext cx="806342" cy="324126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9708163" y="2786112"/>
                <a:ext cx="202638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charset="0"/>
                        </a:rPr>
                        <m:t>𝑄</m:t>
                      </m:r>
                      <m:d>
                        <m:dPr>
                          <m:ctrlPr>
                            <a:rPr lang="en-US" sz="240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𝑠</m:t>
                          </m:r>
                          <m:r>
                            <a:rPr lang="en-US" sz="2400" i="1">
                              <a:latin typeface="Cambria Math" charset="0"/>
                            </a:rPr>
                            <m:t>, </m:t>
                          </m:r>
                          <m:r>
                            <a:rPr lang="en-US" altLang="zh-CN" sz="2400" b="0" i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“</m:t>
                          </m:r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left</m:t>
                          </m:r>
                          <m:r>
                            <a:rPr lang="en-US" altLang="zh-CN" sz="2400" b="0" i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”</m:t>
                          </m:r>
                          <m:r>
                            <a:rPr lang="en-US" sz="2400" i="1">
                              <a:latin typeface="Cambria Math" charset="0"/>
                            </a:rPr>
                            <m:t>;</m:t>
                          </m:r>
                          <m:r>
                            <a:rPr lang="en-US" altLang="zh-CN" sz="2400" b="1" i="0" smtClean="0">
                              <a:latin typeface="Cambria Math" charset="0"/>
                            </a:rPr>
                            <m:t>𝐰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8163" y="2786112"/>
                <a:ext cx="2026389" cy="461665"/>
              </a:xfrm>
              <a:prstGeom prst="rect">
                <a:avLst/>
              </a:prstGeom>
              <a:blipFill rotWithShape="0">
                <a:blip r:embed="rId5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9702823" y="3479086"/>
                <a:ext cx="223958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charset="0"/>
                        </a:rPr>
                        <m:t>𝑄</m:t>
                      </m:r>
                      <m:d>
                        <m:dPr>
                          <m:ctrlPr>
                            <a:rPr lang="en-US" sz="240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𝑠</m:t>
                          </m:r>
                          <m:r>
                            <a:rPr lang="en-US" sz="2400" i="1">
                              <a:latin typeface="Cambria Math" charset="0"/>
                            </a:rPr>
                            <m:t>, </m:t>
                          </m:r>
                          <m:r>
                            <a:rPr lang="en-US" altLang="zh-CN" sz="2400" b="0" i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“</m:t>
                          </m:r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right</m:t>
                          </m:r>
                          <m:r>
                            <a:rPr lang="en-US" altLang="zh-CN" sz="2400" b="0" i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”</m:t>
                          </m:r>
                          <m:r>
                            <a:rPr lang="en-US" sz="2400" i="1">
                              <a:latin typeface="Cambria Math" charset="0"/>
                            </a:rPr>
                            <m:t>;</m:t>
                          </m:r>
                          <m:r>
                            <a:rPr lang="en-US" altLang="zh-CN" sz="2400" b="1">
                              <a:latin typeface="Cambria Math" charset="0"/>
                            </a:rPr>
                            <m:t>𝐰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2823" y="3479086"/>
                <a:ext cx="2239587" cy="461665"/>
              </a:xfrm>
              <a:prstGeom prst="rect">
                <a:avLst/>
              </a:prstGeom>
              <a:blipFill rotWithShape="0">
                <a:blip r:embed="rId6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9708163" y="4156143"/>
                <a:ext cx="194303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charset="0"/>
                        </a:rPr>
                        <m:t>𝑄</m:t>
                      </m:r>
                      <m:d>
                        <m:dPr>
                          <m:ctrlPr>
                            <a:rPr lang="en-US" sz="240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𝑠</m:t>
                          </m:r>
                          <m:r>
                            <a:rPr lang="en-US" sz="2400" i="1">
                              <a:latin typeface="Cambria Math" charset="0"/>
                            </a:rPr>
                            <m:t>, </m:t>
                          </m:r>
                          <m:r>
                            <a:rPr lang="en-US" altLang="zh-CN" sz="2400" b="0" i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“</m:t>
                          </m:r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up</m:t>
                          </m:r>
                          <m:r>
                            <a:rPr lang="en-US" altLang="zh-CN" sz="2400" b="0" i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”</m:t>
                          </m:r>
                          <m:r>
                            <a:rPr lang="en-US" sz="2400" i="1">
                              <a:latin typeface="Cambria Math" charset="0"/>
                            </a:rPr>
                            <m:t>;</m:t>
                          </m:r>
                          <m:r>
                            <a:rPr lang="en-US" altLang="zh-CN" sz="2400" b="1">
                              <a:latin typeface="Cambria Math" charset="0"/>
                            </a:rPr>
                            <m:t>𝐰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8163" y="4156143"/>
                <a:ext cx="1943032" cy="461665"/>
              </a:xfrm>
              <a:prstGeom prst="rect">
                <a:avLst/>
              </a:prstGeom>
              <a:blipFill rotWithShape="0">
                <a:blip r:embed="rId7"/>
                <a:stretch>
                  <a:fillRect b="-14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Deep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Q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Network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(DQN)</a:t>
            </a:r>
            <a:endParaRPr lang="en-US" sz="3600" dirty="0">
              <a:solidFill>
                <a:srgbClr val="0070C0"/>
              </a:solidFill>
            </a:endParaRPr>
          </a:p>
        </p:txBody>
      </p:sp>
      <p:cxnSp>
        <p:nvCxnSpPr>
          <p:cNvPr id="50" name="Straight Connector 49"/>
          <p:cNvCxnSpPr/>
          <p:nvPr/>
        </p:nvCxnSpPr>
        <p:spPr>
          <a:xfrm flipH="1">
            <a:off x="6970563" y="3756267"/>
            <a:ext cx="1544215" cy="0"/>
          </a:xfrm>
          <a:prstGeom prst="line">
            <a:avLst/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4245204" y="2712400"/>
            <a:ext cx="2929135" cy="3121285"/>
            <a:chOff x="4245204" y="2712400"/>
            <a:chExt cx="2929135" cy="3121285"/>
          </a:xfrm>
        </p:grpSpPr>
        <p:grpSp>
          <p:nvGrpSpPr>
            <p:cNvPr id="22" name="Group 21"/>
            <p:cNvGrpSpPr/>
            <p:nvPr/>
          </p:nvGrpSpPr>
          <p:grpSpPr>
            <a:xfrm>
              <a:off x="4501723" y="2712400"/>
              <a:ext cx="2416085" cy="2090603"/>
              <a:chOff x="2352732" y="333220"/>
              <a:chExt cx="2416085" cy="2090603"/>
            </a:xfrm>
          </p:grpSpPr>
          <p:sp>
            <p:nvSpPr>
              <p:cNvPr id="23" name="Rounded Rectangle 22"/>
              <p:cNvSpPr/>
              <p:nvPr/>
            </p:nvSpPr>
            <p:spPr>
              <a:xfrm>
                <a:off x="2352732" y="333220"/>
                <a:ext cx="2416085" cy="2090603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2548131" y="574002"/>
                <a:ext cx="367862" cy="367862"/>
              </a:xfrm>
              <a:prstGeom prst="ellipse">
                <a:avLst/>
              </a:pr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/>
              <p:cNvSpPr/>
              <p:nvPr/>
            </p:nvSpPr>
            <p:spPr>
              <a:xfrm>
                <a:off x="2548131" y="1193156"/>
                <a:ext cx="367862" cy="367862"/>
              </a:xfrm>
              <a:prstGeom prst="ellipse">
                <a:avLst/>
              </a:pr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2548131" y="1812310"/>
                <a:ext cx="367862" cy="367862"/>
              </a:xfrm>
              <a:prstGeom prst="ellipse">
                <a:avLst/>
              </a:pr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3369127" y="825294"/>
                <a:ext cx="367862" cy="36786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3369127" y="1561018"/>
                <a:ext cx="367862" cy="36786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9" name="Straight Connector 28"/>
              <p:cNvCxnSpPr/>
              <p:nvPr/>
            </p:nvCxnSpPr>
            <p:spPr>
              <a:xfrm>
                <a:off x="2915993" y="757933"/>
                <a:ext cx="453134" cy="251292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2915993" y="1377087"/>
                <a:ext cx="453134" cy="367862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>
                <a:off x="2915993" y="757933"/>
                <a:ext cx="453134" cy="987016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 flipV="1">
                <a:off x="2915993" y="1744949"/>
                <a:ext cx="453134" cy="251292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 flipV="1">
                <a:off x="2915993" y="1009225"/>
                <a:ext cx="453134" cy="987016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 flipV="1">
                <a:off x="2915993" y="1009225"/>
                <a:ext cx="453134" cy="367862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Oval 34"/>
              <p:cNvSpPr/>
              <p:nvPr/>
            </p:nvSpPr>
            <p:spPr>
              <a:xfrm>
                <a:off x="3369127" y="825294"/>
                <a:ext cx="367862" cy="367862"/>
              </a:xfrm>
              <a:prstGeom prst="ellipse">
                <a:avLst/>
              </a:pr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3369127" y="1561018"/>
                <a:ext cx="367862" cy="367862"/>
              </a:xfrm>
              <a:prstGeom prst="ellipse">
                <a:avLst/>
              </a:pr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4190123" y="1808489"/>
                <a:ext cx="367862" cy="367862"/>
              </a:xfrm>
              <a:prstGeom prst="ellipse">
                <a:avLst/>
              </a:pr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8" name="Straight Connector 37"/>
              <p:cNvCxnSpPr/>
              <p:nvPr/>
            </p:nvCxnSpPr>
            <p:spPr>
              <a:xfrm flipV="1">
                <a:off x="3736989" y="757933"/>
                <a:ext cx="453134" cy="251292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Oval 38"/>
              <p:cNvSpPr/>
              <p:nvPr/>
            </p:nvSpPr>
            <p:spPr>
              <a:xfrm>
                <a:off x="4190123" y="574002"/>
                <a:ext cx="367862" cy="367862"/>
              </a:xfrm>
              <a:prstGeom prst="ellipse">
                <a:avLst/>
              </a:pr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4190123" y="1193156"/>
                <a:ext cx="367862" cy="367862"/>
              </a:xfrm>
              <a:prstGeom prst="ellipse">
                <a:avLst/>
              </a:pr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1" name="Straight Connector 40"/>
              <p:cNvCxnSpPr/>
              <p:nvPr/>
            </p:nvCxnSpPr>
            <p:spPr>
              <a:xfrm>
                <a:off x="3736989" y="1744949"/>
                <a:ext cx="453134" cy="247471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>
              <a:xfrm>
                <a:off x="3736989" y="1009225"/>
                <a:ext cx="453134" cy="367862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>
                <a:off x="3736989" y="1005404"/>
                <a:ext cx="453134" cy="987016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 flipV="1">
                <a:off x="3736989" y="1377087"/>
                <a:ext cx="453134" cy="367862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>
              <a:xfrm flipV="1">
                <a:off x="3736989" y="757933"/>
                <a:ext cx="453134" cy="987016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/>
                <p:cNvSpPr txBox="1"/>
                <p:nvPr/>
              </p:nvSpPr>
              <p:spPr>
                <a:xfrm>
                  <a:off x="4245204" y="4879578"/>
                  <a:ext cx="2929135" cy="9541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zh-CN" sz="3200" b="1" dirty="0" smtClean="0">
                      <a:solidFill>
                        <a:schemeClr val="tx2"/>
                      </a:solidFill>
                    </a:rPr>
                    <a:t>DQN</a:t>
                  </a:r>
                  <a:r>
                    <a:rPr lang="zh-CN" altLang="en-US" sz="3200" b="1" dirty="0" smtClean="0">
                      <a:solidFill>
                        <a:schemeClr val="tx2"/>
                      </a:solidFill>
                    </a:rPr>
                    <a:t> </a:t>
                  </a:r>
                  <a:endParaRPr lang="en-US" altLang="zh-CN" sz="3200" b="1" dirty="0" smtClean="0">
                    <a:solidFill>
                      <a:schemeClr val="tx2"/>
                    </a:solidFill>
                  </a:endParaRPr>
                </a:p>
                <a:p>
                  <a:pPr algn="ctr"/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(</a:t>
                  </a:r>
                  <a:r>
                    <a:rPr lang="en-US" altLang="zh-CN" sz="2400" b="1" dirty="0" smtClean="0">
                      <a:solidFill>
                        <a:schemeClr val="tx2"/>
                      </a:solidFill>
                    </a:rPr>
                    <a:t>parameterized</a:t>
                  </a:r>
                  <a:r>
                    <a:rPr lang="zh-CN" altLang="en-US" sz="2400" b="1" dirty="0" smtClean="0">
                      <a:solidFill>
                        <a:schemeClr val="tx2"/>
                      </a:solidFill>
                    </a:rPr>
                    <a:t> </a:t>
                  </a:r>
                  <a:r>
                    <a:rPr lang="en-US" altLang="zh-CN" sz="2400" b="1" dirty="0" smtClean="0">
                      <a:solidFill>
                        <a:schemeClr val="tx2"/>
                      </a:solidFill>
                    </a:rPr>
                    <a:t>by</a:t>
                  </a:r>
                  <a:r>
                    <a:rPr lang="zh-CN" altLang="en-US" sz="2400" b="1" dirty="0" smtClean="0">
                      <a:solidFill>
                        <a:schemeClr val="tx2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2400" b="1" i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𝐰</m:t>
                      </m:r>
                    </m:oMath>
                  </a14:m>
                  <a:r>
                    <a:rPr lang="en-US" altLang="zh-CN" sz="2400" b="1" dirty="0" smtClean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)</a:t>
                  </a:r>
                  <a:endParaRPr lang="en-US" sz="2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5204" y="4879578"/>
                  <a:ext cx="2929135" cy="954107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l="-2703" t="-8280" r="-2703" b="-1337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758888" y="1299181"/>
                <a:ext cx="10674223" cy="52322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800" dirty="0" smtClean="0"/>
                  <a:t>Approximate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/>
                  <a:t>the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optimal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action-value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function,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𝑄</m:t>
                        </m:r>
                      </m:e>
                      <m:sup>
                        <m:r>
                          <a:rPr lang="en-US" altLang="zh-CN" sz="2800" i="1">
                            <a:latin typeface="Cambria Math" charset="0"/>
                          </a:rPr>
                          <m:t>⋆</m:t>
                        </m:r>
                      </m:sup>
                    </m:sSup>
                    <m:d>
                      <m:dPr>
                        <m:ctrlPr>
                          <a:rPr lang="en-US" altLang="zh-CN" sz="28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altLang="zh-CN" sz="2800" i="1">
                            <a:latin typeface="Cambria Math" charset="0"/>
                          </a:rPr>
                          <m:t>,</m:t>
                        </m:r>
                        <m:r>
                          <a:rPr lang="zh-CN" altLang="en-US" sz="2800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altLang="zh-CN" sz="2800" dirty="0" smtClean="0"/>
                  <a:t>,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by</a:t>
                </a:r>
                <a:r>
                  <a:rPr lang="zh-CN" altLang="en-US" sz="28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charset="0"/>
                      </a:rPr>
                      <m:t>𝑄</m:t>
                    </m:r>
                    <m:d>
                      <m:dPr>
                        <m:ctrlPr>
                          <a:rPr lang="en-US" altLang="zh-CN" sz="28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altLang="zh-CN" sz="2800" i="1">
                            <a:latin typeface="Cambria Math" charset="0"/>
                          </a:rPr>
                          <m:t>,</m:t>
                        </m:r>
                        <m:r>
                          <a:rPr lang="zh-CN" altLang="en-US" sz="2800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  <m:r>
                          <a:rPr lang="en-US" altLang="zh-CN" sz="2800" i="1">
                            <a:latin typeface="Cambria Math" charset="0"/>
                          </a:rPr>
                          <m:t>;</m:t>
                        </m:r>
                        <m:r>
                          <a:rPr lang="en-US" altLang="zh-CN" sz="2800" b="1">
                            <a:latin typeface="Cambria Math" charset="0"/>
                          </a:rPr>
                          <m:t>𝐰</m:t>
                        </m:r>
                      </m:e>
                    </m:d>
                  </m:oMath>
                </a14:m>
                <a:r>
                  <a:rPr lang="en-US" altLang="zh-CN" sz="2800" dirty="0" smtClean="0"/>
                  <a:t>.</a:t>
                </a:r>
                <a:endParaRPr lang="en-US" sz="28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888" y="1299181"/>
                <a:ext cx="10674223" cy="523220"/>
              </a:xfrm>
              <a:prstGeom prst="rect">
                <a:avLst/>
              </a:prstGeom>
              <a:blipFill rotWithShape="0">
                <a:blip r:embed="rId9"/>
                <a:stretch>
                  <a:fillRect l="-285" t="-10465" r="-28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14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5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500"/>
                            </p:stCondLst>
                            <p:childTnLst>
                              <p:par>
                                <p:cTn id="6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8" grpId="0"/>
      <p:bldP spid="19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1"/>
              <p:cNvSpPr txBox="1">
                <a:spLocks/>
              </p:cNvSpPr>
              <p:nvPr/>
            </p:nvSpPr>
            <p:spPr>
              <a:xfrm>
                <a:off x="1221946" y="1485900"/>
                <a:ext cx="9581857" cy="417709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Observe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state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perform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action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/>
                  <a:t>Environment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provides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new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state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reward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b="1" dirty="0" smtClean="0">
                    <a:solidFill>
                      <a:srgbClr val="C00000"/>
                    </a:solidFill>
                  </a:rPr>
                  <a:t>TD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target: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+</m:t>
                    </m:r>
                    <m:r>
                      <a:rPr lang="en-US" altLang="zh-CN" b="0" i="1" smtClean="0">
                        <a:latin typeface="Cambria Math" charset="0"/>
                      </a:rPr>
                      <m:t>𝛾</m:t>
                    </m:r>
                    <m:r>
                      <a:rPr lang="en-US" altLang="zh-CN" i="1">
                        <a:latin typeface="Cambria Math" charset="0"/>
                      </a:rPr>
                      <m:t>⋅</m:t>
                    </m:r>
                    <m:func>
                      <m:funcPr>
                        <m:ctrlPr>
                          <a:rPr lang="zh-CN" altLang="en-US" i="1">
                            <a:latin typeface="Cambria Math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charset="0"/>
                          </a:rPr>
                          <m:t>𝑄</m:t>
                        </m:r>
                        <m:d>
                          <m:dPr>
                            <m:ctrlPr>
                              <a:rPr lang="en-US" i="1"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altLang="zh-CN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charset="0"/>
                              </a:rPr>
                              <m:t>, </m:t>
                            </m:r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charset="0"/>
                              </a:rPr>
                              <m:t>;</m:t>
                            </m:r>
                            <m:r>
                              <a:rPr lang="en-US" altLang="zh-CN" b="1">
                                <a:latin typeface="Cambria Math" charset="0"/>
                              </a:rPr>
                              <m:t>𝐰</m:t>
                            </m:r>
                          </m:e>
                        </m:d>
                      </m:e>
                    </m:func>
                  </m:oMath>
                </a14:m>
                <a:r>
                  <a:rPr lang="en-US" altLang="zh-CN" dirty="0" smtClean="0"/>
                  <a:t>.</a:t>
                </a:r>
              </a:p>
            </p:txBody>
          </p:sp>
        </mc:Choice>
        <mc:Fallback xmlns="">
          <p:sp>
            <p:nvSpPr>
              <p:cNvPr id="8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946" y="1485900"/>
                <a:ext cx="9581857" cy="4177098"/>
              </a:xfrm>
              <a:prstGeom prst="rect">
                <a:avLst/>
              </a:prstGeom>
              <a:blipFill rotWithShape="0">
                <a:blip r:embed="rId3"/>
                <a:stretch>
                  <a:fillRect l="-1145" t="-2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Temporal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Difference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(TD)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Learning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2" name="Freeform 1"/>
          <p:cNvSpPr/>
          <p:nvPr/>
        </p:nvSpPr>
        <p:spPr>
          <a:xfrm>
            <a:off x="4929443" y="2771391"/>
            <a:ext cx="2996590" cy="766840"/>
          </a:xfrm>
          <a:custGeom>
            <a:avLst/>
            <a:gdLst>
              <a:gd name="connsiteX0" fmla="*/ 257701 w 2996590"/>
              <a:gd name="connsiteY0" fmla="*/ 703329 h 766840"/>
              <a:gd name="connsiteX1" fmla="*/ 2485512 w 2996590"/>
              <a:gd name="connsiteY1" fmla="*/ 736580 h 766840"/>
              <a:gd name="connsiteX2" fmla="*/ 2967650 w 2996590"/>
              <a:gd name="connsiteY2" fmla="*/ 420696 h 766840"/>
              <a:gd name="connsiteX3" fmla="*/ 2784770 w 2996590"/>
              <a:gd name="connsiteY3" fmla="*/ 71562 h 766840"/>
              <a:gd name="connsiteX4" fmla="*/ 1504610 w 2996590"/>
              <a:gd name="connsiteY4" fmla="*/ 21685 h 766840"/>
              <a:gd name="connsiteX5" fmla="*/ 473832 w 2996590"/>
              <a:gd name="connsiteY5" fmla="*/ 21685 h 766840"/>
              <a:gd name="connsiteX6" fmla="*/ 74821 w 2996590"/>
              <a:gd name="connsiteY6" fmla="*/ 287693 h 766840"/>
              <a:gd name="connsiteX7" fmla="*/ 257701 w 2996590"/>
              <a:gd name="connsiteY7" fmla="*/ 703329 h 766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6590" h="766840">
                <a:moveTo>
                  <a:pt x="257701" y="703329"/>
                </a:moveTo>
                <a:cubicBezTo>
                  <a:pt x="659483" y="778143"/>
                  <a:pt x="2033854" y="783686"/>
                  <a:pt x="2485512" y="736580"/>
                </a:cubicBezTo>
                <a:cubicBezTo>
                  <a:pt x="2937170" y="689474"/>
                  <a:pt x="2917774" y="531532"/>
                  <a:pt x="2967650" y="420696"/>
                </a:cubicBezTo>
                <a:cubicBezTo>
                  <a:pt x="3017526" y="309860"/>
                  <a:pt x="3028610" y="138064"/>
                  <a:pt x="2784770" y="71562"/>
                </a:cubicBezTo>
                <a:cubicBezTo>
                  <a:pt x="2540930" y="5060"/>
                  <a:pt x="1889766" y="29998"/>
                  <a:pt x="1504610" y="21685"/>
                </a:cubicBezTo>
                <a:cubicBezTo>
                  <a:pt x="1119454" y="13372"/>
                  <a:pt x="712130" y="-22650"/>
                  <a:pt x="473832" y="21685"/>
                </a:cubicBezTo>
                <a:cubicBezTo>
                  <a:pt x="235534" y="66020"/>
                  <a:pt x="116385" y="171315"/>
                  <a:pt x="74821" y="287693"/>
                </a:cubicBezTo>
                <a:cubicBezTo>
                  <a:pt x="33257" y="404071"/>
                  <a:pt x="-144081" y="628515"/>
                  <a:pt x="257701" y="703329"/>
                </a:cubicBezTo>
                <a:close/>
              </a:path>
            </a:pathLst>
          </a:custGeom>
          <a:noFill/>
          <a:ln w="57150">
            <a:solidFill>
              <a:srgbClr val="0B24F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3752135" y="2754766"/>
            <a:ext cx="636987" cy="666941"/>
          </a:xfrm>
          <a:custGeom>
            <a:avLst/>
            <a:gdLst>
              <a:gd name="connsiteX0" fmla="*/ 387606 w 2068472"/>
              <a:gd name="connsiteY0" fmla="*/ 549364 h 567043"/>
              <a:gd name="connsiteX1" fmla="*/ 1651140 w 2068472"/>
              <a:gd name="connsiteY1" fmla="*/ 549364 h 567043"/>
              <a:gd name="connsiteX2" fmla="*/ 2016900 w 2068472"/>
              <a:gd name="connsiteY2" fmla="*/ 416360 h 567043"/>
              <a:gd name="connsiteX3" fmla="*/ 2050151 w 2068472"/>
              <a:gd name="connsiteY3" fmla="*/ 233480 h 567043"/>
              <a:gd name="connsiteX4" fmla="*/ 1867271 w 2068472"/>
              <a:gd name="connsiteY4" fmla="*/ 67226 h 567043"/>
              <a:gd name="connsiteX5" fmla="*/ 1435009 w 2068472"/>
              <a:gd name="connsiteY5" fmla="*/ 33975 h 567043"/>
              <a:gd name="connsiteX6" fmla="*/ 587111 w 2068472"/>
              <a:gd name="connsiteY6" fmla="*/ 724 h 567043"/>
              <a:gd name="connsiteX7" fmla="*/ 104973 w 2068472"/>
              <a:gd name="connsiteY7" fmla="*/ 67226 h 567043"/>
              <a:gd name="connsiteX8" fmla="*/ 21846 w 2068472"/>
              <a:gd name="connsiteY8" fmla="*/ 399735 h 567043"/>
              <a:gd name="connsiteX9" fmla="*/ 387606 w 2068472"/>
              <a:gd name="connsiteY9" fmla="*/ 549364 h 567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68472" h="567043">
                <a:moveTo>
                  <a:pt x="387606" y="549364"/>
                </a:moveTo>
                <a:cubicBezTo>
                  <a:pt x="659155" y="574302"/>
                  <a:pt x="1379591" y="571531"/>
                  <a:pt x="1651140" y="549364"/>
                </a:cubicBezTo>
                <a:cubicBezTo>
                  <a:pt x="1922689" y="527197"/>
                  <a:pt x="1950398" y="469007"/>
                  <a:pt x="2016900" y="416360"/>
                </a:cubicBezTo>
                <a:cubicBezTo>
                  <a:pt x="2083402" y="363713"/>
                  <a:pt x="2075089" y="291669"/>
                  <a:pt x="2050151" y="233480"/>
                </a:cubicBezTo>
                <a:cubicBezTo>
                  <a:pt x="2025213" y="175291"/>
                  <a:pt x="1969795" y="100477"/>
                  <a:pt x="1867271" y="67226"/>
                </a:cubicBezTo>
                <a:cubicBezTo>
                  <a:pt x="1764747" y="33975"/>
                  <a:pt x="1648369" y="45059"/>
                  <a:pt x="1435009" y="33975"/>
                </a:cubicBezTo>
                <a:cubicBezTo>
                  <a:pt x="1221649" y="22891"/>
                  <a:pt x="808784" y="-4818"/>
                  <a:pt x="587111" y="724"/>
                </a:cubicBezTo>
                <a:cubicBezTo>
                  <a:pt x="365438" y="6266"/>
                  <a:pt x="199184" y="724"/>
                  <a:pt x="104973" y="67226"/>
                </a:cubicBezTo>
                <a:cubicBezTo>
                  <a:pt x="10762" y="133728"/>
                  <a:pt x="-28030" y="319379"/>
                  <a:pt x="21846" y="399735"/>
                </a:cubicBezTo>
                <a:cubicBezTo>
                  <a:pt x="71722" y="480091"/>
                  <a:pt x="116057" y="524426"/>
                  <a:pt x="387606" y="549364"/>
                </a:cubicBezTo>
                <a:close/>
              </a:path>
            </a:pathLst>
          </a:custGeom>
          <a:noFill/>
          <a:ln w="57150">
            <a:solidFill>
              <a:srgbClr val="0B24F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504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7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1"/>
              <p:cNvSpPr txBox="1">
                <a:spLocks/>
              </p:cNvSpPr>
              <p:nvPr/>
            </p:nvSpPr>
            <p:spPr>
              <a:xfrm>
                <a:off x="1221946" y="1485900"/>
                <a:ext cx="10249620" cy="417709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Observe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state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perform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action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/>
                  <a:t>Environment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provides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new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state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reward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b="1" dirty="0" smtClean="0">
                    <a:solidFill>
                      <a:srgbClr val="C00000"/>
                    </a:solidFill>
                  </a:rPr>
                  <a:t>TD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target: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+</m:t>
                    </m:r>
                    <m:r>
                      <a:rPr lang="en-US" altLang="zh-CN" b="0" i="1" smtClean="0">
                        <a:latin typeface="Cambria Math" charset="0"/>
                      </a:rPr>
                      <m:t>𝛾</m:t>
                    </m:r>
                    <m:r>
                      <a:rPr lang="en-US" altLang="zh-CN" i="1">
                        <a:latin typeface="Cambria Math" charset="0"/>
                      </a:rPr>
                      <m:t>⋅</m:t>
                    </m:r>
                    <m:func>
                      <m:funcPr>
                        <m:ctrlPr>
                          <a:rPr lang="zh-CN" altLang="en-US" i="1">
                            <a:latin typeface="Cambria Math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charset="0"/>
                          </a:rPr>
                          <m:t>𝑄</m:t>
                        </m:r>
                        <m:d>
                          <m:dPr>
                            <m:ctrlPr>
                              <a:rPr lang="en-US" i="1"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altLang="zh-CN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charset="0"/>
                              </a:rPr>
                              <m:t>, </m:t>
                            </m:r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charset="0"/>
                              </a:rPr>
                              <m:t>;</m:t>
                            </m:r>
                            <m:r>
                              <a:rPr lang="en-US" altLang="zh-CN" b="1">
                                <a:latin typeface="Cambria Math" charset="0"/>
                              </a:rPr>
                              <m:t>𝐰</m:t>
                            </m:r>
                          </m:e>
                        </m:d>
                      </m:e>
                    </m:func>
                  </m:oMath>
                </a14:m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b="1" dirty="0" smtClean="0">
                    <a:solidFill>
                      <a:srgbClr val="C00000"/>
                    </a:solidFill>
                  </a:rPr>
                  <a:t>TD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error: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b="0" i="0" smtClean="0">
                        <a:latin typeface="Cambria Math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where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r>
                      <a:rPr lang="en-US" i="1">
                        <a:latin typeface="Cambria Math" charset="0"/>
                      </a:rPr>
                      <m:t>𝑄</m:t>
                    </m:r>
                    <m:d>
                      <m:dPr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;</m:t>
                        </m:r>
                        <m:r>
                          <a:rPr lang="en-US" altLang="zh-CN" b="1">
                            <a:latin typeface="Cambria Math" charset="0"/>
                          </a:rPr>
                          <m:t>𝐰</m:t>
                        </m:r>
                      </m:e>
                    </m:d>
                  </m:oMath>
                </a14:m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b="1" dirty="0" smtClean="0">
                    <a:solidFill>
                      <a:srgbClr val="C00000"/>
                    </a:solidFill>
                  </a:rPr>
                  <a:t>Goal: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  </a:t>
                </a:r>
                <a:r>
                  <a:rPr lang="en-US" altLang="zh-CN" dirty="0" smtClean="0"/>
                  <a:t>Make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7030A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close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to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for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all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altLang="zh-CN" dirty="0" smtClean="0"/>
                  <a:t>.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(Equivalently,</a:t>
                </a:r>
                <a:r>
                  <a:rPr lang="zh-CN" altLang="en-US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altLang="zh-CN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make</a:t>
                </a:r>
                <a:r>
                  <a:rPr lang="zh-CN" altLang="en-US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</m:sub>
                      <m:sup>
                        <m:r>
                          <a:rPr lang="en-US" altLang="zh-CN" b="0" i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altLang="zh-CN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small.)</a:t>
                </a:r>
              </a:p>
            </p:txBody>
          </p:sp>
        </mc:Choice>
        <mc:Fallback xmlns="">
          <p:sp>
            <p:nvSpPr>
              <p:cNvPr id="8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946" y="1485900"/>
                <a:ext cx="10249620" cy="4177098"/>
              </a:xfrm>
              <a:prstGeom prst="rect">
                <a:avLst/>
              </a:prstGeom>
              <a:blipFill rotWithShape="0">
                <a:blip r:embed="rId3"/>
                <a:stretch>
                  <a:fillRect l="-1070" t="-2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Temporal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Difference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(TD)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Learning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5935291" y="3538232"/>
            <a:ext cx="2840804" cy="764702"/>
          </a:xfrm>
          <a:custGeom>
            <a:avLst/>
            <a:gdLst>
              <a:gd name="connsiteX0" fmla="*/ 1465 w 2792393"/>
              <a:gd name="connsiteY0" fmla="*/ 304528 h 700479"/>
              <a:gd name="connsiteX1" fmla="*/ 67967 w 2792393"/>
              <a:gd name="connsiteY1" fmla="*/ 138273 h 700479"/>
              <a:gd name="connsiteX2" fmla="*/ 284098 w 2792393"/>
              <a:gd name="connsiteY2" fmla="*/ 121648 h 700479"/>
              <a:gd name="connsiteX3" fmla="*/ 1015618 w 2792393"/>
              <a:gd name="connsiteY3" fmla="*/ 105022 h 700479"/>
              <a:gd name="connsiteX4" fmla="*/ 2329029 w 2792393"/>
              <a:gd name="connsiteY4" fmla="*/ 5270 h 700479"/>
              <a:gd name="connsiteX5" fmla="*/ 2761290 w 2792393"/>
              <a:gd name="connsiteY5" fmla="*/ 287902 h 700479"/>
              <a:gd name="connsiteX6" fmla="*/ 2611661 w 2792393"/>
              <a:gd name="connsiteY6" fmla="*/ 603786 h 700479"/>
              <a:gd name="connsiteX7" fmla="*/ 1447879 w 2792393"/>
              <a:gd name="connsiteY7" fmla="*/ 686913 h 700479"/>
              <a:gd name="connsiteX8" fmla="*/ 400476 w 2792393"/>
              <a:gd name="connsiteY8" fmla="*/ 686913 h 700479"/>
              <a:gd name="connsiteX9" fmla="*/ 117843 w 2792393"/>
              <a:gd name="connsiteY9" fmla="*/ 670288 h 700479"/>
              <a:gd name="connsiteX10" fmla="*/ 1465 w 2792393"/>
              <a:gd name="connsiteY10" fmla="*/ 304528 h 700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792393" h="700479">
                <a:moveTo>
                  <a:pt x="1465" y="304528"/>
                </a:moveTo>
                <a:cubicBezTo>
                  <a:pt x="-6848" y="215859"/>
                  <a:pt x="20862" y="168753"/>
                  <a:pt x="67967" y="138273"/>
                </a:cubicBezTo>
                <a:cubicBezTo>
                  <a:pt x="115072" y="107793"/>
                  <a:pt x="126156" y="127190"/>
                  <a:pt x="284098" y="121648"/>
                </a:cubicBezTo>
                <a:cubicBezTo>
                  <a:pt x="442040" y="116106"/>
                  <a:pt x="674796" y="124418"/>
                  <a:pt x="1015618" y="105022"/>
                </a:cubicBezTo>
                <a:cubicBezTo>
                  <a:pt x="1356440" y="85626"/>
                  <a:pt x="2038084" y="-25210"/>
                  <a:pt x="2329029" y="5270"/>
                </a:cubicBezTo>
                <a:cubicBezTo>
                  <a:pt x="2619974" y="35750"/>
                  <a:pt x="2714185" y="188149"/>
                  <a:pt x="2761290" y="287902"/>
                </a:cubicBezTo>
                <a:cubicBezTo>
                  <a:pt x="2808395" y="387655"/>
                  <a:pt x="2830563" y="537284"/>
                  <a:pt x="2611661" y="603786"/>
                </a:cubicBezTo>
                <a:cubicBezTo>
                  <a:pt x="2392759" y="670288"/>
                  <a:pt x="1816410" y="673059"/>
                  <a:pt x="1447879" y="686913"/>
                </a:cubicBezTo>
                <a:cubicBezTo>
                  <a:pt x="1079348" y="700767"/>
                  <a:pt x="622149" y="689684"/>
                  <a:pt x="400476" y="686913"/>
                </a:cubicBezTo>
                <a:cubicBezTo>
                  <a:pt x="178803" y="684142"/>
                  <a:pt x="184345" y="728477"/>
                  <a:pt x="117843" y="670288"/>
                </a:cubicBezTo>
                <a:cubicBezTo>
                  <a:pt x="51341" y="612099"/>
                  <a:pt x="9778" y="393197"/>
                  <a:pt x="1465" y="304528"/>
                </a:cubicBezTo>
                <a:close/>
              </a:path>
            </a:pathLst>
          </a:custGeom>
          <a:noFill/>
          <a:ln w="57150">
            <a:solidFill>
              <a:srgbClr val="0B24F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/>
          <p:cNvSpPr/>
          <p:nvPr/>
        </p:nvSpPr>
        <p:spPr>
          <a:xfrm>
            <a:off x="2887611" y="3656876"/>
            <a:ext cx="2068472" cy="567043"/>
          </a:xfrm>
          <a:custGeom>
            <a:avLst/>
            <a:gdLst>
              <a:gd name="connsiteX0" fmla="*/ 387606 w 2068472"/>
              <a:gd name="connsiteY0" fmla="*/ 549364 h 567043"/>
              <a:gd name="connsiteX1" fmla="*/ 1651140 w 2068472"/>
              <a:gd name="connsiteY1" fmla="*/ 549364 h 567043"/>
              <a:gd name="connsiteX2" fmla="*/ 2016900 w 2068472"/>
              <a:gd name="connsiteY2" fmla="*/ 416360 h 567043"/>
              <a:gd name="connsiteX3" fmla="*/ 2050151 w 2068472"/>
              <a:gd name="connsiteY3" fmla="*/ 233480 h 567043"/>
              <a:gd name="connsiteX4" fmla="*/ 1867271 w 2068472"/>
              <a:gd name="connsiteY4" fmla="*/ 67226 h 567043"/>
              <a:gd name="connsiteX5" fmla="*/ 1435009 w 2068472"/>
              <a:gd name="connsiteY5" fmla="*/ 33975 h 567043"/>
              <a:gd name="connsiteX6" fmla="*/ 587111 w 2068472"/>
              <a:gd name="connsiteY6" fmla="*/ 724 h 567043"/>
              <a:gd name="connsiteX7" fmla="*/ 104973 w 2068472"/>
              <a:gd name="connsiteY7" fmla="*/ 67226 h 567043"/>
              <a:gd name="connsiteX8" fmla="*/ 21846 w 2068472"/>
              <a:gd name="connsiteY8" fmla="*/ 399735 h 567043"/>
              <a:gd name="connsiteX9" fmla="*/ 387606 w 2068472"/>
              <a:gd name="connsiteY9" fmla="*/ 549364 h 567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68472" h="567043">
                <a:moveTo>
                  <a:pt x="387606" y="549364"/>
                </a:moveTo>
                <a:cubicBezTo>
                  <a:pt x="659155" y="574302"/>
                  <a:pt x="1379591" y="571531"/>
                  <a:pt x="1651140" y="549364"/>
                </a:cubicBezTo>
                <a:cubicBezTo>
                  <a:pt x="1922689" y="527197"/>
                  <a:pt x="1950398" y="469007"/>
                  <a:pt x="2016900" y="416360"/>
                </a:cubicBezTo>
                <a:cubicBezTo>
                  <a:pt x="2083402" y="363713"/>
                  <a:pt x="2075089" y="291669"/>
                  <a:pt x="2050151" y="233480"/>
                </a:cubicBezTo>
                <a:cubicBezTo>
                  <a:pt x="2025213" y="175291"/>
                  <a:pt x="1969795" y="100477"/>
                  <a:pt x="1867271" y="67226"/>
                </a:cubicBezTo>
                <a:cubicBezTo>
                  <a:pt x="1764747" y="33975"/>
                  <a:pt x="1648369" y="45059"/>
                  <a:pt x="1435009" y="33975"/>
                </a:cubicBezTo>
                <a:cubicBezTo>
                  <a:pt x="1221649" y="22891"/>
                  <a:pt x="808784" y="-4818"/>
                  <a:pt x="587111" y="724"/>
                </a:cubicBezTo>
                <a:cubicBezTo>
                  <a:pt x="365438" y="6266"/>
                  <a:pt x="199184" y="724"/>
                  <a:pt x="104973" y="67226"/>
                </a:cubicBezTo>
                <a:cubicBezTo>
                  <a:pt x="10762" y="133728"/>
                  <a:pt x="-28030" y="319379"/>
                  <a:pt x="21846" y="399735"/>
                </a:cubicBezTo>
                <a:cubicBezTo>
                  <a:pt x="71722" y="480091"/>
                  <a:pt x="116057" y="524426"/>
                  <a:pt x="387606" y="549364"/>
                </a:cubicBezTo>
                <a:close/>
              </a:path>
            </a:pathLst>
          </a:custGeom>
          <a:noFill/>
          <a:ln w="57150">
            <a:solidFill>
              <a:srgbClr val="0B24F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562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1"/>
              <p:cNvSpPr txBox="1">
                <a:spLocks/>
              </p:cNvSpPr>
              <p:nvPr/>
            </p:nvSpPr>
            <p:spPr>
              <a:xfrm>
                <a:off x="1305071" y="1273629"/>
                <a:ext cx="9581857" cy="471153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b="1" dirty="0" smtClean="0">
                    <a:solidFill>
                      <a:srgbClr val="C00000"/>
                    </a:solidFill>
                  </a:rPr>
                  <a:t>TD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error: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b="0" i="0" smtClean="0">
                        <a:latin typeface="Cambria Math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where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r>
                      <a:rPr lang="en-US" i="1">
                        <a:latin typeface="Cambria Math" charset="0"/>
                      </a:rPr>
                      <m:t>𝑄</m:t>
                    </m:r>
                    <m:d>
                      <m:dPr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;</m:t>
                        </m:r>
                        <m:r>
                          <a:rPr lang="en-US" altLang="zh-CN" b="1" i="0" smtClean="0">
                            <a:latin typeface="Cambria Math" charset="0"/>
                          </a:rPr>
                          <m:t>𝐰</m:t>
                        </m:r>
                      </m:e>
                    </m:d>
                  </m:oMath>
                </a14:m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b="1" dirty="0" smtClean="0">
                    <a:solidFill>
                      <a:srgbClr val="C00000"/>
                    </a:solidFill>
                  </a:rPr>
                  <a:t>TD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learning: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  </a:t>
                </a:r>
                <a:r>
                  <a:rPr lang="en-US" altLang="zh-CN" dirty="0" smtClean="0"/>
                  <a:t>Find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charset="0"/>
                      </a:rPr>
                      <m:t>𝐰</m:t>
                    </m:r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by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minimizing</a:t>
                </a:r>
                <a:r>
                  <a:rPr lang="zh-CN" altLang="en-US" dirty="0" smtClean="0"/>
                  <a:t> 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𝐿</m:t>
                    </m:r>
                    <m:d>
                      <m:d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1" i="0" smtClean="0">
                            <a:latin typeface="Cambria Math" charset="0"/>
                          </a:rPr>
                          <m:t>𝐰</m:t>
                        </m:r>
                      </m:e>
                    </m:d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charset="0"/>
                          </a:rPr>
                          <m:t>𝑇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i="1">
                            <a:latin typeface="Cambria Math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charset="0"/>
                          </a:rPr>
                          <m:t>𝑇</m:t>
                        </m:r>
                      </m:sup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i="1">
                                    <a:latin typeface="Cambria Math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2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endParaRPr lang="en-US" altLang="zh-CN" dirty="0" smtClean="0"/>
              </a:p>
            </p:txBody>
          </p:sp>
        </mc:Choice>
        <mc:Fallback xmlns="">
          <p:sp>
            <p:nvSpPr>
              <p:cNvPr id="8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071" y="1273629"/>
                <a:ext cx="9581857" cy="4711535"/>
              </a:xfrm>
              <a:prstGeom prst="rect">
                <a:avLst/>
              </a:prstGeom>
              <a:blipFill rotWithShape="0">
                <a:blip r:embed="rId3"/>
                <a:stretch>
                  <a:fillRect l="-1145" t="-21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Temporal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Difference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(TD)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Learning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6688540" y="1808145"/>
            <a:ext cx="2913081" cy="990205"/>
          </a:xfrm>
          <a:custGeom>
            <a:avLst/>
            <a:gdLst>
              <a:gd name="connsiteX0" fmla="*/ 525060 w 2913081"/>
              <a:gd name="connsiteY0" fmla="*/ 833455 h 990205"/>
              <a:gd name="connsiteX1" fmla="*/ 1354793 w 2913081"/>
              <a:gd name="connsiteY1" fmla="*/ 951988 h 990205"/>
              <a:gd name="connsiteX2" fmla="*/ 1998260 w 2913081"/>
              <a:gd name="connsiteY2" fmla="*/ 985855 h 990205"/>
              <a:gd name="connsiteX3" fmla="*/ 2709460 w 2913081"/>
              <a:gd name="connsiteY3" fmla="*/ 867322 h 990205"/>
              <a:gd name="connsiteX4" fmla="*/ 2912660 w 2913081"/>
              <a:gd name="connsiteY4" fmla="*/ 528655 h 990205"/>
              <a:gd name="connsiteX5" fmla="*/ 2743327 w 2913081"/>
              <a:gd name="connsiteY5" fmla="*/ 88388 h 990205"/>
              <a:gd name="connsiteX6" fmla="*/ 2167593 w 2913081"/>
              <a:gd name="connsiteY6" fmla="*/ 3722 h 990205"/>
              <a:gd name="connsiteX7" fmla="*/ 1151593 w 2913081"/>
              <a:gd name="connsiteY7" fmla="*/ 20655 h 990205"/>
              <a:gd name="connsiteX8" fmla="*/ 541993 w 2913081"/>
              <a:gd name="connsiteY8" fmla="*/ 71455 h 990205"/>
              <a:gd name="connsiteX9" fmla="*/ 84793 w 2913081"/>
              <a:gd name="connsiteY9" fmla="*/ 223855 h 990205"/>
              <a:gd name="connsiteX10" fmla="*/ 17060 w 2913081"/>
              <a:gd name="connsiteY10" fmla="*/ 562522 h 990205"/>
              <a:gd name="connsiteX11" fmla="*/ 50927 w 2913081"/>
              <a:gd name="connsiteY11" fmla="*/ 697988 h 990205"/>
              <a:gd name="connsiteX12" fmla="*/ 525060 w 2913081"/>
              <a:gd name="connsiteY12" fmla="*/ 833455 h 99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13081" h="990205">
                <a:moveTo>
                  <a:pt x="525060" y="833455"/>
                </a:moveTo>
                <a:cubicBezTo>
                  <a:pt x="742371" y="875788"/>
                  <a:pt x="1109260" y="926588"/>
                  <a:pt x="1354793" y="951988"/>
                </a:cubicBezTo>
                <a:cubicBezTo>
                  <a:pt x="1600326" y="977388"/>
                  <a:pt x="1772482" y="999966"/>
                  <a:pt x="1998260" y="985855"/>
                </a:cubicBezTo>
                <a:cubicBezTo>
                  <a:pt x="2224038" y="971744"/>
                  <a:pt x="2557060" y="943522"/>
                  <a:pt x="2709460" y="867322"/>
                </a:cubicBezTo>
                <a:cubicBezTo>
                  <a:pt x="2861860" y="791122"/>
                  <a:pt x="2907016" y="658477"/>
                  <a:pt x="2912660" y="528655"/>
                </a:cubicBezTo>
                <a:cubicBezTo>
                  <a:pt x="2918304" y="398833"/>
                  <a:pt x="2867505" y="175877"/>
                  <a:pt x="2743327" y="88388"/>
                </a:cubicBezTo>
                <a:cubicBezTo>
                  <a:pt x="2619149" y="899"/>
                  <a:pt x="2432882" y="15011"/>
                  <a:pt x="2167593" y="3722"/>
                </a:cubicBezTo>
                <a:cubicBezTo>
                  <a:pt x="1902304" y="-7567"/>
                  <a:pt x="1422526" y="9366"/>
                  <a:pt x="1151593" y="20655"/>
                </a:cubicBezTo>
                <a:cubicBezTo>
                  <a:pt x="880660" y="31944"/>
                  <a:pt x="719793" y="37588"/>
                  <a:pt x="541993" y="71455"/>
                </a:cubicBezTo>
                <a:cubicBezTo>
                  <a:pt x="364193" y="105322"/>
                  <a:pt x="172282" y="142011"/>
                  <a:pt x="84793" y="223855"/>
                </a:cubicBezTo>
                <a:cubicBezTo>
                  <a:pt x="-2696" y="305699"/>
                  <a:pt x="22704" y="483500"/>
                  <a:pt x="17060" y="562522"/>
                </a:cubicBezTo>
                <a:cubicBezTo>
                  <a:pt x="11416" y="641544"/>
                  <a:pt x="-33740" y="650010"/>
                  <a:pt x="50927" y="697988"/>
                </a:cubicBezTo>
                <a:cubicBezTo>
                  <a:pt x="135594" y="745966"/>
                  <a:pt x="307749" y="791122"/>
                  <a:pt x="525060" y="833455"/>
                </a:cubicBezTo>
                <a:close/>
              </a:path>
            </a:pathLst>
          </a:custGeom>
          <a:noFill/>
          <a:ln w="57150">
            <a:solidFill>
              <a:srgbClr val="0B24F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569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1"/>
              <p:cNvSpPr txBox="1">
                <a:spLocks/>
              </p:cNvSpPr>
              <p:nvPr/>
            </p:nvSpPr>
            <p:spPr>
              <a:xfrm>
                <a:off x="1305071" y="1273629"/>
                <a:ext cx="9581857" cy="471153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b="1" dirty="0" smtClean="0">
                    <a:solidFill>
                      <a:srgbClr val="C00000"/>
                    </a:solidFill>
                  </a:rPr>
                  <a:t>TD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error: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b="0" i="0" smtClean="0">
                        <a:latin typeface="Cambria Math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where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r>
                      <a:rPr lang="en-US" i="1">
                        <a:latin typeface="Cambria Math" charset="0"/>
                      </a:rPr>
                      <m:t>𝑄</m:t>
                    </m:r>
                    <m:d>
                      <m:dPr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;</m:t>
                        </m:r>
                        <m:r>
                          <a:rPr lang="en-US" altLang="zh-CN" b="1" i="0" smtClean="0">
                            <a:latin typeface="Cambria Math" charset="0"/>
                          </a:rPr>
                          <m:t>𝐰</m:t>
                        </m:r>
                      </m:e>
                    </m:d>
                  </m:oMath>
                </a14:m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b="1" dirty="0" smtClean="0">
                    <a:solidFill>
                      <a:srgbClr val="C00000"/>
                    </a:solidFill>
                  </a:rPr>
                  <a:t>TD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learning: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  </a:t>
                </a:r>
                <a:r>
                  <a:rPr lang="en-US" altLang="zh-CN" dirty="0" smtClean="0"/>
                  <a:t>Find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charset="0"/>
                      </a:rPr>
                      <m:t>𝐰</m:t>
                    </m:r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by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minimizing</a:t>
                </a:r>
                <a:r>
                  <a:rPr lang="zh-CN" altLang="en-US" dirty="0" smtClean="0"/>
                  <a:t> 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𝐿</m:t>
                    </m:r>
                    <m:d>
                      <m:d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1" i="0" smtClean="0">
                            <a:latin typeface="Cambria Math" charset="0"/>
                          </a:rPr>
                          <m:t>𝐰</m:t>
                        </m:r>
                      </m:e>
                    </m:d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charset="0"/>
                          </a:rPr>
                          <m:t>𝑇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i="1">
                            <a:latin typeface="Cambria Math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charset="0"/>
                          </a:rPr>
                          <m:t>𝑇</m:t>
                        </m:r>
                      </m:sup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i="1">
                                    <a:latin typeface="Cambria Math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2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b="1" dirty="0" smtClean="0">
                    <a:solidFill>
                      <a:srgbClr val="C00000"/>
                    </a:solidFill>
                  </a:rPr>
                  <a:t>Online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gradient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descent: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 </a:t>
                </a:r>
                <a:endParaRPr lang="en-US" altLang="zh-CN" b="1" dirty="0" smtClean="0">
                  <a:solidFill>
                    <a:srgbClr val="C00000"/>
                  </a:solidFill>
                </a:endParaRPr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 smtClean="0"/>
                  <a:t>Observe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 charset="0"/>
                          </a:rPr>
                          <m:t>,</m:t>
                        </m:r>
                        <m:r>
                          <a:rPr lang="zh-CN" altLang="en-US" b="1" i="1" smtClean="0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charset="0"/>
                          </a:rPr>
                          <m:t>,</m:t>
                        </m:r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and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compute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 smtClean="0"/>
                  <a:t>.</a:t>
                </a:r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 smtClean="0"/>
                  <a:t>Compute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gradient:</a:t>
                </a:r>
                <a:r>
                  <a:rPr lang="zh-CN" altLang="en-US" dirty="0" smtClean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 i="0" smtClean="0">
                            <a:latin typeface="Cambria Math" charset="0"/>
                          </a:rPr>
                          <m:t>𝐠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</a:rPr>
                          <m:t>𝜕</m:t>
                        </m:r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b="1" i="1" smtClean="0">
                            <a:latin typeface="Cambria Math" charset="0"/>
                          </a:rPr>
                          <m:t>/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2</m:t>
                        </m:r>
                      </m:num>
                      <m:den>
                        <m:r>
                          <a:rPr lang="en-US" altLang="zh-CN" i="1">
                            <a:latin typeface="Cambria Math" charset="0"/>
                          </a:rPr>
                          <m:t>𝜕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b="1">
                            <a:latin typeface="Cambria Math" charset="0"/>
                          </a:rPr>
                          <m:t>𝐰</m:t>
                        </m:r>
                      </m:den>
                    </m:f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altLang="zh-CN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⋅</m:t>
                    </m:r>
                    <m:f>
                      <m:f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</a:rPr>
                          <m:t>𝜕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i="1">
                            <a:latin typeface="Cambria Math" charset="0"/>
                          </a:rPr>
                          <m:t>𝑄</m:t>
                        </m:r>
                        <m:d>
                          <m:dPr>
                            <m:ctrlPr>
                              <a:rPr lang="en-US" i="1"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i="1">
                                <a:latin typeface="Cambria Math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i="1">
                                <a:latin typeface="Cambria Math" charset="0"/>
                              </a:rPr>
                              <m:t>;</m:t>
                            </m:r>
                            <m:r>
                              <a:rPr lang="en-US" altLang="zh-CN" b="1">
                                <a:latin typeface="Cambria Math" charset="0"/>
                              </a:rPr>
                              <m:t>𝐰</m:t>
                            </m:r>
                          </m:e>
                        </m:d>
                      </m:num>
                      <m:den>
                        <m:r>
                          <a:rPr lang="en-US" altLang="zh-CN" i="1">
                            <a:latin typeface="Cambria Math" charset="0"/>
                          </a:rPr>
                          <m:t>𝜕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b="1">
                            <a:latin typeface="Cambria Math" charset="0"/>
                          </a:rPr>
                          <m:t>𝐰</m:t>
                        </m:r>
                      </m:den>
                    </m:f>
                  </m:oMath>
                </a14:m>
                <a:endParaRPr lang="en-US" altLang="zh-CN" dirty="0" smtClean="0"/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 smtClean="0"/>
                  <a:t>Gradient</a:t>
                </a:r>
                <a:r>
                  <a:rPr lang="zh-CN" altLang="en-US" dirty="0" smtClean="0"/>
                  <a:t> </a:t>
                </a:r>
                <a:r>
                  <a:rPr lang="en-US" altLang="zh-CN" dirty="0"/>
                  <a:t>descent:</a:t>
                </a:r>
                <a:r>
                  <a:rPr lang="zh-CN" altLang="en-US" dirty="0"/>
                  <a:t>  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charset="0"/>
                      </a:rPr>
                      <m:t>𝐰</m:t>
                    </m:r>
                    <m:r>
                      <a:rPr lang="en-US" altLang="zh-CN" b="0" i="1" smtClean="0">
                        <a:latin typeface="Cambria Math" charset="0"/>
                      </a:rPr>
                      <m:t>←</m:t>
                    </m:r>
                    <m:r>
                      <a:rPr lang="en-US" altLang="zh-CN" b="1" i="0" smtClean="0">
                        <a:latin typeface="Cambria Math" charset="0"/>
                      </a:rPr>
                      <m:t>𝐰</m:t>
                    </m:r>
                    <m:r>
                      <a:rPr lang="en-US" altLang="zh-CN" i="1">
                        <a:latin typeface="Cambria Math" charset="0"/>
                      </a:rPr>
                      <m:t>−</m:t>
                    </m:r>
                    <m:r>
                      <a:rPr lang="en-US" altLang="zh-CN" i="1">
                        <a:latin typeface="Cambria Math" charset="0"/>
                      </a:rPr>
                      <m:t>𝛼</m:t>
                    </m:r>
                    <m:r>
                      <a:rPr lang="en-US" altLang="zh-CN" i="1">
                        <a:latin typeface="Cambria Math" charset="0"/>
                      </a:rPr>
                      <m:t>⋅</m:t>
                    </m:r>
                    <m:sSub>
                      <m:sSubPr>
                        <m:ctrlPr>
                          <a:rPr lang="en-US" altLang="zh-CN" b="1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charset="0"/>
                          </a:rPr>
                          <m:t>𝐠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endParaRPr lang="en-US" altLang="zh-CN" dirty="0" smtClean="0"/>
              </a:p>
            </p:txBody>
          </p:sp>
        </mc:Choice>
        <mc:Fallback xmlns="">
          <p:sp>
            <p:nvSpPr>
              <p:cNvPr id="8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071" y="1273629"/>
                <a:ext cx="9581857" cy="4711535"/>
              </a:xfrm>
              <a:prstGeom prst="rect">
                <a:avLst/>
              </a:prstGeom>
              <a:blipFill rotWithShape="0">
                <a:blip r:embed="rId3"/>
                <a:stretch>
                  <a:fillRect l="-1145" t="-21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Temporal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Difference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(TD)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Learning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2" name="Freeform 1"/>
          <p:cNvSpPr/>
          <p:nvPr/>
        </p:nvSpPr>
        <p:spPr>
          <a:xfrm>
            <a:off x="4455620" y="4039985"/>
            <a:ext cx="3853468" cy="847898"/>
          </a:xfrm>
          <a:custGeom>
            <a:avLst/>
            <a:gdLst>
              <a:gd name="connsiteX0" fmla="*/ 14581 w 3768296"/>
              <a:gd name="connsiteY0" fmla="*/ 365905 h 781542"/>
              <a:gd name="connsiteX1" fmla="*/ 81083 w 3768296"/>
              <a:gd name="connsiteY1" fmla="*/ 648538 h 781542"/>
              <a:gd name="connsiteX2" fmla="*/ 463468 w 3768296"/>
              <a:gd name="connsiteY2" fmla="*/ 715040 h 781542"/>
              <a:gd name="connsiteX3" fmla="*/ 1178363 w 3768296"/>
              <a:gd name="connsiteY3" fmla="*/ 748291 h 781542"/>
              <a:gd name="connsiteX4" fmla="*/ 3090290 w 3768296"/>
              <a:gd name="connsiteY4" fmla="*/ 781542 h 781542"/>
              <a:gd name="connsiteX5" fmla="*/ 3539178 w 3768296"/>
              <a:gd name="connsiteY5" fmla="*/ 698414 h 781542"/>
              <a:gd name="connsiteX6" fmla="*/ 3755308 w 3768296"/>
              <a:gd name="connsiteY6" fmla="*/ 432407 h 781542"/>
              <a:gd name="connsiteX7" fmla="*/ 3705432 w 3768296"/>
              <a:gd name="connsiteY7" fmla="*/ 116524 h 781542"/>
              <a:gd name="connsiteX8" fmla="*/ 3389548 w 3768296"/>
              <a:gd name="connsiteY8" fmla="*/ 16771 h 781542"/>
              <a:gd name="connsiteX9" fmla="*/ 2774407 w 3768296"/>
              <a:gd name="connsiteY9" fmla="*/ 145 h 781542"/>
              <a:gd name="connsiteX10" fmla="*/ 1294741 w 3768296"/>
              <a:gd name="connsiteY10" fmla="*/ 145 h 781542"/>
              <a:gd name="connsiteX11" fmla="*/ 463468 w 3768296"/>
              <a:gd name="connsiteY11" fmla="*/ 16771 h 781542"/>
              <a:gd name="connsiteX12" fmla="*/ 47832 w 3768296"/>
              <a:gd name="connsiteY12" fmla="*/ 149774 h 781542"/>
              <a:gd name="connsiteX13" fmla="*/ 14581 w 3768296"/>
              <a:gd name="connsiteY13" fmla="*/ 365905 h 781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68296" h="781542">
                <a:moveTo>
                  <a:pt x="14581" y="365905"/>
                </a:moveTo>
                <a:cubicBezTo>
                  <a:pt x="20123" y="449032"/>
                  <a:pt x="6269" y="590349"/>
                  <a:pt x="81083" y="648538"/>
                </a:cubicBezTo>
                <a:cubicBezTo>
                  <a:pt x="155897" y="706727"/>
                  <a:pt x="280588" y="698415"/>
                  <a:pt x="463468" y="715040"/>
                </a:cubicBezTo>
                <a:cubicBezTo>
                  <a:pt x="646348" y="731665"/>
                  <a:pt x="1178363" y="748291"/>
                  <a:pt x="1178363" y="748291"/>
                </a:cubicBezTo>
                <a:lnTo>
                  <a:pt x="3090290" y="781542"/>
                </a:lnTo>
                <a:cubicBezTo>
                  <a:pt x="3483759" y="773229"/>
                  <a:pt x="3428342" y="756603"/>
                  <a:pt x="3539178" y="698414"/>
                </a:cubicBezTo>
                <a:cubicBezTo>
                  <a:pt x="3650014" y="640225"/>
                  <a:pt x="3727599" y="529389"/>
                  <a:pt x="3755308" y="432407"/>
                </a:cubicBezTo>
                <a:cubicBezTo>
                  <a:pt x="3783017" y="335425"/>
                  <a:pt x="3766392" y="185797"/>
                  <a:pt x="3705432" y="116524"/>
                </a:cubicBezTo>
                <a:cubicBezTo>
                  <a:pt x="3644472" y="47251"/>
                  <a:pt x="3544719" y="36167"/>
                  <a:pt x="3389548" y="16771"/>
                </a:cubicBezTo>
                <a:cubicBezTo>
                  <a:pt x="3234377" y="-2625"/>
                  <a:pt x="2774407" y="145"/>
                  <a:pt x="2774407" y="145"/>
                </a:cubicBezTo>
                <a:lnTo>
                  <a:pt x="1294741" y="145"/>
                </a:lnTo>
                <a:cubicBezTo>
                  <a:pt x="909585" y="2916"/>
                  <a:pt x="671286" y="-8167"/>
                  <a:pt x="463468" y="16771"/>
                </a:cubicBezTo>
                <a:cubicBezTo>
                  <a:pt x="255650" y="41709"/>
                  <a:pt x="125417" y="94356"/>
                  <a:pt x="47832" y="149774"/>
                </a:cubicBezTo>
                <a:cubicBezTo>
                  <a:pt x="-29753" y="205192"/>
                  <a:pt x="9039" y="282778"/>
                  <a:pt x="14581" y="365905"/>
                </a:cubicBezTo>
                <a:close/>
              </a:path>
            </a:pathLst>
          </a:custGeom>
          <a:noFill/>
          <a:ln w="57150">
            <a:solidFill>
              <a:srgbClr val="0B24F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5164667" y="3968831"/>
            <a:ext cx="880534" cy="990205"/>
          </a:xfrm>
          <a:custGeom>
            <a:avLst/>
            <a:gdLst>
              <a:gd name="connsiteX0" fmla="*/ 525060 w 2913081"/>
              <a:gd name="connsiteY0" fmla="*/ 833455 h 990205"/>
              <a:gd name="connsiteX1" fmla="*/ 1354793 w 2913081"/>
              <a:gd name="connsiteY1" fmla="*/ 951988 h 990205"/>
              <a:gd name="connsiteX2" fmla="*/ 1998260 w 2913081"/>
              <a:gd name="connsiteY2" fmla="*/ 985855 h 990205"/>
              <a:gd name="connsiteX3" fmla="*/ 2709460 w 2913081"/>
              <a:gd name="connsiteY3" fmla="*/ 867322 h 990205"/>
              <a:gd name="connsiteX4" fmla="*/ 2912660 w 2913081"/>
              <a:gd name="connsiteY4" fmla="*/ 528655 h 990205"/>
              <a:gd name="connsiteX5" fmla="*/ 2743327 w 2913081"/>
              <a:gd name="connsiteY5" fmla="*/ 88388 h 990205"/>
              <a:gd name="connsiteX6" fmla="*/ 2167593 w 2913081"/>
              <a:gd name="connsiteY6" fmla="*/ 3722 h 990205"/>
              <a:gd name="connsiteX7" fmla="*/ 1151593 w 2913081"/>
              <a:gd name="connsiteY7" fmla="*/ 20655 h 990205"/>
              <a:gd name="connsiteX8" fmla="*/ 541993 w 2913081"/>
              <a:gd name="connsiteY8" fmla="*/ 71455 h 990205"/>
              <a:gd name="connsiteX9" fmla="*/ 84793 w 2913081"/>
              <a:gd name="connsiteY9" fmla="*/ 223855 h 990205"/>
              <a:gd name="connsiteX10" fmla="*/ 17060 w 2913081"/>
              <a:gd name="connsiteY10" fmla="*/ 562522 h 990205"/>
              <a:gd name="connsiteX11" fmla="*/ 50927 w 2913081"/>
              <a:gd name="connsiteY11" fmla="*/ 697988 h 990205"/>
              <a:gd name="connsiteX12" fmla="*/ 525060 w 2913081"/>
              <a:gd name="connsiteY12" fmla="*/ 833455 h 99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13081" h="990205">
                <a:moveTo>
                  <a:pt x="525060" y="833455"/>
                </a:moveTo>
                <a:cubicBezTo>
                  <a:pt x="742371" y="875788"/>
                  <a:pt x="1109260" y="926588"/>
                  <a:pt x="1354793" y="951988"/>
                </a:cubicBezTo>
                <a:cubicBezTo>
                  <a:pt x="1600326" y="977388"/>
                  <a:pt x="1772482" y="999966"/>
                  <a:pt x="1998260" y="985855"/>
                </a:cubicBezTo>
                <a:cubicBezTo>
                  <a:pt x="2224038" y="971744"/>
                  <a:pt x="2557060" y="943522"/>
                  <a:pt x="2709460" y="867322"/>
                </a:cubicBezTo>
                <a:cubicBezTo>
                  <a:pt x="2861860" y="791122"/>
                  <a:pt x="2907016" y="658477"/>
                  <a:pt x="2912660" y="528655"/>
                </a:cubicBezTo>
                <a:cubicBezTo>
                  <a:pt x="2918304" y="398833"/>
                  <a:pt x="2867505" y="175877"/>
                  <a:pt x="2743327" y="88388"/>
                </a:cubicBezTo>
                <a:cubicBezTo>
                  <a:pt x="2619149" y="899"/>
                  <a:pt x="2432882" y="15011"/>
                  <a:pt x="2167593" y="3722"/>
                </a:cubicBezTo>
                <a:cubicBezTo>
                  <a:pt x="1902304" y="-7567"/>
                  <a:pt x="1422526" y="9366"/>
                  <a:pt x="1151593" y="20655"/>
                </a:cubicBezTo>
                <a:cubicBezTo>
                  <a:pt x="880660" y="31944"/>
                  <a:pt x="719793" y="37588"/>
                  <a:pt x="541993" y="71455"/>
                </a:cubicBezTo>
                <a:cubicBezTo>
                  <a:pt x="364193" y="105322"/>
                  <a:pt x="172282" y="142011"/>
                  <a:pt x="84793" y="223855"/>
                </a:cubicBezTo>
                <a:cubicBezTo>
                  <a:pt x="-2696" y="305699"/>
                  <a:pt x="22704" y="483500"/>
                  <a:pt x="17060" y="562522"/>
                </a:cubicBezTo>
                <a:cubicBezTo>
                  <a:pt x="11416" y="641544"/>
                  <a:pt x="-33740" y="650010"/>
                  <a:pt x="50927" y="697988"/>
                </a:cubicBezTo>
                <a:cubicBezTo>
                  <a:pt x="135594" y="745966"/>
                  <a:pt x="307749" y="791122"/>
                  <a:pt x="525060" y="833455"/>
                </a:cubicBezTo>
                <a:close/>
              </a:path>
            </a:pathLst>
          </a:custGeom>
          <a:noFill/>
          <a:ln w="57150">
            <a:solidFill>
              <a:srgbClr val="0B24F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1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6" grpId="0" animBg="1"/>
      <p:bldP spid="6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Temporal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Difference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(TD)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Learning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1"/>
              <p:cNvSpPr txBox="1">
                <a:spLocks/>
              </p:cNvSpPr>
              <p:nvPr/>
            </p:nvSpPr>
            <p:spPr>
              <a:xfrm>
                <a:off x="1305071" y="1273629"/>
                <a:ext cx="9581857" cy="471153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b="1" dirty="0" smtClean="0">
                    <a:solidFill>
                      <a:srgbClr val="C00000"/>
                    </a:solidFill>
                  </a:rPr>
                  <a:t>TD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error: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b="0" i="0" smtClean="0">
                        <a:latin typeface="Cambria Math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where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r>
                      <a:rPr lang="en-US" i="1">
                        <a:latin typeface="Cambria Math" charset="0"/>
                      </a:rPr>
                      <m:t>𝑄</m:t>
                    </m:r>
                    <m:d>
                      <m:dPr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;</m:t>
                        </m:r>
                        <m:r>
                          <a:rPr lang="en-US" altLang="zh-CN" b="1" i="0" smtClean="0">
                            <a:latin typeface="Cambria Math" charset="0"/>
                          </a:rPr>
                          <m:t>𝐰</m:t>
                        </m:r>
                      </m:e>
                    </m:d>
                  </m:oMath>
                </a14:m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b="1" dirty="0" smtClean="0">
                    <a:solidFill>
                      <a:srgbClr val="C00000"/>
                    </a:solidFill>
                  </a:rPr>
                  <a:t>TD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learning: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  </a:t>
                </a:r>
                <a:r>
                  <a:rPr lang="en-US" altLang="zh-CN" dirty="0" smtClean="0"/>
                  <a:t>Find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charset="0"/>
                      </a:rPr>
                      <m:t>𝐰</m:t>
                    </m:r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by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minimizing</a:t>
                </a:r>
                <a:r>
                  <a:rPr lang="zh-CN" altLang="en-US" dirty="0" smtClean="0"/>
                  <a:t> 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𝐿</m:t>
                    </m:r>
                    <m:d>
                      <m:d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1" i="0" smtClean="0">
                            <a:latin typeface="Cambria Math" charset="0"/>
                          </a:rPr>
                          <m:t>𝐰</m:t>
                        </m:r>
                      </m:e>
                    </m:d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charset="0"/>
                          </a:rPr>
                          <m:t>𝑇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i="1">
                            <a:latin typeface="Cambria Math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charset="0"/>
                          </a:rPr>
                          <m:t>𝑇</m:t>
                        </m:r>
                      </m:sup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i="1">
                                    <a:latin typeface="Cambria Math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2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b="1" dirty="0" smtClean="0">
                    <a:solidFill>
                      <a:srgbClr val="C00000"/>
                    </a:solidFill>
                  </a:rPr>
                  <a:t>Online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gradient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descent.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/>
                  <a:t>Discard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1" i="1">
                            <a:latin typeface="Cambria Math" charset="0"/>
                          </a:rPr>
                          <m:t>,</m:t>
                        </m:r>
                        <m:r>
                          <a:rPr lang="zh-CN" altLang="en-US" b="1" i="1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i="1">
                            <a:latin typeface="Cambria Math" charset="0"/>
                          </a:rPr>
                          <m:t>,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after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using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it</a:t>
                </a:r>
                <a:r>
                  <a:rPr lang="en-US" altLang="zh-CN" dirty="0" smtClean="0"/>
                  <a:t>.</a:t>
                </a:r>
                <a:endParaRPr lang="en-US" altLang="zh-CN" b="1" dirty="0" smtClean="0">
                  <a:solidFill>
                    <a:srgbClr val="C00000"/>
                  </a:solidFill>
                </a:endParaRP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endParaRPr lang="en-US" altLang="zh-CN" dirty="0" smtClean="0"/>
              </a:p>
            </p:txBody>
          </p:sp>
        </mc:Choice>
        <mc:Fallback xmlns="">
          <p:sp>
            <p:nvSpPr>
              <p:cNvPr id="4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071" y="1273629"/>
                <a:ext cx="9581857" cy="4711535"/>
              </a:xfrm>
              <a:prstGeom prst="rect">
                <a:avLst/>
              </a:prstGeom>
              <a:blipFill rotWithShape="0">
                <a:blip r:embed="rId3"/>
                <a:stretch>
                  <a:fillRect l="-1145" t="-21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4530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Shortcoming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1: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Waste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of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Experience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1"/>
              <p:cNvSpPr txBox="1">
                <a:spLocks/>
              </p:cNvSpPr>
              <p:nvPr/>
            </p:nvSpPr>
            <p:spPr>
              <a:xfrm>
                <a:off x="1500434" y="1894412"/>
                <a:ext cx="9191132" cy="34126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b="1" dirty="0" smtClean="0">
                    <a:solidFill>
                      <a:srgbClr val="C00000"/>
                    </a:solidFill>
                  </a:rPr>
                  <a:t>A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transition: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1" i="1">
                            <a:latin typeface="Cambria Math" charset="0"/>
                          </a:rPr>
                          <m:t>,</m:t>
                        </m:r>
                        <m:r>
                          <a:rPr lang="zh-CN" altLang="en-US" b="1" i="1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i="1">
                            <a:latin typeface="Cambria Math" charset="0"/>
                          </a:rPr>
                          <m:t>,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b="1" dirty="0" smtClean="0">
                    <a:solidFill>
                      <a:srgbClr val="C00000"/>
                    </a:solidFill>
                  </a:rPr>
                  <a:t>Experience: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 smtClean="0"/>
                  <a:t>all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transitions,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for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𝑡</m:t>
                    </m:r>
                    <m:r>
                      <a:rPr lang="en-US" altLang="zh-CN" b="0" i="1" smtClean="0">
                        <a:latin typeface="Cambria Math" charset="0"/>
                      </a:rPr>
                      <m:t>=1,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r>
                      <a:rPr lang="en-US" altLang="zh-CN" b="0" i="1" smtClean="0">
                        <a:latin typeface="Cambria Math" charset="0"/>
                      </a:rPr>
                      <m:t>2,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r>
                      <a:rPr lang="en-US" altLang="zh-CN" b="0" i="1" smtClean="0">
                        <a:latin typeface="Cambria Math" charset="0"/>
                      </a:rPr>
                      <m:t>⋯</m:t>
                    </m:r>
                  </m:oMath>
                </a14:m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Previously,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we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discard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1" i="1">
                            <a:latin typeface="Cambria Math" charset="0"/>
                          </a:rPr>
                          <m:t>,</m:t>
                        </m:r>
                        <m:r>
                          <a:rPr lang="zh-CN" altLang="en-US" b="1" i="1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i="1">
                            <a:latin typeface="Cambria Math" charset="0"/>
                          </a:rPr>
                          <m:t>,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after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using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it.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It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waste</a:t>
                </a:r>
                <a:r>
                  <a:rPr lang="mr-IN" altLang="zh-CN" dirty="0" smtClean="0"/>
                  <a:t>…</a:t>
                </a:r>
                <a:endParaRPr lang="en-US" altLang="zh-CN" dirty="0" smtClean="0"/>
              </a:p>
            </p:txBody>
          </p:sp>
        </mc:Choice>
        <mc:Fallback xmlns="">
          <p:sp>
            <p:nvSpPr>
              <p:cNvPr id="4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0434" y="1894412"/>
                <a:ext cx="9191132" cy="3412671"/>
              </a:xfrm>
              <a:prstGeom prst="rect">
                <a:avLst/>
              </a:prstGeom>
              <a:blipFill rotWithShape="0">
                <a:blip r:embed="rId3"/>
                <a:stretch>
                  <a:fillRect l="-1194" t="-3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8381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1"/>
              <p:cNvSpPr txBox="1">
                <a:spLocks/>
              </p:cNvSpPr>
              <p:nvPr/>
            </p:nvSpPr>
            <p:spPr>
              <a:xfrm>
                <a:off x="1305071" y="1877786"/>
                <a:ext cx="9581857" cy="458832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Previously,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we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use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1" i="1">
                            <a:latin typeface="Cambria Math" charset="0"/>
                          </a:rPr>
                          <m:t>,</m:t>
                        </m:r>
                        <m:r>
                          <a:rPr lang="zh-CN" altLang="en-US" b="1" i="1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i="1">
                            <a:latin typeface="Cambria Math" charset="0"/>
                          </a:rPr>
                          <m:t>,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sequentially,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for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𝑡</m:t>
                    </m:r>
                    <m:r>
                      <a:rPr lang="en-US" altLang="zh-CN" b="0" i="1" smtClean="0">
                        <a:latin typeface="Cambria Math" charset="0"/>
                      </a:rPr>
                      <m:t>=1, 2,⋯</m:t>
                    </m:r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to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update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charset="0"/>
                      </a:rPr>
                      <m:t>𝐰</m:t>
                    </m:r>
                  </m:oMath>
                </a14:m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Consecutive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states,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and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are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strongly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correlated</a:t>
                </a:r>
                <a:r>
                  <a:rPr lang="zh-CN" altLang="en-US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altLang="zh-CN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(which</a:t>
                </a:r>
                <a:r>
                  <a:rPr lang="zh-CN" altLang="en-US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altLang="zh-CN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is</a:t>
                </a:r>
                <a:r>
                  <a:rPr lang="zh-CN" altLang="en-US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altLang="zh-CN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bad.)</a:t>
                </a:r>
              </a:p>
            </p:txBody>
          </p:sp>
        </mc:Choice>
        <mc:Fallback xmlns="">
          <p:sp>
            <p:nvSpPr>
              <p:cNvPr id="8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071" y="1877786"/>
                <a:ext cx="9581857" cy="4588328"/>
              </a:xfrm>
              <a:prstGeom prst="rect">
                <a:avLst/>
              </a:prstGeom>
              <a:blipFill rotWithShape="0">
                <a:blip r:embed="rId3"/>
                <a:stretch>
                  <a:fillRect l="-1145" t="-2125" r="-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Shortcoming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2: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Correlated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Updates</a:t>
            </a:r>
            <a:endParaRPr lang="en-US" sz="3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2244725"/>
            <a:ext cx="11823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Experience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Replay</a:t>
            </a:r>
            <a:endParaRPr lang="en-US" sz="4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437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37038" y="1042988"/>
                <a:ext cx="10117923" cy="198284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b="1" dirty="0" smtClean="0">
                    <a:solidFill>
                      <a:srgbClr val="C00000"/>
                    </a:solidFill>
                  </a:rPr>
                  <a:t>A</a:t>
                </a:r>
                <a:r>
                  <a:rPr lang="zh-CN" alt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b="1" dirty="0">
                    <a:solidFill>
                      <a:srgbClr val="C00000"/>
                    </a:solidFill>
                  </a:rPr>
                  <a:t>transition:</a:t>
                </a:r>
                <a:r>
                  <a:rPr lang="zh-CN" altLang="en-US" b="1" dirty="0">
                    <a:solidFill>
                      <a:srgbClr val="C00000"/>
                    </a:solidFill>
                  </a:rPr>
                  <a:t>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1" i="1">
                            <a:latin typeface="Cambria Math" charset="0"/>
                          </a:rPr>
                          <m:t>,</m:t>
                        </m:r>
                        <m:r>
                          <a:rPr lang="zh-CN" altLang="en-US" b="1" i="1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i="1">
                            <a:latin typeface="Cambria Math" charset="0"/>
                          </a:rPr>
                          <m:t>,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zh-CN" alt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 smtClean="0"/>
                  <a:t>Store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recent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transitions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replay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buffer</a:t>
                </a:r>
                <a:r>
                  <a:rPr lang="en-US" altLang="zh-CN" dirty="0" smtClean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37038" y="1042988"/>
                <a:ext cx="10117923" cy="1982845"/>
              </a:xfrm>
              <a:blipFill rotWithShape="0">
                <a:blip r:embed="rId3"/>
                <a:stretch>
                  <a:fillRect l="-1084" t="-4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Experience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Replay</a:t>
            </a:r>
            <a:endParaRPr lang="en-US" sz="3600" dirty="0">
              <a:solidFill>
                <a:srgbClr val="0070C0"/>
              </a:solidFill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1795552" y="2690152"/>
            <a:ext cx="9133402" cy="3428014"/>
            <a:chOff x="1795552" y="2690152"/>
            <a:chExt cx="9133402" cy="3428014"/>
          </a:xfrm>
        </p:grpSpPr>
        <p:grpSp>
          <p:nvGrpSpPr>
            <p:cNvPr id="6" name="Group 5"/>
            <p:cNvGrpSpPr/>
            <p:nvPr/>
          </p:nvGrpSpPr>
          <p:grpSpPr>
            <a:xfrm>
              <a:off x="1795552" y="2703606"/>
              <a:ext cx="4073237" cy="3414560"/>
              <a:chOff x="2709948" y="2703606"/>
              <a:chExt cx="4073237" cy="3414560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2709948" y="2709948"/>
                <a:ext cx="4073237" cy="3408218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3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Rounded Rectangle 7"/>
                  <p:cNvSpPr/>
                  <p:nvPr/>
                </p:nvSpPr>
                <p:spPr>
                  <a:xfrm>
                    <a:off x="2934391" y="4089856"/>
                    <a:ext cx="3682540" cy="598516"/>
                  </a:xfrm>
                  <a:prstGeom prst="roundRect">
                    <a:avLst/>
                  </a:prstGeom>
                  <a:solidFill>
                    <a:srgbClr val="EFBEF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sz="280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charset="0"/>
                                    </a:rPr>
                                    <m:t>𝑡</m:t>
                                  </m:r>
                                  <m:r>
                                    <a:rPr lang="en-US" altLang="zh-CN" sz="28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CN" sz="2800" i="1" smtClean="0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</a:rPr>
                                    <m:t>𝑡</m:t>
                                  </m:r>
                                  <m:r>
                                    <a:rPr lang="en-US" altLang="zh-CN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,</m:t>
                              </m:r>
                              <m:r>
                                <a:rPr lang="zh-CN" altLang="en-US" sz="2800" b="1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800" i="1" smtClean="0">
                                      <a:solidFill>
                                        <a:schemeClr val="accent5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solidFill>
                                        <a:schemeClr val="accent5"/>
                                      </a:solidFill>
                                      <a:latin typeface="Cambria Math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solidFill>
                                        <a:schemeClr val="accent5"/>
                                      </a:solidFill>
                                      <a:latin typeface="Cambria Math" charset="0"/>
                                    </a:rPr>
                                    <m:t>𝑡</m:t>
                                  </m:r>
                                  <m:r>
                                    <a:rPr lang="en-US" altLang="zh-CN" sz="2800" b="0" i="1" smtClean="0">
                                      <a:solidFill>
                                        <a:schemeClr val="accent5"/>
                                      </a:solidFill>
                                      <a:latin typeface="Cambria Math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80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charset="0"/>
                                    </a:rPr>
                                    <m:t>𝑡</m:t>
                                  </m:r>
                                  <m:r>
                                    <a:rPr lang="en-US" altLang="zh-CN" sz="28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charset="0"/>
                                    </a:rPr>
                                    <m:t>+2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8" name="Rounded Rectangle 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34391" y="4089856"/>
                    <a:ext cx="3682540" cy="598516"/>
                  </a:xfrm>
                  <a:prstGeom prst="roundRect">
                    <a:avLst/>
                  </a:prstGeom>
                  <a:blipFill rotWithShape="0">
                    <a:blip r:embed="rId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Rounded Rectangle 8"/>
                  <p:cNvSpPr/>
                  <p:nvPr/>
                </p:nvSpPr>
                <p:spPr>
                  <a:xfrm>
                    <a:off x="2934391" y="4846316"/>
                    <a:ext cx="3682540" cy="598516"/>
                  </a:xfrm>
                  <a:prstGeom prst="roundRect">
                    <a:avLst/>
                  </a:prstGeom>
                  <a:solidFill>
                    <a:srgbClr val="EFBEF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sz="280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charset="0"/>
                                    </a:rPr>
                                    <m:t>𝑡</m:t>
                                  </m:r>
                                  <m:r>
                                    <a:rPr lang="en-US" altLang="zh-CN" sz="28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charset="0"/>
                                    </a:rPr>
                                    <m:t>+2</m:t>
                                  </m:r>
                                </m:sub>
                              </m:sSub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CN" sz="2800" i="1" smtClean="0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</a:rPr>
                                    <m:t>𝑡</m:t>
                                  </m:r>
                                  <m:r>
                                    <a:rPr lang="en-US" altLang="zh-CN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</a:rPr>
                                    <m:t>+2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,</m:t>
                              </m:r>
                              <m:r>
                                <a:rPr lang="zh-CN" altLang="en-US" sz="2800" b="1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800" i="1" smtClean="0">
                                      <a:solidFill>
                                        <a:schemeClr val="accent5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solidFill>
                                        <a:schemeClr val="accent5"/>
                                      </a:solidFill>
                                      <a:latin typeface="Cambria Math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solidFill>
                                        <a:schemeClr val="accent5"/>
                                      </a:solidFill>
                                      <a:latin typeface="Cambria Math" charset="0"/>
                                    </a:rPr>
                                    <m:t>𝑡</m:t>
                                  </m:r>
                                  <m:r>
                                    <a:rPr lang="en-US" altLang="zh-CN" sz="2800" b="0" i="1" smtClean="0">
                                      <a:solidFill>
                                        <a:schemeClr val="accent5"/>
                                      </a:solidFill>
                                      <a:latin typeface="Cambria Math" charset="0"/>
                                    </a:rPr>
                                    <m:t>+2</m:t>
                                  </m:r>
                                </m:sub>
                              </m:sSub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80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charset="0"/>
                                    </a:rPr>
                                    <m:t>𝑡</m:t>
                                  </m:r>
                                  <m:r>
                                    <a:rPr lang="en-US" altLang="zh-CN" sz="28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charset="0"/>
                                    </a:rPr>
                                    <m:t>+3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9" name="Rounded Rectangle 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34391" y="4846316"/>
                    <a:ext cx="3682540" cy="598516"/>
                  </a:xfrm>
                  <a:prstGeom prst="roundRect">
                    <a:avLst/>
                  </a:prstGeom>
                  <a:blipFill rotWithShape="0">
                    <a:blip r:embed="rId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Rounded Rectangle 9"/>
                  <p:cNvSpPr/>
                  <p:nvPr/>
                </p:nvSpPr>
                <p:spPr>
                  <a:xfrm>
                    <a:off x="2934391" y="3333396"/>
                    <a:ext cx="3682540" cy="598516"/>
                  </a:xfrm>
                  <a:prstGeom prst="roundRect">
                    <a:avLst/>
                  </a:prstGeom>
                  <a:solidFill>
                    <a:srgbClr val="EFBEF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sz="280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CN" sz="2800" i="1" smtClean="0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,</m:t>
                              </m:r>
                              <m:r>
                                <a:rPr lang="zh-CN" altLang="en-US" sz="2800" b="1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800" i="1" smtClean="0">
                                      <a:solidFill>
                                        <a:schemeClr val="accent5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solidFill>
                                        <a:schemeClr val="accent5"/>
                                      </a:solidFill>
                                      <a:latin typeface="Cambria Math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solidFill>
                                        <a:schemeClr val="accent5"/>
                                      </a:solidFill>
                                      <a:latin typeface="Cambria Math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80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charset="0"/>
                                    </a:rPr>
                                    <m:t>𝑡</m:t>
                                  </m:r>
                                  <m:r>
                                    <a:rPr lang="en-US" altLang="zh-CN" sz="28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0" name="Rounded Rectangle 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34391" y="3333396"/>
                    <a:ext cx="3682540" cy="598516"/>
                  </a:xfrm>
                  <a:prstGeom prst="roundRect">
                    <a:avLst/>
                  </a:prstGeom>
                  <a:blipFill rotWithShape="0">
                    <a:blip r:embed="rId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/>
                  <p:cNvSpPr txBox="1"/>
                  <p:nvPr/>
                </p:nvSpPr>
                <p:spPr>
                  <a:xfrm>
                    <a:off x="4469246" y="5473305"/>
                    <a:ext cx="554639" cy="61555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4000" b="0" i="1" smtClean="0">
                              <a:latin typeface="Cambria Math" charset="0"/>
                            </a:rPr>
                            <m:t>⋯</m:t>
                          </m:r>
                        </m:oMath>
                      </m:oMathPara>
                    </a14:m>
                    <a:endParaRPr lang="en-US" sz="4000" dirty="0"/>
                  </a:p>
                </p:txBody>
              </p:sp>
            </mc:Choice>
            <mc:Fallback xmlns="">
              <p:sp>
                <p:nvSpPr>
                  <p:cNvPr id="11" name="TextBox 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69246" y="5473305"/>
                    <a:ext cx="554639" cy="615553"/>
                  </a:xfrm>
                  <a:prstGeom prst="rect">
                    <a:avLst/>
                  </a:prstGeom>
                  <a:blipFill rotWithShape="0"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/>
                  <p:cNvSpPr txBox="1"/>
                  <p:nvPr/>
                </p:nvSpPr>
                <p:spPr>
                  <a:xfrm>
                    <a:off x="4498341" y="2703606"/>
                    <a:ext cx="554639" cy="61555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4000" b="0" i="1" smtClean="0">
                              <a:latin typeface="Cambria Math" charset="0"/>
                            </a:rPr>
                            <m:t>⋯</m:t>
                          </m:r>
                        </m:oMath>
                      </m:oMathPara>
                    </a14:m>
                    <a:endParaRPr lang="en-US" sz="4000" dirty="0"/>
                  </a:p>
                </p:txBody>
              </p:sp>
            </mc:Choice>
            <mc:Fallback xmlns="">
              <p:sp>
                <p:nvSpPr>
                  <p:cNvPr id="12" name="TextBox 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98341" y="2703606"/>
                    <a:ext cx="554639" cy="615553"/>
                  </a:xfrm>
                  <a:prstGeom prst="rect">
                    <a:avLst/>
                  </a:prstGeom>
                  <a:blipFill rotWithShape="0"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" name="Right Brace 12"/>
            <p:cNvSpPr/>
            <p:nvPr/>
          </p:nvSpPr>
          <p:spPr>
            <a:xfrm>
              <a:off x="6257988" y="2690152"/>
              <a:ext cx="648393" cy="3414560"/>
            </a:xfrm>
            <a:prstGeom prst="rightBrac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139134" y="3875448"/>
              <a:ext cx="3789820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b="1" dirty="0" smtClean="0">
                  <a:solidFill>
                    <a:schemeClr val="tx2"/>
                  </a:solidFill>
                  <a:latin typeface="Courier New" charset="0"/>
                  <a:ea typeface="Courier New" charset="0"/>
                  <a:cs typeface="Courier New" charset="0"/>
                </a:rPr>
                <a:t>Replay</a:t>
              </a:r>
              <a:r>
                <a:rPr lang="zh-CN" altLang="en-US" sz="3600" b="1" dirty="0" smtClean="0">
                  <a:solidFill>
                    <a:schemeClr val="tx2"/>
                  </a:solidFill>
                  <a:latin typeface="Courier New" charset="0"/>
                  <a:ea typeface="Courier New" charset="0"/>
                  <a:cs typeface="Courier New" charset="0"/>
                </a:rPr>
                <a:t> </a:t>
              </a:r>
              <a:r>
                <a:rPr lang="en-US" altLang="zh-CN" sz="3600" b="1" dirty="0" smtClean="0">
                  <a:solidFill>
                    <a:schemeClr val="tx2"/>
                  </a:solidFill>
                  <a:latin typeface="Courier New" charset="0"/>
                  <a:ea typeface="Courier New" charset="0"/>
                  <a:cs typeface="Courier New" charset="0"/>
                </a:rPr>
                <a:t>Buffer</a:t>
              </a:r>
            </a:p>
            <a:p>
              <a:pPr algn="ctr"/>
              <a:r>
                <a:rPr lang="en-US" altLang="zh-CN" sz="2800" b="1" dirty="0" smtClean="0">
                  <a:solidFill>
                    <a:schemeClr val="tx2"/>
                  </a:solidFill>
                  <a:latin typeface="Courier New" charset="0"/>
                  <a:ea typeface="Courier New" charset="0"/>
                  <a:cs typeface="Courier New" charset="0"/>
                </a:rPr>
                <a:t>(n</a:t>
              </a:r>
              <a:r>
                <a:rPr lang="zh-CN" altLang="en-US" sz="2800" b="1" dirty="0" smtClean="0">
                  <a:solidFill>
                    <a:schemeClr val="tx2"/>
                  </a:solidFill>
                  <a:latin typeface="Courier New" charset="0"/>
                  <a:ea typeface="Courier New" charset="0"/>
                  <a:cs typeface="Courier New" charset="0"/>
                </a:rPr>
                <a:t> </a:t>
              </a:r>
              <a:r>
                <a:rPr lang="en-US" altLang="zh-CN" sz="2800" b="1" dirty="0" smtClean="0">
                  <a:solidFill>
                    <a:schemeClr val="tx2"/>
                  </a:solidFill>
                  <a:latin typeface="Courier New" charset="0"/>
                  <a:ea typeface="Courier New" charset="0"/>
                  <a:cs typeface="Courier New" charset="0"/>
                </a:rPr>
                <a:t>transitions)</a:t>
              </a:r>
              <a:endParaRPr lang="en-US" sz="2800" b="1" dirty="0">
                <a:solidFill>
                  <a:schemeClr val="tx2"/>
                </a:solidFill>
                <a:latin typeface="Courier New" charset="0"/>
                <a:ea typeface="Courier New" charset="0"/>
                <a:cs typeface="Courier New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6841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37038" y="1042988"/>
                <a:ext cx="10117923" cy="4227281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b="1" dirty="0" smtClean="0">
                    <a:solidFill>
                      <a:srgbClr val="C00000"/>
                    </a:solidFill>
                  </a:rPr>
                  <a:t>A</a:t>
                </a:r>
                <a:r>
                  <a:rPr lang="zh-CN" alt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b="1" dirty="0">
                    <a:solidFill>
                      <a:srgbClr val="C00000"/>
                    </a:solidFill>
                  </a:rPr>
                  <a:t>transition:</a:t>
                </a:r>
                <a:r>
                  <a:rPr lang="zh-CN" altLang="en-US" b="1" dirty="0">
                    <a:solidFill>
                      <a:srgbClr val="C00000"/>
                    </a:solidFill>
                  </a:rPr>
                  <a:t>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1" i="1">
                            <a:latin typeface="Cambria Math" charset="0"/>
                          </a:rPr>
                          <m:t>,</m:t>
                        </m:r>
                        <m:r>
                          <a:rPr lang="zh-CN" altLang="en-US" b="1" i="1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i="1">
                            <a:latin typeface="Cambria Math" charset="0"/>
                          </a:rPr>
                          <m:t>,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zh-CN" alt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 smtClean="0"/>
                  <a:t>Store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recent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transitions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replay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buffer</a:t>
                </a:r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 smtClean="0"/>
                  <a:t>Remove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old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transitions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so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that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buffer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has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most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 smtClean="0"/>
                  <a:t>transitions.</a:t>
                </a:r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 smtClean="0"/>
                  <a:t>Buffer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capacity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tuning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hyper-parameter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>
                    <a:solidFill>
                      <a:schemeClr val="accent5">
                        <a:lumMod val="50000"/>
                      </a:schemeClr>
                    </a:solidFill>
                  </a:rPr>
                  <a:t>[1,</a:t>
                </a:r>
                <a:r>
                  <a:rPr lang="zh-CN" altLang="en-US" dirty="0" smtClean="0">
                    <a:solidFill>
                      <a:schemeClr val="accent5">
                        <a:lumMod val="50000"/>
                      </a:schemeClr>
                    </a:solidFill>
                  </a:rPr>
                  <a:t> </a:t>
                </a:r>
                <a:r>
                  <a:rPr lang="en-US" altLang="zh-CN" dirty="0" smtClean="0">
                    <a:solidFill>
                      <a:schemeClr val="accent5">
                        <a:lumMod val="50000"/>
                      </a:schemeClr>
                    </a:solidFill>
                  </a:rPr>
                  <a:t>2]</a:t>
                </a:r>
                <a:r>
                  <a:rPr lang="en-US" altLang="zh-CN" dirty="0" smtClean="0"/>
                  <a:t>.</a:t>
                </a:r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typically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large,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e.g.,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charset="0"/>
                          </a:rPr>
                          <m:t>10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5</m:t>
                        </m:r>
                      </m:sup>
                    </m:sSup>
                    <m:r>
                      <a:rPr lang="en-US" altLang="zh-CN" i="1">
                        <a:latin typeface="Cambria Math" charset="0"/>
                      </a:rPr>
                      <m:t>~</m:t>
                    </m:r>
                    <m:sSup>
                      <m:sSup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charset="0"/>
                          </a:rPr>
                          <m:t>10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altLang="zh-CN" dirty="0"/>
                  <a:t>.</a:t>
                </a:r>
                <a:endParaRPr lang="en-US" dirty="0"/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setting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of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altLang="zh-CN" dirty="0" smtClean="0"/>
                  <a:t>is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application-specific.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37038" y="1042988"/>
                <a:ext cx="10117923" cy="4227281"/>
              </a:xfrm>
              <a:blipFill rotWithShape="0">
                <a:blip r:embed="rId3"/>
                <a:stretch>
                  <a:fillRect l="-1084" t="-2305" r="-7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Experience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Replay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37039" y="5122557"/>
            <a:ext cx="1011792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Reference: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 smtClean="0"/>
              <a:t>Zhang</a:t>
            </a:r>
            <a:r>
              <a:rPr lang="zh-CN" altLang="en-US" dirty="0" smtClean="0"/>
              <a:t> </a:t>
            </a:r>
            <a:r>
              <a:rPr lang="en-US" altLang="zh-CN" dirty="0" smtClean="0"/>
              <a:t>&amp;</a:t>
            </a:r>
            <a:r>
              <a:rPr lang="zh-CN" altLang="en-US" dirty="0" smtClean="0"/>
              <a:t> </a:t>
            </a:r>
            <a:r>
              <a:rPr lang="en-US" altLang="zh-CN" dirty="0" smtClean="0"/>
              <a:t>Sutton.</a:t>
            </a:r>
            <a:r>
              <a:rPr lang="zh-CN" altLang="en-US" dirty="0" smtClean="0"/>
              <a:t>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A </a:t>
            </a:r>
            <a:r>
              <a:rPr lang="en-US" altLang="zh-CN" dirty="0" smtClean="0">
                <a:solidFill>
                  <a:schemeClr val="accent5">
                    <a:lumMod val="75000"/>
                  </a:schemeClr>
                </a:solidFill>
              </a:rPr>
              <a:t>deeper look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at </a:t>
            </a:r>
            <a:r>
              <a:rPr lang="en-US" altLang="zh-CN" dirty="0" smtClean="0">
                <a:solidFill>
                  <a:schemeClr val="accent5">
                    <a:lumMod val="75000"/>
                  </a:schemeClr>
                </a:solidFill>
              </a:rPr>
              <a:t>experience replay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.</a:t>
            </a:r>
            <a:r>
              <a:rPr lang="zh-CN" altLang="en-US" dirty="0" smtClean="0"/>
              <a:t> </a:t>
            </a:r>
            <a:r>
              <a:rPr lang="en-US" altLang="zh-CN" dirty="0" smtClean="0"/>
              <a:t>In</a:t>
            </a:r>
            <a:r>
              <a:rPr lang="zh-CN" altLang="en-US" dirty="0" smtClean="0"/>
              <a:t> </a:t>
            </a:r>
            <a:r>
              <a:rPr lang="en-US" altLang="zh-CN" i="1" dirty="0" smtClean="0"/>
              <a:t>NIPS</a:t>
            </a:r>
            <a:r>
              <a:rPr lang="zh-CN" altLang="en-US" i="1" dirty="0" smtClean="0"/>
              <a:t> </a:t>
            </a:r>
            <a:r>
              <a:rPr lang="en-US" altLang="zh-CN" i="1" dirty="0" smtClean="0"/>
              <a:t>workshop</a:t>
            </a:r>
            <a:r>
              <a:rPr lang="en-US" altLang="zh-CN" dirty="0" smtClean="0"/>
              <a:t>,</a:t>
            </a:r>
            <a:r>
              <a:rPr lang="zh-CN" altLang="en-US" dirty="0" smtClean="0"/>
              <a:t> </a:t>
            </a:r>
            <a:r>
              <a:rPr lang="en-US" altLang="zh-CN" dirty="0" smtClean="0"/>
              <a:t>2017.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 err="1"/>
              <a:t>Fedus</a:t>
            </a:r>
            <a:r>
              <a:rPr lang="en-US" altLang="zh-CN" dirty="0"/>
              <a:t> </a:t>
            </a:r>
            <a:r>
              <a:rPr lang="en-US" altLang="zh-CN" dirty="0" smtClean="0"/>
              <a:t>et </a:t>
            </a:r>
            <a:r>
              <a:rPr lang="en-US" altLang="zh-CN" dirty="0"/>
              <a:t>al.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Revisiting </a:t>
            </a:r>
            <a:r>
              <a:rPr lang="en-US" altLang="zh-CN" dirty="0" smtClean="0">
                <a:solidFill>
                  <a:schemeClr val="accent5">
                    <a:lumMod val="75000"/>
                  </a:schemeClr>
                </a:solidFill>
              </a:rPr>
              <a:t>fundamentals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of </a:t>
            </a:r>
            <a:r>
              <a:rPr lang="en-US" altLang="zh-CN" dirty="0" smtClean="0">
                <a:solidFill>
                  <a:schemeClr val="accent5">
                    <a:lumMod val="75000"/>
                  </a:schemeClr>
                </a:solidFill>
              </a:rPr>
              <a:t>experience replay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.</a:t>
            </a:r>
            <a:r>
              <a:rPr lang="zh-CN" altLang="en-US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zh-CN" dirty="0" smtClean="0"/>
              <a:t>In</a:t>
            </a:r>
            <a:r>
              <a:rPr lang="zh-CN" altLang="en-US" dirty="0" smtClean="0"/>
              <a:t> </a:t>
            </a:r>
            <a:r>
              <a:rPr lang="en-US" altLang="zh-CN" i="1" dirty="0" smtClean="0"/>
              <a:t>ICML</a:t>
            </a:r>
            <a:r>
              <a:rPr lang="en-US" altLang="zh-CN" dirty="0" smtClean="0"/>
              <a:t>,</a:t>
            </a:r>
            <a:r>
              <a:rPr lang="zh-CN" altLang="en-US" dirty="0" smtClean="0"/>
              <a:t> </a:t>
            </a:r>
            <a:r>
              <a:rPr lang="en-US" altLang="zh-CN" dirty="0" smtClean="0"/>
              <a:t>2019.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448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253888" y="1346662"/>
                <a:ext cx="9684224" cy="4605252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 smtClean="0"/>
                  <a:t>Find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charset="0"/>
                      </a:rPr>
                      <m:t>𝐰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by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minimizing</a:t>
                </a:r>
                <a:r>
                  <a:rPr lang="zh-CN" altLang="en-US" dirty="0"/>
                  <a:t> 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𝐿</m:t>
                    </m:r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1">
                            <a:latin typeface="Cambria Math" charset="0"/>
                          </a:rPr>
                          <m:t>𝐰</m:t>
                        </m:r>
                      </m:e>
                    </m:d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charset="0"/>
                          </a:rPr>
                          <m:t>𝑇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i="1">
                            <a:latin typeface="Cambria Math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charset="0"/>
                          </a:rPr>
                          <m:t>𝑇</m:t>
                        </m:r>
                      </m:sup>
                      <m:e>
                        <m:f>
                          <m:f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i="1">
                                    <a:latin typeface="Cambria Math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en-US" altLang="zh-CN" i="1">
                                <a:latin typeface="Cambria Math" charset="0"/>
                              </a:rPr>
                              <m:t>2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altLang="zh-CN" dirty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 smtClean="0"/>
                  <a:t>Stochastic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gradient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descent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(SGD):</a:t>
                </a:r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 smtClean="0"/>
                  <a:t>Randomly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sample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transition,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1" i="1">
                            <a:latin typeface="Cambria Math" charset="0"/>
                          </a:rPr>
                          <m:t>,</m:t>
                        </m:r>
                        <m:r>
                          <a:rPr lang="zh-CN" altLang="en-US" b="1" i="1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>
                            <a:latin typeface="Cambria Math" charset="0"/>
                          </a:rPr>
                          <m:t>,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𝑖</m:t>
                            </m:r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from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buffer.</a:t>
                </a:r>
                <a:r>
                  <a:rPr lang="en-US" altLang="zh-CN" dirty="0"/>
                  <a:t> </a:t>
                </a:r>
                <a:endParaRPr lang="en-US" altLang="zh-CN" dirty="0" smtClean="0"/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 smtClean="0"/>
                  <a:t>Compute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TD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error,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 smtClean="0"/>
                  <a:t>.</a:t>
                </a:r>
                <a:endParaRPr lang="en-US" altLang="zh-CN" dirty="0"/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 smtClean="0"/>
                  <a:t>Stochastic</a:t>
                </a:r>
                <a:r>
                  <a:rPr lang="zh-CN" altLang="en-US" dirty="0" smtClean="0"/>
                  <a:t> </a:t>
                </a:r>
                <a:r>
                  <a:rPr lang="en-US" altLang="zh-CN" dirty="0"/>
                  <a:t>gradient</a:t>
                </a:r>
                <a:r>
                  <a:rPr lang="en-US" altLang="zh-CN" dirty="0" smtClean="0"/>
                  <a:t>:</a:t>
                </a:r>
                <a:r>
                  <a:rPr lang="zh-CN" altLang="en-US" dirty="0" smtClean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charset="0"/>
                          </a:rPr>
                          <m:t>𝐠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</a:rPr>
                          <m:t>𝜕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b="1" i="1">
                            <a:latin typeface="Cambria Math" charset="0"/>
                          </a:rPr>
                          <m:t>/</m:t>
                        </m:r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num>
                      <m:den>
                        <m:r>
                          <a:rPr lang="en-US" altLang="zh-CN" i="1">
                            <a:latin typeface="Cambria Math" charset="0"/>
                          </a:rPr>
                          <m:t>𝜕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b="1">
                            <a:latin typeface="Cambria Math" charset="0"/>
                          </a:rPr>
                          <m:t>𝐰</m:t>
                        </m:r>
                      </m:den>
                    </m:f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⋅</m:t>
                    </m:r>
                    <m:f>
                      <m:f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</a:rPr>
                          <m:t>𝜕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i="1">
                            <a:latin typeface="Cambria Math" charset="0"/>
                          </a:rPr>
                          <m:t>𝑄</m:t>
                        </m:r>
                        <m:d>
                          <m:dPr>
                            <m:ctrlPr>
                              <a:rPr lang="en-US" i="1"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charset="0"/>
                              </a:rPr>
                              <m:t>;</m:t>
                            </m:r>
                            <m:r>
                              <a:rPr lang="en-US" altLang="zh-CN" b="1">
                                <a:latin typeface="Cambria Math" charset="0"/>
                              </a:rPr>
                              <m:t>𝐰</m:t>
                            </m:r>
                          </m:e>
                        </m:d>
                      </m:num>
                      <m:den>
                        <m:r>
                          <a:rPr lang="en-US" altLang="zh-CN" i="1">
                            <a:latin typeface="Cambria Math" charset="0"/>
                          </a:rPr>
                          <m:t>𝜕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b="1">
                            <a:latin typeface="Cambria Math" charset="0"/>
                          </a:rPr>
                          <m:t>𝐰</m:t>
                        </m:r>
                      </m:den>
                    </m:f>
                  </m:oMath>
                </a14:m>
                <a:endParaRPr lang="en-US" altLang="zh-CN" dirty="0"/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 smtClean="0"/>
                  <a:t>SGD:</a:t>
                </a:r>
                <a:r>
                  <a:rPr lang="zh-CN" altLang="en-US" dirty="0" smtClean="0"/>
                  <a:t>  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charset="0"/>
                      </a:rPr>
                      <m:t>𝐰</m:t>
                    </m:r>
                    <m:r>
                      <a:rPr lang="en-US" altLang="zh-CN" b="0" i="1" smtClean="0">
                        <a:latin typeface="Cambria Math" charset="0"/>
                      </a:rPr>
                      <m:t>←</m:t>
                    </m:r>
                    <m:r>
                      <a:rPr lang="en-US" altLang="zh-CN" b="1">
                        <a:latin typeface="Cambria Math" charset="0"/>
                      </a:rPr>
                      <m:t>𝐰</m:t>
                    </m:r>
                    <m:r>
                      <a:rPr lang="en-US" altLang="zh-CN" i="1">
                        <a:latin typeface="Cambria Math" charset="0"/>
                      </a:rPr>
                      <m:t>−</m:t>
                    </m:r>
                    <m:r>
                      <a:rPr lang="en-US" altLang="zh-CN" i="1">
                        <a:latin typeface="Cambria Math" charset="0"/>
                      </a:rPr>
                      <m:t>𝛼</m:t>
                    </m:r>
                    <m:r>
                      <a:rPr lang="en-US" altLang="zh-CN" i="1">
                        <a:latin typeface="Cambria Math" charset="0"/>
                      </a:rPr>
                      <m:t>⋅</m:t>
                    </m:r>
                    <m:sSub>
                      <m:sSubPr>
                        <m:ctrlPr>
                          <a:rPr lang="en-US" altLang="zh-CN" b="1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charset="0"/>
                          </a:rPr>
                          <m:t>𝐠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 smtClean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53888" y="1346662"/>
                <a:ext cx="9684224" cy="4605252"/>
              </a:xfrm>
              <a:blipFill rotWithShape="0">
                <a:blip r:embed="rId3"/>
                <a:stretch>
                  <a:fillRect l="-11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TD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with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Experience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Replay</a:t>
            </a:r>
            <a:endParaRPr lang="en-US" sz="3600" dirty="0">
              <a:solidFill>
                <a:srgbClr val="0070C0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209672" y="4564425"/>
            <a:ext cx="806116" cy="0"/>
          </a:xfrm>
          <a:prstGeom prst="line">
            <a:avLst/>
          </a:prstGeom>
          <a:ln w="57150">
            <a:solidFill>
              <a:srgbClr val="0B24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543925" y="4564425"/>
            <a:ext cx="425117" cy="0"/>
          </a:xfrm>
          <a:prstGeom prst="line">
            <a:avLst/>
          </a:prstGeom>
          <a:ln w="57150">
            <a:solidFill>
              <a:srgbClr val="0B24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6827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9033" y="1893359"/>
            <a:ext cx="9033933" cy="3101974"/>
          </a:xfrm>
        </p:spPr>
        <p:txBody>
          <a:bodyPr>
            <a:normAutofit/>
          </a:bodyPr>
          <a:lstStyle/>
          <a:p>
            <a:pPr marL="514350" indent="-514350">
              <a:spcBef>
                <a:spcPts val="18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zh-CN" sz="3200" dirty="0" smtClean="0"/>
              <a:t>Make</a:t>
            </a:r>
            <a:r>
              <a:rPr lang="zh-CN" altLang="en-US" sz="3200" dirty="0" smtClean="0"/>
              <a:t> </a:t>
            </a:r>
            <a:r>
              <a:rPr lang="en-US" altLang="zh-CN" sz="3200" dirty="0" smtClean="0"/>
              <a:t>the</a:t>
            </a:r>
            <a:r>
              <a:rPr lang="zh-CN" altLang="en-US" sz="3200" dirty="0" smtClean="0"/>
              <a:t> </a:t>
            </a:r>
            <a:r>
              <a:rPr lang="en-US" altLang="zh-CN" sz="3200" dirty="0" smtClean="0"/>
              <a:t>updates</a:t>
            </a:r>
            <a:r>
              <a:rPr lang="zh-CN" altLang="en-US" sz="3200" dirty="0" smtClean="0"/>
              <a:t> </a:t>
            </a:r>
            <a:r>
              <a:rPr lang="en-US" altLang="zh-CN" sz="3200" dirty="0" smtClean="0"/>
              <a:t>uncorrelated.</a:t>
            </a:r>
          </a:p>
          <a:p>
            <a:pPr marL="514350" indent="-514350">
              <a:spcBef>
                <a:spcPts val="18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zh-CN" sz="3200" dirty="0"/>
              <a:t>Reuse</a:t>
            </a:r>
            <a:r>
              <a:rPr lang="zh-CN" altLang="en-US" sz="3200" dirty="0"/>
              <a:t> </a:t>
            </a:r>
            <a:r>
              <a:rPr lang="en-US" altLang="zh-CN" sz="3200" dirty="0"/>
              <a:t>collected</a:t>
            </a:r>
            <a:r>
              <a:rPr lang="zh-CN" altLang="en-US" sz="3200" dirty="0"/>
              <a:t> </a:t>
            </a:r>
            <a:r>
              <a:rPr lang="en-US" altLang="zh-CN" sz="3200" dirty="0"/>
              <a:t>experience</a:t>
            </a:r>
            <a:r>
              <a:rPr lang="zh-CN" altLang="en-US" sz="3200" dirty="0"/>
              <a:t> </a:t>
            </a:r>
            <a:r>
              <a:rPr lang="en-US" altLang="zh-CN" sz="3200" dirty="0"/>
              <a:t>many</a:t>
            </a:r>
            <a:r>
              <a:rPr lang="zh-CN" altLang="en-US" sz="3200" dirty="0"/>
              <a:t> </a:t>
            </a:r>
            <a:r>
              <a:rPr lang="en-US" altLang="zh-CN" sz="3200" dirty="0"/>
              <a:t>times</a:t>
            </a:r>
            <a:r>
              <a:rPr lang="en-US" altLang="zh-CN" sz="3200" dirty="0" smtClean="0"/>
              <a:t>.</a:t>
            </a:r>
            <a:endParaRPr lang="en-US" altLang="zh-CN" sz="32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Benefits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of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Experience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Replay</a:t>
            </a:r>
            <a:endParaRPr lang="en-US" sz="3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06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1031" y="1422913"/>
            <a:ext cx="9709937" cy="2305025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dirty="0" smtClean="0"/>
              <a:t>Experience</a:t>
            </a:r>
            <a:r>
              <a:rPr lang="zh-CN" altLang="en-US" dirty="0" smtClean="0"/>
              <a:t> </a:t>
            </a:r>
            <a:r>
              <a:rPr lang="en-US" altLang="zh-CN" dirty="0" smtClean="0"/>
              <a:t>replay</a:t>
            </a:r>
            <a:r>
              <a:rPr lang="zh-CN" altLang="en-US" dirty="0" smtClean="0"/>
              <a:t> </a:t>
            </a:r>
            <a:r>
              <a:rPr lang="en-US" altLang="zh-CN" dirty="0" smtClean="0"/>
              <a:t>was</a:t>
            </a:r>
            <a:r>
              <a:rPr lang="zh-CN" altLang="en-US" dirty="0" smtClean="0"/>
              <a:t> </a:t>
            </a:r>
            <a:r>
              <a:rPr lang="en-US" altLang="zh-CN" dirty="0" smtClean="0"/>
              <a:t>proposed</a:t>
            </a:r>
            <a:r>
              <a:rPr lang="zh-CN" altLang="en-US" dirty="0" smtClean="0"/>
              <a:t> </a:t>
            </a:r>
            <a:r>
              <a:rPr lang="en-US" altLang="zh-CN" dirty="0" smtClean="0"/>
              <a:t>by</a:t>
            </a:r>
            <a:r>
              <a:rPr lang="zh-CN" altLang="en-US" dirty="0" smtClean="0"/>
              <a:t> </a:t>
            </a:r>
            <a:r>
              <a:rPr lang="en-US" altLang="zh-CN" dirty="0" smtClean="0"/>
              <a:t>Long-Ji</a:t>
            </a:r>
            <a:r>
              <a:rPr lang="zh-CN" altLang="en-US" dirty="0" smtClean="0"/>
              <a:t> </a:t>
            </a:r>
            <a:r>
              <a:rPr lang="en-US" altLang="zh-CN" dirty="0" smtClean="0"/>
              <a:t>Lin</a:t>
            </a:r>
            <a:r>
              <a:rPr lang="zh-CN" altLang="en-US" dirty="0" smtClean="0"/>
              <a:t> </a:t>
            </a:r>
            <a:r>
              <a:rPr lang="en-US" altLang="zh-CN" dirty="0" smtClean="0">
                <a:solidFill>
                  <a:schemeClr val="accent5">
                    <a:lumMod val="50000"/>
                  </a:schemeClr>
                </a:solidFill>
              </a:rPr>
              <a:t>[1]</a:t>
            </a:r>
            <a:r>
              <a:rPr lang="en-US" altLang="zh-CN" dirty="0" smtClean="0"/>
              <a:t>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DQN</a:t>
            </a:r>
            <a:r>
              <a:rPr lang="zh-CN" altLang="en-US" dirty="0" smtClean="0"/>
              <a:t> </a:t>
            </a:r>
            <a:r>
              <a:rPr lang="en-US" altLang="zh-CN" dirty="0" smtClean="0"/>
              <a:t>paper</a:t>
            </a:r>
            <a:r>
              <a:rPr lang="zh-CN" altLang="en-US" dirty="0" smtClean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altLang="zh-CN" dirty="0" smtClean="0">
                <a:solidFill>
                  <a:schemeClr val="accent5">
                    <a:lumMod val="50000"/>
                  </a:schemeClr>
                </a:solidFill>
              </a:rPr>
              <a:t>[2]</a:t>
            </a:r>
            <a:r>
              <a:rPr lang="zh-CN" altLang="en-US" dirty="0" smtClean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altLang="zh-CN" dirty="0" smtClean="0"/>
              <a:t>popularized</a:t>
            </a:r>
            <a:r>
              <a:rPr lang="zh-CN" altLang="en-US" dirty="0" smtClean="0"/>
              <a:t> </a:t>
            </a:r>
            <a:r>
              <a:rPr lang="en-US" altLang="zh-CN" dirty="0" smtClean="0"/>
              <a:t>experience</a:t>
            </a:r>
            <a:r>
              <a:rPr lang="zh-CN" altLang="en-US" dirty="0" smtClean="0"/>
              <a:t> </a:t>
            </a:r>
            <a:r>
              <a:rPr lang="en-US" altLang="zh-CN" dirty="0" smtClean="0"/>
              <a:t>replay.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dirty="0" smtClean="0"/>
              <a:t>There</a:t>
            </a:r>
            <a:r>
              <a:rPr lang="zh-CN" altLang="en-US" dirty="0" smtClean="0"/>
              <a:t> </a:t>
            </a:r>
            <a:r>
              <a:rPr lang="en-US" altLang="zh-CN" dirty="0" smtClean="0"/>
              <a:t>are</a:t>
            </a:r>
            <a:r>
              <a:rPr lang="zh-CN" altLang="en-US" dirty="0" smtClean="0"/>
              <a:t> </a:t>
            </a:r>
            <a:r>
              <a:rPr lang="en-US" altLang="zh-CN" dirty="0" smtClean="0"/>
              <a:t>many</a:t>
            </a:r>
            <a:r>
              <a:rPr lang="zh-CN" altLang="en-US" dirty="0" smtClean="0"/>
              <a:t> </a:t>
            </a:r>
            <a:r>
              <a:rPr lang="en-US" altLang="zh-CN" dirty="0" smtClean="0"/>
              <a:t>improvements,</a:t>
            </a:r>
            <a:r>
              <a:rPr lang="zh-CN" altLang="en-US" dirty="0" smtClean="0"/>
              <a:t> </a:t>
            </a:r>
            <a:r>
              <a:rPr lang="en-US" altLang="zh-CN" dirty="0" smtClean="0"/>
              <a:t>e.g.,</a:t>
            </a:r>
            <a:r>
              <a:rPr lang="zh-CN" altLang="en-US" dirty="0" smtClean="0"/>
              <a:t> </a:t>
            </a:r>
            <a:r>
              <a:rPr lang="en-US" altLang="zh-CN" dirty="0" smtClean="0">
                <a:solidFill>
                  <a:schemeClr val="accent5">
                    <a:lumMod val="50000"/>
                  </a:schemeClr>
                </a:solidFill>
              </a:rPr>
              <a:t>[3]</a:t>
            </a:r>
            <a:r>
              <a:rPr lang="en-US" altLang="zh-CN" dirty="0" smtClean="0"/>
              <a:t>.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History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41031" y="4607170"/>
            <a:ext cx="9709937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Reference: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 smtClean="0"/>
              <a:t>Lin.</a:t>
            </a:r>
            <a:r>
              <a:rPr lang="zh-CN" altLang="en-US" dirty="0" smtClean="0"/>
              <a:t>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Reinforcement Learning for Robots Using Neural </a:t>
            </a:r>
            <a:r>
              <a:rPr lang="en-US" altLang="zh-CN" dirty="0" smtClean="0">
                <a:solidFill>
                  <a:schemeClr val="accent5">
                    <a:lumMod val="75000"/>
                  </a:schemeClr>
                </a:solidFill>
              </a:rPr>
              <a:t>Networks.</a:t>
            </a:r>
            <a:r>
              <a:rPr lang="zh-CN" altLang="en-US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zh-CN" i="1" dirty="0" smtClean="0"/>
              <a:t>PhD</a:t>
            </a:r>
            <a:r>
              <a:rPr lang="zh-CN" altLang="en-US" i="1" dirty="0" smtClean="0"/>
              <a:t> </a:t>
            </a:r>
            <a:r>
              <a:rPr lang="en-US" altLang="zh-CN" i="1" dirty="0" smtClean="0"/>
              <a:t>Dissertation</a:t>
            </a:r>
            <a:r>
              <a:rPr lang="en-US" altLang="zh-CN" dirty="0" smtClean="0"/>
              <a:t>,</a:t>
            </a:r>
            <a:r>
              <a:rPr lang="zh-CN" altLang="en-US" dirty="0" smtClean="0"/>
              <a:t> </a:t>
            </a:r>
            <a:r>
              <a:rPr lang="en-US" altLang="zh-CN" dirty="0" smtClean="0"/>
              <a:t>1993.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 err="1" smtClean="0"/>
              <a:t>Mnih</a:t>
            </a:r>
            <a:r>
              <a:rPr lang="en-US" altLang="zh-CN" dirty="0" smtClean="0"/>
              <a:t> </a:t>
            </a:r>
            <a:r>
              <a:rPr lang="en-US" altLang="zh-CN" dirty="0"/>
              <a:t>et al. </a:t>
            </a:r>
            <a:r>
              <a:rPr lang="en-US" altLang="zh-CN" dirty="0" smtClean="0">
                <a:solidFill>
                  <a:schemeClr val="accent5">
                    <a:lumMod val="75000"/>
                  </a:schemeClr>
                </a:solidFill>
              </a:rPr>
              <a:t>Human-level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control through deep reinforcement learning</a:t>
            </a:r>
            <a:r>
              <a:rPr lang="en-US" altLang="zh-CN" dirty="0" smtClean="0">
                <a:solidFill>
                  <a:schemeClr val="accent5">
                    <a:lumMod val="75000"/>
                  </a:schemeClr>
                </a:solidFill>
              </a:rPr>
              <a:t>.</a:t>
            </a:r>
            <a:r>
              <a:rPr lang="zh-CN" altLang="en-US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zh-CN" i="1" dirty="0" smtClean="0"/>
              <a:t>Nature</a:t>
            </a:r>
            <a:r>
              <a:rPr lang="en-US" altLang="zh-CN" dirty="0" smtClean="0"/>
              <a:t>,</a:t>
            </a:r>
            <a:r>
              <a:rPr lang="zh-CN" altLang="en-US" dirty="0" smtClean="0"/>
              <a:t> </a:t>
            </a:r>
            <a:r>
              <a:rPr lang="en-US" altLang="zh-CN" dirty="0" smtClean="0"/>
              <a:t>2015.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 smtClean="0"/>
              <a:t>Schaul</a:t>
            </a:r>
            <a:r>
              <a:rPr lang="zh-CN" altLang="en-US" dirty="0" smtClean="0"/>
              <a:t> </a:t>
            </a:r>
            <a:r>
              <a:rPr lang="en-US" altLang="zh-CN" dirty="0" smtClean="0"/>
              <a:t>et</a:t>
            </a:r>
            <a:r>
              <a:rPr lang="zh-CN" altLang="en-US" dirty="0" smtClean="0"/>
              <a:t> </a:t>
            </a:r>
            <a:r>
              <a:rPr lang="en-US" altLang="zh-CN" dirty="0" smtClean="0"/>
              <a:t>al.</a:t>
            </a:r>
            <a:r>
              <a:rPr lang="zh-CN" altLang="en-US" dirty="0" smtClean="0"/>
              <a:t>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Prioritized </a:t>
            </a:r>
            <a:r>
              <a:rPr lang="en-US" altLang="zh-CN" dirty="0" smtClean="0">
                <a:solidFill>
                  <a:schemeClr val="accent5">
                    <a:lumMod val="75000"/>
                  </a:schemeClr>
                </a:solidFill>
              </a:rPr>
              <a:t>e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xperience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r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eplay</a:t>
            </a:r>
            <a:r>
              <a:rPr lang="en-US" altLang="zh-CN" dirty="0" smtClean="0">
                <a:solidFill>
                  <a:schemeClr val="accent5">
                    <a:lumMod val="75000"/>
                  </a:schemeClr>
                </a:solidFill>
              </a:rPr>
              <a:t>.</a:t>
            </a:r>
            <a:r>
              <a:rPr lang="zh-CN" altLang="en-US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zh-CN" dirty="0" smtClean="0"/>
              <a:t>In</a:t>
            </a:r>
            <a:r>
              <a:rPr lang="zh-CN" altLang="en-US" dirty="0" smtClean="0"/>
              <a:t> </a:t>
            </a:r>
            <a:r>
              <a:rPr lang="en-US" altLang="zh-CN" i="1" dirty="0" smtClean="0"/>
              <a:t>ICLR</a:t>
            </a:r>
            <a:r>
              <a:rPr lang="en-US" altLang="zh-CN" dirty="0" smtClean="0"/>
              <a:t>,</a:t>
            </a:r>
            <a:r>
              <a:rPr lang="zh-CN" altLang="en-US" dirty="0" smtClean="0"/>
              <a:t> </a:t>
            </a:r>
            <a:r>
              <a:rPr lang="en-US" altLang="zh-CN" dirty="0" smtClean="0"/>
              <a:t>2016.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508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2244725"/>
            <a:ext cx="11823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Prioritized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Experience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Replay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41031" y="5122557"/>
            <a:ext cx="97099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Reference: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 err="1" smtClean="0"/>
              <a:t>Schaul</a:t>
            </a:r>
            <a:r>
              <a:rPr lang="en-US" altLang="zh-CN" dirty="0" smtClean="0"/>
              <a:t>,</a:t>
            </a:r>
            <a:r>
              <a:rPr lang="zh-CN" altLang="en-US" dirty="0" smtClean="0"/>
              <a:t> </a:t>
            </a:r>
            <a:r>
              <a:rPr lang="en-US" altLang="zh-CN" dirty="0" err="1" smtClean="0"/>
              <a:t>Quan</a:t>
            </a:r>
            <a:r>
              <a:rPr lang="en-US" altLang="zh-CN" dirty="0" smtClean="0"/>
              <a:t>,</a:t>
            </a:r>
            <a:r>
              <a:rPr lang="zh-CN" altLang="en-US" dirty="0" smtClean="0"/>
              <a:t> </a:t>
            </a:r>
            <a:r>
              <a:rPr lang="en-US" altLang="zh-CN" dirty="0" err="1" smtClean="0"/>
              <a:t>Antonoglou</a:t>
            </a:r>
            <a:r>
              <a:rPr lang="en-US" altLang="zh-CN" dirty="0" smtClean="0"/>
              <a:t>,</a:t>
            </a:r>
            <a:r>
              <a:rPr lang="zh-CN" altLang="en-US" dirty="0" smtClean="0"/>
              <a:t> </a:t>
            </a:r>
            <a:r>
              <a:rPr lang="en-US" altLang="zh-CN" dirty="0" smtClean="0"/>
              <a:t>&amp;</a:t>
            </a:r>
            <a:r>
              <a:rPr lang="zh-CN" altLang="en-US" dirty="0" smtClean="0"/>
              <a:t> </a:t>
            </a:r>
            <a:r>
              <a:rPr lang="en-US" altLang="zh-CN" dirty="0" smtClean="0"/>
              <a:t>Silver. </a:t>
            </a:r>
            <a:r>
              <a:rPr lang="en-US" altLang="zh-CN" dirty="0" smtClean="0">
                <a:solidFill>
                  <a:schemeClr val="accent5">
                    <a:lumMod val="75000"/>
                  </a:schemeClr>
                </a:solidFill>
              </a:rPr>
              <a:t>Prioritized</a:t>
            </a:r>
            <a:r>
              <a:rPr lang="zh-CN" altLang="en-US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zh-CN" dirty="0" smtClean="0">
                <a:solidFill>
                  <a:schemeClr val="accent5">
                    <a:lumMod val="75000"/>
                  </a:schemeClr>
                </a:solidFill>
              </a:rPr>
              <a:t>experience</a:t>
            </a:r>
            <a:r>
              <a:rPr lang="zh-CN" altLang="en-US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zh-CN" dirty="0" smtClean="0">
                <a:solidFill>
                  <a:schemeClr val="accent5">
                    <a:lumMod val="75000"/>
                  </a:schemeClr>
                </a:solidFill>
              </a:rPr>
              <a:t>replay.</a:t>
            </a:r>
            <a:r>
              <a:rPr lang="zh-CN" altLang="en-US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zh-CN" dirty="0" smtClean="0"/>
              <a:t>In</a:t>
            </a:r>
            <a:r>
              <a:rPr lang="zh-CN" altLang="en-US" dirty="0" smtClean="0"/>
              <a:t> </a:t>
            </a:r>
            <a:r>
              <a:rPr lang="en-US" altLang="zh-CN" i="1" dirty="0" smtClean="0"/>
              <a:t>ICLR</a:t>
            </a:r>
            <a:r>
              <a:rPr lang="en-US" altLang="zh-CN" dirty="0" smtClean="0"/>
              <a:t>,</a:t>
            </a:r>
            <a:r>
              <a:rPr lang="zh-CN" altLang="en-US" dirty="0" smtClean="0"/>
              <a:t> </a:t>
            </a:r>
            <a:r>
              <a:rPr lang="en-US" altLang="zh-CN" dirty="0" smtClean="0"/>
              <a:t>2016.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666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1031" y="1330035"/>
            <a:ext cx="9709937" cy="1163783"/>
          </a:xfrm>
        </p:spPr>
        <p:txBody>
          <a:bodyPr>
            <a:normAutofit lnSpcReduction="10000"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dirty="0" smtClean="0"/>
              <a:t>Not</a:t>
            </a:r>
            <a:r>
              <a:rPr lang="zh-CN" altLang="en-US" dirty="0" smtClean="0"/>
              <a:t> </a:t>
            </a:r>
            <a:r>
              <a:rPr lang="en-US" altLang="zh-CN" dirty="0" smtClean="0"/>
              <a:t>all</a:t>
            </a:r>
            <a:r>
              <a:rPr lang="zh-CN" altLang="en-US" dirty="0" smtClean="0"/>
              <a:t> </a:t>
            </a:r>
            <a:r>
              <a:rPr lang="en-US" altLang="zh-CN" dirty="0" smtClean="0"/>
              <a:t>transitions</a:t>
            </a:r>
            <a:r>
              <a:rPr lang="zh-CN" altLang="en-US" dirty="0" smtClean="0"/>
              <a:t> </a:t>
            </a:r>
            <a:r>
              <a:rPr lang="en-US" altLang="zh-CN" dirty="0" smtClean="0"/>
              <a:t>are</a:t>
            </a:r>
            <a:r>
              <a:rPr lang="zh-CN" altLang="en-US" dirty="0" smtClean="0"/>
              <a:t> </a:t>
            </a:r>
            <a:r>
              <a:rPr lang="en-US" altLang="zh-CN" dirty="0" smtClean="0"/>
              <a:t>equally</a:t>
            </a:r>
            <a:r>
              <a:rPr lang="zh-CN" altLang="en-US" dirty="0" smtClean="0"/>
              <a:t> </a:t>
            </a:r>
            <a:r>
              <a:rPr lang="en-US" altLang="zh-CN" dirty="0" smtClean="0"/>
              <a:t>important.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dirty="0" smtClean="0"/>
              <a:t>Which</a:t>
            </a:r>
            <a:r>
              <a:rPr lang="zh-CN" altLang="en-US" dirty="0" smtClean="0"/>
              <a:t> </a:t>
            </a:r>
            <a:r>
              <a:rPr lang="en-US" altLang="zh-CN" dirty="0" smtClean="0"/>
              <a:t>kind</a:t>
            </a:r>
            <a:r>
              <a:rPr lang="zh-CN" altLang="en-US" dirty="0" smtClean="0"/>
              <a:t> </a:t>
            </a:r>
            <a:r>
              <a:rPr lang="en-US" altLang="zh-CN" dirty="0" smtClean="0"/>
              <a:t>of</a:t>
            </a:r>
            <a:r>
              <a:rPr lang="zh-CN" altLang="en-US" dirty="0" smtClean="0"/>
              <a:t> </a:t>
            </a:r>
            <a:r>
              <a:rPr lang="en-US" altLang="zh-CN" dirty="0" smtClean="0"/>
              <a:t>transition</a:t>
            </a:r>
            <a:r>
              <a:rPr lang="zh-CN" altLang="en-US" dirty="0" smtClean="0"/>
              <a:t> </a:t>
            </a:r>
            <a:r>
              <a:rPr lang="en-US" altLang="zh-CN" dirty="0" smtClean="0"/>
              <a:t>is</a:t>
            </a:r>
            <a:r>
              <a:rPr lang="zh-CN" altLang="en-US" dirty="0" smtClean="0"/>
              <a:t> </a:t>
            </a:r>
            <a:r>
              <a:rPr lang="en-US" altLang="zh-CN" dirty="0" smtClean="0"/>
              <a:t>more</a:t>
            </a:r>
            <a:r>
              <a:rPr lang="zh-CN" altLang="en-US" dirty="0" smtClean="0"/>
              <a:t> </a:t>
            </a:r>
            <a:r>
              <a:rPr lang="en-US" altLang="zh-CN" dirty="0" smtClean="0"/>
              <a:t>important,</a:t>
            </a:r>
            <a:r>
              <a:rPr lang="zh-CN" altLang="en-US" dirty="0" smtClean="0"/>
              <a:t> </a:t>
            </a:r>
            <a:r>
              <a:rPr lang="en-US" altLang="zh-CN" dirty="0" smtClean="0"/>
              <a:t>left</a:t>
            </a:r>
            <a:r>
              <a:rPr lang="zh-CN" altLang="en-US" dirty="0" smtClean="0"/>
              <a:t> </a:t>
            </a:r>
            <a:r>
              <a:rPr lang="en-US" altLang="zh-CN" dirty="0" smtClean="0"/>
              <a:t>or</a:t>
            </a:r>
            <a:r>
              <a:rPr lang="zh-CN" altLang="en-US" dirty="0" smtClean="0"/>
              <a:t> </a:t>
            </a:r>
            <a:r>
              <a:rPr lang="en-US" altLang="zh-CN" dirty="0" smtClean="0"/>
              <a:t>right?</a:t>
            </a:r>
            <a:endParaRPr lang="en-US" altLang="zh-C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Basic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Idea</a:t>
            </a:r>
            <a:endParaRPr lang="en-US" sz="3600" dirty="0">
              <a:solidFill>
                <a:srgbClr val="0070C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548" y="3426702"/>
            <a:ext cx="3332905" cy="255522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699" y="3426702"/>
            <a:ext cx="3427577" cy="255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66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241031" y="1330035"/>
                <a:ext cx="9709937" cy="1163783"/>
              </a:xfrm>
            </p:spPr>
            <p:txBody>
              <a:bodyPr>
                <a:normAutofit lnSpcReduction="10000"/>
              </a:bodyPr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How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do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we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know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which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transition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important?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/>
                  <a:t>If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transition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has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high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error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will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given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high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priority</a:t>
                </a:r>
                <a:r>
                  <a:rPr lang="en-US" altLang="zh-CN" dirty="0" smtClean="0"/>
                  <a:t>.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41031" y="1330035"/>
                <a:ext cx="9709937" cy="1163783"/>
              </a:xfrm>
              <a:blipFill rotWithShape="0">
                <a:blip r:embed="rId3"/>
                <a:stretch>
                  <a:fillRect l="-1131" t="-11518" r="-817" b="-8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Basic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Idea</a:t>
            </a:r>
            <a:endParaRPr lang="en-US" sz="3600" dirty="0">
              <a:solidFill>
                <a:srgbClr val="0070C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548" y="3426702"/>
            <a:ext cx="3332905" cy="255522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699" y="3426702"/>
            <a:ext cx="3427577" cy="255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56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241031" y="1422913"/>
                <a:ext cx="9709937" cy="476175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Use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importance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sampling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 smtClean="0"/>
                  <a:t>instead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of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uniform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sampling</a:t>
                </a:r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>
                    <a:solidFill>
                      <a:srgbClr val="C00000"/>
                    </a:solidFill>
                  </a:rPr>
                  <a:t>Option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1: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 smtClean="0"/>
                  <a:t>Sampling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probability</a:t>
                </a:r>
                <a:r>
                  <a:rPr lang="zh-CN" altLang="en-US" dirty="0" smtClean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∝</m:t>
                    </m:r>
                    <m:d>
                      <m:dPr>
                        <m:begChr m:val="|"/>
                        <m:endChr m:val="|"/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charset="0"/>
                      </a:rPr>
                      <m:t>+</m:t>
                    </m:r>
                    <m:r>
                      <a:rPr lang="en-US" altLang="zh-CN" b="0" i="1" smtClean="0">
                        <a:latin typeface="Cambria Math" charset="0"/>
                      </a:rPr>
                      <m:t>𝜖</m:t>
                    </m:r>
                  </m:oMath>
                </a14:m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41031" y="1422913"/>
                <a:ext cx="9709937" cy="4761756"/>
              </a:xfrm>
              <a:blipFill rotWithShape="0">
                <a:blip r:embed="rId3"/>
                <a:stretch>
                  <a:fillRect l="-1131" t="-2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Importance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Sampling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2" name="Freeform 1"/>
          <p:cNvSpPr/>
          <p:nvPr/>
        </p:nvSpPr>
        <p:spPr>
          <a:xfrm>
            <a:off x="5990637" y="2014088"/>
            <a:ext cx="2327622" cy="720602"/>
          </a:xfrm>
          <a:custGeom>
            <a:avLst/>
            <a:gdLst>
              <a:gd name="connsiteX0" fmla="*/ 325496 w 2327622"/>
              <a:gd name="connsiteY0" fmla="*/ 661379 h 720602"/>
              <a:gd name="connsiteX1" fmla="*/ 1104430 w 2327622"/>
              <a:gd name="connsiteY1" fmla="*/ 712179 h 720602"/>
              <a:gd name="connsiteX2" fmla="*/ 1561630 w 2327622"/>
              <a:gd name="connsiteY2" fmla="*/ 695245 h 720602"/>
              <a:gd name="connsiteX3" fmla="*/ 2035763 w 2327622"/>
              <a:gd name="connsiteY3" fmla="*/ 678312 h 720602"/>
              <a:gd name="connsiteX4" fmla="*/ 2323630 w 2327622"/>
              <a:gd name="connsiteY4" fmla="*/ 424312 h 720602"/>
              <a:gd name="connsiteX5" fmla="*/ 2171230 w 2327622"/>
              <a:gd name="connsiteY5" fmla="*/ 136445 h 720602"/>
              <a:gd name="connsiteX6" fmla="*/ 1730963 w 2327622"/>
              <a:gd name="connsiteY6" fmla="*/ 68712 h 720602"/>
              <a:gd name="connsiteX7" fmla="*/ 1104430 w 2327622"/>
              <a:gd name="connsiteY7" fmla="*/ 979 h 720602"/>
              <a:gd name="connsiteX8" fmla="*/ 427096 w 2327622"/>
              <a:gd name="connsiteY8" fmla="*/ 34845 h 720602"/>
              <a:gd name="connsiteX9" fmla="*/ 71496 w 2327622"/>
              <a:gd name="connsiteY9" fmla="*/ 119512 h 720602"/>
              <a:gd name="connsiteX10" fmla="*/ 20696 w 2327622"/>
              <a:gd name="connsiteY10" fmla="*/ 508979 h 720602"/>
              <a:gd name="connsiteX11" fmla="*/ 325496 w 2327622"/>
              <a:gd name="connsiteY11" fmla="*/ 712179 h 720602"/>
              <a:gd name="connsiteX12" fmla="*/ 376296 w 2327622"/>
              <a:gd name="connsiteY12" fmla="*/ 678312 h 720602"/>
              <a:gd name="connsiteX13" fmla="*/ 325496 w 2327622"/>
              <a:gd name="connsiteY13" fmla="*/ 661379 h 720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27622" h="720602">
                <a:moveTo>
                  <a:pt x="325496" y="661379"/>
                </a:moveTo>
                <a:cubicBezTo>
                  <a:pt x="611952" y="683957"/>
                  <a:pt x="898408" y="706535"/>
                  <a:pt x="1104430" y="712179"/>
                </a:cubicBezTo>
                <a:lnTo>
                  <a:pt x="1561630" y="695245"/>
                </a:lnTo>
                <a:cubicBezTo>
                  <a:pt x="1716852" y="689601"/>
                  <a:pt x="1908763" y="723468"/>
                  <a:pt x="2035763" y="678312"/>
                </a:cubicBezTo>
                <a:cubicBezTo>
                  <a:pt x="2162763" y="633156"/>
                  <a:pt x="2301052" y="514623"/>
                  <a:pt x="2323630" y="424312"/>
                </a:cubicBezTo>
                <a:cubicBezTo>
                  <a:pt x="2346208" y="334001"/>
                  <a:pt x="2270008" y="195712"/>
                  <a:pt x="2171230" y="136445"/>
                </a:cubicBezTo>
                <a:cubicBezTo>
                  <a:pt x="2072452" y="77178"/>
                  <a:pt x="1908763" y="91290"/>
                  <a:pt x="1730963" y="68712"/>
                </a:cubicBezTo>
                <a:cubicBezTo>
                  <a:pt x="1553163" y="46134"/>
                  <a:pt x="1321741" y="6623"/>
                  <a:pt x="1104430" y="979"/>
                </a:cubicBezTo>
                <a:cubicBezTo>
                  <a:pt x="887119" y="-4666"/>
                  <a:pt x="599251" y="15090"/>
                  <a:pt x="427096" y="34845"/>
                </a:cubicBezTo>
                <a:cubicBezTo>
                  <a:pt x="254941" y="54600"/>
                  <a:pt x="139229" y="40490"/>
                  <a:pt x="71496" y="119512"/>
                </a:cubicBezTo>
                <a:cubicBezTo>
                  <a:pt x="3763" y="198534"/>
                  <a:pt x="-21637" y="410201"/>
                  <a:pt x="20696" y="508979"/>
                </a:cubicBezTo>
                <a:cubicBezTo>
                  <a:pt x="63029" y="607757"/>
                  <a:pt x="266229" y="683957"/>
                  <a:pt x="325496" y="712179"/>
                </a:cubicBezTo>
                <a:cubicBezTo>
                  <a:pt x="384763" y="740401"/>
                  <a:pt x="370652" y="689601"/>
                  <a:pt x="376296" y="678312"/>
                </a:cubicBezTo>
                <a:cubicBezTo>
                  <a:pt x="381941" y="667023"/>
                  <a:pt x="370652" y="655734"/>
                  <a:pt x="325496" y="661379"/>
                </a:cubicBezTo>
                <a:close/>
              </a:path>
            </a:pathLst>
          </a:custGeom>
          <a:noFill/>
          <a:ln w="57150">
            <a:solidFill>
              <a:srgbClr val="0B24F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419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241031" y="1422913"/>
                <a:ext cx="9709937" cy="476175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Use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importance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sampling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 smtClean="0"/>
                  <a:t>instead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of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uniform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sampling</a:t>
                </a:r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>
                    <a:solidFill>
                      <a:srgbClr val="C00000"/>
                    </a:solidFill>
                  </a:rPr>
                  <a:t>Option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1: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 smtClean="0"/>
                  <a:t>Sampling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probability</a:t>
                </a:r>
                <a:r>
                  <a:rPr lang="zh-CN" altLang="en-US" dirty="0" smtClean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∝</m:t>
                    </m:r>
                    <m:d>
                      <m:dPr>
                        <m:begChr m:val="|"/>
                        <m:endChr m:val="|"/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charset="0"/>
                      </a:rPr>
                      <m:t>+</m:t>
                    </m:r>
                    <m:r>
                      <a:rPr lang="en-US" altLang="zh-CN" b="0" i="1" smtClean="0">
                        <a:latin typeface="Cambria Math" charset="0"/>
                      </a:rPr>
                      <m:t>𝜖</m:t>
                    </m:r>
                  </m:oMath>
                </a14:m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>
                    <a:solidFill>
                      <a:srgbClr val="C00000"/>
                    </a:solidFill>
                  </a:rPr>
                  <a:t>Option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2: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 smtClean="0"/>
                  <a:t>Sampling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probability</a:t>
                </a:r>
                <a:r>
                  <a:rPr lang="zh-CN" altLang="en-US" dirty="0" smtClean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∝</m:t>
                    </m:r>
                    <m:f>
                      <m:f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charset="0"/>
                          </a:rPr>
                          <m:t>rank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𝑡</m:t>
                            </m:r>
                          </m:e>
                        </m:d>
                      </m:den>
                    </m:f>
                  </m:oMath>
                </a14:m>
                <a:r>
                  <a:rPr lang="en-US" altLang="zh-CN" dirty="0" smtClean="0"/>
                  <a:t>.</a:t>
                </a:r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transitions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are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sorted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so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that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descending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order.</a:t>
                </a:r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charset="0"/>
                      </a:rPr>
                      <m:t>rank</m:t>
                    </m:r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rank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of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altLang="zh-CN" dirty="0" smtClean="0"/>
                  <a:t>-</a:t>
                </a:r>
                <a:r>
                  <a:rPr lang="en-US" altLang="zh-CN" dirty="0" err="1" smtClean="0"/>
                  <a:t>th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transition.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In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sum,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big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shall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be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given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high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priority</a:t>
                </a:r>
                <a:r>
                  <a:rPr lang="en-US" altLang="zh-CN" dirty="0" smtClean="0"/>
                  <a:t>.</a:t>
                </a:r>
                <a:endParaRPr lang="en-US" dirty="0"/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41031" y="1422913"/>
                <a:ext cx="9709937" cy="4761756"/>
              </a:xfrm>
              <a:blipFill rotWithShape="0">
                <a:blip r:embed="rId3"/>
                <a:stretch>
                  <a:fillRect l="-1131" t="-2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Importance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Sampling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5959562" y="2656417"/>
            <a:ext cx="2202912" cy="1002864"/>
          </a:xfrm>
          <a:custGeom>
            <a:avLst/>
            <a:gdLst>
              <a:gd name="connsiteX0" fmla="*/ 373505 w 2202912"/>
              <a:gd name="connsiteY0" fmla="*/ 899583 h 1002864"/>
              <a:gd name="connsiteX1" fmla="*/ 898438 w 2202912"/>
              <a:gd name="connsiteY1" fmla="*/ 967316 h 1002864"/>
              <a:gd name="connsiteX2" fmla="*/ 1558838 w 2202912"/>
              <a:gd name="connsiteY2" fmla="*/ 1001183 h 1002864"/>
              <a:gd name="connsiteX3" fmla="*/ 2016038 w 2202912"/>
              <a:gd name="connsiteY3" fmla="*/ 916516 h 1002864"/>
              <a:gd name="connsiteX4" fmla="*/ 2202305 w 2202912"/>
              <a:gd name="connsiteY4" fmla="*/ 560916 h 1002864"/>
              <a:gd name="connsiteX5" fmla="*/ 2066838 w 2202912"/>
              <a:gd name="connsiteY5" fmla="*/ 188383 h 1002864"/>
              <a:gd name="connsiteX6" fmla="*/ 1829771 w 2202912"/>
              <a:gd name="connsiteY6" fmla="*/ 52916 h 1002864"/>
              <a:gd name="connsiteX7" fmla="*/ 1169371 w 2202912"/>
              <a:gd name="connsiteY7" fmla="*/ 2116 h 1002864"/>
              <a:gd name="connsiteX8" fmla="*/ 559771 w 2202912"/>
              <a:gd name="connsiteY8" fmla="*/ 19050 h 1002864"/>
              <a:gd name="connsiteX9" fmla="*/ 153371 w 2202912"/>
              <a:gd name="connsiteY9" fmla="*/ 103716 h 1002864"/>
              <a:gd name="connsiteX10" fmla="*/ 971 w 2202912"/>
              <a:gd name="connsiteY10" fmla="*/ 442383 h 1002864"/>
              <a:gd name="connsiteX11" fmla="*/ 102571 w 2202912"/>
              <a:gd name="connsiteY11" fmla="*/ 781050 h 1002864"/>
              <a:gd name="connsiteX12" fmla="*/ 373505 w 2202912"/>
              <a:gd name="connsiteY12" fmla="*/ 899583 h 1002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02912" h="1002864">
                <a:moveTo>
                  <a:pt x="373505" y="899583"/>
                </a:moveTo>
                <a:cubicBezTo>
                  <a:pt x="506149" y="930627"/>
                  <a:pt x="700883" y="950383"/>
                  <a:pt x="898438" y="967316"/>
                </a:cubicBezTo>
                <a:cubicBezTo>
                  <a:pt x="1095994" y="984249"/>
                  <a:pt x="1372571" y="1009650"/>
                  <a:pt x="1558838" y="1001183"/>
                </a:cubicBezTo>
                <a:cubicBezTo>
                  <a:pt x="1745105" y="992716"/>
                  <a:pt x="1908794" y="989894"/>
                  <a:pt x="2016038" y="916516"/>
                </a:cubicBezTo>
                <a:cubicBezTo>
                  <a:pt x="2123282" y="843138"/>
                  <a:pt x="2193838" y="682272"/>
                  <a:pt x="2202305" y="560916"/>
                </a:cubicBezTo>
                <a:cubicBezTo>
                  <a:pt x="2210772" y="439560"/>
                  <a:pt x="2128927" y="273050"/>
                  <a:pt x="2066838" y="188383"/>
                </a:cubicBezTo>
                <a:cubicBezTo>
                  <a:pt x="2004749" y="103716"/>
                  <a:pt x="1979349" y="83960"/>
                  <a:pt x="1829771" y="52916"/>
                </a:cubicBezTo>
                <a:cubicBezTo>
                  <a:pt x="1680193" y="21872"/>
                  <a:pt x="1381038" y="7760"/>
                  <a:pt x="1169371" y="2116"/>
                </a:cubicBezTo>
                <a:cubicBezTo>
                  <a:pt x="957704" y="-3528"/>
                  <a:pt x="729104" y="2117"/>
                  <a:pt x="559771" y="19050"/>
                </a:cubicBezTo>
                <a:cubicBezTo>
                  <a:pt x="390438" y="35983"/>
                  <a:pt x="246504" y="33161"/>
                  <a:pt x="153371" y="103716"/>
                </a:cubicBezTo>
                <a:cubicBezTo>
                  <a:pt x="60238" y="174271"/>
                  <a:pt x="9438" y="329494"/>
                  <a:pt x="971" y="442383"/>
                </a:cubicBezTo>
                <a:cubicBezTo>
                  <a:pt x="-7496" y="555272"/>
                  <a:pt x="40482" y="699205"/>
                  <a:pt x="102571" y="781050"/>
                </a:cubicBezTo>
                <a:cubicBezTo>
                  <a:pt x="164660" y="862894"/>
                  <a:pt x="240861" y="868539"/>
                  <a:pt x="373505" y="899583"/>
                </a:cubicBezTo>
                <a:close/>
              </a:path>
            </a:pathLst>
          </a:custGeom>
          <a:noFill/>
          <a:ln w="57150">
            <a:solidFill>
              <a:srgbClr val="0B24F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9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52567" y="1729047"/>
                <a:ext cx="9086866" cy="4424032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SGD</a:t>
                </a:r>
                <a:r>
                  <a:rPr lang="en-US" altLang="zh-CN" dirty="0"/>
                  <a:t>:</a:t>
                </a:r>
                <a:r>
                  <a:rPr lang="zh-CN" altLang="en-US" dirty="0"/>
                  <a:t>  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charset="0"/>
                      </a:rPr>
                      <m:t>𝐰</m:t>
                    </m:r>
                    <m:r>
                      <a:rPr lang="en-US" altLang="zh-CN" b="0" i="1" smtClean="0">
                        <a:latin typeface="Cambria Math" charset="0"/>
                      </a:rPr>
                      <m:t>←</m:t>
                    </m:r>
                    <m:r>
                      <a:rPr lang="en-US" altLang="zh-CN" b="1">
                        <a:latin typeface="Cambria Math" charset="0"/>
                      </a:rPr>
                      <m:t>𝐰</m:t>
                    </m:r>
                    <m:r>
                      <a:rPr lang="en-US" altLang="zh-CN" i="1">
                        <a:latin typeface="Cambria Math" charset="0"/>
                      </a:rPr>
                      <m:t>−</m:t>
                    </m:r>
                    <m:r>
                      <a:rPr lang="en-US" altLang="zh-CN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𝛼</m:t>
                    </m:r>
                    <m:r>
                      <a:rPr lang="en-US" altLang="zh-CN" i="1">
                        <a:latin typeface="Cambria Math" charset="0"/>
                      </a:rPr>
                      <m:t>⋅</m:t>
                    </m:r>
                    <m:r>
                      <a:rPr lang="en-US" altLang="zh-CN" b="1" i="0" smtClean="0">
                        <a:latin typeface="Cambria Math" charset="0"/>
                      </a:rPr>
                      <m:t>𝐠</m:t>
                    </m:r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where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𝛼</m:t>
                    </m:r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learning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rate.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If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uniform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sampling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used,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𝛼</m:t>
                    </m:r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same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for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all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transitions.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If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importance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sampling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used,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𝛼</m:t>
                    </m:r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shall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be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adjusted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according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to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importance.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52567" y="1729047"/>
                <a:ext cx="9086866" cy="4424032"/>
              </a:xfrm>
              <a:blipFill rotWithShape="0">
                <a:blip r:embed="rId3"/>
                <a:stretch>
                  <a:fillRect l="-1208" t="-2345" r="-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Scaling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Learning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Rate</a:t>
            </a:r>
            <a:endParaRPr lang="en-US" sz="3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464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52568" y="1695798"/>
                <a:ext cx="9086866" cy="4690040"/>
              </a:xfrm>
            </p:spPr>
            <p:txBody>
              <a:bodyPr>
                <a:normAutofit/>
              </a:bodyPr>
              <a:lstStyle/>
              <a:p>
                <a:pPr marL="228600" lvl="1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sz="2800" dirty="0" smtClean="0"/>
                  <a:t>Scale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 smtClean="0"/>
                  <a:t>the</a:t>
                </a:r>
                <a:r>
                  <a:rPr lang="zh-CN" altLang="en-US" sz="2800" dirty="0" smtClean="0"/>
                  <a:t> </a:t>
                </a:r>
                <a:r>
                  <a:rPr lang="en-US" altLang="zh-CN" sz="2800" dirty="0"/>
                  <a:t>learning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rate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by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  <m:r>
                              <a:rPr lang="zh-CN" altLang="en-US" sz="280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800" b="0" i="1" smtClean="0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−</m:t>
                        </m:r>
                        <m: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𝛽</m:t>
                        </m:r>
                      </m:sup>
                    </m:sSup>
                  </m:oMath>
                </a14:m>
                <a:r>
                  <a:rPr lang="en-US" altLang="zh-CN" sz="2800" dirty="0"/>
                  <a:t>,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where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C00000"/>
                        </a:solidFill>
                        <a:latin typeface="Cambria Math" charset="0"/>
                      </a:rPr>
                      <m:t>𝛽</m:t>
                    </m:r>
                    <m:r>
                      <a:rPr lang="en-US" altLang="zh-CN" sz="2800" i="1">
                        <a:solidFill>
                          <a:srgbClr val="C00000"/>
                        </a:solidFill>
                        <a:latin typeface="Cambria Math" charset="0"/>
                      </a:rPr>
                      <m:t>∈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zh-CN" sz="2800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/>
                  <a:t>If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=⋯=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(uniform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sampling),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scaling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factor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equal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to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1.</a:t>
                </a:r>
                <a:endParaRPr lang="en-US" dirty="0"/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High-importance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transitions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(with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high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 smtClean="0"/>
                  <a:t>)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have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low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learning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rates.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In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beginning,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set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𝛽</m:t>
                    </m:r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small;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increase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𝛽</m:t>
                    </m:r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to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over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time.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52568" y="1695798"/>
                <a:ext cx="9086866" cy="4690040"/>
              </a:xfrm>
              <a:blipFill rotWithShape="0">
                <a:blip r:embed="rId3"/>
                <a:stretch>
                  <a:fillRect l="-1208" t="-1688" r="-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Scaling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Learning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Rate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5502363" y="1555749"/>
            <a:ext cx="1491104" cy="797983"/>
          </a:xfrm>
          <a:custGeom>
            <a:avLst/>
            <a:gdLst>
              <a:gd name="connsiteX0" fmla="*/ 373505 w 2202912"/>
              <a:gd name="connsiteY0" fmla="*/ 899583 h 1002864"/>
              <a:gd name="connsiteX1" fmla="*/ 898438 w 2202912"/>
              <a:gd name="connsiteY1" fmla="*/ 967316 h 1002864"/>
              <a:gd name="connsiteX2" fmla="*/ 1558838 w 2202912"/>
              <a:gd name="connsiteY2" fmla="*/ 1001183 h 1002864"/>
              <a:gd name="connsiteX3" fmla="*/ 2016038 w 2202912"/>
              <a:gd name="connsiteY3" fmla="*/ 916516 h 1002864"/>
              <a:gd name="connsiteX4" fmla="*/ 2202305 w 2202912"/>
              <a:gd name="connsiteY4" fmla="*/ 560916 h 1002864"/>
              <a:gd name="connsiteX5" fmla="*/ 2066838 w 2202912"/>
              <a:gd name="connsiteY5" fmla="*/ 188383 h 1002864"/>
              <a:gd name="connsiteX6" fmla="*/ 1829771 w 2202912"/>
              <a:gd name="connsiteY6" fmla="*/ 52916 h 1002864"/>
              <a:gd name="connsiteX7" fmla="*/ 1169371 w 2202912"/>
              <a:gd name="connsiteY7" fmla="*/ 2116 h 1002864"/>
              <a:gd name="connsiteX8" fmla="*/ 559771 w 2202912"/>
              <a:gd name="connsiteY8" fmla="*/ 19050 h 1002864"/>
              <a:gd name="connsiteX9" fmla="*/ 153371 w 2202912"/>
              <a:gd name="connsiteY9" fmla="*/ 103716 h 1002864"/>
              <a:gd name="connsiteX10" fmla="*/ 971 w 2202912"/>
              <a:gd name="connsiteY10" fmla="*/ 442383 h 1002864"/>
              <a:gd name="connsiteX11" fmla="*/ 102571 w 2202912"/>
              <a:gd name="connsiteY11" fmla="*/ 781050 h 1002864"/>
              <a:gd name="connsiteX12" fmla="*/ 373505 w 2202912"/>
              <a:gd name="connsiteY12" fmla="*/ 899583 h 1002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02912" h="1002864">
                <a:moveTo>
                  <a:pt x="373505" y="899583"/>
                </a:moveTo>
                <a:cubicBezTo>
                  <a:pt x="506149" y="930627"/>
                  <a:pt x="700883" y="950383"/>
                  <a:pt x="898438" y="967316"/>
                </a:cubicBezTo>
                <a:cubicBezTo>
                  <a:pt x="1095994" y="984249"/>
                  <a:pt x="1372571" y="1009650"/>
                  <a:pt x="1558838" y="1001183"/>
                </a:cubicBezTo>
                <a:cubicBezTo>
                  <a:pt x="1745105" y="992716"/>
                  <a:pt x="1908794" y="989894"/>
                  <a:pt x="2016038" y="916516"/>
                </a:cubicBezTo>
                <a:cubicBezTo>
                  <a:pt x="2123282" y="843138"/>
                  <a:pt x="2193838" y="682272"/>
                  <a:pt x="2202305" y="560916"/>
                </a:cubicBezTo>
                <a:cubicBezTo>
                  <a:pt x="2210772" y="439560"/>
                  <a:pt x="2128927" y="273050"/>
                  <a:pt x="2066838" y="188383"/>
                </a:cubicBezTo>
                <a:cubicBezTo>
                  <a:pt x="2004749" y="103716"/>
                  <a:pt x="1979349" y="83960"/>
                  <a:pt x="1829771" y="52916"/>
                </a:cubicBezTo>
                <a:cubicBezTo>
                  <a:pt x="1680193" y="21872"/>
                  <a:pt x="1381038" y="7760"/>
                  <a:pt x="1169371" y="2116"/>
                </a:cubicBezTo>
                <a:cubicBezTo>
                  <a:pt x="957704" y="-3528"/>
                  <a:pt x="729104" y="2117"/>
                  <a:pt x="559771" y="19050"/>
                </a:cubicBezTo>
                <a:cubicBezTo>
                  <a:pt x="390438" y="35983"/>
                  <a:pt x="246504" y="33161"/>
                  <a:pt x="153371" y="103716"/>
                </a:cubicBezTo>
                <a:cubicBezTo>
                  <a:pt x="60238" y="174271"/>
                  <a:pt x="9438" y="329494"/>
                  <a:pt x="971" y="442383"/>
                </a:cubicBezTo>
                <a:cubicBezTo>
                  <a:pt x="-7496" y="555272"/>
                  <a:pt x="40482" y="699205"/>
                  <a:pt x="102571" y="781050"/>
                </a:cubicBezTo>
                <a:cubicBezTo>
                  <a:pt x="164660" y="862894"/>
                  <a:pt x="240861" y="868539"/>
                  <a:pt x="373505" y="899583"/>
                </a:cubicBezTo>
                <a:close/>
              </a:path>
            </a:pathLst>
          </a:custGeom>
          <a:noFill/>
          <a:ln w="57150">
            <a:solidFill>
              <a:srgbClr val="0B24F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624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453257" y="1574799"/>
                <a:ext cx="9299410" cy="4186537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Associate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each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transition,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1" i="1">
                            <a:latin typeface="Cambria Math" charset="0"/>
                          </a:rPr>
                          <m:t>,</m:t>
                        </m:r>
                        <m:r>
                          <a:rPr lang="zh-CN" altLang="en-US" b="1" i="1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i="1">
                            <a:latin typeface="Cambria Math" charset="0"/>
                          </a:rPr>
                          <m:t>,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with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TD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error,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If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transition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newly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collected,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we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do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not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know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its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 smtClean="0"/>
                  <a:t>.</a:t>
                </a:r>
                <a:r>
                  <a:rPr lang="zh-CN" altLang="en-US" dirty="0" smtClean="0"/>
                  <a:t> </a:t>
                </a:r>
                <a:endParaRPr lang="en-US" altLang="zh-CN" dirty="0" smtClean="0"/>
              </a:p>
              <a:p>
                <a:pPr lvl="1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Simply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set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its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to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maximum.</a:t>
                </a:r>
                <a:r>
                  <a:rPr lang="zh-CN" altLang="en-US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pPr lvl="1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It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has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highest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priority.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Each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time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1" i="1">
                            <a:latin typeface="Cambria Math" charset="0"/>
                          </a:rPr>
                          <m:t>,</m:t>
                        </m:r>
                        <m:r>
                          <a:rPr lang="zh-CN" altLang="en-US" b="1" i="1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i="1">
                            <a:latin typeface="Cambria Math" charset="0"/>
                          </a:rPr>
                          <m:t>,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selected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from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buffer,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we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update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its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 smtClean="0"/>
                  <a:t>.</a:t>
                </a:r>
                <a:endParaRPr lang="en-US" dirty="0"/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53257" y="1574799"/>
                <a:ext cx="9299410" cy="4186537"/>
              </a:xfrm>
              <a:blipFill rotWithShape="0">
                <a:blip r:embed="rId3"/>
                <a:stretch>
                  <a:fillRect l="-1180" t="-2329" r="-1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Update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TD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Error</a:t>
            </a:r>
            <a:endParaRPr lang="en-US" sz="3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7217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74133" y="1353752"/>
            <a:ext cx="11069471" cy="3790602"/>
          </a:xfrm>
          <a:prstGeom prst="rect">
            <a:avLst/>
          </a:prstGeom>
          <a:solidFill>
            <a:schemeClr val="tx2">
              <a:lumMod val="40000"/>
              <a:lumOff val="6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/>
          <p:cNvGrpSpPr/>
          <p:nvPr/>
        </p:nvGrpSpPr>
        <p:grpSpPr>
          <a:xfrm>
            <a:off x="766316" y="1347410"/>
            <a:ext cx="4328156" cy="3634627"/>
            <a:chOff x="901778" y="1872338"/>
            <a:chExt cx="4328156" cy="36346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ounded Rectangle 8"/>
                <p:cNvSpPr/>
                <p:nvPr/>
              </p:nvSpPr>
              <p:spPr>
                <a:xfrm>
                  <a:off x="901778" y="3391588"/>
                  <a:ext cx="4328156" cy="598516"/>
                </a:xfrm>
                <a:prstGeom prst="roundRect">
                  <a:avLst/>
                </a:prstGeom>
                <a:solidFill>
                  <a:srgbClr val="EFBE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28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altLang="zh-CN" sz="28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sz="2800" i="1" smtClean="0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altLang="zh-CN" sz="2800" b="0" i="1" smtClean="0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zh-CN" sz="2800" b="1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,</m:t>
                            </m:r>
                            <m:r>
                              <a:rPr lang="zh-CN" altLang="en-US" sz="2800" b="1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800" i="1" smtClean="0">
                                    <a:solidFill>
                                      <a:schemeClr val="accent5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chemeClr val="accent5"/>
                                    </a:solidFill>
                                    <a:latin typeface="Cambria Math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accent5"/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altLang="zh-CN" sz="2800" b="0" i="1" smtClean="0">
                                    <a:solidFill>
                                      <a:schemeClr val="accent5"/>
                                    </a:solidFill>
                                    <a:latin typeface="Cambria Math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,</m:t>
                            </m:r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80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altLang="zh-CN" sz="28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+2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zh-CN" altLang="en-US" sz="28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9" name="Rounded 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1778" y="3391588"/>
                  <a:ext cx="4328156" cy="598516"/>
                </a:xfrm>
                <a:prstGeom prst="round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ounded Rectangle 9"/>
                <p:cNvSpPr/>
                <p:nvPr/>
              </p:nvSpPr>
              <p:spPr>
                <a:xfrm>
                  <a:off x="901778" y="4231173"/>
                  <a:ext cx="4328156" cy="598516"/>
                </a:xfrm>
                <a:prstGeom prst="roundRect">
                  <a:avLst/>
                </a:prstGeom>
                <a:solidFill>
                  <a:srgbClr val="EFBE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28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altLang="zh-CN" sz="28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+2</m:t>
                                </m:r>
                              </m:sub>
                            </m:sSub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sz="2800" i="1" smtClean="0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altLang="zh-CN" sz="2800" b="0" i="1" smtClean="0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+2</m:t>
                                </m:r>
                              </m:sub>
                            </m:sSub>
                            <m:r>
                              <a:rPr lang="en-US" altLang="zh-CN" sz="2800" b="1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,</m:t>
                            </m:r>
                            <m:r>
                              <a:rPr lang="zh-CN" altLang="en-US" sz="2800" b="1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800" i="1" smtClean="0">
                                    <a:solidFill>
                                      <a:schemeClr val="accent5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chemeClr val="accent5"/>
                                    </a:solidFill>
                                    <a:latin typeface="Cambria Math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accent5"/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altLang="zh-CN" sz="2800" b="0" i="1" smtClean="0">
                                    <a:solidFill>
                                      <a:schemeClr val="accent5"/>
                                    </a:solidFill>
                                    <a:latin typeface="Cambria Math" charset="0"/>
                                  </a:rPr>
                                  <m:t>+2</m:t>
                                </m:r>
                              </m:sub>
                            </m:sSub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,</m:t>
                            </m:r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80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altLang="zh-CN" sz="28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+3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+2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0" name="Rounded 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1778" y="4231173"/>
                  <a:ext cx="4328156" cy="598516"/>
                </a:xfrm>
                <a:prstGeom prst="round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ounded Rectangle 10"/>
                <p:cNvSpPr/>
                <p:nvPr/>
              </p:nvSpPr>
              <p:spPr>
                <a:xfrm>
                  <a:off x="901778" y="2568628"/>
                  <a:ext cx="4328156" cy="598516"/>
                </a:xfrm>
                <a:prstGeom prst="roundRect">
                  <a:avLst/>
                </a:prstGeom>
                <a:solidFill>
                  <a:srgbClr val="EFBE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28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sz="2800" i="1" smtClean="0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CN" sz="2800" b="1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,</m:t>
                            </m:r>
                            <m:r>
                              <a:rPr lang="zh-CN" altLang="en-US" sz="2800" b="1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800" i="1" smtClean="0">
                                    <a:solidFill>
                                      <a:schemeClr val="accent5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chemeClr val="accent5"/>
                                    </a:solidFill>
                                    <a:latin typeface="Cambria Math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accent5"/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,</m:t>
                            </m:r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80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altLang="zh-CN" sz="28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zh-CN" altLang="en-US" sz="28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1" name="Rounded 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1778" y="2568628"/>
                  <a:ext cx="4328156" cy="598516"/>
                </a:xfrm>
                <a:prstGeom prst="round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2673697" y="4891412"/>
                  <a:ext cx="554639" cy="61555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4000" b="0" i="1" smtClean="0">
                            <a:latin typeface="Cambria Math" charset="0"/>
                          </a:rPr>
                          <m:t>⋯</m:t>
                        </m:r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3697" y="4891412"/>
                  <a:ext cx="554639" cy="615553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2702792" y="1872338"/>
                  <a:ext cx="554639" cy="61555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4000" b="0" i="1" smtClean="0">
                            <a:latin typeface="Cambria Math" charset="0"/>
                          </a:rPr>
                          <m:t>⋯</m:t>
                        </m:r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2792" y="1872338"/>
                  <a:ext cx="554639" cy="615553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TextBox 6"/>
          <p:cNvSpPr txBox="1"/>
          <p:nvPr/>
        </p:nvSpPr>
        <p:spPr>
          <a:xfrm>
            <a:off x="1977695" y="466353"/>
            <a:ext cx="20387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chemeClr val="tx2"/>
                </a:solidFill>
                <a:ea typeface="Courier New" charset="0"/>
                <a:cs typeface="Courier New" charset="0"/>
              </a:rPr>
              <a:t>Transitions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5467001" y="1347410"/>
            <a:ext cx="2882200" cy="3604851"/>
            <a:chOff x="5162201" y="1872338"/>
            <a:chExt cx="2882200" cy="36048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/>
                <p:cNvSpPr/>
                <p:nvPr/>
              </p:nvSpPr>
              <p:spPr>
                <a:xfrm>
                  <a:off x="5500024" y="2568628"/>
                  <a:ext cx="2196114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charset="0"/>
                          </a:rPr>
                          <m:t>∝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sz="2800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i="1" smtClean="0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 smtClean="0">
                                    <a:latin typeface="Cambria Math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altLang="zh-CN" sz="2800" b="0" i="1" smtClean="0">
                                    <a:latin typeface="Cambria Math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800" b="0" i="1" smtClean="0">
                            <a:latin typeface="Cambria Math" charset="0"/>
                          </a:rPr>
                          <m:t>+</m:t>
                        </m:r>
                        <m:r>
                          <a:rPr lang="en-US" altLang="zh-CN" sz="2800" b="0" i="1" smtClean="0">
                            <a:latin typeface="Cambria Math" charset="0"/>
                          </a:rPr>
                          <m:t>𝜖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4" name="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0024" y="2568628"/>
                  <a:ext cx="2196114" cy="523220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/>
                <p:cNvSpPr/>
                <p:nvPr/>
              </p:nvSpPr>
              <p:spPr>
                <a:xfrm>
                  <a:off x="5162202" y="3429236"/>
                  <a:ext cx="2882199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altLang="zh-CN" sz="2800" b="0" i="1" smtClean="0">
                                <a:latin typeface="Cambria Math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charset="0"/>
                          </a:rPr>
                          <m:t>∝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sz="2800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i="1" smtClean="0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 smtClean="0">
                                    <a:latin typeface="Cambria Math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altLang="zh-CN" sz="2800" b="0" i="1" smtClean="0"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altLang="zh-CN" sz="2800" b="0" i="1" smtClean="0">
                                    <a:latin typeface="Cambria Math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800" b="0" i="1" smtClean="0">
                            <a:latin typeface="Cambria Math" charset="0"/>
                          </a:rPr>
                          <m:t>+</m:t>
                        </m:r>
                        <m:r>
                          <a:rPr lang="en-US" altLang="zh-CN" sz="2800" b="0" i="1" smtClean="0">
                            <a:latin typeface="Cambria Math" charset="0"/>
                          </a:rPr>
                          <m:t>𝜖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2202" y="3429236"/>
                  <a:ext cx="2882199" cy="523220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/>
                <p:cNvSpPr/>
                <p:nvPr/>
              </p:nvSpPr>
              <p:spPr>
                <a:xfrm>
                  <a:off x="5162201" y="4246082"/>
                  <a:ext cx="2882199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altLang="zh-CN" sz="2800" b="0" i="1" smtClean="0">
                                <a:latin typeface="Cambria Math" charset="0"/>
                              </a:rPr>
                              <m:t>+2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charset="0"/>
                          </a:rPr>
                          <m:t>∝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sz="2800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i="1" smtClean="0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 smtClean="0">
                                    <a:latin typeface="Cambria Math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altLang="zh-CN" sz="2800" b="0" i="1" smtClean="0"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altLang="zh-CN" sz="2800" b="0" i="1" smtClean="0">
                                    <a:latin typeface="Cambria Math" charset="0"/>
                                  </a:rPr>
                                  <m:t>+2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800" b="0" i="1" smtClean="0">
                            <a:latin typeface="Cambria Math" charset="0"/>
                          </a:rPr>
                          <m:t>+</m:t>
                        </m:r>
                        <m:r>
                          <a:rPr lang="en-US" altLang="zh-CN" sz="2800" b="0" i="1" smtClean="0">
                            <a:latin typeface="Cambria Math" charset="0"/>
                          </a:rPr>
                          <m:t>𝜖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3" name="Rectangle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2201" y="4246082"/>
                  <a:ext cx="2882199" cy="523220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5912696" y="1872338"/>
                  <a:ext cx="554639" cy="61555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4000" b="0" i="1" smtClean="0">
                            <a:latin typeface="Cambria Math" charset="0"/>
                          </a:rPr>
                          <m:t>⋯</m:t>
                        </m:r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2696" y="1872338"/>
                  <a:ext cx="554639" cy="615553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5962571" y="4861636"/>
                  <a:ext cx="554639" cy="61555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4000" b="0" i="1" smtClean="0">
                            <a:latin typeface="Cambria Math" charset="0"/>
                          </a:rPr>
                          <m:t>⋯</m:t>
                        </m:r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2571" y="4861636"/>
                  <a:ext cx="554639" cy="615553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Group 36"/>
          <p:cNvGrpSpPr/>
          <p:nvPr/>
        </p:nvGrpSpPr>
        <p:grpSpPr>
          <a:xfrm>
            <a:off x="8812718" y="1359475"/>
            <a:ext cx="2404634" cy="3533702"/>
            <a:chOff x="8440186" y="1884403"/>
            <a:chExt cx="2404634" cy="35337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/>
                <p:cNvSpPr/>
                <p:nvPr/>
              </p:nvSpPr>
              <p:spPr>
                <a:xfrm>
                  <a:off x="8440187" y="3429236"/>
                  <a:ext cx="2404633" cy="54341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charset="0"/>
                          </a:rPr>
                          <m:t>𝛼</m:t>
                        </m:r>
                        <m:r>
                          <a:rPr lang="en-US" altLang="zh-CN" sz="2800" b="0" i="1" smtClean="0">
                            <a:latin typeface="Cambria Math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altLang="zh-CN" sz="2800" b="0" i="1" smtClean="0">
                                <a:latin typeface="Cambria Math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800" b="0" i="1" smtClean="0"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0" i="1" smtClean="0">
                                    <a:latin typeface="Cambria Math" charset="0"/>
                                  </a:rPr>
                                  <m:t>𝑛</m:t>
                                </m:r>
                                <m:r>
                                  <a:rPr lang="zh-CN" altLang="en-US" sz="2800" b="0" i="1" smtClean="0">
                                    <a:latin typeface="Cambria Math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charset="0"/>
                                      </a:rPr>
                                      <m:t>𝑡</m:t>
                                    </m:r>
                                    <m:r>
                                      <a:rPr lang="en-US" altLang="zh-CN" sz="2800" b="0" i="1" smtClean="0">
                                        <a:latin typeface="Cambria Math" charset="0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2800" b="0" i="1" smtClean="0">
                                <a:latin typeface="Cambria Math" charset="0"/>
                              </a:rPr>
                              <m:t>−</m:t>
                            </m:r>
                            <m:r>
                              <a:rPr lang="en-US" altLang="zh-CN" sz="2800" b="0" i="1" smtClean="0">
                                <a:latin typeface="Cambria Math" charset="0"/>
                              </a:rPr>
                              <m:t>𝛽</m:t>
                            </m:r>
                          </m:sup>
                        </m:sSup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6" name="Rectangle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0187" y="3429236"/>
                  <a:ext cx="2404633" cy="543418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/>
                <p:cNvSpPr/>
                <p:nvPr/>
              </p:nvSpPr>
              <p:spPr>
                <a:xfrm>
                  <a:off x="8440187" y="4225884"/>
                  <a:ext cx="2404633" cy="54341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charset="0"/>
                          </a:rPr>
                          <m:t>𝛼</m:t>
                        </m:r>
                        <m:r>
                          <a:rPr lang="en-US" altLang="zh-CN" sz="2800" b="0" i="1" smtClean="0">
                            <a:latin typeface="Cambria Math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altLang="zh-CN" sz="2800" b="0" i="1" smtClean="0">
                                <a:latin typeface="Cambria Math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800" b="0" i="1" smtClean="0"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0" i="1" smtClean="0">
                                    <a:latin typeface="Cambria Math" charset="0"/>
                                  </a:rPr>
                                  <m:t>𝑛</m:t>
                                </m:r>
                                <m:r>
                                  <a:rPr lang="zh-CN" altLang="en-US" sz="2800" b="0" i="1" smtClean="0">
                                    <a:latin typeface="Cambria Math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charset="0"/>
                                      </a:rPr>
                                      <m:t>𝑡</m:t>
                                    </m:r>
                                    <m:r>
                                      <a:rPr lang="en-US" altLang="zh-CN" sz="2800" b="0" i="1" smtClean="0">
                                        <a:latin typeface="Cambria Math" charset="0"/>
                                      </a:rPr>
                                      <m:t>+2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2800" b="0" i="1" smtClean="0">
                                <a:latin typeface="Cambria Math" charset="0"/>
                              </a:rPr>
                              <m:t>−</m:t>
                            </m:r>
                            <m:r>
                              <a:rPr lang="en-US" altLang="zh-CN" sz="2800" b="0" i="1" smtClean="0">
                                <a:latin typeface="Cambria Math" charset="0"/>
                              </a:rPr>
                              <m:t>𝛽</m:t>
                            </m:r>
                          </m:sup>
                        </m:sSup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7" name="Rectangle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0187" y="4225884"/>
                  <a:ext cx="2404633" cy="543418"/>
                </a:xfrm>
                <a:prstGeom prst="rect">
                  <a:avLst/>
                </a:prstGeom>
                <a:blipFill rotWithShape="0"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/>
                <p:cNvSpPr/>
                <p:nvPr/>
              </p:nvSpPr>
              <p:spPr>
                <a:xfrm>
                  <a:off x="8440186" y="2596177"/>
                  <a:ext cx="2061590" cy="54341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charset="0"/>
                          </a:rPr>
                          <m:t>𝛼</m:t>
                        </m:r>
                        <m:r>
                          <a:rPr lang="en-US" altLang="zh-CN" sz="2800" b="0" i="1" smtClean="0">
                            <a:latin typeface="Cambria Math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altLang="zh-CN" sz="2800" b="0" i="1" smtClean="0">
                                <a:latin typeface="Cambria Math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800" b="0" i="1" smtClean="0"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0" i="1" smtClean="0">
                                    <a:latin typeface="Cambria Math" charset="0"/>
                                  </a:rPr>
                                  <m:t>𝑛</m:t>
                                </m:r>
                                <m:r>
                                  <a:rPr lang="zh-CN" altLang="en-US" sz="2800" b="0" i="1" smtClean="0">
                                    <a:latin typeface="Cambria Math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2800" b="0" i="1" smtClean="0">
                                <a:latin typeface="Cambria Math" charset="0"/>
                              </a:rPr>
                              <m:t>−</m:t>
                            </m:r>
                            <m:r>
                              <a:rPr lang="en-US" altLang="zh-CN" sz="2800" b="0" i="1" smtClean="0">
                                <a:latin typeface="Cambria Math" charset="0"/>
                              </a:rPr>
                              <m:t>𝛽</m:t>
                            </m:r>
                          </m:sup>
                        </m:sSup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8" name="Rectangle 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0186" y="2596177"/>
                  <a:ext cx="2061590" cy="543418"/>
                </a:xfrm>
                <a:prstGeom prst="rect">
                  <a:avLst/>
                </a:prstGeom>
                <a:blipFill rotWithShape="0"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9151731" y="4802552"/>
                  <a:ext cx="554639" cy="61555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4000" b="0" i="1" smtClean="0">
                            <a:latin typeface="Cambria Math" charset="0"/>
                          </a:rPr>
                          <m:t>⋯</m:t>
                        </m:r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51731" y="4802552"/>
                  <a:ext cx="554639" cy="615553"/>
                </a:xfrm>
                <a:prstGeom prst="rect">
                  <a:avLst/>
                </a:prstGeom>
                <a:blipFill rotWithShape="0"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/>
                <p:cNvSpPr txBox="1"/>
                <p:nvPr/>
              </p:nvSpPr>
              <p:spPr>
                <a:xfrm>
                  <a:off x="9151731" y="1884403"/>
                  <a:ext cx="554639" cy="61555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4000" b="0" i="1" smtClean="0">
                            <a:latin typeface="Cambria Math" charset="0"/>
                          </a:rPr>
                          <m:t>⋯</m:t>
                        </m:r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3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51731" y="1884403"/>
                  <a:ext cx="554639" cy="615553"/>
                </a:xfrm>
                <a:prstGeom prst="rect">
                  <a:avLst/>
                </a:prstGeom>
                <a:blipFill rotWithShape="0"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8" name="TextBox 37"/>
          <p:cNvSpPr txBox="1"/>
          <p:nvPr/>
        </p:nvSpPr>
        <p:spPr>
          <a:xfrm>
            <a:off x="5617242" y="275869"/>
            <a:ext cx="232294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chemeClr val="tx2"/>
                </a:solidFill>
                <a:ea typeface="Courier New" charset="0"/>
                <a:cs typeface="Courier New" charset="0"/>
              </a:rPr>
              <a:t>Sampling</a:t>
            </a:r>
          </a:p>
          <a:p>
            <a:pPr algn="ctr"/>
            <a:r>
              <a:rPr lang="en-US" altLang="zh-CN" sz="3200" b="1" dirty="0" smtClean="0">
                <a:solidFill>
                  <a:schemeClr val="tx2"/>
                </a:solidFill>
                <a:ea typeface="Courier New" charset="0"/>
                <a:cs typeface="Courier New" charset="0"/>
              </a:rPr>
              <a:t>Probabilities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78279" y="275869"/>
            <a:ext cx="164660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chemeClr val="tx2"/>
                </a:solidFill>
                <a:ea typeface="Courier New" charset="0"/>
                <a:cs typeface="Courier New" charset="0"/>
              </a:rPr>
              <a:t>Learning</a:t>
            </a:r>
          </a:p>
          <a:p>
            <a:pPr algn="ctr"/>
            <a:r>
              <a:rPr lang="en-US" altLang="zh-CN" sz="3200" b="1" dirty="0" smtClean="0">
                <a:solidFill>
                  <a:schemeClr val="tx2"/>
                </a:solidFill>
                <a:ea typeface="Courier New" charset="0"/>
                <a:cs typeface="Courier New" charset="0"/>
              </a:rPr>
              <a:t>Rates</a:t>
            </a:r>
          </a:p>
        </p:txBody>
      </p:sp>
      <p:sp>
        <p:nvSpPr>
          <p:cNvPr id="2" name="Freeform 1"/>
          <p:cNvSpPr/>
          <p:nvPr/>
        </p:nvSpPr>
        <p:spPr>
          <a:xfrm>
            <a:off x="1368884" y="1936769"/>
            <a:ext cx="2498441" cy="793220"/>
          </a:xfrm>
          <a:custGeom>
            <a:avLst/>
            <a:gdLst>
              <a:gd name="connsiteX0" fmla="*/ 222849 w 2498441"/>
              <a:gd name="connsiteY0" fmla="*/ 704831 h 793220"/>
              <a:gd name="connsiteX1" fmla="*/ 1052583 w 2498441"/>
              <a:gd name="connsiteY1" fmla="*/ 789498 h 793220"/>
              <a:gd name="connsiteX2" fmla="*/ 2034716 w 2498441"/>
              <a:gd name="connsiteY2" fmla="*/ 772564 h 793220"/>
              <a:gd name="connsiteX3" fmla="*/ 2441116 w 2498441"/>
              <a:gd name="connsiteY3" fmla="*/ 721764 h 793220"/>
              <a:gd name="connsiteX4" fmla="*/ 2441116 w 2498441"/>
              <a:gd name="connsiteY4" fmla="*/ 162964 h 793220"/>
              <a:gd name="connsiteX5" fmla="*/ 1933116 w 2498441"/>
              <a:gd name="connsiteY5" fmla="*/ 27498 h 793220"/>
              <a:gd name="connsiteX6" fmla="*/ 1137249 w 2498441"/>
              <a:gd name="connsiteY6" fmla="*/ 44431 h 793220"/>
              <a:gd name="connsiteX7" fmla="*/ 172049 w 2498441"/>
              <a:gd name="connsiteY7" fmla="*/ 27498 h 793220"/>
              <a:gd name="connsiteX8" fmla="*/ 2716 w 2498441"/>
              <a:gd name="connsiteY8" fmla="*/ 467764 h 793220"/>
              <a:gd name="connsiteX9" fmla="*/ 222849 w 2498441"/>
              <a:gd name="connsiteY9" fmla="*/ 704831 h 793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98441" h="793220">
                <a:moveTo>
                  <a:pt x="222849" y="704831"/>
                </a:moveTo>
                <a:cubicBezTo>
                  <a:pt x="397827" y="758453"/>
                  <a:pt x="750605" y="778209"/>
                  <a:pt x="1052583" y="789498"/>
                </a:cubicBezTo>
                <a:cubicBezTo>
                  <a:pt x="1354561" y="800787"/>
                  <a:pt x="1803294" y="783853"/>
                  <a:pt x="2034716" y="772564"/>
                </a:cubicBezTo>
                <a:cubicBezTo>
                  <a:pt x="2266138" y="761275"/>
                  <a:pt x="2373383" y="823364"/>
                  <a:pt x="2441116" y="721764"/>
                </a:cubicBezTo>
                <a:cubicBezTo>
                  <a:pt x="2508849" y="620164"/>
                  <a:pt x="2525783" y="278675"/>
                  <a:pt x="2441116" y="162964"/>
                </a:cubicBezTo>
                <a:cubicBezTo>
                  <a:pt x="2356449" y="47253"/>
                  <a:pt x="2150427" y="47253"/>
                  <a:pt x="1933116" y="27498"/>
                </a:cubicBezTo>
                <a:cubicBezTo>
                  <a:pt x="1715805" y="7742"/>
                  <a:pt x="1430760" y="44431"/>
                  <a:pt x="1137249" y="44431"/>
                </a:cubicBezTo>
                <a:cubicBezTo>
                  <a:pt x="843738" y="44431"/>
                  <a:pt x="361138" y="-43057"/>
                  <a:pt x="172049" y="27498"/>
                </a:cubicBezTo>
                <a:cubicBezTo>
                  <a:pt x="-17040" y="98053"/>
                  <a:pt x="-2928" y="354875"/>
                  <a:pt x="2716" y="467764"/>
                </a:cubicBezTo>
                <a:cubicBezTo>
                  <a:pt x="8360" y="580653"/>
                  <a:pt x="47871" y="651209"/>
                  <a:pt x="222849" y="704831"/>
                </a:cubicBezTo>
                <a:close/>
              </a:path>
            </a:pathLst>
          </a:custGeom>
          <a:noFill/>
          <a:ln w="57150">
            <a:solidFill>
              <a:srgbClr val="0B24F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 40"/>
          <p:cNvSpPr/>
          <p:nvPr/>
        </p:nvSpPr>
        <p:spPr>
          <a:xfrm>
            <a:off x="3828319" y="2004337"/>
            <a:ext cx="438882" cy="708719"/>
          </a:xfrm>
          <a:custGeom>
            <a:avLst/>
            <a:gdLst>
              <a:gd name="connsiteX0" fmla="*/ 222849 w 2498441"/>
              <a:gd name="connsiteY0" fmla="*/ 704831 h 793220"/>
              <a:gd name="connsiteX1" fmla="*/ 1052583 w 2498441"/>
              <a:gd name="connsiteY1" fmla="*/ 789498 h 793220"/>
              <a:gd name="connsiteX2" fmla="*/ 2034716 w 2498441"/>
              <a:gd name="connsiteY2" fmla="*/ 772564 h 793220"/>
              <a:gd name="connsiteX3" fmla="*/ 2441116 w 2498441"/>
              <a:gd name="connsiteY3" fmla="*/ 721764 h 793220"/>
              <a:gd name="connsiteX4" fmla="*/ 2441116 w 2498441"/>
              <a:gd name="connsiteY4" fmla="*/ 162964 h 793220"/>
              <a:gd name="connsiteX5" fmla="*/ 1933116 w 2498441"/>
              <a:gd name="connsiteY5" fmla="*/ 27498 h 793220"/>
              <a:gd name="connsiteX6" fmla="*/ 1137249 w 2498441"/>
              <a:gd name="connsiteY6" fmla="*/ 44431 h 793220"/>
              <a:gd name="connsiteX7" fmla="*/ 172049 w 2498441"/>
              <a:gd name="connsiteY7" fmla="*/ 27498 h 793220"/>
              <a:gd name="connsiteX8" fmla="*/ 2716 w 2498441"/>
              <a:gd name="connsiteY8" fmla="*/ 467764 h 793220"/>
              <a:gd name="connsiteX9" fmla="*/ 222849 w 2498441"/>
              <a:gd name="connsiteY9" fmla="*/ 704831 h 793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98441" h="793220">
                <a:moveTo>
                  <a:pt x="222849" y="704831"/>
                </a:moveTo>
                <a:cubicBezTo>
                  <a:pt x="397827" y="758453"/>
                  <a:pt x="750605" y="778209"/>
                  <a:pt x="1052583" y="789498"/>
                </a:cubicBezTo>
                <a:cubicBezTo>
                  <a:pt x="1354561" y="800787"/>
                  <a:pt x="1803294" y="783853"/>
                  <a:pt x="2034716" y="772564"/>
                </a:cubicBezTo>
                <a:cubicBezTo>
                  <a:pt x="2266138" y="761275"/>
                  <a:pt x="2373383" y="823364"/>
                  <a:pt x="2441116" y="721764"/>
                </a:cubicBezTo>
                <a:cubicBezTo>
                  <a:pt x="2508849" y="620164"/>
                  <a:pt x="2525783" y="278675"/>
                  <a:pt x="2441116" y="162964"/>
                </a:cubicBezTo>
                <a:cubicBezTo>
                  <a:pt x="2356449" y="47253"/>
                  <a:pt x="2150427" y="47253"/>
                  <a:pt x="1933116" y="27498"/>
                </a:cubicBezTo>
                <a:cubicBezTo>
                  <a:pt x="1715805" y="7742"/>
                  <a:pt x="1430760" y="44431"/>
                  <a:pt x="1137249" y="44431"/>
                </a:cubicBezTo>
                <a:cubicBezTo>
                  <a:pt x="843738" y="44431"/>
                  <a:pt x="361138" y="-43057"/>
                  <a:pt x="172049" y="27498"/>
                </a:cubicBezTo>
                <a:cubicBezTo>
                  <a:pt x="-17040" y="98053"/>
                  <a:pt x="-2928" y="354875"/>
                  <a:pt x="2716" y="467764"/>
                </a:cubicBezTo>
                <a:cubicBezTo>
                  <a:pt x="8360" y="580653"/>
                  <a:pt x="47871" y="651209"/>
                  <a:pt x="222849" y="704831"/>
                </a:cubicBezTo>
                <a:close/>
              </a:path>
            </a:pathLst>
          </a:custGeom>
          <a:noFill/>
          <a:ln w="57150">
            <a:solidFill>
              <a:srgbClr val="0B24F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 41"/>
          <p:cNvSpPr/>
          <p:nvPr/>
        </p:nvSpPr>
        <p:spPr>
          <a:xfrm>
            <a:off x="8647656" y="1984473"/>
            <a:ext cx="2498441" cy="793220"/>
          </a:xfrm>
          <a:custGeom>
            <a:avLst/>
            <a:gdLst>
              <a:gd name="connsiteX0" fmla="*/ 222849 w 2498441"/>
              <a:gd name="connsiteY0" fmla="*/ 704831 h 793220"/>
              <a:gd name="connsiteX1" fmla="*/ 1052583 w 2498441"/>
              <a:gd name="connsiteY1" fmla="*/ 789498 h 793220"/>
              <a:gd name="connsiteX2" fmla="*/ 2034716 w 2498441"/>
              <a:gd name="connsiteY2" fmla="*/ 772564 h 793220"/>
              <a:gd name="connsiteX3" fmla="*/ 2441116 w 2498441"/>
              <a:gd name="connsiteY3" fmla="*/ 721764 h 793220"/>
              <a:gd name="connsiteX4" fmla="*/ 2441116 w 2498441"/>
              <a:gd name="connsiteY4" fmla="*/ 162964 h 793220"/>
              <a:gd name="connsiteX5" fmla="*/ 1933116 w 2498441"/>
              <a:gd name="connsiteY5" fmla="*/ 27498 h 793220"/>
              <a:gd name="connsiteX6" fmla="*/ 1137249 w 2498441"/>
              <a:gd name="connsiteY6" fmla="*/ 44431 h 793220"/>
              <a:gd name="connsiteX7" fmla="*/ 172049 w 2498441"/>
              <a:gd name="connsiteY7" fmla="*/ 27498 h 793220"/>
              <a:gd name="connsiteX8" fmla="*/ 2716 w 2498441"/>
              <a:gd name="connsiteY8" fmla="*/ 467764 h 793220"/>
              <a:gd name="connsiteX9" fmla="*/ 222849 w 2498441"/>
              <a:gd name="connsiteY9" fmla="*/ 704831 h 793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98441" h="793220">
                <a:moveTo>
                  <a:pt x="222849" y="704831"/>
                </a:moveTo>
                <a:cubicBezTo>
                  <a:pt x="397827" y="758453"/>
                  <a:pt x="750605" y="778209"/>
                  <a:pt x="1052583" y="789498"/>
                </a:cubicBezTo>
                <a:cubicBezTo>
                  <a:pt x="1354561" y="800787"/>
                  <a:pt x="1803294" y="783853"/>
                  <a:pt x="2034716" y="772564"/>
                </a:cubicBezTo>
                <a:cubicBezTo>
                  <a:pt x="2266138" y="761275"/>
                  <a:pt x="2373383" y="823364"/>
                  <a:pt x="2441116" y="721764"/>
                </a:cubicBezTo>
                <a:cubicBezTo>
                  <a:pt x="2508849" y="620164"/>
                  <a:pt x="2525783" y="278675"/>
                  <a:pt x="2441116" y="162964"/>
                </a:cubicBezTo>
                <a:cubicBezTo>
                  <a:pt x="2356449" y="47253"/>
                  <a:pt x="2150427" y="47253"/>
                  <a:pt x="1933116" y="27498"/>
                </a:cubicBezTo>
                <a:cubicBezTo>
                  <a:pt x="1715805" y="7742"/>
                  <a:pt x="1430760" y="44431"/>
                  <a:pt x="1137249" y="44431"/>
                </a:cubicBezTo>
                <a:cubicBezTo>
                  <a:pt x="843738" y="44431"/>
                  <a:pt x="361138" y="-43057"/>
                  <a:pt x="172049" y="27498"/>
                </a:cubicBezTo>
                <a:cubicBezTo>
                  <a:pt x="-17040" y="98053"/>
                  <a:pt x="-2928" y="354875"/>
                  <a:pt x="2716" y="467764"/>
                </a:cubicBezTo>
                <a:cubicBezTo>
                  <a:pt x="8360" y="580653"/>
                  <a:pt x="47871" y="651209"/>
                  <a:pt x="222849" y="704831"/>
                </a:cubicBezTo>
                <a:close/>
              </a:path>
            </a:pathLst>
          </a:custGeom>
          <a:noFill/>
          <a:ln w="57150">
            <a:solidFill>
              <a:srgbClr val="0B24F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18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8" grpId="0"/>
      <p:bldP spid="39" grpId="0"/>
      <p:bldP spid="2" grpId="0" animBg="1"/>
      <p:bldP spid="2" grpId="1" animBg="1"/>
      <p:bldP spid="41" grpId="0" animBg="1"/>
      <p:bldP spid="41" grpId="1" animBg="1"/>
      <p:bldP spid="4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74133" y="1353752"/>
            <a:ext cx="11069471" cy="3790602"/>
          </a:xfrm>
          <a:prstGeom prst="rect">
            <a:avLst/>
          </a:prstGeom>
          <a:solidFill>
            <a:schemeClr val="tx2">
              <a:lumMod val="40000"/>
              <a:lumOff val="6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/>
          <p:cNvGrpSpPr/>
          <p:nvPr/>
        </p:nvGrpSpPr>
        <p:grpSpPr>
          <a:xfrm>
            <a:off x="766316" y="1347410"/>
            <a:ext cx="4328156" cy="3634627"/>
            <a:chOff x="901778" y="1872338"/>
            <a:chExt cx="4328156" cy="36346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ounded Rectangle 8"/>
                <p:cNvSpPr/>
                <p:nvPr/>
              </p:nvSpPr>
              <p:spPr>
                <a:xfrm>
                  <a:off x="901778" y="3391588"/>
                  <a:ext cx="4328156" cy="598516"/>
                </a:xfrm>
                <a:prstGeom prst="roundRect">
                  <a:avLst/>
                </a:prstGeom>
                <a:solidFill>
                  <a:srgbClr val="EFBE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28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altLang="zh-CN" sz="28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sz="2800" i="1" smtClean="0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altLang="zh-CN" sz="2800" b="0" i="1" smtClean="0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zh-CN" sz="2800" b="1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,</m:t>
                            </m:r>
                            <m:r>
                              <a:rPr lang="zh-CN" altLang="en-US" sz="2800" b="1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800" i="1" smtClean="0">
                                    <a:solidFill>
                                      <a:schemeClr val="accent5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chemeClr val="accent5"/>
                                    </a:solidFill>
                                    <a:latin typeface="Cambria Math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accent5"/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altLang="zh-CN" sz="2800" b="0" i="1" smtClean="0">
                                    <a:solidFill>
                                      <a:schemeClr val="accent5"/>
                                    </a:solidFill>
                                    <a:latin typeface="Cambria Math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,</m:t>
                            </m:r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80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altLang="zh-CN" sz="28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+2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zh-CN" altLang="en-US" sz="28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9" name="Rounded 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1778" y="3391588"/>
                  <a:ext cx="4328156" cy="598516"/>
                </a:xfrm>
                <a:prstGeom prst="round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ounded Rectangle 9"/>
                <p:cNvSpPr/>
                <p:nvPr/>
              </p:nvSpPr>
              <p:spPr>
                <a:xfrm>
                  <a:off x="901778" y="4231173"/>
                  <a:ext cx="4328156" cy="598516"/>
                </a:xfrm>
                <a:prstGeom prst="roundRect">
                  <a:avLst/>
                </a:prstGeom>
                <a:solidFill>
                  <a:srgbClr val="EFBE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28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altLang="zh-CN" sz="28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+2</m:t>
                                </m:r>
                              </m:sub>
                            </m:sSub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sz="2800" i="1" smtClean="0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altLang="zh-CN" sz="2800" b="0" i="1" smtClean="0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+2</m:t>
                                </m:r>
                              </m:sub>
                            </m:sSub>
                            <m:r>
                              <a:rPr lang="en-US" altLang="zh-CN" sz="2800" b="1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,</m:t>
                            </m:r>
                            <m:r>
                              <a:rPr lang="zh-CN" altLang="en-US" sz="2800" b="1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800" i="1" smtClean="0">
                                    <a:solidFill>
                                      <a:schemeClr val="accent5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chemeClr val="accent5"/>
                                    </a:solidFill>
                                    <a:latin typeface="Cambria Math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accent5"/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altLang="zh-CN" sz="2800" b="0" i="1" smtClean="0">
                                    <a:solidFill>
                                      <a:schemeClr val="accent5"/>
                                    </a:solidFill>
                                    <a:latin typeface="Cambria Math" charset="0"/>
                                  </a:rPr>
                                  <m:t>+2</m:t>
                                </m:r>
                              </m:sub>
                            </m:sSub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,</m:t>
                            </m:r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80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altLang="zh-CN" sz="28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+3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+2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0" name="Rounded 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1778" y="4231173"/>
                  <a:ext cx="4328156" cy="598516"/>
                </a:xfrm>
                <a:prstGeom prst="round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ounded Rectangle 10"/>
                <p:cNvSpPr/>
                <p:nvPr/>
              </p:nvSpPr>
              <p:spPr>
                <a:xfrm>
                  <a:off x="901778" y="2568628"/>
                  <a:ext cx="4328156" cy="598516"/>
                </a:xfrm>
                <a:prstGeom prst="roundRect">
                  <a:avLst/>
                </a:prstGeom>
                <a:solidFill>
                  <a:srgbClr val="EFBE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28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sz="2800" i="1" smtClean="0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CN" sz="2800" b="1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,</m:t>
                            </m:r>
                            <m:r>
                              <a:rPr lang="zh-CN" altLang="en-US" sz="2800" b="1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800" i="1" smtClean="0">
                                    <a:solidFill>
                                      <a:schemeClr val="accent5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chemeClr val="accent5"/>
                                    </a:solidFill>
                                    <a:latin typeface="Cambria Math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accent5"/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,</m:t>
                            </m:r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80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altLang="zh-CN" sz="28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zh-CN" altLang="en-US" sz="28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1" name="Rounded 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1778" y="2568628"/>
                  <a:ext cx="4328156" cy="598516"/>
                </a:xfrm>
                <a:prstGeom prst="round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2673697" y="4891412"/>
                  <a:ext cx="554639" cy="61555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4000" b="0" i="1" smtClean="0">
                            <a:latin typeface="Cambria Math" charset="0"/>
                          </a:rPr>
                          <m:t>⋯</m:t>
                        </m:r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3697" y="4891412"/>
                  <a:ext cx="554639" cy="615553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2702792" y="1872338"/>
                  <a:ext cx="554639" cy="61555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4000" b="0" i="1" smtClean="0">
                            <a:latin typeface="Cambria Math" charset="0"/>
                          </a:rPr>
                          <m:t>⋯</m:t>
                        </m:r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2792" y="1872338"/>
                  <a:ext cx="554639" cy="615553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TextBox 6"/>
          <p:cNvSpPr txBox="1"/>
          <p:nvPr/>
        </p:nvSpPr>
        <p:spPr>
          <a:xfrm>
            <a:off x="1977695" y="466353"/>
            <a:ext cx="20387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chemeClr val="tx2"/>
                </a:solidFill>
                <a:ea typeface="Courier New" charset="0"/>
                <a:cs typeface="Courier New" charset="0"/>
              </a:rPr>
              <a:t>Transitions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5467001" y="1347410"/>
            <a:ext cx="2882200" cy="3604851"/>
            <a:chOff x="5162201" y="1872338"/>
            <a:chExt cx="2882200" cy="36048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/>
                <p:cNvSpPr/>
                <p:nvPr/>
              </p:nvSpPr>
              <p:spPr>
                <a:xfrm>
                  <a:off x="5500024" y="2568628"/>
                  <a:ext cx="2196114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charset="0"/>
                          </a:rPr>
                          <m:t>∝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sz="2800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i="1" smtClean="0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 smtClean="0">
                                    <a:latin typeface="Cambria Math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altLang="zh-CN" sz="2800" b="0" i="1" smtClean="0">
                                    <a:latin typeface="Cambria Math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800" b="0" i="1" smtClean="0">
                            <a:latin typeface="Cambria Math" charset="0"/>
                          </a:rPr>
                          <m:t>+</m:t>
                        </m:r>
                        <m:r>
                          <a:rPr lang="en-US" altLang="zh-CN" sz="2800" b="0" i="1" smtClean="0">
                            <a:latin typeface="Cambria Math" charset="0"/>
                          </a:rPr>
                          <m:t>𝜖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4" name="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0024" y="2568628"/>
                  <a:ext cx="2196114" cy="523220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/>
                <p:cNvSpPr/>
                <p:nvPr/>
              </p:nvSpPr>
              <p:spPr>
                <a:xfrm>
                  <a:off x="5162202" y="3429236"/>
                  <a:ext cx="2882199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altLang="zh-CN" sz="2800" b="0" i="1" smtClean="0">
                                <a:latin typeface="Cambria Math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charset="0"/>
                          </a:rPr>
                          <m:t>∝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sz="2800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i="1" smtClean="0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 smtClean="0">
                                    <a:latin typeface="Cambria Math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altLang="zh-CN" sz="2800" b="0" i="1" smtClean="0"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altLang="zh-CN" sz="2800" b="0" i="1" smtClean="0">
                                    <a:latin typeface="Cambria Math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800" b="0" i="1" smtClean="0">
                            <a:latin typeface="Cambria Math" charset="0"/>
                          </a:rPr>
                          <m:t>+</m:t>
                        </m:r>
                        <m:r>
                          <a:rPr lang="en-US" altLang="zh-CN" sz="2800" b="0" i="1" smtClean="0">
                            <a:latin typeface="Cambria Math" charset="0"/>
                          </a:rPr>
                          <m:t>𝜖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2202" y="3429236"/>
                  <a:ext cx="2882199" cy="523220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/>
                <p:cNvSpPr/>
                <p:nvPr/>
              </p:nvSpPr>
              <p:spPr>
                <a:xfrm>
                  <a:off x="5162201" y="4246082"/>
                  <a:ext cx="2882199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altLang="zh-CN" sz="2800" b="0" i="1" smtClean="0">
                                <a:latin typeface="Cambria Math" charset="0"/>
                              </a:rPr>
                              <m:t>+2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charset="0"/>
                          </a:rPr>
                          <m:t>∝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sz="2800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i="1" smtClean="0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 smtClean="0">
                                    <a:latin typeface="Cambria Math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altLang="zh-CN" sz="2800" b="0" i="1" smtClean="0"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altLang="zh-CN" sz="2800" b="0" i="1" smtClean="0">
                                    <a:latin typeface="Cambria Math" charset="0"/>
                                  </a:rPr>
                                  <m:t>+2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800" b="0" i="1" smtClean="0">
                            <a:latin typeface="Cambria Math" charset="0"/>
                          </a:rPr>
                          <m:t>+</m:t>
                        </m:r>
                        <m:r>
                          <a:rPr lang="en-US" altLang="zh-CN" sz="2800" b="0" i="1" smtClean="0">
                            <a:latin typeface="Cambria Math" charset="0"/>
                          </a:rPr>
                          <m:t>𝜖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3" name="Rectangle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2201" y="4246082"/>
                  <a:ext cx="2882199" cy="523220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5912696" y="1872338"/>
                  <a:ext cx="554639" cy="61555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4000" b="0" i="1" smtClean="0">
                            <a:latin typeface="Cambria Math" charset="0"/>
                          </a:rPr>
                          <m:t>⋯</m:t>
                        </m:r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2696" y="1872338"/>
                  <a:ext cx="554639" cy="615553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5962571" y="4861636"/>
                  <a:ext cx="554639" cy="61555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4000" b="0" i="1" smtClean="0">
                            <a:latin typeface="Cambria Math" charset="0"/>
                          </a:rPr>
                          <m:t>⋯</m:t>
                        </m:r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2571" y="4861636"/>
                  <a:ext cx="554639" cy="615553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Group 36"/>
          <p:cNvGrpSpPr/>
          <p:nvPr/>
        </p:nvGrpSpPr>
        <p:grpSpPr>
          <a:xfrm>
            <a:off x="8812718" y="1359475"/>
            <a:ext cx="2404634" cy="3533702"/>
            <a:chOff x="8440186" y="1884403"/>
            <a:chExt cx="2404634" cy="35337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/>
                <p:cNvSpPr/>
                <p:nvPr/>
              </p:nvSpPr>
              <p:spPr>
                <a:xfrm>
                  <a:off x="8440187" y="3429236"/>
                  <a:ext cx="2404633" cy="54341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charset="0"/>
                          </a:rPr>
                          <m:t>𝛼</m:t>
                        </m:r>
                        <m:r>
                          <a:rPr lang="en-US" altLang="zh-CN" sz="2800" b="0" i="1" smtClean="0">
                            <a:latin typeface="Cambria Math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altLang="zh-CN" sz="2800" b="0" i="1" smtClean="0">
                                <a:latin typeface="Cambria Math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800" b="0" i="1" smtClean="0"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0" i="1" smtClean="0">
                                    <a:latin typeface="Cambria Math" charset="0"/>
                                  </a:rPr>
                                  <m:t>𝑛</m:t>
                                </m:r>
                                <m:r>
                                  <a:rPr lang="zh-CN" altLang="en-US" sz="2800" b="0" i="1" smtClean="0">
                                    <a:latin typeface="Cambria Math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charset="0"/>
                                      </a:rPr>
                                      <m:t>𝑡</m:t>
                                    </m:r>
                                    <m:r>
                                      <a:rPr lang="en-US" altLang="zh-CN" sz="2800" b="0" i="1" smtClean="0">
                                        <a:latin typeface="Cambria Math" charset="0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2800" b="0" i="1" smtClean="0">
                                <a:latin typeface="Cambria Math" charset="0"/>
                              </a:rPr>
                              <m:t>−</m:t>
                            </m:r>
                            <m:r>
                              <a:rPr lang="en-US" altLang="zh-CN" sz="2800" b="0" i="1" smtClean="0">
                                <a:latin typeface="Cambria Math" charset="0"/>
                              </a:rPr>
                              <m:t>𝛽</m:t>
                            </m:r>
                          </m:sup>
                        </m:sSup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6" name="Rectangle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0187" y="3429236"/>
                  <a:ext cx="2404633" cy="543418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/>
                <p:cNvSpPr/>
                <p:nvPr/>
              </p:nvSpPr>
              <p:spPr>
                <a:xfrm>
                  <a:off x="8440187" y="4225884"/>
                  <a:ext cx="2404633" cy="54341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charset="0"/>
                          </a:rPr>
                          <m:t>𝛼</m:t>
                        </m:r>
                        <m:r>
                          <a:rPr lang="en-US" altLang="zh-CN" sz="2800" b="0" i="1" smtClean="0">
                            <a:latin typeface="Cambria Math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altLang="zh-CN" sz="2800" b="0" i="1" smtClean="0">
                                <a:latin typeface="Cambria Math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800" b="0" i="1" smtClean="0"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0" i="1" smtClean="0">
                                    <a:latin typeface="Cambria Math" charset="0"/>
                                  </a:rPr>
                                  <m:t>𝑛</m:t>
                                </m:r>
                                <m:r>
                                  <a:rPr lang="zh-CN" altLang="en-US" sz="2800" b="0" i="1" smtClean="0">
                                    <a:latin typeface="Cambria Math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charset="0"/>
                                      </a:rPr>
                                      <m:t>𝑡</m:t>
                                    </m:r>
                                    <m:r>
                                      <a:rPr lang="en-US" altLang="zh-CN" sz="2800" b="0" i="1" smtClean="0">
                                        <a:latin typeface="Cambria Math" charset="0"/>
                                      </a:rPr>
                                      <m:t>+2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2800" b="0" i="1" smtClean="0">
                                <a:latin typeface="Cambria Math" charset="0"/>
                              </a:rPr>
                              <m:t>−</m:t>
                            </m:r>
                            <m:r>
                              <a:rPr lang="en-US" altLang="zh-CN" sz="2800" b="0" i="1" smtClean="0">
                                <a:latin typeface="Cambria Math" charset="0"/>
                              </a:rPr>
                              <m:t>𝛽</m:t>
                            </m:r>
                          </m:sup>
                        </m:sSup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7" name="Rectangle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0187" y="4225884"/>
                  <a:ext cx="2404633" cy="543418"/>
                </a:xfrm>
                <a:prstGeom prst="rect">
                  <a:avLst/>
                </a:prstGeom>
                <a:blipFill rotWithShape="0"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/>
                <p:cNvSpPr/>
                <p:nvPr/>
              </p:nvSpPr>
              <p:spPr>
                <a:xfrm>
                  <a:off x="8440186" y="2596177"/>
                  <a:ext cx="2061590" cy="54341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charset="0"/>
                          </a:rPr>
                          <m:t>𝛼</m:t>
                        </m:r>
                        <m:r>
                          <a:rPr lang="en-US" altLang="zh-CN" sz="2800" b="0" i="1" smtClean="0">
                            <a:latin typeface="Cambria Math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altLang="zh-CN" sz="2800" b="0" i="1" smtClean="0">
                                <a:latin typeface="Cambria Math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800" b="0" i="1" smtClean="0"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0" i="1" smtClean="0">
                                    <a:latin typeface="Cambria Math" charset="0"/>
                                  </a:rPr>
                                  <m:t>𝑛</m:t>
                                </m:r>
                                <m:r>
                                  <a:rPr lang="zh-CN" altLang="en-US" sz="2800" b="0" i="1" smtClean="0">
                                    <a:latin typeface="Cambria Math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2800" b="0" i="1" smtClean="0">
                                <a:latin typeface="Cambria Math" charset="0"/>
                              </a:rPr>
                              <m:t>−</m:t>
                            </m:r>
                            <m:r>
                              <a:rPr lang="en-US" altLang="zh-CN" sz="2800" b="0" i="1" smtClean="0">
                                <a:latin typeface="Cambria Math" charset="0"/>
                              </a:rPr>
                              <m:t>𝛽</m:t>
                            </m:r>
                          </m:sup>
                        </m:sSup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8" name="Rectangle 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0186" y="2596177"/>
                  <a:ext cx="2061590" cy="543418"/>
                </a:xfrm>
                <a:prstGeom prst="rect">
                  <a:avLst/>
                </a:prstGeom>
                <a:blipFill rotWithShape="0"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9151731" y="4802552"/>
                  <a:ext cx="554639" cy="61555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4000" b="0" i="1" smtClean="0">
                            <a:latin typeface="Cambria Math" charset="0"/>
                          </a:rPr>
                          <m:t>⋯</m:t>
                        </m:r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51731" y="4802552"/>
                  <a:ext cx="554639" cy="615553"/>
                </a:xfrm>
                <a:prstGeom prst="rect">
                  <a:avLst/>
                </a:prstGeom>
                <a:blipFill rotWithShape="0"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/>
                <p:cNvSpPr txBox="1"/>
                <p:nvPr/>
              </p:nvSpPr>
              <p:spPr>
                <a:xfrm>
                  <a:off x="9151731" y="1884403"/>
                  <a:ext cx="554639" cy="61555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4000" b="0" i="1" smtClean="0">
                            <a:latin typeface="Cambria Math" charset="0"/>
                          </a:rPr>
                          <m:t>⋯</m:t>
                        </m:r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3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51731" y="1884403"/>
                  <a:ext cx="554639" cy="615553"/>
                </a:xfrm>
                <a:prstGeom prst="rect">
                  <a:avLst/>
                </a:prstGeom>
                <a:blipFill rotWithShape="0"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8" name="TextBox 37"/>
          <p:cNvSpPr txBox="1"/>
          <p:nvPr/>
        </p:nvSpPr>
        <p:spPr>
          <a:xfrm>
            <a:off x="5617242" y="275869"/>
            <a:ext cx="232294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chemeClr val="tx2"/>
                </a:solidFill>
                <a:ea typeface="Courier New" charset="0"/>
                <a:cs typeface="Courier New" charset="0"/>
              </a:rPr>
              <a:t>Sampling</a:t>
            </a:r>
          </a:p>
          <a:p>
            <a:pPr algn="ctr"/>
            <a:r>
              <a:rPr lang="en-US" altLang="zh-CN" sz="3200" b="1" dirty="0" smtClean="0">
                <a:solidFill>
                  <a:schemeClr val="tx2"/>
                </a:solidFill>
                <a:ea typeface="Courier New" charset="0"/>
                <a:cs typeface="Courier New" charset="0"/>
              </a:rPr>
              <a:t>Probabilities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78279" y="275869"/>
            <a:ext cx="164660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chemeClr val="tx2"/>
                </a:solidFill>
                <a:ea typeface="Courier New" charset="0"/>
                <a:cs typeface="Courier New" charset="0"/>
              </a:rPr>
              <a:t>Learning</a:t>
            </a:r>
          </a:p>
          <a:p>
            <a:pPr algn="ctr"/>
            <a:r>
              <a:rPr lang="en-US" altLang="zh-CN" sz="3200" b="1" dirty="0" smtClean="0">
                <a:solidFill>
                  <a:schemeClr val="tx2"/>
                </a:solidFill>
                <a:ea typeface="Courier New" charset="0"/>
                <a:cs typeface="Courier New" charset="0"/>
              </a:rPr>
              <a:t>Rates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806698" y="5531643"/>
                <a:ext cx="135466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800" dirty="0" smtClean="0">
                    <a:solidFill>
                      <a:srgbClr val="C00000"/>
                    </a:solidFill>
                    <a:ea typeface="Courier New" charset="0"/>
                    <a:cs typeface="Courier New" charset="0"/>
                  </a:rPr>
                  <a:t>Big</a:t>
                </a:r>
                <a:r>
                  <a:rPr lang="zh-CN" altLang="en-US" sz="2800" dirty="0" smtClean="0">
                    <a:solidFill>
                      <a:srgbClr val="C00000"/>
                    </a:solidFill>
                    <a:ea typeface="Courier New" charset="0"/>
                    <a:cs typeface="Courier New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dirty="0" smtClean="0">
                    <a:solidFill>
                      <a:srgbClr val="C00000"/>
                    </a:solidFill>
                    <a:ea typeface="Courier New" charset="0"/>
                    <a:cs typeface="Courier New" charset="0"/>
                  </a:rPr>
                  <a:t> </a:t>
                </a:r>
                <a:endParaRPr lang="en-US" altLang="zh-CN" sz="2800" dirty="0" smtClean="0">
                  <a:solidFill>
                    <a:srgbClr val="C00000"/>
                  </a:solidFill>
                  <a:ea typeface="Courier New" charset="0"/>
                  <a:cs typeface="Courier New" charset="0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6698" y="5531643"/>
                <a:ext cx="1354666" cy="523220"/>
              </a:xfrm>
              <a:prstGeom prst="rect">
                <a:avLst/>
              </a:prstGeom>
              <a:blipFill rotWithShape="0">
                <a:blip r:embed="rId18"/>
                <a:stretch>
                  <a:fillRect l="-8072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>
            <a:off x="5424694" y="5531643"/>
            <a:ext cx="25048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 smtClean="0">
                <a:solidFill>
                  <a:srgbClr val="C00000"/>
                </a:solidFill>
                <a:ea typeface="Courier New" charset="0"/>
                <a:cs typeface="Courier New" charset="0"/>
              </a:rPr>
              <a:t>High</a:t>
            </a:r>
            <a:r>
              <a:rPr lang="zh-CN" altLang="en-US" sz="2800" dirty="0" smtClean="0">
                <a:solidFill>
                  <a:srgbClr val="C00000"/>
                </a:solidFill>
                <a:ea typeface="Courier New" charset="0"/>
                <a:cs typeface="Courier New" charset="0"/>
              </a:rPr>
              <a:t> </a:t>
            </a:r>
            <a:r>
              <a:rPr lang="en-US" altLang="zh-CN" sz="2800" dirty="0" smtClean="0">
                <a:solidFill>
                  <a:srgbClr val="C00000"/>
                </a:solidFill>
                <a:ea typeface="Courier New" charset="0"/>
                <a:cs typeface="Courier New" charset="0"/>
              </a:rPr>
              <a:t>probability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9405" y="5531643"/>
            <a:ext cx="29006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 smtClean="0">
                <a:solidFill>
                  <a:srgbClr val="C00000"/>
                </a:solidFill>
                <a:ea typeface="Courier New" charset="0"/>
                <a:cs typeface="Courier New" charset="0"/>
              </a:rPr>
              <a:t>Small</a:t>
            </a:r>
            <a:r>
              <a:rPr lang="zh-CN" altLang="en-US" sz="2800" dirty="0" smtClean="0">
                <a:solidFill>
                  <a:srgbClr val="C00000"/>
                </a:solidFill>
                <a:ea typeface="Courier New" charset="0"/>
                <a:cs typeface="Courier New" charset="0"/>
              </a:rPr>
              <a:t> </a:t>
            </a:r>
            <a:r>
              <a:rPr lang="en-US" altLang="zh-CN" sz="2800" dirty="0" smtClean="0">
                <a:solidFill>
                  <a:srgbClr val="C00000"/>
                </a:solidFill>
                <a:ea typeface="Courier New" charset="0"/>
                <a:cs typeface="Courier New" charset="0"/>
              </a:rPr>
              <a:t>learning</a:t>
            </a:r>
            <a:r>
              <a:rPr lang="zh-CN" altLang="en-US" sz="2800" dirty="0" smtClean="0">
                <a:solidFill>
                  <a:srgbClr val="C00000"/>
                </a:solidFill>
                <a:ea typeface="Courier New" charset="0"/>
                <a:cs typeface="Courier New" charset="0"/>
              </a:rPr>
              <a:t> </a:t>
            </a:r>
            <a:r>
              <a:rPr lang="en-US" altLang="zh-CN" sz="2800" dirty="0" smtClean="0">
                <a:solidFill>
                  <a:srgbClr val="C00000"/>
                </a:solidFill>
                <a:ea typeface="Courier New" charset="0"/>
                <a:cs typeface="Courier New" charset="0"/>
              </a:rPr>
              <a:t>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8862" y="5541914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Courier New" charset="0"/>
                <a:cs typeface="Courier New" charset="0"/>
              </a:rPr>
              <a:t>==&gt;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0278" y="5531643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Courier New" charset="0"/>
                <a:cs typeface="Courier New" charset="0"/>
              </a:rPr>
              <a:t>==&gt;</a:t>
            </a:r>
          </a:p>
        </p:txBody>
      </p:sp>
    </p:spTree>
    <p:extLst>
      <p:ext uri="{BB962C8B-B14F-4D97-AF65-F5344CB8AC3E}">
        <p14:creationId xmlns:p14="http://schemas.microsoft.com/office/powerpoint/2010/main" val="1059509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9" grpId="0"/>
      <p:bldP spid="34" grpId="0"/>
      <p:bldP spid="3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2244725"/>
            <a:ext cx="11823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Thank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smtClean="0">
                <a:latin typeface="Lucida Bright" panose="02040602050505020304" pitchFamily="18" charset="0"/>
              </a:rPr>
              <a:t>you!</a:t>
            </a:r>
            <a:endParaRPr lang="en-US" sz="4000" dirty="0"/>
          </a:p>
        </p:txBody>
      </p:sp>
      <p:sp>
        <p:nvSpPr>
          <p:cNvPr id="3" name="Rectangle 2"/>
          <p:cNvSpPr/>
          <p:nvPr/>
        </p:nvSpPr>
        <p:spPr>
          <a:xfrm>
            <a:off x="3911143" y="6457890"/>
            <a:ext cx="44935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http://wangshusen.github.io/</a:t>
            </a: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103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57536</TotalTime>
  <Words>1876</Words>
  <Application>Microsoft Macintosh PowerPoint</Application>
  <PresentationFormat>Widescreen</PresentationFormat>
  <Paragraphs>779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Calibri</vt:lpstr>
      <vt:lpstr>Calibri Light</vt:lpstr>
      <vt:lpstr>Cambria Math</vt:lpstr>
      <vt:lpstr>Courier New</vt:lpstr>
      <vt:lpstr>DengXian</vt:lpstr>
      <vt:lpstr>DengXian Light</vt:lpstr>
      <vt:lpstr>Lucida Bright</vt:lpstr>
      <vt:lpstr>Mangal</vt:lpstr>
      <vt:lpstr>Arial</vt:lpstr>
      <vt:lpstr>Office Theme</vt:lpstr>
      <vt:lpstr>Experience Replay</vt:lpstr>
      <vt:lpstr>Revisiting DQN and TD Learning</vt:lpstr>
      <vt:lpstr>Deep Q Network (DQN)</vt:lpstr>
      <vt:lpstr>Deep Q Network (DQN)</vt:lpstr>
      <vt:lpstr>Temporal Difference (TD) Learning</vt:lpstr>
      <vt:lpstr>Temporal Difference (TD) Learning</vt:lpstr>
      <vt:lpstr>Temporal Difference (TD) Learning</vt:lpstr>
      <vt:lpstr>Temporal Difference (TD) Learning</vt:lpstr>
      <vt:lpstr>Temporal Difference (TD) Learning</vt:lpstr>
      <vt:lpstr>Shortcoming 1: Waste of Experience</vt:lpstr>
      <vt:lpstr>Shortcoming 2: Correlated Updates</vt:lpstr>
      <vt:lpstr>Experience Replay</vt:lpstr>
      <vt:lpstr>Experience Replay</vt:lpstr>
      <vt:lpstr>Experience Replay</vt:lpstr>
      <vt:lpstr>TD with Experience Replay</vt:lpstr>
      <vt:lpstr>Benefits of Experience Replay</vt:lpstr>
      <vt:lpstr>History</vt:lpstr>
      <vt:lpstr>Prioritized Experience Replay</vt:lpstr>
      <vt:lpstr>Basic Idea</vt:lpstr>
      <vt:lpstr>Basic Idea</vt:lpstr>
      <vt:lpstr>Importance Sampling</vt:lpstr>
      <vt:lpstr>Importance Sampling</vt:lpstr>
      <vt:lpstr>Scaling Learning Rate</vt:lpstr>
      <vt:lpstr>Scaling Learning Rate</vt:lpstr>
      <vt:lpstr>Update TD Error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15.0027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shusen wang</dc:creator>
  <cp:lastModifiedBy>Shusen Wang</cp:lastModifiedBy>
  <cp:revision>1331</cp:revision>
  <cp:lastPrinted>2019-11-21T20:50:17Z</cp:lastPrinted>
  <dcterms:created xsi:type="dcterms:W3CDTF">2017-08-22T04:44:10Z</dcterms:created>
  <dcterms:modified xsi:type="dcterms:W3CDTF">2020-12-27T02:33:50Z</dcterms:modified>
</cp:coreProperties>
</file>