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7"/>
  </p:notesMasterIdLst>
  <p:sldIdLst>
    <p:sldId id="256" r:id="rId2"/>
    <p:sldId id="740" r:id="rId3"/>
    <p:sldId id="763" r:id="rId4"/>
    <p:sldId id="764" r:id="rId5"/>
    <p:sldId id="741" r:id="rId6"/>
    <p:sldId id="742" r:id="rId7"/>
    <p:sldId id="743" r:id="rId8"/>
    <p:sldId id="772" r:id="rId9"/>
    <p:sldId id="773" r:id="rId10"/>
    <p:sldId id="744" r:id="rId11"/>
    <p:sldId id="745" r:id="rId12"/>
    <p:sldId id="750" r:id="rId13"/>
    <p:sldId id="753" r:id="rId14"/>
    <p:sldId id="754" r:id="rId15"/>
    <p:sldId id="571" r:id="rId16"/>
    <p:sldId id="678" r:id="rId17"/>
    <p:sldId id="737" r:id="rId18"/>
    <p:sldId id="686" r:id="rId19"/>
    <p:sldId id="738" r:id="rId20"/>
    <p:sldId id="774" r:id="rId21"/>
    <p:sldId id="765" r:id="rId22"/>
    <p:sldId id="739" r:id="rId23"/>
    <p:sldId id="818" r:id="rId24"/>
    <p:sldId id="681" r:id="rId25"/>
    <p:sldId id="682" r:id="rId26"/>
    <p:sldId id="683" r:id="rId27"/>
    <p:sldId id="685" r:id="rId28"/>
    <p:sldId id="699" r:id="rId29"/>
    <p:sldId id="747" r:id="rId30"/>
    <p:sldId id="746" r:id="rId31"/>
    <p:sldId id="775" r:id="rId32"/>
    <p:sldId id="748" r:id="rId33"/>
    <p:sldId id="776" r:id="rId34"/>
    <p:sldId id="715" r:id="rId35"/>
    <p:sldId id="812" r:id="rId36"/>
    <p:sldId id="749" r:id="rId37"/>
    <p:sldId id="751" r:id="rId38"/>
    <p:sldId id="777" r:id="rId39"/>
    <p:sldId id="778" r:id="rId40"/>
    <p:sldId id="779" r:id="rId41"/>
    <p:sldId id="780" r:id="rId42"/>
    <p:sldId id="781" r:id="rId43"/>
    <p:sldId id="782" r:id="rId44"/>
    <p:sldId id="783" r:id="rId45"/>
    <p:sldId id="784" r:id="rId46"/>
    <p:sldId id="785" r:id="rId47"/>
    <p:sldId id="786" r:id="rId48"/>
    <p:sldId id="690" r:id="rId49"/>
    <p:sldId id="689" r:id="rId50"/>
    <p:sldId id="723" r:id="rId51"/>
    <p:sldId id="813" r:id="rId52"/>
    <p:sldId id="724" r:id="rId53"/>
    <p:sldId id="755" r:id="rId54"/>
    <p:sldId id="727" r:id="rId55"/>
    <p:sldId id="788" r:id="rId56"/>
    <p:sldId id="787" r:id="rId57"/>
    <p:sldId id="790" r:id="rId58"/>
    <p:sldId id="791" r:id="rId59"/>
    <p:sldId id="815" r:id="rId60"/>
    <p:sldId id="817" r:id="rId61"/>
    <p:sldId id="816" r:id="rId62"/>
    <p:sldId id="725" r:id="rId63"/>
    <p:sldId id="706" r:id="rId64"/>
    <p:sldId id="756" r:id="rId65"/>
    <p:sldId id="795" r:id="rId66"/>
    <p:sldId id="792" r:id="rId67"/>
    <p:sldId id="793" r:id="rId68"/>
    <p:sldId id="796" r:id="rId69"/>
    <p:sldId id="794" r:id="rId70"/>
    <p:sldId id="798" r:id="rId71"/>
    <p:sldId id="799" r:id="rId72"/>
    <p:sldId id="701" r:id="rId73"/>
    <p:sldId id="735" r:id="rId74"/>
    <p:sldId id="814" r:id="rId75"/>
    <p:sldId id="767" r:id="rId76"/>
    <p:sldId id="736" r:id="rId77"/>
    <p:sldId id="770" r:id="rId78"/>
    <p:sldId id="716" r:id="rId79"/>
    <p:sldId id="717" r:id="rId80"/>
    <p:sldId id="819" r:id="rId81"/>
    <p:sldId id="718" r:id="rId82"/>
    <p:sldId id="719" r:id="rId83"/>
    <p:sldId id="771" r:id="rId84"/>
    <p:sldId id="720" r:id="rId85"/>
    <p:sldId id="721" r:id="rId86"/>
    <p:sldId id="733" r:id="rId87"/>
    <p:sldId id="731" r:id="rId88"/>
    <p:sldId id="810" r:id="rId89"/>
    <p:sldId id="760" r:id="rId90"/>
    <p:sldId id="811" r:id="rId91"/>
    <p:sldId id="732" r:id="rId92"/>
    <p:sldId id="806" r:id="rId93"/>
    <p:sldId id="808" r:id="rId94"/>
    <p:sldId id="809" r:id="rId95"/>
    <p:sldId id="762" r:id="rId9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24FB"/>
    <a:srgbClr val="F6DCDD"/>
    <a:srgbClr val="F80545"/>
    <a:srgbClr val="F7F7F7"/>
    <a:srgbClr val="020C7E"/>
    <a:srgbClr val="750308"/>
    <a:srgbClr val="7F0F7E"/>
    <a:srgbClr val="BFBE27"/>
    <a:srgbClr val="1FBFBE"/>
    <a:srgbClr val="BD1B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58"/>
    <p:restoredTop sz="61455"/>
  </p:normalViewPr>
  <p:slideViewPr>
    <p:cSldViewPr snapToGrid="0" snapToObjects="1">
      <p:cViewPr>
        <p:scale>
          <a:sx n="69" d="100"/>
          <a:sy n="69" d="100"/>
        </p:scale>
        <p:origin x="2112" y="232"/>
      </p:cViewPr>
      <p:guideLst/>
    </p:cSldViewPr>
  </p:slideViewPr>
  <p:notesTextViewPr>
    <p:cViewPr>
      <p:scale>
        <a:sx n="180" d="100"/>
        <a:sy n="18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0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notesMaster" Target="notesMasters/notesMaster1.xml"/><Relationship Id="rId98" Type="http://schemas.openxmlformats.org/officeDocument/2006/relationships/presProps" Target="presProps.xml"/><Relationship Id="rId99" Type="http://schemas.openxmlformats.org/officeDocument/2006/relationships/viewProps" Target="viewProps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100" Type="http://schemas.openxmlformats.org/officeDocument/2006/relationships/theme" Target="theme/theme1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49C357-7F3A-6747-BE66-3881BDA4D39C}" type="datetimeFigureOut">
              <a:rPr lang="en-US" smtClean="0"/>
              <a:t>5/16/21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1F8700-0BCC-BB42-8973-85E47E56B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4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600" dirty="0" smtClean="0"/>
              <a:t>In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this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and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upcoming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lectures,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we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will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study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reinforcement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learning.</a:t>
            </a:r>
          </a:p>
          <a:p>
            <a:r>
              <a:rPr lang="en-US" altLang="zh-CN" sz="1600" baseline="0" dirty="0" smtClean="0"/>
              <a:t>Let’s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begin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with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basic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concepts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of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reinforcement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learning.</a:t>
            </a:r>
          </a:p>
          <a:p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concepts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are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boring,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but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you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have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to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remember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all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of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them.</a:t>
            </a:r>
          </a:p>
          <a:p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aim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of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this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lecture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to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help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you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understand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basic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concepts.</a:t>
            </a:r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r>
              <a:rPr lang="zh-CN" altLang="en-US" sz="1600" dirty="0" smtClean="0"/>
              <a:t>这节课和接下来的几节课，我要讲</a:t>
            </a:r>
            <a:r>
              <a:rPr lang="en-US" altLang="zh-CN" sz="1600" dirty="0" smtClean="0"/>
              <a:t>reinforcement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learning</a:t>
            </a:r>
            <a:r>
              <a:rPr lang="zh-CN" altLang="en-US" sz="1600" dirty="0" smtClean="0"/>
              <a:t>强化学习。</a:t>
            </a:r>
            <a:endParaRPr lang="en-US" altLang="zh-CN" sz="1600" dirty="0" smtClean="0"/>
          </a:p>
          <a:p>
            <a:r>
              <a:rPr lang="zh-CN" altLang="en-US" sz="1600" dirty="0" smtClean="0"/>
              <a:t>强化学习知识点很多，不太好难理解的，得下功夫才能学会。</a:t>
            </a:r>
            <a:endParaRPr lang="en-US" altLang="zh-CN" sz="1600" dirty="0" smtClean="0"/>
          </a:p>
          <a:p>
            <a:r>
              <a:rPr lang="zh-CN" altLang="en-US" sz="1600" dirty="0" smtClean="0"/>
              <a:t>我假设大家已经有深度学习的基础了，知道怎么搭神经网络，知道怎么求导。</a:t>
            </a:r>
            <a:endParaRPr lang="en-US" altLang="zh-CN" sz="1600" dirty="0" smtClean="0"/>
          </a:p>
          <a:p>
            <a:r>
              <a:rPr lang="zh-CN" altLang="en-US" sz="1600" dirty="0" smtClean="0"/>
              <a:t>为了讲得简单明白，有些地方可能会不太严谨，还请见谅。</a:t>
            </a:r>
            <a:endParaRPr lang="en-US" altLang="zh-CN" sz="1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9505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600" dirty="0" smtClean="0"/>
              <a:t>We are going to use a little bit of probability theory.</a:t>
            </a:r>
          </a:p>
          <a:p>
            <a:r>
              <a:rPr lang="en-US" altLang="zh-CN" sz="1600" dirty="0" smtClean="0"/>
              <a:t>I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suppose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you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have learned them.</a:t>
            </a:r>
          </a:p>
          <a:p>
            <a:r>
              <a:rPr lang="en-US" altLang="zh-CN" sz="1600" dirty="0" smtClean="0"/>
              <a:t>Here, I just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want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to refresh your memory.</a:t>
            </a:r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r>
              <a:rPr lang="zh-CN" altLang="en-US" sz="1600" dirty="0" smtClean="0"/>
              <a:t>这节课会用到一点点概率论的知识。</a:t>
            </a:r>
            <a:endParaRPr lang="en-US" altLang="zh-CN" sz="1600" dirty="0" smtClean="0"/>
          </a:p>
          <a:p>
            <a:r>
              <a:rPr lang="zh-CN" altLang="en-US" sz="1600" dirty="0" smtClean="0"/>
              <a:t>这些东西你们在大学时候都学过了。</a:t>
            </a:r>
            <a:endParaRPr lang="en-US" altLang="zh-CN" sz="1600" dirty="0" smtClean="0"/>
          </a:p>
          <a:p>
            <a:r>
              <a:rPr lang="zh-CN" altLang="en-US" sz="1600" dirty="0" smtClean="0"/>
              <a:t>有一定概率 你们已经把概率论知识还给老师，所以我在这里再讲一遍。</a:t>
            </a:r>
            <a:endParaRPr lang="en-US" altLang="zh-CN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19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600" b="0" dirty="0" smtClean="0">
                <a:latin typeface="+mn-lt"/>
              </a:rPr>
              <a:t>The</a:t>
            </a:r>
            <a:r>
              <a:rPr lang="zh-CN" altLang="en-US" sz="1600" b="0" dirty="0" smtClean="0">
                <a:latin typeface="+mn-lt"/>
              </a:rPr>
              <a:t> </a:t>
            </a:r>
            <a:r>
              <a:rPr lang="en-US" altLang="zh-CN" sz="1600" b="0" dirty="0" smtClean="0">
                <a:latin typeface="+mn-lt"/>
              </a:rPr>
              <a:t>first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concept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is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random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variable.</a:t>
            </a:r>
            <a:r>
              <a:rPr lang="zh-CN" altLang="en-US" sz="1600" b="0" baseline="0" dirty="0" smtClean="0">
                <a:latin typeface="+mn-lt"/>
              </a:rPr>
              <a:t> </a:t>
            </a:r>
            <a:endParaRPr lang="en-US" altLang="zh-CN" sz="1600" b="0" baseline="0" dirty="0" smtClean="0">
              <a:latin typeface="+mn-lt"/>
            </a:endParaRPr>
          </a:p>
          <a:p>
            <a:r>
              <a:rPr lang="en-US" altLang="zh-CN" sz="1600" b="0" baseline="0" dirty="0" smtClean="0">
                <a:latin typeface="+mn-lt"/>
              </a:rPr>
              <a:t>It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is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unknown,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and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its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value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depends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on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the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outcome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of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a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random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event.</a:t>
            </a:r>
          </a:p>
          <a:p>
            <a:r>
              <a:rPr lang="en-US" altLang="zh-CN" sz="1600" b="0" baseline="0" dirty="0" smtClean="0">
                <a:latin typeface="+mn-lt"/>
              </a:rPr>
              <a:t>========================</a:t>
            </a:r>
          </a:p>
          <a:p>
            <a:r>
              <a:rPr lang="en-US" altLang="zh-CN" sz="1600" b="0" baseline="0" dirty="0" smtClean="0">
                <a:latin typeface="+mn-lt"/>
              </a:rPr>
              <a:t>For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example,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I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toss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a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coin.</a:t>
            </a:r>
          </a:p>
          <a:p>
            <a:r>
              <a:rPr lang="en-US" altLang="zh-CN" sz="1600" b="0" baseline="0" dirty="0" smtClean="0">
                <a:latin typeface="+mn-lt"/>
              </a:rPr>
              <a:t>It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is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a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random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event,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and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its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outcome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can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be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either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head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or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tail.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0" baseline="0" dirty="0" smtClean="0">
                <a:latin typeface="+mn-lt"/>
              </a:rPr>
              <a:t>Denote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the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head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by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0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and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tail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by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1.</a:t>
            </a:r>
          </a:p>
          <a:p>
            <a:r>
              <a:rPr lang="en-US" altLang="zh-CN" sz="1600" b="0" baseline="0" dirty="0" smtClean="0">
                <a:latin typeface="+mn-lt"/>
              </a:rPr>
              <a:t>----</a:t>
            </a:r>
          </a:p>
          <a:p>
            <a:r>
              <a:rPr lang="en-US" altLang="zh-CN" sz="1600" b="0" baseline="0" dirty="0" smtClean="0">
                <a:latin typeface="+mn-lt"/>
              </a:rPr>
              <a:t>Let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X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be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the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random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variable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whose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value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depends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on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the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outcome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of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coin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flip.</a:t>
            </a:r>
          </a:p>
          <a:p>
            <a:r>
              <a:rPr lang="en-US" altLang="zh-CN" sz="1600" b="0" baseline="0" dirty="0" smtClean="0">
                <a:latin typeface="+mn-lt"/>
              </a:rPr>
              <a:t>The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value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of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X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can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be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either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0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or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1.</a:t>
            </a:r>
          </a:p>
          <a:p>
            <a:r>
              <a:rPr lang="en-US" altLang="zh-CN" sz="1600" b="0" baseline="0" dirty="0" smtClean="0">
                <a:latin typeface="+mn-lt"/>
              </a:rPr>
              <a:t>Before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I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toss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the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coin,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I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don’t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know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what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the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outcome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will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be.</a:t>
            </a:r>
          </a:p>
          <a:p>
            <a:r>
              <a:rPr lang="en-US" altLang="zh-CN" sz="1600" b="0" baseline="0" dirty="0" smtClean="0">
                <a:latin typeface="+mn-lt"/>
              </a:rPr>
              <a:t>========================</a:t>
            </a:r>
          </a:p>
          <a:p>
            <a:r>
              <a:rPr lang="en-US" altLang="zh-CN" sz="1600" b="0" baseline="0" dirty="0" smtClean="0">
                <a:latin typeface="+mn-lt"/>
              </a:rPr>
              <a:t>But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I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can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describe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the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event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using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probabilities.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0" baseline="0" dirty="0" smtClean="0">
                <a:latin typeface="+mn-lt"/>
              </a:rPr>
              <a:t>========================</a:t>
            </a:r>
          </a:p>
          <a:p>
            <a:r>
              <a:rPr lang="en-US" altLang="zh-CN" sz="1600" b="0" baseline="0" dirty="0" smtClean="0">
                <a:latin typeface="+mn-lt"/>
              </a:rPr>
              <a:t>With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probability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0.5,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X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is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equal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to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0,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which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means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the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outcome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is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head.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0" baseline="0" dirty="0" smtClean="0">
                <a:latin typeface="+mn-lt"/>
              </a:rPr>
              <a:t>========================</a:t>
            </a:r>
          </a:p>
          <a:p>
            <a:r>
              <a:rPr lang="en-US" altLang="zh-CN" sz="1600" b="0" baseline="0" dirty="0" smtClean="0">
                <a:latin typeface="+mn-lt"/>
              </a:rPr>
              <a:t>With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probability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0.5,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X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is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equal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to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1,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which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means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the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outcome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is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tail.</a:t>
            </a:r>
          </a:p>
          <a:p>
            <a:endParaRPr lang="en-US" altLang="zh-CN" sz="1600" b="0" baseline="0" dirty="0" smtClean="0">
              <a:latin typeface="+mn-lt"/>
            </a:endParaRPr>
          </a:p>
          <a:p>
            <a:endParaRPr lang="en-US" altLang="zh-CN" sz="1600" b="0" dirty="0" smtClean="0">
              <a:latin typeface="Lucida Bright" panose="02040602050505020304" pitchFamily="18" charset="0"/>
            </a:endParaRPr>
          </a:p>
          <a:p>
            <a:endParaRPr lang="en-US" altLang="zh-CN" sz="1600" b="0" dirty="0" smtClean="0">
              <a:latin typeface="Lucida Bright" panose="02040602050505020304" pitchFamily="18" charset="0"/>
            </a:endParaRPr>
          </a:p>
          <a:p>
            <a:r>
              <a:rPr lang="zh-CN" altLang="en-US" sz="1600" b="0" dirty="0" smtClean="0">
                <a:latin typeface="Lucida Bright" panose="02040602050505020304" pitchFamily="18" charset="0"/>
              </a:rPr>
              <a:t>第一个概念是</a:t>
            </a:r>
            <a:r>
              <a:rPr lang="en-US" altLang="zh-CN" sz="1600" dirty="0" smtClean="0">
                <a:solidFill>
                  <a:srgbClr val="C00000"/>
                </a:solidFill>
              </a:rPr>
              <a:t>Random</a:t>
            </a:r>
            <a:r>
              <a:rPr lang="zh-CN" altLang="en-US" sz="1600" dirty="0" smtClean="0">
                <a:solidFill>
                  <a:srgbClr val="C00000"/>
                </a:solidFill>
              </a:rPr>
              <a:t> </a:t>
            </a:r>
            <a:r>
              <a:rPr lang="en-US" altLang="zh-CN" sz="1600" dirty="0" smtClean="0">
                <a:solidFill>
                  <a:srgbClr val="C00000"/>
                </a:solidFill>
              </a:rPr>
              <a:t>variable</a:t>
            </a:r>
            <a:r>
              <a:rPr lang="zh-CN" altLang="en-US" sz="1600" dirty="0" smtClean="0">
                <a:solidFill>
                  <a:srgbClr val="C00000"/>
                </a:solidFill>
              </a:rPr>
              <a:t>（</a:t>
            </a:r>
            <a:r>
              <a:rPr lang="zh-CN" altLang="en-US" sz="1600" b="0" dirty="0" smtClean="0">
                <a:latin typeface="Lucida Bright" panose="02040602050505020304" pitchFamily="18" charset="0"/>
              </a:rPr>
              <a:t>随机变量）。</a:t>
            </a:r>
            <a:endParaRPr lang="en-US" altLang="zh-CN" sz="1600" b="0" dirty="0" smtClean="0">
              <a:latin typeface="Lucida Bright" panose="02040602050505020304" pitchFamily="18" charset="0"/>
            </a:endParaRPr>
          </a:p>
          <a:p>
            <a:r>
              <a:rPr lang="zh-CN" altLang="en-US" sz="1600" b="0" dirty="0" smtClean="0"/>
              <a:t>随机变量是一个未知的量，它的值取决于一个随机事件的结果。</a:t>
            </a:r>
            <a:endParaRPr lang="en-US" altLang="zh-CN" sz="1600" b="0" dirty="0" smtClean="0"/>
          </a:p>
          <a:p>
            <a:r>
              <a:rPr lang="zh-CN" altLang="en-US" sz="1600" b="0" dirty="0" smtClean="0"/>
              <a:t>比如我抛硬币，正面朝上记为</a:t>
            </a:r>
            <a:r>
              <a:rPr lang="en-US" altLang="zh-CN" sz="1600" b="0" dirty="0" smtClean="0"/>
              <a:t>0</a:t>
            </a:r>
            <a:r>
              <a:rPr lang="zh-CN" altLang="en-US" sz="1600" b="0" dirty="0" smtClean="0"/>
              <a:t>，反面朝上记为</a:t>
            </a:r>
            <a:r>
              <a:rPr lang="en-US" altLang="zh-CN" sz="1600" b="0" dirty="0" smtClean="0"/>
              <a:t>1</a:t>
            </a:r>
            <a:r>
              <a:rPr lang="zh-CN" altLang="en-US" sz="1600" b="0" dirty="0" smtClean="0"/>
              <a:t>。</a:t>
            </a:r>
            <a:endParaRPr lang="en-US" altLang="zh-CN" sz="1600" b="0" dirty="0" smtClean="0"/>
          </a:p>
          <a:p>
            <a:r>
              <a:rPr lang="zh-CN" altLang="en-US" sz="1600" b="0" dirty="0" smtClean="0"/>
              <a:t>抛硬币是个随机事件，抛硬币的结果就记为随机变量</a:t>
            </a:r>
            <a:r>
              <a:rPr lang="en-US" altLang="zh-CN" sz="1600" b="0" dirty="0" smtClean="0"/>
              <a:t>X</a:t>
            </a:r>
            <a:r>
              <a:rPr lang="zh-CN" altLang="en-US" sz="1600" b="0" dirty="0" smtClean="0"/>
              <a:t>，用大写字母表示。</a:t>
            </a:r>
            <a:endParaRPr lang="en-US" altLang="zh-CN" sz="1600" b="0" dirty="0" smtClean="0"/>
          </a:p>
          <a:p>
            <a:r>
              <a:rPr lang="zh-CN" altLang="en-US" sz="1600" b="0" dirty="0" smtClean="0"/>
              <a:t>随机变量</a:t>
            </a:r>
            <a:r>
              <a:rPr lang="en-US" altLang="zh-CN" sz="1600" b="0" dirty="0" smtClean="0"/>
              <a:t>X</a:t>
            </a:r>
            <a:r>
              <a:rPr lang="zh-CN" altLang="en-US" sz="1600" b="0" dirty="0" smtClean="0"/>
              <a:t>有两种可能的取值，可能是</a:t>
            </a:r>
            <a:r>
              <a:rPr lang="en-US" altLang="zh-CN" sz="1600" b="0" dirty="0" smtClean="0"/>
              <a:t>0</a:t>
            </a:r>
            <a:r>
              <a:rPr lang="zh-CN" altLang="en-US" sz="1600" b="0" dirty="0" smtClean="0"/>
              <a:t>，也可能是</a:t>
            </a:r>
            <a:r>
              <a:rPr lang="en-US" altLang="zh-CN" sz="1600" b="0" dirty="0" smtClean="0"/>
              <a:t>1</a:t>
            </a:r>
            <a:r>
              <a:rPr lang="zh-CN" altLang="en-US" sz="1600" b="0" dirty="0" smtClean="0"/>
              <a:t>。</a:t>
            </a:r>
            <a:endParaRPr lang="en-US" altLang="zh-CN" sz="1600" b="0" dirty="0" smtClean="0"/>
          </a:p>
          <a:p>
            <a:r>
              <a:rPr lang="en-US" altLang="zh-CN" sz="1600" b="0" dirty="0" smtClean="0"/>
              <a:t>----</a:t>
            </a:r>
          </a:p>
          <a:p>
            <a:r>
              <a:rPr lang="zh-CN" altLang="en-US" sz="1600" b="0" dirty="0" smtClean="0"/>
              <a:t>抛硬币之前，我不知道大</a:t>
            </a:r>
            <a:r>
              <a:rPr lang="en-US" altLang="zh-CN" sz="1600" b="0" dirty="0" smtClean="0"/>
              <a:t>X</a:t>
            </a:r>
            <a:r>
              <a:rPr lang="zh-CN" altLang="en-US" sz="1600" b="0" dirty="0" smtClean="0"/>
              <a:t>是什么。</a:t>
            </a:r>
            <a:endParaRPr lang="en-US" altLang="zh-CN" sz="1600" b="0" dirty="0" smtClean="0"/>
          </a:p>
          <a:p>
            <a:r>
              <a:rPr lang="zh-CN" altLang="en-US" sz="1600" b="0" dirty="0" smtClean="0"/>
              <a:t>但是我知道这个随机事件的概率。</a:t>
            </a:r>
            <a:endParaRPr lang="en-US" altLang="zh-CN" sz="1600" b="0" dirty="0" smtClean="0"/>
          </a:p>
          <a:p>
            <a:r>
              <a:rPr lang="zh-CN" altLang="en-US" sz="1600" b="0" dirty="0" smtClean="0"/>
              <a:t>大</a:t>
            </a:r>
            <a:r>
              <a:rPr lang="en-US" altLang="zh-CN" sz="1600" b="0" dirty="0" smtClean="0"/>
              <a:t>X</a:t>
            </a:r>
            <a:r>
              <a:rPr lang="zh-CN" altLang="en-US" sz="1600" b="0" dirty="0" smtClean="0"/>
              <a:t>等于</a:t>
            </a:r>
            <a:r>
              <a:rPr lang="en-US" altLang="zh-CN" sz="1600" b="0" dirty="0" smtClean="0"/>
              <a:t>0</a:t>
            </a:r>
            <a:r>
              <a:rPr lang="zh-CN" altLang="en-US" sz="1600" b="0" dirty="0" smtClean="0"/>
              <a:t>，也就是正面朝上 这个事件发生的概率是</a:t>
            </a:r>
            <a:r>
              <a:rPr lang="en-US" altLang="zh-CN" sz="1600" b="0" dirty="0" smtClean="0"/>
              <a:t>0.5</a:t>
            </a:r>
            <a:r>
              <a:rPr lang="zh-CN" altLang="en-US" sz="1600" b="0" dirty="0" smtClean="0"/>
              <a:t>；</a:t>
            </a:r>
            <a:endParaRPr lang="en-US" altLang="zh-CN" sz="1600" b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0" dirty="0" smtClean="0"/>
              <a:t>大</a:t>
            </a:r>
            <a:r>
              <a:rPr lang="en-US" altLang="zh-CN" sz="1600" b="0" dirty="0" smtClean="0"/>
              <a:t>X</a:t>
            </a:r>
            <a:r>
              <a:rPr lang="zh-CN" altLang="en-US" sz="1600" b="0" dirty="0" smtClean="0"/>
              <a:t>等于</a:t>
            </a:r>
            <a:r>
              <a:rPr lang="en-US" altLang="zh-CN" sz="1600" b="0" dirty="0" smtClean="0"/>
              <a:t>1</a:t>
            </a:r>
            <a:r>
              <a:rPr lang="zh-CN" altLang="en-US" sz="1600" b="0" dirty="0" smtClean="0"/>
              <a:t>，也就是反面朝上 这个事件发生的概率也是</a:t>
            </a:r>
            <a:r>
              <a:rPr lang="en-US" altLang="zh-CN" sz="1600" b="0" dirty="0" smtClean="0"/>
              <a:t>0.5</a:t>
            </a:r>
            <a:r>
              <a:rPr lang="zh-CN" altLang="en-US" sz="1600" b="0" dirty="0" smtClean="0"/>
              <a:t>。</a:t>
            </a:r>
            <a:endParaRPr lang="en-US" altLang="zh-CN" sz="1600" b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600" b="0" dirty="0" smtClean="0"/>
          </a:p>
          <a:p>
            <a:endParaRPr lang="en-US" sz="1600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2707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b="0" dirty="0" smtClean="0">
                    <a:latin typeface="Lucida Bright" panose="02040602050505020304" pitchFamily="18" charset="0"/>
                  </a:rPr>
                  <a:t>People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typically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use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uppercase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letters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for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random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variables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and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lowercase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for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observed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values.</a:t>
                </a:r>
              </a:p>
              <a:p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---</a:t>
                </a:r>
              </a:p>
              <a:p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What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is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the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difference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between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a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random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variable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and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its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observed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value?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="0" baseline="0" dirty="0" smtClean="0">
                    <a:latin typeface="+mn-lt"/>
                  </a:rPr>
                  <a:t>========================</a:t>
                </a:r>
              </a:p>
              <a:p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The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random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variable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big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X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denotes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the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unknown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outcome.</a:t>
                </a:r>
              </a:p>
              <a:p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It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has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randomness.</a:t>
                </a:r>
              </a:p>
              <a:p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------------------------------------------</a:t>
                </a:r>
              </a:p>
              <a:p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After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I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actually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tossed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a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coin,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I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observe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either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head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or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tail.</a:t>
                </a:r>
              </a:p>
              <a:p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At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this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time,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variable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X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has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an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observed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value.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="0" baseline="0" dirty="0" smtClean="0">
                    <a:latin typeface="+mn-lt"/>
                  </a:rPr>
                  <a:t>========================</a:t>
                </a:r>
              </a:p>
              <a:p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Denote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the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observed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value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by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a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lowercase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letter.</a:t>
                </a:r>
              </a:p>
              <a:p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The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observed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value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does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not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have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randomness;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it‘s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just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a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number.</a:t>
                </a:r>
              </a:p>
              <a:p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=============================</a:t>
                </a:r>
              </a:p>
              <a:p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For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example,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I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flipped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a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coin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4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times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and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observed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4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values:</a:t>
                </a: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latin typeface="Cambria Math" charset="0"/>
                      </a:rPr>
                      <m:t>=1</m:t>
                    </m:r>
                  </m:oMath>
                </a14:m>
                <a:r>
                  <a:rPr lang="en-US" altLang="zh-CN" sz="1600" dirty="0" smtClean="0"/>
                  <a:t>,</a:t>
                </a: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>
                        <a:latin typeface="Cambria Math" charset="0"/>
                      </a:rPr>
                      <m:t>=1</m:t>
                    </m:r>
                  </m:oMath>
                </a14:m>
                <a:r>
                  <a:rPr lang="en-US" altLang="zh-CN" sz="1600" dirty="0" smtClean="0"/>
                  <a:t>,</a:t>
                </a: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3</m:t>
                        </m:r>
                      </m:sub>
                    </m:sSub>
                    <m:r>
                      <a:rPr lang="en-US" altLang="zh-CN" sz="1600" i="1">
                        <a:latin typeface="Cambria Math" charset="0"/>
                      </a:rPr>
                      <m:t>=</m:t>
                    </m:r>
                    <m:r>
                      <a:rPr lang="en-US" altLang="zh-CN" sz="1600" b="0" i="1" smtClean="0">
                        <a:latin typeface="Cambria Math" charset="0"/>
                      </a:rPr>
                      <m:t>0</m:t>
                    </m:r>
                  </m:oMath>
                </a14:m>
                <a:r>
                  <a:rPr lang="en-US" altLang="zh-CN" sz="1600" dirty="0" smtClean="0"/>
                  <a:t>,</a:t>
                </a: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4</m:t>
                        </m:r>
                      </m:sub>
                    </m:sSub>
                    <m:r>
                      <a:rPr lang="en-US" altLang="zh-CN" sz="1600" i="1">
                        <a:latin typeface="Cambria Math" charset="0"/>
                      </a:rPr>
                      <m:t>=1</m:t>
                    </m:r>
                  </m:oMath>
                </a14:m>
                <a:r>
                  <a:rPr lang="en-US" altLang="zh-CN" sz="1600" dirty="0" smtClean="0"/>
                  <a:t>.</a:t>
                </a:r>
                <a:endParaRPr lang="en-US" sz="1600" dirty="0"/>
              </a:p>
              <a:p>
                <a:r>
                  <a:rPr lang="en-US" altLang="zh-CN" sz="1600" b="0" dirty="0" smtClean="0">
                    <a:latin typeface="Lucida Bright" panose="02040602050505020304" pitchFamily="18" charset="0"/>
                  </a:rPr>
                  <a:t>The</a:t>
                </a:r>
                <a:r>
                  <a:rPr lang="zh-CN" altLang="en-US" sz="1600" b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dirty="0" smtClean="0">
                    <a:latin typeface="Lucida Bright" panose="02040602050505020304" pitchFamily="18" charset="0"/>
                  </a:rPr>
                  <a:t>4</a:t>
                </a:r>
                <a:r>
                  <a:rPr lang="zh-CN" altLang="en-US" sz="1600" b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dirty="0" smtClean="0">
                    <a:latin typeface="Lucida Bright" panose="02040602050505020304" pitchFamily="18" charset="0"/>
                  </a:rPr>
                  <a:t>lowercase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letters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are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observed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values.</a:t>
                </a:r>
                <a:endParaRPr lang="en-US" altLang="zh-CN" sz="1600" b="0" dirty="0" smtClean="0">
                  <a:latin typeface="Lucida Bright" panose="02040602050505020304" pitchFamily="18" charset="0"/>
                </a:endParaRPr>
              </a:p>
              <a:p>
                <a:r>
                  <a:rPr lang="en-US" altLang="zh-CN" sz="1600" b="0" dirty="0" smtClean="0">
                    <a:latin typeface="Lucida Bright" panose="02040602050505020304" pitchFamily="18" charset="0"/>
                  </a:rPr>
                  <a:t>---</a:t>
                </a:r>
              </a:p>
              <a:p>
                <a:r>
                  <a:rPr lang="en-US" altLang="zh-CN" sz="1600" b="0" dirty="0" smtClean="0">
                    <a:latin typeface="Lucida Bright" panose="02040602050505020304" pitchFamily="18" charset="0"/>
                  </a:rPr>
                  <a:t>Don’t</a:t>
                </a:r>
                <a:r>
                  <a:rPr lang="zh-CN" altLang="en-US" sz="1600" b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dirty="0" smtClean="0">
                    <a:latin typeface="Lucida Bright" panose="02040602050505020304" pitchFamily="18" charset="0"/>
                  </a:rPr>
                  <a:t>confuse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random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variables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with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observed</a:t>
                </a:r>
                <a:r>
                  <a:rPr lang="zh-CN" altLang="en-US" sz="1600" b="0" baseline="0" dirty="0" smtClean="0">
                    <a:latin typeface="Lucida Bright" panose="02040602050505020304" pitchFamily="18" charset="0"/>
                  </a:rPr>
                  <a:t> </a:t>
                </a:r>
                <a:r>
                  <a:rPr lang="en-US" altLang="zh-CN" sz="1600" b="0" baseline="0" dirty="0" smtClean="0">
                    <a:latin typeface="Lucida Bright" panose="02040602050505020304" pitchFamily="18" charset="0"/>
                  </a:rPr>
                  <a:t>values.</a:t>
                </a:r>
                <a:endParaRPr lang="en-US" altLang="zh-CN" sz="1600" b="0" dirty="0" smtClean="0">
                  <a:latin typeface="Lucida Bright" panose="02040602050505020304" pitchFamily="18" charset="0"/>
                </a:endParaRPr>
              </a:p>
              <a:p>
                <a:endParaRPr lang="en-US" altLang="zh-CN" sz="1600" b="0" dirty="0" smtClean="0">
                  <a:latin typeface="Lucida Bright" panose="02040602050505020304" pitchFamily="18" charset="0"/>
                </a:endParaRPr>
              </a:p>
              <a:p>
                <a:endParaRPr lang="en-US" altLang="zh-CN" sz="1600" b="0" dirty="0" smtClean="0">
                  <a:latin typeface="Lucida Bright" panose="02040602050505020304" pitchFamily="18" charset="0"/>
                </a:endParaRPr>
              </a:p>
              <a:p>
                <a:endParaRPr lang="en-US" altLang="zh-CN" sz="1600" b="0" dirty="0" smtClean="0">
                  <a:latin typeface="Lucida Bright" panose="02040602050505020304" pitchFamily="18" charset="0"/>
                </a:endParaRPr>
              </a:p>
              <a:p>
                <a:endParaRPr lang="en-US" altLang="zh-CN" sz="1600" b="0" dirty="0" smtClean="0">
                  <a:latin typeface="Lucida Bright" panose="02040602050505020304" pitchFamily="18" charset="0"/>
                </a:endParaRPr>
              </a:p>
              <a:p>
                <a:endParaRPr lang="en-US" altLang="zh-CN" sz="1600" b="0" dirty="0" smtClean="0">
                  <a:latin typeface="Lucida Bright" panose="02040602050505020304" pitchFamily="18" charset="0"/>
                </a:endParaRPr>
              </a:p>
              <a:p>
                <a:endParaRPr lang="en-US" altLang="zh-CN" sz="1600" b="0" dirty="0" smtClean="0">
                  <a:latin typeface="Lucida Bright" panose="02040602050505020304" pitchFamily="18" charset="0"/>
                </a:endParaRPr>
              </a:p>
              <a:p>
                <a:endParaRPr lang="en-US" altLang="zh-CN" sz="1600" b="0" dirty="0" smtClean="0">
                  <a:latin typeface="Lucida Bright" panose="02040602050505020304" pitchFamily="18" charset="0"/>
                </a:endParaRPr>
              </a:p>
              <a:p>
                <a:endParaRPr lang="en-US" altLang="zh-CN" sz="1600" b="0" dirty="0" smtClean="0">
                  <a:latin typeface="Lucida Bright" panose="02040602050505020304" pitchFamily="18" charset="0"/>
                </a:endParaRPr>
              </a:p>
              <a:p>
                <a:endParaRPr lang="en-US" altLang="zh-CN" sz="1600" b="0" dirty="0" smtClean="0">
                  <a:latin typeface="Lucida Bright" panose="02040602050505020304" pitchFamily="18" charset="0"/>
                </a:endParaRPr>
              </a:p>
              <a:p>
                <a:r>
                  <a:rPr lang="zh-CN" altLang="en-US" sz="1600" b="0" dirty="0" smtClean="0">
                    <a:latin typeface="Lucida Bright" panose="02040602050505020304" pitchFamily="18" charset="0"/>
                  </a:rPr>
                  <a:t>通常用小写字母表示对随机变量的观测值。</a:t>
                </a:r>
                <a:endParaRPr lang="en-US" altLang="zh-CN" sz="1600" b="0" dirty="0" smtClean="0">
                  <a:latin typeface="Lucida Bright" panose="02040602050505020304" pitchFamily="18" charset="0"/>
                </a:endParaRPr>
              </a:p>
              <a:p>
                <a:r>
                  <a:rPr lang="zh-CN" altLang="en-US" sz="1600" b="0" dirty="0" smtClean="0">
                    <a:latin typeface="Lucida Bright" panose="02040602050505020304" pitchFamily="18" charset="0"/>
                  </a:rPr>
                  <a:t>概率统计中普遍使用大小写来区分随机变量和它的观测值。</a:t>
                </a:r>
                <a:endParaRPr lang="en-US" altLang="zh-CN" sz="1600" b="0" dirty="0" smtClean="0">
                  <a:latin typeface="Lucida Bright" panose="02040602050505020304" pitchFamily="18" charset="0"/>
                </a:endParaRPr>
              </a:p>
              <a:p>
                <a:r>
                  <a:rPr lang="en-US" altLang="zh-CN" sz="1600" b="0" dirty="0" smtClean="0">
                    <a:latin typeface="Lucida Bright" panose="02040602050505020304" pitchFamily="18" charset="0"/>
                  </a:rPr>
                  <a:t>-----</a:t>
                </a:r>
              </a:p>
              <a:p>
                <a:r>
                  <a:rPr lang="zh-CN" altLang="en-US" sz="1600" b="0" dirty="0" smtClean="0">
                    <a:latin typeface="Lucida Bright" panose="02040602050505020304" pitchFamily="18" charset="0"/>
                  </a:rPr>
                  <a:t>观测值是什么意思呢？</a:t>
                </a:r>
                <a:endParaRPr lang="en-US" altLang="zh-CN" sz="1600" b="0" dirty="0" smtClean="0">
                  <a:latin typeface="Lucida Bright" panose="02040602050505020304" pitchFamily="18" charset="0"/>
                </a:endParaRPr>
              </a:p>
              <a:p>
                <a:r>
                  <a:rPr lang="zh-CN" altLang="en-US" sz="1600" b="0" dirty="0" smtClean="0">
                    <a:latin typeface="Lucida Bright" panose="02040602050505020304" pitchFamily="18" charset="0"/>
                  </a:rPr>
                  <a:t>当随机事件结束，我会观测到硬币哪一面朝上。</a:t>
                </a:r>
                <a:endParaRPr lang="en-US" altLang="zh-CN" sz="1600" b="0" dirty="0" smtClean="0">
                  <a:latin typeface="Lucida Bright" panose="02040602050505020304" pitchFamily="18" charset="0"/>
                </a:endParaRPr>
              </a:p>
              <a:p>
                <a:r>
                  <a:rPr lang="zh-CN" altLang="en-US" sz="1600" b="0" dirty="0" smtClean="0">
                    <a:latin typeface="Lucida Bright" panose="02040602050505020304" pitchFamily="18" charset="0"/>
                  </a:rPr>
                  <a:t>这个观测就记为小写字母</a:t>
                </a:r>
                <a:r>
                  <a:rPr lang="en-US" altLang="zh-CN" sz="1600" b="0" dirty="0" smtClean="0">
                    <a:latin typeface="Lucida Bright" panose="02040602050505020304" pitchFamily="18" charset="0"/>
                  </a:rPr>
                  <a:t>x</a:t>
                </a:r>
                <a:r>
                  <a:rPr lang="zh-CN" altLang="en-US" sz="1600" b="0" dirty="0" smtClean="0">
                    <a:latin typeface="Lucida Bright" panose="02040602050505020304" pitchFamily="18" charset="0"/>
                  </a:rPr>
                  <a:t>。</a:t>
                </a:r>
                <a:endParaRPr lang="en-US" altLang="zh-CN" sz="1600" b="0" dirty="0" smtClean="0">
                  <a:latin typeface="Lucida Bright" panose="02040602050505020304" pitchFamily="18" charset="0"/>
                </a:endParaRPr>
              </a:p>
              <a:p>
                <a:r>
                  <a:rPr lang="zh-CN" altLang="en-US" sz="1600" b="0" dirty="0" smtClean="0">
                    <a:latin typeface="Lucida Bright" panose="02040602050505020304" pitchFamily="18" charset="0"/>
                  </a:rPr>
                  <a:t>小</a:t>
                </a:r>
                <a:r>
                  <a:rPr lang="en-US" altLang="zh-CN" sz="1600" b="0" dirty="0" smtClean="0">
                    <a:latin typeface="Lucida Bright" panose="02040602050505020304" pitchFamily="18" charset="0"/>
                  </a:rPr>
                  <a:t>x</a:t>
                </a:r>
                <a:r>
                  <a:rPr lang="zh-CN" altLang="en-US" sz="1600" b="0" dirty="0" smtClean="0">
                    <a:latin typeface="Lucida Bright" panose="02040602050505020304" pitchFamily="18" charset="0"/>
                  </a:rPr>
                  <a:t>只是一个数而已，没有随机性。</a:t>
                </a:r>
                <a:endParaRPr lang="en-US" altLang="zh-CN" sz="1600" b="0" dirty="0" smtClean="0">
                  <a:latin typeface="Lucida Bright" panose="02040602050505020304" pitchFamily="18" charset="0"/>
                </a:endParaRPr>
              </a:p>
              <a:p>
                <a:r>
                  <a:rPr lang="zh-CN" altLang="en-US" sz="1600" b="0" dirty="0" smtClean="0"/>
                  <a:t>举个栗子，我扔了四次硬币，得到了</a:t>
                </a:r>
                <a:r>
                  <a:rPr lang="en-US" altLang="zh-CN" sz="1600" b="0" dirty="0" smtClean="0"/>
                  <a:t>4</a:t>
                </a:r>
                <a:r>
                  <a:rPr lang="zh-CN" altLang="en-US" sz="1600" b="0" dirty="0" smtClean="0"/>
                  <a:t>个观测值：</a:t>
                </a:r>
                <a:endParaRPr lang="en-US" altLang="zh-CN" sz="1600" b="0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latin typeface="Cambria Math" charset="0"/>
                      </a:rPr>
                      <m:t>=1</m:t>
                    </m:r>
                  </m:oMath>
                </a14:m>
                <a:r>
                  <a:rPr lang="en-US" altLang="zh-CN" sz="1600" dirty="0" smtClean="0"/>
                  <a:t>,</a:t>
                </a:r>
                <a:r>
                  <a:rPr lang="zh-CN" altLang="en-US" sz="1600" baseline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>
                        <a:latin typeface="Cambria Math" charset="0"/>
                      </a:rPr>
                      <m:t>=1</m:t>
                    </m:r>
                  </m:oMath>
                </a14:m>
                <a:r>
                  <a:rPr lang="en-US" altLang="zh-CN" sz="1600" dirty="0" smtClean="0"/>
                  <a:t>,</a:t>
                </a:r>
                <a:r>
                  <a:rPr lang="zh-CN" altLang="en-US" sz="1600" baseline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3</m:t>
                        </m:r>
                      </m:sub>
                    </m:sSub>
                    <m:r>
                      <a:rPr lang="en-US" altLang="zh-CN" sz="1600" i="1">
                        <a:latin typeface="Cambria Math" charset="0"/>
                      </a:rPr>
                      <m:t>=</m:t>
                    </m:r>
                    <m:r>
                      <a:rPr lang="en-US" altLang="zh-CN" sz="1600" b="0" i="1" smtClean="0">
                        <a:latin typeface="Cambria Math" charset="0"/>
                      </a:rPr>
                      <m:t>0</m:t>
                    </m:r>
                  </m:oMath>
                </a14:m>
                <a:r>
                  <a:rPr lang="en-US" altLang="zh-CN" sz="1600" dirty="0" smtClean="0"/>
                  <a:t>,</a:t>
                </a:r>
                <a:r>
                  <a:rPr lang="zh-CN" altLang="en-US" sz="1600" baseline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4</m:t>
                        </m:r>
                      </m:sub>
                    </m:sSub>
                    <m:r>
                      <a:rPr lang="en-US" altLang="zh-CN" sz="1600" i="1">
                        <a:latin typeface="Cambria Math" charset="0"/>
                      </a:rPr>
                      <m:t>=1</m:t>
                    </m:r>
                  </m:oMath>
                </a14:m>
                <a:r>
                  <a:rPr lang="en-US" altLang="zh-CN" sz="1600" dirty="0" smtClean="0"/>
                  <a:t>.</a:t>
                </a:r>
              </a:p>
              <a:p>
                <a:r>
                  <a:rPr lang="zh-CN" altLang="en-US" sz="1600" dirty="0" smtClean="0"/>
                  <a:t>这四个数就是随机变量大</a:t>
                </a:r>
                <a:r>
                  <a:rPr lang="en-US" altLang="zh-CN" sz="1600" dirty="0" smtClean="0"/>
                  <a:t>X</a:t>
                </a:r>
                <a:r>
                  <a:rPr lang="zh-CN" altLang="en-US" sz="1600" dirty="0" smtClean="0"/>
                  <a:t>的观测值。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/>
                  <a:t>------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b="0" dirty="0" smtClean="0">
                    <a:latin typeface="Lucida Bright" panose="02040602050505020304" pitchFamily="18" charset="0"/>
                  </a:rPr>
                  <a:t>这节课里，我用大写字母表示随机变量，小写字母表示观测值，避免造成混淆。</a:t>
                </a:r>
                <a:endParaRPr lang="en-US" altLang="zh-CN" sz="1600" b="0" dirty="0" smtClean="0">
                  <a:latin typeface="Lucida Bright" panose="02040602050505020304" pitchFamily="18" charset="0"/>
                </a:endParaRPr>
              </a:p>
              <a:p>
                <a:endParaRPr lang="en-US" altLang="zh-CN" sz="1600" dirty="0" smtClean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200" b="0" dirty="0" smtClean="0">
                    <a:latin typeface="Lucida Bright" panose="02040602050505020304" pitchFamily="18" charset="0"/>
                  </a:rPr>
                  <a:t>通常用小写字母表示对随机变量的观测值，用来区分大写字母表示的随机变量。</a:t>
                </a:r>
                <a:endParaRPr lang="en-US" altLang="zh-CN" sz="1200" b="0" dirty="0" smtClean="0">
                  <a:latin typeface="Lucida Bright" panose="02040602050505020304" pitchFamily="18" charset="0"/>
                </a:endParaRPr>
              </a:p>
              <a:p>
                <a:r>
                  <a:rPr lang="en-US" altLang="zh-CN" sz="1200" b="0" dirty="0" smtClean="0">
                    <a:latin typeface="Lucida Bright" panose="02040602050505020304" pitchFamily="18" charset="0"/>
                  </a:rPr>
                  <a:t>-----</a:t>
                </a:r>
              </a:p>
              <a:p>
                <a:r>
                  <a:rPr lang="zh-CN" altLang="en-US" sz="1200" b="0" dirty="0" smtClean="0">
                    <a:latin typeface="Lucida Bright" panose="02040602050505020304" pitchFamily="18" charset="0"/>
                  </a:rPr>
                  <a:t>观测值是什么意思呢？</a:t>
                </a:r>
                <a:endParaRPr lang="en-US" altLang="zh-CN" sz="1200" b="0" dirty="0" smtClean="0">
                  <a:latin typeface="Lucida Bright" panose="02040602050505020304" pitchFamily="18" charset="0"/>
                </a:endParaRPr>
              </a:p>
              <a:p>
                <a:r>
                  <a:rPr lang="zh-CN" altLang="en-US" sz="1200" b="0" dirty="0" smtClean="0">
                    <a:latin typeface="Lucida Bright" panose="02040602050505020304" pitchFamily="18" charset="0"/>
                  </a:rPr>
                  <a:t>当随机事件结束，我会观测到硬币哪一面朝上。</a:t>
                </a:r>
                <a:endParaRPr lang="en-US" altLang="zh-CN" sz="1200" b="0" dirty="0" smtClean="0">
                  <a:latin typeface="Lucida Bright" panose="02040602050505020304" pitchFamily="18" charset="0"/>
                </a:endParaRPr>
              </a:p>
              <a:p>
                <a:r>
                  <a:rPr lang="zh-CN" altLang="en-US" sz="1200" b="0" dirty="0" smtClean="0">
                    <a:latin typeface="Lucida Bright" panose="02040602050505020304" pitchFamily="18" charset="0"/>
                  </a:rPr>
                  <a:t>这个观测就记为小写字母</a:t>
                </a:r>
                <a:r>
                  <a:rPr lang="en-US" altLang="zh-CN" sz="1200" b="0" dirty="0" smtClean="0">
                    <a:latin typeface="Lucida Bright" panose="02040602050505020304" pitchFamily="18" charset="0"/>
                  </a:rPr>
                  <a:t>x</a:t>
                </a:r>
                <a:r>
                  <a:rPr lang="zh-CN" altLang="en-US" sz="1200" b="0" dirty="0" smtClean="0">
                    <a:latin typeface="Lucida Bright" panose="02040602050505020304" pitchFamily="18" charset="0"/>
                  </a:rPr>
                  <a:t>，这是一个数而已，没有随机性。</a:t>
                </a:r>
                <a:endParaRPr lang="en-US" altLang="zh-CN" sz="1200" b="0" dirty="0" smtClean="0">
                  <a:latin typeface="Lucida Bright" panose="02040602050505020304" pitchFamily="18" charset="0"/>
                </a:endParaRPr>
              </a:p>
              <a:p>
                <a:r>
                  <a:rPr lang="zh-CN" altLang="en-US" b="0" dirty="0" smtClean="0"/>
                  <a:t>举个栗子，我扔硬币</a:t>
                </a:r>
                <a:r>
                  <a:rPr lang="en-US" altLang="zh-CN" b="0" dirty="0" smtClean="0"/>
                  <a:t>4</a:t>
                </a:r>
                <a:r>
                  <a:rPr lang="zh-CN" altLang="en-US" b="0" dirty="0" smtClean="0"/>
                  <a:t>次，得到了</a:t>
                </a:r>
                <a:r>
                  <a:rPr lang="en-US" altLang="zh-CN" b="0" dirty="0" smtClean="0"/>
                  <a:t>4</a:t>
                </a:r>
                <a:r>
                  <a:rPr lang="zh-CN" altLang="en-US" b="0" dirty="0" smtClean="0"/>
                  <a:t>个观测值：</a:t>
                </a:r>
                <a:endParaRPr lang="en-US" altLang="zh-CN" b="0" dirty="0" smtClean="0"/>
              </a:p>
              <a:p>
                <a:r>
                  <a:rPr lang="en-US" altLang="zh-CN" b="0" i="0" smtClean="0">
                    <a:solidFill>
                      <a:srgbClr val="C00000"/>
                    </a:solidFill>
                    <a:latin typeface="Cambria Math" charset="0"/>
                  </a:rPr>
                  <a:t>𝑥</a:t>
                </a:r>
                <a:r>
                  <a:rPr lang="en-US" altLang="zh-CN" b="0" i="0" smtClean="0">
                    <a:solidFill>
                      <a:srgbClr val="C00000"/>
                    </a:solidFill>
                    <a:latin typeface="Cambria Math" charset="0"/>
                  </a:rPr>
                  <a:t>_</a:t>
                </a:r>
                <a:r>
                  <a:rPr lang="en-US" altLang="zh-CN" b="0" i="0" smtClean="0">
                    <a:solidFill>
                      <a:srgbClr val="C00000"/>
                    </a:solidFill>
                    <a:latin typeface="Cambria Math" charset="0"/>
                  </a:rPr>
                  <a:t>1</a:t>
                </a:r>
                <a:r>
                  <a:rPr lang="en-US" altLang="zh-CN" b="0" i="0" smtClean="0">
                    <a:latin typeface="Cambria Math" charset="0"/>
                  </a:rPr>
                  <a:t>=1</a:t>
                </a:r>
                <a:r>
                  <a:rPr lang="en-US" altLang="zh-CN" dirty="0" smtClean="0"/>
                  <a:t>,</a:t>
                </a:r>
                <a:r>
                  <a:rPr lang="zh-CN" altLang="en-US" baseline="0" dirty="0" smtClean="0"/>
                  <a:t> </a:t>
                </a:r>
                <a:r>
                  <a:rPr lang="en-US" altLang="zh-CN" i="0">
                    <a:solidFill>
                      <a:srgbClr val="C00000"/>
                    </a:solidFill>
                    <a:latin typeface="Cambria Math" charset="0"/>
                  </a:rPr>
                  <a:t>𝑥</a:t>
                </a:r>
                <a:r>
                  <a:rPr lang="en-US" altLang="zh-CN" i="0" smtClean="0">
                    <a:solidFill>
                      <a:srgbClr val="C00000"/>
                    </a:solidFill>
                    <a:latin typeface="Cambria Math" charset="0"/>
                  </a:rPr>
                  <a:t>_</a:t>
                </a:r>
                <a:r>
                  <a:rPr lang="en-US" altLang="zh-CN" b="0" i="0" smtClean="0">
                    <a:solidFill>
                      <a:srgbClr val="C00000"/>
                    </a:solidFill>
                    <a:latin typeface="Cambria Math" charset="0"/>
                  </a:rPr>
                  <a:t>2</a:t>
                </a:r>
                <a:r>
                  <a:rPr lang="en-US" altLang="zh-CN" i="0">
                    <a:latin typeface="Cambria Math" charset="0"/>
                  </a:rPr>
                  <a:t>=1</a:t>
                </a:r>
                <a:r>
                  <a:rPr lang="en-US" altLang="zh-CN" dirty="0" smtClean="0"/>
                  <a:t>,</a:t>
                </a:r>
                <a:r>
                  <a:rPr lang="zh-CN" altLang="en-US" baseline="0" dirty="0" smtClean="0"/>
                  <a:t> </a:t>
                </a:r>
                <a:r>
                  <a:rPr lang="en-US" altLang="zh-CN" i="0">
                    <a:solidFill>
                      <a:srgbClr val="C00000"/>
                    </a:solidFill>
                    <a:latin typeface="Cambria Math" charset="0"/>
                  </a:rPr>
                  <a:t>𝑥</a:t>
                </a:r>
                <a:r>
                  <a:rPr lang="en-US" altLang="zh-CN" i="0" smtClean="0">
                    <a:solidFill>
                      <a:srgbClr val="C00000"/>
                    </a:solidFill>
                    <a:latin typeface="Cambria Math" charset="0"/>
                  </a:rPr>
                  <a:t>_</a:t>
                </a:r>
                <a:r>
                  <a:rPr lang="en-US" altLang="zh-CN" b="0" i="0" smtClean="0">
                    <a:solidFill>
                      <a:srgbClr val="C00000"/>
                    </a:solidFill>
                    <a:latin typeface="Cambria Math" charset="0"/>
                  </a:rPr>
                  <a:t>3</a:t>
                </a:r>
                <a:r>
                  <a:rPr lang="en-US" altLang="zh-CN" i="0">
                    <a:latin typeface="Cambria Math" charset="0"/>
                  </a:rPr>
                  <a:t>=</a:t>
                </a:r>
                <a:r>
                  <a:rPr lang="en-US" altLang="zh-CN" b="0" i="0" smtClean="0">
                    <a:latin typeface="Cambria Math" charset="0"/>
                  </a:rPr>
                  <a:t>0</a:t>
                </a:r>
                <a:r>
                  <a:rPr lang="en-US" altLang="zh-CN" dirty="0" smtClean="0"/>
                  <a:t>,</a:t>
                </a:r>
                <a:r>
                  <a:rPr lang="zh-CN" altLang="en-US" baseline="0" dirty="0" smtClean="0"/>
                  <a:t> </a:t>
                </a:r>
                <a:r>
                  <a:rPr lang="en-US" altLang="zh-CN" i="0">
                    <a:solidFill>
                      <a:srgbClr val="C00000"/>
                    </a:solidFill>
                    <a:latin typeface="Cambria Math" charset="0"/>
                  </a:rPr>
                  <a:t>𝑥</a:t>
                </a:r>
                <a:r>
                  <a:rPr lang="en-US" altLang="zh-CN" i="0" smtClean="0">
                    <a:solidFill>
                      <a:srgbClr val="C00000"/>
                    </a:solidFill>
                    <a:latin typeface="Cambria Math" charset="0"/>
                  </a:rPr>
                  <a:t>_</a:t>
                </a:r>
                <a:r>
                  <a:rPr lang="en-US" altLang="zh-CN" b="0" i="0" smtClean="0">
                    <a:solidFill>
                      <a:srgbClr val="C00000"/>
                    </a:solidFill>
                    <a:latin typeface="Cambria Math" charset="0"/>
                  </a:rPr>
                  <a:t>4</a:t>
                </a:r>
                <a:r>
                  <a:rPr lang="en-US" altLang="zh-CN" i="0">
                    <a:latin typeface="Cambria Math" charset="0"/>
                  </a:rPr>
                  <a:t>=1</a:t>
                </a:r>
                <a:r>
                  <a:rPr lang="en-US" altLang="zh-CN" dirty="0" smtClean="0"/>
                  <a:t>.</a:t>
                </a:r>
              </a:p>
              <a:p>
                <a:r>
                  <a:rPr lang="zh-CN" altLang="en-US" dirty="0" smtClean="0"/>
                  <a:t>这四个数就是随机变量大</a:t>
                </a:r>
                <a:r>
                  <a:rPr lang="en-US" altLang="zh-CN" dirty="0" smtClean="0"/>
                  <a:t>X</a:t>
                </a:r>
                <a:r>
                  <a:rPr lang="zh-CN" altLang="en-US" dirty="0" smtClean="0"/>
                  <a:t>的观测值。</a:t>
                </a:r>
                <a:endParaRPr lang="en-US" altLang="zh-CN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dirty="0" smtClean="0"/>
                  <a:t>------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200" b="0" dirty="0" smtClean="0">
                    <a:latin typeface="Lucida Bright" panose="02040602050505020304" pitchFamily="18" charset="0"/>
                  </a:rPr>
                  <a:t>这节课里，我用大写字母表示随机变量，小写字母表示观测值，避免混淆随机事件与观测。</a:t>
                </a:r>
                <a:endParaRPr lang="en-US" altLang="zh-CN" sz="1200" b="0" dirty="0" smtClean="0">
                  <a:latin typeface="Lucida Bright" panose="02040602050505020304" pitchFamily="18" charset="0"/>
                </a:endParaRPr>
              </a:p>
              <a:p>
                <a:endParaRPr lang="en-US" altLang="zh-CN" dirty="0" smtClean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5169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600" b="0" dirty="0" smtClean="0">
                <a:latin typeface="+mn-lt"/>
              </a:rPr>
              <a:t>The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n</a:t>
            </a:r>
            <a:r>
              <a:rPr lang="en-US" altLang="zh-CN" sz="1600" b="0" dirty="0" smtClean="0">
                <a:latin typeface="+mn-lt"/>
              </a:rPr>
              <a:t>ext</a:t>
            </a:r>
            <a:r>
              <a:rPr lang="zh-CN" altLang="en-US" sz="1600" b="0" dirty="0" smtClean="0">
                <a:latin typeface="+mn-lt"/>
              </a:rPr>
              <a:t> </a:t>
            </a:r>
            <a:r>
              <a:rPr lang="en-US" altLang="zh-CN" sz="1600" b="0" dirty="0" smtClean="0">
                <a:latin typeface="+mn-lt"/>
              </a:rPr>
              <a:t>concept, Probability</a:t>
            </a:r>
            <a:r>
              <a:rPr lang="zh-CN" altLang="en-US" sz="1600" b="0" dirty="0" smtClean="0">
                <a:latin typeface="+mn-lt"/>
              </a:rPr>
              <a:t> </a:t>
            </a:r>
            <a:r>
              <a:rPr lang="en-US" altLang="zh-CN" sz="1600" b="0" dirty="0" smtClean="0">
                <a:latin typeface="+mn-lt"/>
              </a:rPr>
              <a:t>Density</a:t>
            </a:r>
            <a:r>
              <a:rPr lang="zh-CN" altLang="en-US" sz="1600" b="0" dirty="0" smtClean="0">
                <a:latin typeface="+mn-lt"/>
              </a:rPr>
              <a:t> </a:t>
            </a:r>
            <a:r>
              <a:rPr lang="en-US" altLang="zh-CN" sz="1600" b="0" dirty="0" smtClean="0">
                <a:latin typeface="+mn-lt"/>
              </a:rPr>
              <a:t>Function</a:t>
            </a:r>
            <a:r>
              <a:rPr lang="zh-CN" altLang="en-US" sz="1600" b="0" dirty="0" smtClean="0">
                <a:latin typeface="+mn-lt"/>
              </a:rPr>
              <a:t> </a:t>
            </a:r>
            <a:r>
              <a:rPr lang="en-US" altLang="zh-CN" sz="1600" b="0" dirty="0" smtClean="0">
                <a:latin typeface="+mn-lt"/>
              </a:rPr>
              <a:t>(PDF).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 smtClean="0">
                <a:latin typeface="+mn-lt"/>
              </a:rPr>
              <a:t>PDF</a:t>
            </a:r>
            <a:r>
              <a:rPr lang="zh-CN" altLang="en-US" sz="1600" dirty="0" smtClean="0">
                <a:latin typeface="+mn-lt"/>
              </a:rPr>
              <a:t> </a:t>
            </a:r>
            <a:r>
              <a:rPr lang="en-US" altLang="zh-CN" sz="1600" dirty="0" smtClean="0">
                <a:latin typeface="+mn-lt"/>
              </a:rPr>
              <a:t>provides</a:t>
            </a:r>
            <a:r>
              <a:rPr lang="zh-CN" altLang="en-US" sz="1600" dirty="0" smtClean="0">
                <a:latin typeface="+mn-lt"/>
              </a:rPr>
              <a:t> </a:t>
            </a:r>
            <a:r>
              <a:rPr lang="en-US" altLang="zh-CN" sz="1600" dirty="0" smtClean="0">
                <a:latin typeface="+mn-lt"/>
              </a:rPr>
              <a:t>a</a:t>
            </a:r>
            <a:r>
              <a:rPr lang="zh-CN" altLang="en-US" sz="1600" dirty="0" smtClean="0">
                <a:latin typeface="+mn-lt"/>
              </a:rPr>
              <a:t> </a:t>
            </a:r>
            <a:r>
              <a:rPr lang="en-US" altLang="zh-CN" sz="1600" dirty="0" smtClean="0">
                <a:latin typeface="+mn-lt"/>
              </a:rPr>
              <a:t>relative likelihood that the value of the random variable would equal that sample.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 smtClean="0">
                <a:latin typeface="+mn-lt"/>
              </a:rPr>
              <a:t>The</a:t>
            </a:r>
            <a:r>
              <a:rPr lang="zh-CN" altLang="en-US" sz="1600" dirty="0" smtClean="0">
                <a:latin typeface="+mn-lt"/>
              </a:rPr>
              <a:t> </a:t>
            </a:r>
            <a:r>
              <a:rPr lang="en-US" altLang="zh-CN" sz="1600" dirty="0" smtClean="0">
                <a:latin typeface="+mn-lt"/>
              </a:rPr>
              <a:t>definition</a:t>
            </a:r>
            <a:r>
              <a:rPr lang="zh-CN" altLang="en-US" sz="1600" dirty="0" smtClean="0">
                <a:latin typeface="+mn-lt"/>
              </a:rPr>
              <a:t> </a:t>
            </a:r>
            <a:r>
              <a:rPr lang="en-US" altLang="zh-CN" sz="1600" dirty="0" smtClean="0">
                <a:latin typeface="+mn-lt"/>
              </a:rPr>
              <a:t>is</a:t>
            </a:r>
            <a:r>
              <a:rPr lang="zh-CN" altLang="en-US" sz="1600" dirty="0" smtClean="0">
                <a:latin typeface="+mn-lt"/>
              </a:rPr>
              <a:t> </a:t>
            </a:r>
            <a:r>
              <a:rPr lang="en-US" altLang="zh-CN" sz="1600" dirty="0" smtClean="0">
                <a:latin typeface="+mn-lt"/>
              </a:rPr>
              <a:t>not</a:t>
            </a:r>
            <a:r>
              <a:rPr lang="zh-CN" altLang="en-US" sz="1600" dirty="0" smtClean="0">
                <a:latin typeface="+mn-lt"/>
              </a:rPr>
              <a:t> </a:t>
            </a:r>
            <a:r>
              <a:rPr lang="en-US" altLang="zh-CN" sz="1600" dirty="0" smtClean="0">
                <a:latin typeface="+mn-lt"/>
              </a:rPr>
              <a:t>intuitive.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0" dirty="0" smtClean="0">
                <a:latin typeface="+mn-lt"/>
              </a:rPr>
              <a:t>I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want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to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show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an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example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of</a:t>
            </a:r>
            <a:r>
              <a:rPr lang="zh-CN" altLang="en-US" sz="1600" b="0" baseline="0" dirty="0" smtClean="0">
                <a:latin typeface="+mn-lt"/>
              </a:rPr>
              <a:t> </a:t>
            </a:r>
            <a:r>
              <a:rPr lang="en-US" altLang="zh-CN" sz="1600" b="0" baseline="0" dirty="0" smtClean="0">
                <a:latin typeface="+mn-lt"/>
              </a:rPr>
              <a:t>PDF.</a:t>
            </a:r>
            <a:endParaRPr lang="en-US" altLang="zh-CN" sz="1600" b="0" dirty="0" smtClean="0">
              <a:latin typeface="Lucida Bright" panose="02040602050505020304" pitchFamily="18" charset="0"/>
            </a:endParaRPr>
          </a:p>
          <a:p>
            <a:endParaRPr lang="en-US" altLang="zh-CN" sz="1600" b="0" dirty="0" smtClean="0">
              <a:latin typeface="Lucida Bright" panose="02040602050505020304" pitchFamily="18" charset="0"/>
            </a:endParaRPr>
          </a:p>
          <a:p>
            <a:endParaRPr lang="en-US" altLang="zh-CN" sz="1600" b="0" dirty="0" smtClean="0">
              <a:latin typeface="Lucida Bright" panose="02040602050505020304" pitchFamily="18" charset="0"/>
            </a:endParaRPr>
          </a:p>
          <a:p>
            <a:r>
              <a:rPr lang="zh-CN" altLang="en-US" sz="1600" b="0" dirty="0" smtClean="0">
                <a:latin typeface="Lucida Bright" panose="02040602050505020304" pitchFamily="18" charset="0"/>
              </a:rPr>
              <a:t>下一个概念。</a:t>
            </a:r>
            <a:endParaRPr lang="en-US" altLang="zh-CN" sz="1600" b="0" dirty="0" smtClean="0">
              <a:latin typeface="Lucida Bright" panose="02040602050505020304" pitchFamily="18" charset="0"/>
            </a:endParaRPr>
          </a:p>
          <a:p>
            <a:r>
              <a:rPr lang="en-US" altLang="zh-CN" sz="1600" b="0" dirty="0" smtClean="0">
                <a:latin typeface="Lucida Bright" panose="02040602050505020304" pitchFamily="18" charset="0"/>
              </a:rPr>
              <a:t>Probability</a:t>
            </a:r>
            <a:r>
              <a:rPr lang="zh-CN" altLang="en-US" sz="1600" b="0" dirty="0" smtClean="0">
                <a:latin typeface="Lucida Bright" panose="02040602050505020304" pitchFamily="18" charset="0"/>
              </a:rPr>
              <a:t> </a:t>
            </a:r>
            <a:r>
              <a:rPr lang="en-US" altLang="zh-CN" sz="1600" b="0" dirty="0" smtClean="0">
                <a:latin typeface="Lucida Bright" panose="02040602050505020304" pitchFamily="18" charset="0"/>
              </a:rPr>
              <a:t>Density</a:t>
            </a:r>
            <a:r>
              <a:rPr lang="zh-CN" altLang="en-US" sz="1600" b="0" dirty="0" smtClean="0">
                <a:latin typeface="Lucida Bright" panose="02040602050505020304" pitchFamily="18" charset="0"/>
              </a:rPr>
              <a:t> </a:t>
            </a:r>
            <a:r>
              <a:rPr lang="en-US" altLang="zh-CN" sz="1600" b="0" dirty="0" smtClean="0">
                <a:latin typeface="Lucida Bright" panose="02040602050505020304" pitchFamily="18" charset="0"/>
              </a:rPr>
              <a:t>Function</a:t>
            </a:r>
            <a:r>
              <a:rPr lang="zh-CN" altLang="en-US" sz="1600" b="0" dirty="0" smtClean="0">
                <a:latin typeface="Lucida Bright" panose="02040602050505020304" pitchFamily="18" charset="0"/>
              </a:rPr>
              <a:t> </a:t>
            </a:r>
            <a:r>
              <a:rPr lang="en-US" altLang="zh-CN" sz="1600" b="0" dirty="0" smtClean="0">
                <a:latin typeface="Lucida Bright" panose="02040602050505020304" pitchFamily="18" charset="0"/>
              </a:rPr>
              <a:t>(PDF)</a:t>
            </a:r>
            <a:r>
              <a:rPr lang="zh-CN" altLang="en-US" sz="1600" b="0" dirty="0" smtClean="0">
                <a:latin typeface="Lucida Bright" panose="02040602050505020304" pitchFamily="18" charset="0"/>
              </a:rPr>
              <a:t>，翻译成概率密度函数。</a:t>
            </a:r>
            <a:endParaRPr lang="en-US" altLang="zh-CN" sz="1600" b="0" dirty="0" smtClean="0">
              <a:latin typeface="Lucida Bright" panose="02040602050505020304" pitchFamily="18" charset="0"/>
            </a:endParaRPr>
          </a:p>
          <a:p>
            <a:r>
              <a:rPr lang="zh-CN" altLang="en-US" sz="1600" b="0" dirty="0" smtClean="0"/>
              <a:t>概率密度函数有什么物理意义呢？</a:t>
            </a:r>
            <a:endParaRPr lang="en-US" altLang="zh-CN" sz="1600" b="0" dirty="0" smtClean="0"/>
          </a:p>
          <a:p>
            <a:r>
              <a:rPr lang="zh-CN" altLang="en-US" sz="1600" b="0" dirty="0" smtClean="0"/>
              <a:t>它意味着 随机变量 在某个确定的取值点</a:t>
            </a:r>
            <a:r>
              <a:rPr lang="zh-CN" altLang="en-US" sz="1600" b="0" baseline="0" dirty="0" smtClean="0"/>
              <a:t>  </a:t>
            </a:r>
            <a:r>
              <a:rPr lang="zh-CN" altLang="en-US" sz="1600" b="0" dirty="0" smtClean="0"/>
              <a:t>附近的可能性。</a:t>
            </a:r>
            <a:endParaRPr lang="en-US" altLang="zh-CN" sz="1600" b="0" dirty="0" smtClean="0"/>
          </a:p>
          <a:p>
            <a:r>
              <a:rPr lang="en-US" altLang="zh-CN" sz="1600" b="0" dirty="0" smtClean="0"/>
              <a:t>----</a:t>
            </a:r>
          </a:p>
          <a:p>
            <a:r>
              <a:rPr lang="zh-CN" altLang="en-US" sz="1600" b="0" dirty="0" smtClean="0"/>
              <a:t>听起来有点绕。</a:t>
            </a:r>
            <a:endParaRPr lang="en-US" altLang="zh-CN" sz="1600" b="0" dirty="0" smtClean="0"/>
          </a:p>
          <a:p>
            <a:r>
              <a:rPr lang="zh-CN" altLang="en-US" sz="1600" b="0" dirty="0" smtClean="0"/>
              <a:t>我们来看个例子。</a:t>
            </a:r>
            <a:endParaRPr lang="en-US" sz="1600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181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600" b="0" dirty="0" smtClean="0"/>
              <a:t>Gaussian</a:t>
            </a:r>
            <a:r>
              <a:rPr lang="zh-CN" altLang="en-US" sz="1600" b="0" dirty="0" smtClean="0"/>
              <a:t> </a:t>
            </a:r>
            <a:r>
              <a:rPr lang="en-US" altLang="zh-CN" sz="1600" b="0" dirty="0" smtClean="0"/>
              <a:t>distribution,</a:t>
            </a:r>
            <a:r>
              <a:rPr lang="zh-CN" altLang="en-US" sz="1600" b="0" dirty="0" smtClean="0"/>
              <a:t> </a:t>
            </a:r>
            <a:r>
              <a:rPr lang="en-US" altLang="zh-CN" sz="1600" b="0" dirty="0" smtClean="0"/>
              <a:t>also</a:t>
            </a:r>
            <a:r>
              <a:rPr lang="zh-CN" altLang="en-US" sz="1600" b="0" dirty="0" smtClean="0"/>
              <a:t> </a:t>
            </a:r>
            <a:r>
              <a:rPr lang="en-US" altLang="zh-CN" sz="1600" b="0" dirty="0" smtClean="0"/>
              <a:t>known</a:t>
            </a:r>
            <a:r>
              <a:rPr lang="zh-CN" altLang="en-US" sz="1600" b="0" dirty="0" smtClean="0"/>
              <a:t> </a:t>
            </a:r>
            <a:r>
              <a:rPr lang="en-US" altLang="zh-CN" sz="1600" b="0" dirty="0" smtClean="0"/>
              <a:t>as</a:t>
            </a:r>
            <a:r>
              <a:rPr lang="zh-CN" altLang="en-US" sz="1600" b="0" dirty="0" smtClean="0"/>
              <a:t> </a:t>
            </a:r>
            <a:r>
              <a:rPr lang="en-US" altLang="zh-CN" sz="1600" b="0" dirty="0" smtClean="0"/>
              <a:t>the</a:t>
            </a:r>
            <a:r>
              <a:rPr lang="zh-CN" altLang="en-US" sz="1600" b="0" dirty="0" smtClean="0"/>
              <a:t> </a:t>
            </a:r>
            <a:r>
              <a:rPr lang="en-US" altLang="zh-CN" sz="1600" b="0" dirty="0" smtClean="0"/>
              <a:t>normal</a:t>
            </a:r>
            <a:r>
              <a:rPr lang="zh-CN" altLang="en-US" sz="1600" b="0" dirty="0" smtClean="0"/>
              <a:t> </a:t>
            </a:r>
            <a:r>
              <a:rPr lang="en-US" altLang="zh-CN" sz="1600" b="0" dirty="0" smtClean="0"/>
              <a:t>distribution,</a:t>
            </a:r>
            <a:r>
              <a:rPr lang="zh-CN" altLang="en-US" sz="1600" b="0" dirty="0" smtClean="0"/>
              <a:t> </a:t>
            </a:r>
            <a:r>
              <a:rPr lang="en-US" altLang="zh-CN" sz="1600" b="0" dirty="0" smtClean="0"/>
              <a:t>is</a:t>
            </a:r>
            <a:r>
              <a:rPr lang="zh-CN" altLang="en-US" sz="1600" b="0" dirty="0" smtClean="0"/>
              <a:t> </a:t>
            </a:r>
            <a:r>
              <a:rPr lang="en-US" altLang="zh-CN" sz="1600" b="0" dirty="0" smtClean="0"/>
              <a:t>a</a:t>
            </a:r>
            <a:r>
              <a:rPr lang="zh-CN" altLang="en-US" sz="1600" b="0" dirty="0" smtClean="0"/>
              <a:t> </a:t>
            </a:r>
            <a:r>
              <a:rPr lang="en-US" altLang="zh-CN" sz="1600" b="0" dirty="0" smtClean="0"/>
              <a:t>continuous</a:t>
            </a:r>
            <a:r>
              <a:rPr lang="zh-CN" altLang="en-US" sz="1600" b="0" dirty="0" smtClean="0"/>
              <a:t> </a:t>
            </a:r>
            <a:r>
              <a:rPr lang="en-US" altLang="zh-CN" sz="1600" b="0" dirty="0" smtClean="0"/>
              <a:t>distribution.</a:t>
            </a:r>
          </a:p>
          <a:p>
            <a:r>
              <a:rPr lang="en-US" altLang="zh-CN" sz="1600" b="0" dirty="0" smtClean="0"/>
              <a:t>The</a:t>
            </a:r>
            <a:r>
              <a:rPr lang="zh-CN" altLang="en-US" sz="1600" b="0" dirty="0" smtClean="0"/>
              <a:t> </a:t>
            </a:r>
            <a:r>
              <a:rPr lang="en-US" altLang="zh-CN" sz="1600" b="0" dirty="0" smtClean="0"/>
              <a:t>variable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x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can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be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any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real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number.</a:t>
            </a:r>
          </a:p>
          <a:p>
            <a:r>
              <a:rPr lang="en-US" altLang="zh-CN" sz="1600" b="0" baseline="0" dirty="0" smtClean="0"/>
              <a:t>========================================</a:t>
            </a:r>
          </a:p>
          <a:p>
            <a:r>
              <a:rPr lang="en-US" altLang="zh-CN" sz="1600" b="0" baseline="0" dirty="0" smtClean="0"/>
              <a:t>p(x)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is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the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probability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density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function.</a:t>
            </a:r>
          </a:p>
          <a:p>
            <a:r>
              <a:rPr lang="en-US" altLang="zh-CN" sz="1600" b="0" baseline="0" dirty="0" smtClean="0"/>
              <a:t>It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is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determined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by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the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mean,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mu,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and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standard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deviation,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sigma.</a:t>
            </a:r>
          </a:p>
          <a:p>
            <a:r>
              <a:rPr lang="en-US" altLang="zh-CN" sz="1600" b="0" baseline="0" dirty="0" smtClean="0"/>
              <a:t>p(x)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is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the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probability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density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around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a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given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value,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small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x.</a:t>
            </a:r>
          </a:p>
          <a:p>
            <a:r>
              <a:rPr lang="en-US" altLang="zh-CN" sz="1600" b="0" baseline="0" dirty="0" smtClean="0"/>
              <a:t>========================================</a:t>
            </a:r>
          </a:p>
          <a:p>
            <a:r>
              <a:rPr lang="en-US" altLang="zh-CN" sz="1600" b="0" baseline="0" dirty="0" smtClean="0"/>
              <a:t>The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graph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of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Gaussian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distribution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has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the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bell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shape.</a:t>
            </a:r>
          </a:p>
          <a:p>
            <a:r>
              <a:rPr lang="en-US" altLang="zh-CN" sz="1600" b="0" baseline="0" dirty="0" smtClean="0"/>
              <a:t>The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x-axis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denotes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the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variable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x,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and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the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y-axis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denotes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the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probability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density.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0" baseline="0" dirty="0" smtClean="0"/>
              <a:t>========================================</a:t>
            </a:r>
          </a:p>
          <a:p>
            <a:r>
              <a:rPr lang="en-US" altLang="zh-CN" sz="1600" b="0" baseline="0" dirty="0" smtClean="0"/>
              <a:t>Around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the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mean,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mu,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the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probability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density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is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high.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0" baseline="0" dirty="0" smtClean="0"/>
              <a:t>========================================</a:t>
            </a:r>
          </a:p>
          <a:p>
            <a:r>
              <a:rPr lang="en-US" altLang="zh-CN" sz="1600" b="0" baseline="0" dirty="0" smtClean="0"/>
              <a:t>Away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from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the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mean,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the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probability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density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is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low.</a:t>
            </a:r>
          </a:p>
          <a:p>
            <a:r>
              <a:rPr lang="en-US" altLang="zh-CN" sz="1600" b="0" baseline="0" dirty="0" smtClean="0"/>
              <a:t>-----</a:t>
            </a:r>
          </a:p>
          <a:p>
            <a:r>
              <a:rPr lang="en-US" altLang="zh-CN" sz="1600" b="0" baseline="0" dirty="0" smtClean="0"/>
              <a:t>If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you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draw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a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random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sample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from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Gaussian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distribution,</a:t>
            </a:r>
            <a:r>
              <a:rPr lang="zh-CN" altLang="en-US" sz="1600" b="0" baseline="0" dirty="0" smtClean="0"/>
              <a:t> </a:t>
            </a:r>
            <a:endParaRPr lang="en-US" altLang="zh-CN" sz="1600" b="0" baseline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0" baseline="0" dirty="0" smtClean="0"/>
              <a:t>========================================</a:t>
            </a:r>
          </a:p>
          <a:p>
            <a:r>
              <a:rPr lang="en-US" altLang="zh-CN" sz="1600" b="0" baseline="0" dirty="0" smtClean="0"/>
              <a:t>it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is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very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likely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in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the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neighborhood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of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the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mean.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0" baseline="0" dirty="0" smtClean="0"/>
              <a:t>========================================</a:t>
            </a:r>
          </a:p>
          <a:p>
            <a:r>
              <a:rPr lang="en-US" altLang="zh-CN" sz="1600" b="0" baseline="0" dirty="0" smtClean="0"/>
              <a:t>It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is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unlikely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far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from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the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mean.</a:t>
            </a:r>
          </a:p>
          <a:p>
            <a:endParaRPr lang="en-US" altLang="zh-CN" sz="1600" b="0" dirty="0" smtClean="0"/>
          </a:p>
          <a:p>
            <a:endParaRPr lang="en-US" altLang="zh-CN" sz="1600" b="0" dirty="0" smtClean="0"/>
          </a:p>
          <a:p>
            <a:endParaRPr lang="en-US" altLang="zh-CN" sz="1600" b="0" dirty="0" smtClean="0"/>
          </a:p>
          <a:p>
            <a:endParaRPr lang="en-US" altLang="zh-CN" sz="1600" b="0" dirty="0" smtClean="0"/>
          </a:p>
          <a:p>
            <a:endParaRPr lang="en-US" altLang="zh-CN" sz="1600" b="0" dirty="0" smtClean="0"/>
          </a:p>
          <a:p>
            <a:r>
              <a:rPr lang="zh-CN" altLang="en-US" sz="1600" b="0" dirty="0" smtClean="0"/>
              <a:t>高斯分布，也叫正态分布，是一个连续的概率分布。</a:t>
            </a:r>
            <a:endParaRPr lang="en-US" altLang="zh-CN" sz="1600" b="0" dirty="0" smtClean="0"/>
          </a:p>
          <a:p>
            <a:r>
              <a:rPr lang="zh-CN" altLang="en-US" sz="1600" b="0" dirty="0" smtClean="0"/>
              <a:t>随机变量</a:t>
            </a:r>
            <a:r>
              <a:rPr lang="en-US" altLang="zh-CN" sz="1600" b="0" dirty="0" smtClean="0"/>
              <a:t>X</a:t>
            </a:r>
            <a:r>
              <a:rPr lang="zh-CN" altLang="en-US" sz="1600" b="0" dirty="0" smtClean="0"/>
              <a:t>的取值可以是任何一个实数。</a:t>
            </a:r>
            <a:endParaRPr lang="en-US" altLang="zh-CN" sz="1600" b="0" dirty="0" smtClean="0"/>
          </a:p>
          <a:p>
            <a:r>
              <a:rPr lang="zh-CN" altLang="en-US" sz="1600" b="0" dirty="0" smtClean="0"/>
              <a:t>大学时候的概率论应该已经教过了，高斯分布的概率密度函数</a:t>
            </a:r>
            <a:r>
              <a:rPr lang="en-US" altLang="zh-CN" sz="1600" b="0" dirty="0" smtClean="0"/>
              <a:t>p(x)</a:t>
            </a:r>
            <a:r>
              <a:rPr lang="zh-CN" altLang="en-US" sz="1600" b="0" dirty="0" smtClean="0"/>
              <a:t>可以写成这样。</a:t>
            </a:r>
            <a:endParaRPr lang="en-US" altLang="zh-CN" sz="1600" b="0" dirty="0" smtClean="0"/>
          </a:p>
          <a:p>
            <a:r>
              <a:rPr lang="zh-CN" altLang="en-US" sz="1600" b="0" dirty="0" smtClean="0"/>
              <a:t>这里的</a:t>
            </a:r>
            <a:r>
              <a:rPr lang="en-US" altLang="zh-CN" sz="1600" b="0" dirty="0" smtClean="0"/>
              <a:t>mu</a:t>
            </a:r>
            <a:r>
              <a:rPr lang="zh-CN" altLang="en-US" sz="1600" b="0" dirty="0" smtClean="0"/>
              <a:t>是均值，</a:t>
            </a:r>
            <a:r>
              <a:rPr lang="en-US" altLang="zh-CN" sz="1600" b="0" dirty="0" smtClean="0"/>
              <a:t>sigma</a:t>
            </a:r>
            <a:r>
              <a:rPr lang="zh-CN" altLang="en-US" sz="1600" b="0" dirty="0" smtClean="0"/>
              <a:t>是标准差。</a:t>
            </a:r>
            <a:endParaRPr lang="en-US" altLang="zh-CN" sz="1600" b="0" dirty="0" smtClean="0"/>
          </a:p>
          <a:p>
            <a:r>
              <a:rPr lang="en-US" altLang="zh-CN" sz="1600" b="0" dirty="0" smtClean="0"/>
              <a:t>==========</a:t>
            </a:r>
          </a:p>
          <a:p>
            <a:r>
              <a:rPr lang="zh-CN" altLang="en-US" sz="1600" b="0" dirty="0" smtClean="0"/>
              <a:t>这张图里横轴是随机变量</a:t>
            </a:r>
            <a:r>
              <a:rPr lang="en-US" altLang="zh-CN" sz="1600" b="0" dirty="0" smtClean="0"/>
              <a:t>x</a:t>
            </a:r>
            <a:r>
              <a:rPr lang="zh-CN" altLang="en-US" sz="1600" b="0" dirty="0" smtClean="0"/>
              <a:t>的取值，纵轴是概率密度。</a:t>
            </a:r>
            <a:endParaRPr lang="en-US" altLang="zh-CN" sz="1600" b="0" dirty="0" smtClean="0"/>
          </a:p>
          <a:p>
            <a:r>
              <a:rPr lang="zh-CN" altLang="en-US" sz="1600" b="0" dirty="0" smtClean="0"/>
              <a:t>这条曲线就是高斯分布的概率密度函数</a:t>
            </a:r>
            <a:r>
              <a:rPr lang="en-US" altLang="zh-CN" sz="1600" b="0" dirty="0" smtClean="0"/>
              <a:t>p(x)</a:t>
            </a:r>
            <a:r>
              <a:rPr lang="zh-CN" altLang="en-US" sz="1600" b="0" dirty="0" smtClean="0"/>
              <a:t>。</a:t>
            </a:r>
            <a:endParaRPr lang="en-US" altLang="zh-CN" sz="1600" b="0" dirty="0" smtClean="0"/>
          </a:p>
          <a:p>
            <a:r>
              <a:rPr lang="zh-CN" altLang="en-US" sz="1600" b="0" dirty="0" smtClean="0"/>
              <a:t>这个概率密度函数说明</a:t>
            </a:r>
            <a:r>
              <a:rPr lang="en-US" altLang="zh-CN" sz="1600" b="0" dirty="0" smtClean="0"/>
              <a:t>x</a:t>
            </a:r>
            <a:r>
              <a:rPr lang="zh-CN" altLang="en-US" sz="1600" b="0" dirty="0" smtClean="0"/>
              <a:t>在原点附近取值的概率较大，在远离原点的地方取值概率较小。</a:t>
            </a:r>
            <a:endParaRPr lang="en-US" sz="1600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3740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600" b="0" dirty="0" smtClean="0"/>
              <a:t>In</a:t>
            </a:r>
            <a:r>
              <a:rPr lang="zh-CN" altLang="en-US" sz="1600" b="0" dirty="0" smtClean="0"/>
              <a:t> </a:t>
            </a:r>
            <a:r>
              <a:rPr lang="en-US" altLang="zh-CN" sz="1600" b="0" dirty="0" smtClean="0"/>
              <a:t>some</a:t>
            </a:r>
            <a:r>
              <a:rPr lang="zh-CN" altLang="en-US" sz="1600" b="0" dirty="0" smtClean="0"/>
              <a:t> </a:t>
            </a:r>
            <a:r>
              <a:rPr lang="en-US" altLang="zh-CN" sz="1600" b="0" dirty="0" smtClean="0"/>
              <a:t>applications,</a:t>
            </a:r>
            <a:r>
              <a:rPr lang="zh-CN" altLang="en-US" sz="1600" b="0" dirty="0" smtClean="0"/>
              <a:t> </a:t>
            </a:r>
            <a:r>
              <a:rPr lang="en-US" altLang="zh-CN" sz="1600" b="0" dirty="0" smtClean="0"/>
              <a:t>the</a:t>
            </a:r>
            <a:r>
              <a:rPr lang="zh-CN" altLang="en-US" sz="1600" b="0" dirty="0" smtClean="0"/>
              <a:t> </a:t>
            </a:r>
            <a:r>
              <a:rPr lang="en-US" altLang="zh-CN" sz="1600" b="0" dirty="0" smtClean="0"/>
              <a:t>random</a:t>
            </a:r>
            <a:r>
              <a:rPr lang="zh-CN" altLang="en-US" sz="1600" b="0" dirty="0" smtClean="0"/>
              <a:t> </a:t>
            </a:r>
            <a:r>
              <a:rPr lang="en-US" altLang="zh-CN" sz="1600" b="0" dirty="0" smtClean="0"/>
              <a:t>variables</a:t>
            </a:r>
            <a:r>
              <a:rPr lang="zh-CN" altLang="en-US" sz="1600" b="0" dirty="0" smtClean="0"/>
              <a:t> </a:t>
            </a:r>
            <a:r>
              <a:rPr lang="en-US" altLang="zh-CN" sz="1600" b="0" dirty="0" smtClean="0"/>
              <a:t>are</a:t>
            </a:r>
            <a:r>
              <a:rPr lang="zh-CN" altLang="en-US" sz="1600" b="0" dirty="0" smtClean="0"/>
              <a:t> </a:t>
            </a:r>
            <a:r>
              <a:rPr lang="en-US" altLang="zh-CN" sz="1600" b="0" dirty="0" smtClean="0"/>
              <a:t>discrete.</a:t>
            </a:r>
          </a:p>
          <a:p>
            <a:r>
              <a:rPr lang="en-US" altLang="zh-CN" sz="1600" b="0" dirty="0" smtClean="0"/>
              <a:t>This</a:t>
            </a:r>
            <a:r>
              <a:rPr lang="zh-CN" altLang="en-US" sz="1600" b="0" dirty="0" smtClean="0"/>
              <a:t> </a:t>
            </a:r>
            <a:r>
              <a:rPr lang="en-US" altLang="zh-CN" sz="1600" b="0" dirty="0" smtClean="0"/>
              <a:t>is</a:t>
            </a:r>
            <a:r>
              <a:rPr lang="zh-CN" altLang="en-US" sz="1600" b="0" dirty="0" smtClean="0"/>
              <a:t> </a:t>
            </a:r>
            <a:r>
              <a:rPr lang="en-US" altLang="zh-CN" sz="1600" b="0" dirty="0" smtClean="0"/>
              <a:t>known</a:t>
            </a:r>
            <a:r>
              <a:rPr lang="zh-CN" altLang="en-US" sz="1600" b="0" dirty="0" smtClean="0"/>
              <a:t> </a:t>
            </a:r>
            <a:r>
              <a:rPr lang="en-US" altLang="zh-CN" sz="1600" b="0" dirty="0" smtClean="0"/>
              <a:t>as</a:t>
            </a:r>
            <a:r>
              <a:rPr lang="zh-CN" altLang="en-US" sz="1600" b="0" dirty="0" smtClean="0"/>
              <a:t> </a:t>
            </a:r>
            <a:r>
              <a:rPr lang="en-US" altLang="zh-CN" sz="1600" b="0" dirty="0" smtClean="0"/>
              <a:t>discrete</a:t>
            </a:r>
            <a:r>
              <a:rPr lang="zh-CN" altLang="en-US" sz="1600" b="0" dirty="0" smtClean="0"/>
              <a:t> </a:t>
            </a:r>
            <a:r>
              <a:rPr lang="en-US" altLang="zh-CN" sz="1600" b="0" dirty="0" smtClean="0"/>
              <a:t>probability</a:t>
            </a:r>
            <a:r>
              <a:rPr lang="zh-CN" altLang="en-US" sz="1600" b="0" dirty="0" smtClean="0"/>
              <a:t> </a:t>
            </a:r>
            <a:r>
              <a:rPr lang="en-US" altLang="zh-CN" sz="1600" b="0" dirty="0" smtClean="0"/>
              <a:t>distribution.</a:t>
            </a:r>
          </a:p>
          <a:p>
            <a:r>
              <a:rPr lang="en-US" altLang="zh-CN" sz="1600" b="0" dirty="0" smtClean="0"/>
              <a:t>In</a:t>
            </a:r>
            <a:r>
              <a:rPr lang="zh-CN" altLang="en-US" sz="1600" b="0" dirty="0" smtClean="0"/>
              <a:t> </a:t>
            </a:r>
            <a:r>
              <a:rPr lang="en-US" altLang="zh-CN" sz="1600" b="0" dirty="0" smtClean="0"/>
              <a:t>the</a:t>
            </a:r>
            <a:r>
              <a:rPr lang="zh-CN" altLang="en-US" sz="1600" b="0" dirty="0" smtClean="0"/>
              <a:t> </a:t>
            </a:r>
            <a:r>
              <a:rPr lang="en-US" altLang="zh-CN" sz="1600" b="0" dirty="0" smtClean="0"/>
              <a:t>example</a:t>
            </a:r>
            <a:r>
              <a:rPr lang="zh-CN" altLang="en-US" sz="1600" b="0" dirty="0" smtClean="0"/>
              <a:t> </a:t>
            </a:r>
            <a:r>
              <a:rPr lang="en-US" altLang="zh-CN" sz="1600" b="0" dirty="0" smtClean="0"/>
              <a:t>of</a:t>
            </a:r>
            <a:r>
              <a:rPr lang="zh-CN" altLang="en-US" sz="1600" b="0" dirty="0" smtClean="0"/>
              <a:t> </a:t>
            </a:r>
            <a:r>
              <a:rPr lang="en-US" altLang="zh-CN" sz="1600" b="0" dirty="0" smtClean="0"/>
              <a:t>tossing</a:t>
            </a:r>
            <a:r>
              <a:rPr lang="zh-CN" altLang="en-US" sz="1600" b="0" dirty="0" smtClean="0"/>
              <a:t> </a:t>
            </a:r>
            <a:r>
              <a:rPr lang="en-US" altLang="zh-CN" sz="1600" b="0" dirty="0" smtClean="0"/>
              <a:t>a</a:t>
            </a:r>
            <a:r>
              <a:rPr lang="zh-CN" altLang="en-US" sz="1600" b="0" dirty="0" smtClean="0"/>
              <a:t> </a:t>
            </a:r>
            <a:r>
              <a:rPr lang="en-US" altLang="zh-CN" sz="1600" b="0" dirty="0" smtClean="0"/>
              <a:t>coin,</a:t>
            </a:r>
            <a:r>
              <a:rPr lang="zh-CN" altLang="en-US" sz="1600" b="0" dirty="0" smtClean="0"/>
              <a:t> </a:t>
            </a:r>
            <a:r>
              <a:rPr lang="en-US" altLang="zh-CN" sz="1600" b="0" dirty="0" smtClean="0"/>
              <a:t>the</a:t>
            </a:r>
            <a:r>
              <a:rPr lang="zh-CN" altLang="en-US" sz="1600" b="0" dirty="0" smtClean="0"/>
              <a:t> </a:t>
            </a:r>
            <a:r>
              <a:rPr lang="en-US" altLang="zh-CN" sz="1600" b="0" dirty="0" smtClean="0"/>
              <a:t>variable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can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only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choose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value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from</a:t>
            </a:r>
            <a:r>
              <a:rPr lang="zh-CN" altLang="en-US" sz="1600" b="0" baseline="0" dirty="0" smtClean="0"/>
              <a:t> </a:t>
            </a:r>
            <a:r>
              <a:rPr lang="en-US" altLang="zh-CN" sz="1600" b="0" dirty="0" smtClean="0"/>
              <a:t>a</a:t>
            </a:r>
            <a:r>
              <a:rPr lang="zh-CN" altLang="en-US" sz="1600" b="0" dirty="0" smtClean="0"/>
              <a:t> </a:t>
            </a:r>
            <a:r>
              <a:rPr lang="en-US" altLang="zh-CN" sz="1600" b="0" dirty="0" smtClean="0"/>
              <a:t>discrete</a:t>
            </a:r>
            <a:r>
              <a:rPr lang="zh-CN" altLang="en-US" sz="1600" b="0" dirty="0" smtClean="0"/>
              <a:t> </a:t>
            </a:r>
            <a:r>
              <a:rPr lang="en-US" altLang="zh-CN" sz="1600" b="0" dirty="0" smtClean="0"/>
              <a:t>set.</a:t>
            </a:r>
          </a:p>
          <a:p>
            <a:r>
              <a:rPr lang="en-US" altLang="zh-CN" sz="1600" b="0" dirty="0" smtClean="0"/>
              <a:t>The</a:t>
            </a:r>
            <a:r>
              <a:rPr lang="zh-CN" altLang="en-US" sz="1600" b="0" dirty="0" smtClean="0"/>
              <a:t> </a:t>
            </a:r>
            <a:r>
              <a:rPr lang="en-US" altLang="zh-CN" sz="1600" b="0" dirty="0" smtClean="0"/>
              <a:t>values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can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be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either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0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or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1.</a:t>
            </a:r>
          </a:p>
          <a:p>
            <a:r>
              <a:rPr lang="en-US" altLang="zh-CN" sz="1600" b="0" baseline="0" dirty="0" smtClean="0"/>
              <a:t>-------------</a:t>
            </a:r>
          </a:p>
          <a:p>
            <a:r>
              <a:rPr lang="en-US" altLang="zh-CN" sz="1600" b="0" baseline="0" dirty="0" smtClean="0"/>
              <a:t>For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discrete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variables,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we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use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probability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mass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function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(PMF)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to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describe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the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probability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distribution.</a:t>
            </a:r>
          </a:p>
          <a:p>
            <a:r>
              <a:rPr lang="en-US" altLang="zh-CN" sz="1600" dirty="0" smtClean="0"/>
              <a:t>PMF is a function that gives the probability that a discrete random variable is exactly equal to some value.</a:t>
            </a:r>
            <a:endParaRPr lang="en-US" altLang="zh-CN" sz="1600" b="0" baseline="0" dirty="0" smtClean="0"/>
          </a:p>
          <a:p>
            <a:endParaRPr lang="en-US" altLang="zh-CN" sz="1600" b="0" dirty="0" smtClean="0"/>
          </a:p>
          <a:p>
            <a:endParaRPr lang="en-US" sz="1600" b="0" dirty="0" smtClean="0"/>
          </a:p>
          <a:p>
            <a:endParaRPr lang="en-US" sz="1600" b="0" dirty="0" smtClean="0"/>
          </a:p>
          <a:p>
            <a:endParaRPr lang="en-US" sz="1600" b="0" dirty="0" smtClean="0"/>
          </a:p>
          <a:p>
            <a:endParaRPr lang="en-US" sz="1600" b="0" dirty="0" smtClean="0"/>
          </a:p>
          <a:p>
            <a:endParaRPr lang="en-US" sz="1600" b="0" dirty="0" smtClean="0"/>
          </a:p>
          <a:p>
            <a:endParaRPr lang="en-US" sz="1600" b="0" dirty="0" smtClean="0"/>
          </a:p>
          <a:p>
            <a:endParaRPr lang="en-US" sz="1600" b="0" dirty="0" smtClean="0"/>
          </a:p>
          <a:p>
            <a:endParaRPr lang="en-US" sz="1600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2947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600" b="0" dirty="0" smtClean="0"/>
              <a:t>Here</a:t>
            </a:r>
            <a:r>
              <a:rPr lang="zh-CN" altLang="en-US" sz="1600" b="0" dirty="0" smtClean="0"/>
              <a:t> </a:t>
            </a:r>
            <a:r>
              <a:rPr lang="en-US" altLang="zh-CN" sz="1600" b="0" dirty="0" smtClean="0"/>
              <a:t>is</a:t>
            </a:r>
            <a:r>
              <a:rPr lang="zh-CN" altLang="en-US" sz="1600" b="0" dirty="0" smtClean="0"/>
              <a:t> </a:t>
            </a:r>
            <a:r>
              <a:rPr lang="en-US" altLang="zh-CN" sz="1600" b="0" dirty="0" smtClean="0"/>
              <a:t>an</a:t>
            </a:r>
            <a:r>
              <a:rPr lang="zh-CN" altLang="en-US" sz="1600" b="0" dirty="0" smtClean="0"/>
              <a:t> </a:t>
            </a:r>
            <a:r>
              <a:rPr lang="en-US" altLang="zh-CN" sz="1600" b="0" dirty="0" smtClean="0"/>
              <a:t>example</a:t>
            </a:r>
            <a:r>
              <a:rPr lang="zh-CN" altLang="en-US" sz="1600" b="0" dirty="0" smtClean="0"/>
              <a:t> </a:t>
            </a:r>
            <a:r>
              <a:rPr lang="en-US" altLang="zh-CN" sz="1600" b="0" dirty="0" smtClean="0"/>
              <a:t>of</a:t>
            </a:r>
            <a:r>
              <a:rPr lang="zh-CN" altLang="en-US" sz="1600" b="0" dirty="0" smtClean="0"/>
              <a:t> </a:t>
            </a:r>
            <a:r>
              <a:rPr lang="en-US" altLang="zh-CN" sz="1600" b="0" dirty="0" smtClean="0"/>
              <a:t>discrete</a:t>
            </a:r>
            <a:r>
              <a:rPr lang="zh-CN" altLang="en-US" sz="1600" b="0" dirty="0" smtClean="0"/>
              <a:t> </a:t>
            </a:r>
            <a:r>
              <a:rPr lang="en-US" altLang="zh-CN" sz="1600" b="0" dirty="0" smtClean="0"/>
              <a:t>distribution.</a:t>
            </a:r>
          </a:p>
          <a:p>
            <a:r>
              <a:rPr lang="en-US" altLang="zh-CN" sz="1600" b="0" dirty="0" smtClean="0"/>
              <a:t>The</a:t>
            </a:r>
            <a:r>
              <a:rPr lang="zh-CN" altLang="en-US" sz="1600" b="0" dirty="0" smtClean="0"/>
              <a:t> </a:t>
            </a:r>
            <a:r>
              <a:rPr lang="en-US" altLang="zh-CN" sz="1600" b="0" dirty="0" smtClean="0"/>
              <a:t>discrete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random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variable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can</a:t>
            </a:r>
            <a:r>
              <a:rPr lang="zh-CN" altLang="en-US" sz="1600" b="0" baseline="0" dirty="0" smtClean="0"/>
              <a:t> </a:t>
            </a:r>
            <a:r>
              <a:rPr lang="en-US" altLang="zh-CN" sz="1600" b="0" dirty="0" smtClean="0"/>
              <a:t>only</a:t>
            </a:r>
            <a:r>
              <a:rPr lang="zh-CN" altLang="en-US" sz="1600" b="0" dirty="0" smtClean="0"/>
              <a:t> </a:t>
            </a:r>
            <a:r>
              <a:rPr lang="en-US" altLang="zh-CN" sz="1600" b="0" dirty="0" smtClean="0"/>
              <a:t>choose</a:t>
            </a:r>
            <a:r>
              <a:rPr lang="zh-CN" altLang="en-US" sz="1600" b="0" dirty="0" smtClean="0"/>
              <a:t> </a:t>
            </a:r>
            <a:r>
              <a:rPr lang="en-US" altLang="zh-CN" sz="1600" b="0" dirty="0" smtClean="0"/>
              <a:t>value</a:t>
            </a:r>
            <a:r>
              <a:rPr lang="zh-CN" altLang="en-US" sz="1600" b="0" dirty="0" smtClean="0"/>
              <a:t> </a:t>
            </a:r>
            <a:endParaRPr lang="en-US" altLang="zh-CN" sz="1600" b="0" dirty="0" smtClean="0"/>
          </a:p>
          <a:p>
            <a:r>
              <a:rPr lang="en-US" altLang="zh-CN" sz="1600" b="0" dirty="0" smtClean="0"/>
              <a:t>==============</a:t>
            </a:r>
          </a:p>
          <a:p>
            <a:r>
              <a:rPr lang="en-US" altLang="zh-CN" sz="1600" b="0" dirty="0" smtClean="0"/>
              <a:t>from</a:t>
            </a:r>
            <a:r>
              <a:rPr lang="zh-CN" altLang="en-US" sz="1600" b="0" dirty="0" smtClean="0"/>
              <a:t> </a:t>
            </a:r>
            <a:r>
              <a:rPr lang="en-US" altLang="zh-CN" sz="1600" b="0" dirty="0" smtClean="0"/>
              <a:t>the</a:t>
            </a:r>
            <a:r>
              <a:rPr lang="zh-CN" altLang="en-US" sz="1600" b="0" dirty="0" smtClean="0"/>
              <a:t> </a:t>
            </a:r>
            <a:r>
              <a:rPr lang="en-US" altLang="zh-CN" sz="1600" b="0" dirty="0" smtClean="0"/>
              <a:t>discrete</a:t>
            </a:r>
            <a:r>
              <a:rPr lang="zh-CN" altLang="en-US" sz="1600" b="0" dirty="0" smtClean="0"/>
              <a:t> </a:t>
            </a:r>
            <a:r>
              <a:rPr lang="en-US" altLang="zh-CN" sz="1600" b="0" dirty="0" smtClean="0"/>
              <a:t>set.</a:t>
            </a:r>
          </a:p>
          <a:p>
            <a:r>
              <a:rPr lang="en-US" altLang="zh-CN" sz="1600" b="0" dirty="0" smtClean="0"/>
              <a:t>The</a:t>
            </a:r>
            <a:r>
              <a:rPr lang="zh-CN" altLang="en-US" sz="1600" b="0" dirty="0" smtClean="0"/>
              <a:t> </a:t>
            </a:r>
            <a:r>
              <a:rPr lang="en-US" altLang="zh-CN" sz="1600" b="0" dirty="0" smtClean="0"/>
              <a:t>values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can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be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1,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3,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and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7.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0" dirty="0" smtClean="0"/>
              <a:t>==============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0" baseline="0" dirty="0" smtClean="0"/>
              <a:t>p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is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the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probability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mass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function.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0" baseline="0" dirty="0" smtClean="0"/>
              <a:t>It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describes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the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probability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that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the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random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variable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is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equal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to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1,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3,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or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7.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600" b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600" b="0" dirty="0" smtClean="0"/>
          </a:p>
          <a:p>
            <a:endParaRPr lang="en-US" altLang="zh-CN" sz="1600" b="0" dirty="0" smtClean="0"/>
          </a:p>
          <a:p>
            <a:endParaRPr lang="en-US" altLang="zh-CN" sz="1600" b="0" dirty="0" smtClean="0"/>
          </a:p>
          <a:p>
            <a:r>
              <a:rPr lang="zh-CN" altLang="en-US" sz="1600" b="0" dirty="0" smtClean="0"/>
              <a:t>这是个离散的概率分布。</a:t>
            </a:r>
            <a:endParaRPr lang="en-US" altLang="zh-CN" sz="1600" b="0" dirty="0" smtClean="0"/>
          </a:p>
          <a:p>
            <a:r>
              <a:rPr lang="zh-CN" altLang="en-US" sz="1600" b="0" dirty="0" smtClean="0"/>
              <a:t>随机变量</a:t>
            </a:r>
            <a:r>
              <a:rPr lang="en-US" altLang="zh-CN" sz="1600" b="0" dirty="0" smtClean="0"/>
              <a:t>X</a:t>
            </a:r>
            <a:r>
              <a:rPr lang="zh-CN" altLang="en-US" sz="1600" b="0" dirty="0" smtClean="0"/>
              <a:t>是离散变量，</a:t>
            </a:r>
            <a:endParaRPr lang="en-US" altLang="zh-CN" sz="1600" b="0" dirty="0" smtClean="0"/>
          </a:p>
          <a:p>
            <a:r>
              <a:rPr lang="en-US" altLang="zh-CN" sz="1600" b="0" dirty="0" smtClean="0"/>
              <a:t>==============</a:t>
            </a:r>
          </a:p>
          <a:p>
            <a:r>
              <a:rPr lang="zh-CN" altLang="en-US" sz="1600" b="0" dirty="0" smtClean="0"/>
              <a:t>只能取</a:t>
            </a:r>
            <a:r>
              <a:rPr lang="en-US" altLang="zh-CN" sz="1600" b="0" dirty="0" smtClean="0"/>
              <a:t>1</a:t>
            </a:r>
            <a:r>
              <a:rPr lang="zh-CN" altLang="en-US" sz="1600" b="0" dirty="0" smtClean="0"/>
              <a:t>，</a:t>
            </a:r>
            <a:r>
              <a:rPr lang="en-US" altLang="zh-CN" sz="1600" b="0" dirty="0" smtClean="0"/>
              <a:t>3</a:t>
            </a:r>
            <a:r>
              <a:rPr lang="zh-CN" altLang="en-US" sz="1600" b="0" dirty="0" smtClean="0"/>
              <a:t>，或者</a:t>
            </a:r>
            <a:r>
              <a:rPr lang="en-US" altLang="zh-CN" sz="1600" b="0" dirty="0" smtClean="0"/>
              <a:t>7</a:t>
            </a:r>
            <a:r>
              <a:rPr lang="zh-CN" altLang="en-US" sz="1600" b="0" dirty="0" smtClean="0"/>
              <a:t>这三个值。</a:t>
            </a:r>
            <a:endParaRPr lang="en-US" altLang="zh-CN" sz="1600" b="0" dirty="0" smtClean="0"/>
          </a:p>
          <a:p>
            <a:r>
              <a:rPr lang="en-US" altLang="zh-CN" sz="1600" b="0" dirty="0" smtClean="0"/>
              <a:t>==============</a:t>
            </a:r>
          </a:p>
          <a:p>
            <a:r>
              <a:rPr lang="en-US" altLang="zh-CN" sz="1600" b="0" dirty="0" smtClean="0"/>
              <a:t>p</a:t>
            </a:r>
            <a:r>
              <a:rPr lang="zh-CN" altLang="en-US" sz="1600" b="0" dirty="0" smtClean="0"/>
              <a:t> 是概率质量函数。</a:t>
            </a:r>
            <a:endParaRPr lang="en-US" altLang="zh-CN" sz="1600" b="0" dirty="0" smtClean="0"/>
          </a:p>
          <a:p>
            <a:r>
              <a:rPr lang="zh-CN" altLang="en-US" sz="1600" b="0" dirty="0" smtClean="0"/>
              <a:t>它描述了变量 </a:t>
            </a:r>
            <a:r>
              <a:rPr lang="en-US" altLang="zh-CN" sz="1600" b="0" dirty="0" smtClean="0"/>
              <a:t>X</a:t>
            </a:r>
            <a:r>
              <a:rPr lang="zh-CN" altLang="en-US" sz="1600" b="0" dirty="0" smtClean="0"/>
              <a:t> 取值 </a:t>
            </a:r>
            <a:r>
              <a:rPr lang="en-US" altLang="zh-CN" sz="1600" b="0" dirty="0" smtClean="0"/>
              <a:t>1</a:t>
            </a:r>
            <a:r>
              <a:rPr lang="zh-CN" altLang="en-US" sz="1600" b="0" dirty="0" smtClean="0"/>
              <a:t>、</a:t>
            </a:r>
            <a:r>
              <a:rPr lang="en-US" altLang="zh-CN" sz="1600" b="0" dirty="0" smtClean="0"/>
              <a:t>3</a:t>
            </a:r>
            <a:r>
              <a:rPr lang="zh-CN" altLang="en-US" sz="1600" b="0" dirty="0" smtClean="0"/>
              <a:t>、</a:t>
            </a:r>
            <a:r>
              <a:rPr lang="en-US" altLang="zh-CN" sz="1600" b="0" dirty="0" smtClean="0"/>
              <a:t>7</a:t>
            </a:r>
            <a:r>
              <a:rPr lang="zh-CN" altLang="en-US" sz="1600" b="0" dirty="0" smtClean="0"/>
              <a:t> 的概率。</a:t>
            </a:r>
            <a:endParaRPr lang="en-US" altLang="zh-CN" sz="1600" b="0" dirty="0" smtClean="0"/>
          </a:p>
          <a:p>
            <a:endParaRPr lang="en-US" sz="1600" b="0" dirty="0" smtClean="0"/>
          </a:p>
          <a:p>
            <a:endParaRPr lang="en-US" sz="1600" b="0" dirty="0" smtClean="0"/>
          </a:p>
          <a:p>
            <a:endParaRPr lang="en-US" sz="1600" b="0" dirty="0" smtClean="0"/>
          </a:p>
          <a:p>
            <a:endParaRPr lang="en-US" sz="1600" b="0" dirty="0" smtClean="0"/>
          </a:p>
          <a:p>
            <a:endParaRPr lang="en-US" sz="1600" b="0" dirty="0" smtClean="0"/>
          </a:p>
          <a:p>
            <a:endParaRPr lang="en-US" sz="1600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7404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0" baseline="0" dirty="0" smtClean="0"/>
              <a:t>Look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at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the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figure.</a:t>
            </a:r>
          </a:p>
          <a:p>
            <a:r>
              <a:rPr lang="en-US" altLang="zh-CN" sz="1600" b="0" dirty="0" smtClean="0"/>
              <a:t>==============</a:t>
            </a:r>
          </a:p>
          <a:p>
            <a:r>
              <a:rPr lang="en-US" altLang="zh-CN" sz="1600" b="0" dirty="0" smtClean="0"/>
              <a:t>With</a:t>
            </a:r>
            <a:r>
              <a:rPr lang="zh-CN" altLang="en-US" sz="1600" b="0" dirty="0" smtClean="0"/>
              <a:t> </a:t>
            </a:r>
            <a:r>
              <a:rPr lang="en-US" altLang="zh-CN" sz="1600" b="0" dirty="0" smtClean="0"/>
              <a:t>probability</a:t>
            </a:r>
            <a:r>
              <a:rPr lang="zh-CN" altLang="en-US" sz="1600" b="0" dirty="0" smtClean="0"/>
              <a:t> </a:t>
            </a:r>
            <a:r>
              <a:rPr lang="en-US" altLang="zh-CN" sz="1600" b="0" dirty="0" smtClean="0"/>
              <a:t>0.2,</a:t>
            </a:r>
            <a:r>
              <a:rPr lang="zh-CN" altLang="en-US" sz="1600" b="0" dirty="0" smtClean="0"/>
              <a:t> </a:t>
            </a:r>
            <a:r>
              <a:rPr lang="en-US" altLang="zh-CN" sz="1600" b="0" dirty="0" smtClean="0"/>
              <a:t>X</a:t>
            </a:r>
            <a:r>
              <a:rPr lang="zh-CN" altLang="en-US" sz="1600" b="0" dirty="0" smtClean="0"/>
              <a:t> </a:t>
            </a:r>
            <a:r>
              <a:rPr lang="en-US" altLang="zh-CN" sz="1600" b="0" dirty="0" smtClean="0"/>
              <a:t>takes</a:t>
            </a:r>
            <a:r>
              <a:rPr lang="zh-CN" altLang="en-US" sz="1600" b="0" dirty="0" smtClean="0"/>
              <a:t> </a:t>
            </a:r>
            <a:r>
              <a:rPr lang="en-US" altLang="zh-CN" sz="1600" b="0" dirty="0" smtClean="0"/>
              <a:t>value</a:t>
            </a:r>
            <a:r>
              <a:rPr lang="zh-CN" altLang="en-US" sz="1600" b="0" dirty="0" smtClean="0"/>
              <a:t> </a:t>
            </a:r>
            <a:r>
              <a:rPr lang="en-US" altLang="zh-CN" sz="1600" b="0" dirty="0" smtClean="0"/>
              <a:t>1.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0" dirty="0" smtClean="0"/>
              <a:t>==============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0" dirty="0" smtClean="0"/>
              <a:t>With</a:t>
            </a:r>
            <a:r>
              <a:rPr lang="zh-CN" altLang="en-US" sz="1600" b="0" baseline="0" dirty="0" smtClean="0"/>
              <a:t> </a:t>
            </a:r>
            <a:r>
              <a:rPr lang="en-US" altLang="zh-CN" sz="1600" b="0" dirty="0" smtClean="0"/>
              <a:t>probability</a:t>
            </a:r>
            <a:r>
              <a:rPr lang="zh-CN" altLang="en-US" sz="1600" b="0" dirty="0" smtClean="0"/>
              <a:t> </a:t>
            </a:r>
            <a:r>
              <a:rPr lang="en-US" altLang="zh-CN" sz="1600" b="0" dirty="0" smtClean="0"/>
              <a:t>0.5,</a:t>
            </a:r>
            <a:r>
              <a:rPr lang="zh-CN" altLang="en-US" sz="1600" b="0" dirty="0" smtClean="0"/>
              <a:t> </a:t>
            </a:r>
            <a:r>
              <a:rPr lang="en-US" altLang="zh-CN" sz="1600" b="0" dirty="0" smtClean="0"/>
              <a:t>X</a:t>
            </a:r>
            <a:r>
              <a:rPr lang="zh-CN" altLang="en-US" sz="1600" b="0" dirty="0" smtClean="0"/>
              <a:t> </a:t>
            </a:r>
            <a:r>
              <a:rPr lang="en-US" altLang="zh-CN" sz="1600" b="0" dirty="0" smtClean="0"/>
              <a:t>takes</a:t>
            </a:r>
            <a:r>
              <a:rPr lang="zh-CN" altLang="en-US" sz="1600" b="0" dirty="0" smtClean="0"/>
              <a:t> </a:t>
            </a:r>
            <a:r>
              <a:rPr lang="en-US" altLang="zh-CN" sz="1600" b="0" dirty="0" smtClean="0"/>
              <a:t>value</a:t>
            </a:r>
            <a:r>
              <a:rPr lang="zh-CN" altLang="en-US" sz="1600" b="0" dirty="0" smtClean="0"/>
              <a:t> </a:t>
            </a:r>
            <a:r>
              <a:rPr lang="en-US" altLang="zh-CN" sz="1600" b="0" dirty="0" smtClean="0"/>
              <a:t>3.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0" dirty="0" smtClean="0"/>
              <a:t>==============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0" dirty="0" smtClean="0"/>
              <a:t>With</a:t>
            </a:r>
            <a:r>
              <a:rPr lang="zh-CN" altLang="en-US" sz="1600" b="0" baseline="0" dirty="0" smtClean="0"/>
              <a:t> </a:t>
            </a:r>
            <a:r>
              <a:rPr lang="en-US" altLang="zh-CN" sz="1600" b="0" dirty="0" smtClean="0"/>
              <a:t>probability</a:t>
            </a:r>
            <a:r>
              <a:rPr lang="zh-CN" altLang="en-US" sz="1600" b="0" dirty="0" smtClean="0"/>
              <a:t> </a:t>
            </a:r>
            <a:r>
              <a:rPr lang="en-US" altLang="zh-CN" sz="1600" b="0" dirty="0" smtClean="0"/>
              <a:t>0.3,</a:t>
            </a:r>
            <a:r>
              <a:rPr lang="zh-CN" altLang="en-US" sz="1600" b="0" dirty="0" smtClean="0"/>
              <a:t> </a:t>
            </a:r>
            <a:r>
              <a:rPr lang="en-US" altLang="zh-CN" sz="1600" b="0" dirty="0" smtClean="0"/>
              <a:t>X</a:t>
            </a:r>
            <a:r>
              <a:rPr lang="zh-CN" altLang="en-US" sz="1600" b="0" dirty="0" smtClean="0"/>
              <a:t> </a:t>
            </a:r>
            <a:r>
              <a:rPr lang="en-US" altLang="zh-CN" sz="1600" b="0" dirty="0" smtClean="0"/>
              <a:t>takes</a:t>
            </a:r>
            <a:r>
              <a:rPr lang="zh-CN" altLang="en-US" sz="1600" b="0" dirty="0" smtClean="0"/>
              <a:t> </a:t>
            </a:r>
            <a:r>
              <a:rPr lang="en-US" altLang="zh-CN" sz="1600" b="0" dirty="0" smtClean="0"/>
              <a:t>value</a:t>
            </a:r>
            <a:r>
              <a:rPr lang="zh-CN" altLang="en-US" sz="1600" b="0" dirty="0" smtClean="0"/>
              <a:t> </a:t>
            </a:r>
            <a:r>
              <a:rPr lang="en-US" altLang="zh-CN" sz="1600" b="0" dirty="0" smtClean="0"/>
              <a:t>7.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0" dirty="0" smtClean="0"/>
              <a:t>Elsewhere,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the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probability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mass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is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zero.</a:t>
            </a:r>
            <a:endParaRPr lang="en-US" altLang="zh-CN" sz="1600" b="0" dirty="0" smtClean="0"/>
          </a:p>
          <a:p>
            <a:endParaRPr lang="en-US" altLang="zh-CN" sz="1600" b="0" dirty="0" smtClean="0"/>
          </a:p>
          <a:p>
            <a:endParaRPr lang="en-US" altLang="zh-CN" sz="1600" b="0" dirty="0" smtClean="0"/>
          </a:p>
          <a:p>
            <a:r>
              <a:rPr lang="zh-CN" altLang="en-US" sz="1600" b="0" dirty="0" smtClean="0"/>
              <a:t>看一下右边的图。</a:t>
            </a:r>
            <a:endParaRPr lang="en-US" altLang="zh-CN" sz="1600" b="0" dirty="0" smtClean="0"/>
          </a:p>
          <a:p>
            <a:r>
              <a:rPr lang="en-US" altLang="zh-CN" sz="1600" b="0" dirty="0" smtClean="0"/>
              <a:t>X</a:t>
            </a:r>
            <a:r>
              <a:rPr lang="zh-CN" altLang="en-US" sz="1600" b="0" dirty="0" smtClean="0"/>
              <a:t>取值是</a:t>
            </a:r>
            <a:r>
              <a:rPr lang="en-US" altLang="zh-CN" sz="1600" b="0" dirty="0" smtClean="0"/>
              <a:t>1</a:t>
            </a:r>
            <a:r>
              <a:rPr lang="zh-CN" altLang="en-US" sz="1600" b="0" dirty="0" smtClean="0"/>
              <a:t>的概率是</a:t>
            </a:r>
            <a:r>
              <a:rPr lang="en-US" altLang="zh-CN" sz="1600" b="0" dirty="0" smtClean="0"/>
              <a:t>0.2</a:t>
            </a:r>
          </a:p>
          <a:p>
            <a:r>
              <a:rPr lang="zh-CN" altLang="en-US" sz="1600" b="0" dirty="0" smtClean="0"/>
              <a:t>取值是</a:t>
            </a:r>
            <a:r>
              <a:rPr lang="en-US" altLang="zh-CN" sz="1600" b="0" dirty="0" smtClean="0"/>
              <a:t>3</a:t>
            </a:r>
            <a:r>
              <a:rPr lang="zh-CN" altLang="en-US" sz="1600" b="0" dirty="0" smtClean="0"/>
              <a:t>的概率是</a:t>
            </a:r>
            <a:r>
              <a:rPr lang="en-US" altLang="zh-CN" sz="1600" b="0" dirty="0" smtClean="0"/>
              <a:t>0.5</a:t>
            </a:r>
            <a:r>
              <a:rPr lang="zh-CN" altLang="en-US" sz="1600" b="0" dirty="0" smtClean="0"/>
              <a:t>，</a:t>
            </a:r>
            <a:endParaRPr lang="en-US" altLang="zh-CN" sz="1600" b="0" dirty="0" smtClean="0"/>
          </a:p>
          <a:p>
            <a:r>
              <a:rPr lang="zh-CN" altLang="en-US" sz="1600" b="0" dirty="0" smtClean="0"/>
              <a:t>取值是</a:t>
            </a:r>
            <a:r>
              <a:rPr lang="en-US" altLang="zh-CN" sz="1600" b="0" dirty="0" smtClean="0"/>
              <a:t>7</a:t>
            </a:r>
            <a:r>
              <a:rPr lang="zh-CN" altLang="en-US" sz="1600" b="0" dirty="0" smtClean="0"/>
              <a:t>的概率是</a:t>
            </a:r>
            <a:r>
              <a:rPr lang="en-US" altLang="zh-CN" sz="1600" b="0" dirty="0" smtClean="0"/>
              <a:t>0.3.</a:t>
            </a:r>
          </a:p>
          <a:p>
            <a:r>
              <a:rPr lang="zh-CN" altLang="en-US" sz="1600" b="0" dirty="0" smtClean="0"/>
              <a:t>在其他任何地方取值的概率都是</a:t>
            </a:r>
            <a:r>
              <a:rPr lang="en-US" altLang="zh-CN" sz="1600" b="0" dirty="0" smtClean="0"/>
              <a:t>0.</a:t>
            </a:r>
          </a:p>
          <a:p>
            <a:endParaRPr lang="en-US" sz="1600" b="0" dirty="0" smtClean="0"/>
          </a:p>
          <a:p>
            <a:endParaRPr lang="en-US" sz="1600" b="0" dirty="0" smtClean="0"/>
          </a:p>
          <a:p>
            <a:endParaRPr lang="en-US" sz="1600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5745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b="0" dirty="0" smtClean="0"/>
                  <a:t>Let’s</a:t>
                </a:r>
                <a:r>
                  <a:rPr lang="zh-CN" altLang="en-US" sz="1600" b="0" dirty="0" smtClean="0"/>
                  <a:t> </a:t>
                </a:r>
                <a:r>
                  <a:rPr lang="en-US" altLang="zh-CN" sz="1600" b="0" dirty="0" smtClean="0"/>
                  <a:t>study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dirty="0" smtClean="0"/>
                  <a:t>a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property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of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PDF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and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PMF.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="0" dirty="0" smtClean="0"/>
                  <a:t>==============</a:t>
                </a:r>
              </a:p>
              <a:p>
                <a:r>
                  <a:rPr lang="en-US" altLang="zh-CN" sz="1600" b="0" baseline="0" dirty="0" smtClean="0"/>
                  <a:t>Denote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the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domain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of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random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variable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by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the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set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X.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="0" dirty="0" smtClean="0"/>
                  <a:t>==============</a:t>
                </a:r>
              </a:p>
              <a:p>
                <a:r>
                  <a:rPr lang="en-US" altLang="zh-CN" sz="1600" b="0" baseline="0" dirty="0" smtClean="0"/>
                  <a:t>For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continuous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distributions,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we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can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calculate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the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integral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of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the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PDF</a:t>
                </a:r>
                <a:r>
                  <a:rPr lang="zh-CN" altLang="en-US" sz="1600" b="0" baseline="0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latin typeface="Cambria Math" charset="0"/>
                      </a:rPr>
                      <m:t>𝑝</m:t>
                    </m:r>
                    <m:d>
                      <m:dPr>
                        <m:ctrlPr>
                          <a:rPr lang="en-US" altLang="zh-CN" sz="16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1600" b="0" dirty="0" smtClean="0"/>
                  <a:t> </a:t>
                </a:r>
                <a:r>
                  <a:rPr lang="en-US" altLang="zh-CN" sz="1600" b="0" dirty="0" smtClean="0"/>
                  <a:t>on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the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set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X.</a:t>
                </a:r>
              </a:p>
              <a:p>
                <a:r>
                  <a:rPr lang="en-US" altLang="zh-CN" sz="1600" b="0" baseline="0" dirty="0" smtClean="0"/>
                  <a:t>The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integral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is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equal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to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1.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="0" dirty="0" smtClean="0"/>
                  <a:t>==============</a:t>
                </a:r>
              </a:p>
              <a:p>
                <a:r>
                  <a:rPr lang="en-US" altLang="zh-CN" sz="1600" b="0" baseline="0" dirty="0" smtClean="0"/>
                  <a:t>For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discrete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distributions,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we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can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take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the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sum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of</a:t>
                </a:r>
                <a:r>
                  <a:rPr lang="zh-CN" altLang="en-US" sz="1600" b="0" baseline="0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latin typeface="Cambria Math" charset="0"/>
                      </a:rPr>
                      <m:t>𝑝</m:t>
                    </m:r>
                    <m:d>
                      <m:dPr>
                        <m:ctrlPr>
                          <a:rPr lang="en-US" altLang="zh-CN" sz="16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1600" b="0" dirty="0" smtClean="0"/>
                  <a:t> </a:t>
                </a:r>
                <a:r>
                  <a:rPr lang="en-US" altLang="zh-CN" sz="1600" b="0" dirty="0" smtClean="0"/>
                  <a:t>for</a:t>
                </a:r>
                <a:r>
                  <a:rPr lang="zh-CN" altLang="en-US" sz="1600" b="0" dirty="0" smtClean="0"/>
                  <a:t> </a:t>
                </a:r>
                <a:r>
                  <a:rPr lang="en-US" altLang="zh-CN" sz="1600" b="0" dirty="0" smtClean="0"/>
                  <a:t>all</a:t>
                </a:r>
                <a:r>
                  <a:rPr lang="zh-CN" altLang="en-US" sz="1600" b="0" dirty="0" smtClean="0"/>
                  <a:t> </a:t>
                </a:r>
                <a:r>
                  <a:rPr lang="en-US" altLang="zh-CN" sz="1600" b="0" dirty="0" smtClean="0"/>
                  <a:t>x</a:t>
                </a:r>
                <a:r>
                  <a:rPr lang="zh-CN" altLang="en-US" sz="1600" b="0" dirty="0" smtClean="0"/>
                  <a:t> </a:t>
                </a:r>
                <a:r>
                  <a:rPr lang="en-US" altLang="zh-CN" sz="1600" b="0" dirty="0" smtClean="0"/>
                  <a:t>in</a:t>
                </a:r>
                <a:r>
                  <a:rPr lang="zh-CN" altLang="en-US" sz="1600" b="0" dirty="0" smtClean="0"/>
                  <a:t> </a:t>
                </a:r>
                <a:r>
                  <a:rPr lang="en-US" altLang="zh-CN" sz="1600" b="0" dirty="0" smtClean="0"/>
                  <a:t>the</a:t>
                </a:r>
                <a:r>
                  <a:rPr lang="zh-CN" altLang="en-US" sz="1600" b="0" dirty="0" smtClean="0"/>
                  <a:t> </a:t>
                </a:r>
                <a:r>
                  <a:rPr lang="en-US" altLang="zh-CN" sz="1600" b="0" dirty="0" smtClean="0"/>
                  <a:t>domain.</a:t>
                </a:r>
              </a:p>
              <a:p>
                <a:r>
                  <a:rPr lang="en-US" altLang="zh-CN" sz="1600" b="0" dirty="0" smtClean="0"/>
                  <a:t>The</a:t>
                </a:r>
                <a:r>
                  <a:rPr lang="zh-CN" altLang="en-US" sz="1600" b="0" dirty="0" smtClean="0"/>
                  <a:t> </a:t>
                </a:r>
                <a:r>
                  <a:rPr lang="en-US" altLang="zh-CN" sz="1600" b="0" dirty="0" smtClean="0"/>
                  <a:t>sum</a:t>
                </a:r>
                <a:r>
                  <a:rPr lang="zh-CN" altLang="en-US" sz="1600" b="0" dirty="0" smtClean="0"/>
                  <a:t> </a:t>
                </a:r>
                <a:r>
                  <a:rPr lang="en-US" altLang="zh-CN" sz="1600" b="0" dirty="0" smtClean="0"/>
                  <a:t>is</a:t>
                </a:r>
                <a:r>
                  <a:rPr lang="zh-CN" altLang="en-US" sz="1600" b="0" dirty="0" smtClean="0"/>
                  <a:t> </a:t>
                </a:r>
                <a:r>
                  <a:rPr lang="en-US" altLang="zh-CN" sz="1600" b="0" dirty="0" smtClean="0"/>
                  <a:t>equal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to</a:t>
                </a:r>
                <a:r>
                  <a:rPr lang="zh-CN" altLang="en-US" sz="1600" b="0" dirty="0" smtClean="0"/>
                  <a:t> </a:t>
                </a:r>
                <a:r>
                  <a:rPr lang="en-US" altLang="zh-CN" sz="1600" b="0" dirty="0" smtClean="0"/>
                  <a:t>1.</a:t>
                </a:r>
              </a:p>
              <a:p>
                <a:endParaRPr lang="en-US" altLang="zh-CN" sz="1600" b="0" dirty="0" smtClean="0"/>
              </a:p>
              <a:p>
                <a:endParaRPr lang="en-US" altLang="zh-CN" sz="1600" b="0" dirty="0" smtClean="0"/>
              </a:p>
              <a:p>
                <a:r>
                  <a:rPr lang="zh-CN" altLang="en-US" sz="1600" b="0" dirty="0" smtClean="0"/>
                  <a:t>概率密度函数有这样的性质。</a:t>
                </a:r>
                <a:endParaRPr lang="en-US" altLang="zh-CN" sz="1600" b="0" dirty="0" smtClean="0"/>
              </a:p>
              <a:p>
                <a:r>
                  <a:rPr lang="zh-CN" altLang="en-US" sz="1600" b="0" dirty="0" smtClean="0"/>
                  <a:t>把随机变量的定义域记做 花体</a:t>
                </a:r>
                <a:r>
                  <a:rPr lang="en-US" altLang="zh-CN" sz="1600" b="0" dirty="0" smtClean="0"/>
                  <a:t>X</a:t>
                </a:r>
                <a:r>
                  <a:rPr lang="zh-CN" altLang="en-US" sz="1600" b="0" dirty="0" smtClean="0"/>
                  <a:t>。</a:t>
                </a:r>
                <a:endParaRPr lang="en-US" altLang="zh-CN" sz="1600" b="0" dirty="0" smtClean="0"/>
              </a:p>
              <a:p>
                <a:r>
                  <a:rPr lang="en-US" altLang="zh-CN" sz="1600" b="0" dirty="0" smtClean="0"/>
                  <a:t>-----</a:t>
                </a:r>
              </a:p>
              <a:p>
                <a:r>
                  <a:rPr lang="zh-CN" altLang="en-US" sz="1600" b="0" dirty="0" smtClean="0"/>
                  <a:t>如果</a:t>
                </a:r>
                <a:r>
                  <a:rPr lang="en-US" altLang="zh-CN" sz="1600" b="0" dirty="0" smtClean="0"/>
                  <a:t>p</a:t>
                </a:r>
                <a:r>
                  <a:rPr lang="zh-CN" altLang="en-US" sz="1600" b="0" dirty="0" smtClean="0"/>
                  <a:t>是连续概率分布，可以对</a:t>
                </a:r>
                <a:r>
                  <a:rPr lang="en-US" altLang="zh-CN" sz="1600" b="0" dirty="0" smtClean="0"/>
                  <a:t>p(x)</a:t>
                </a:r>
                <a:r>
                  <a:rPr lang="zh-CN" altLang="en-US" sz="1600" b="0" dirty="0" smtClean="0"/>
                  <a:t>做定积分，把所有</a:t>
                </a:r>
                <a:r>
                  <a:rPr lang="en-US" altLang="zh-CN" sz="1600" b="0" dirty="0" smtClean="0"/>
                  <a:t>X</a:t>
                </a:r>
                <a:r>
                  <a:rPr lang="zh-CN" altLang="en-US" sz="1600" b="0" dirty="0" smtClean="0"/>
                  <a:t>的取值都算上，积分得到的结果等于</a:t>
                </a:r>
                <a:r>
                  <a:rPr lang="en-US" altLang="zh-CN" sz="1600" b="0" dirty="0" smtClean="0"/>
                  <a:t>1</a:t>
                </a:r>
                <a:r>
                  <a:rPr lang="zh-CN" altLang="en-US" sz="1600" b="0" dirty="0" smtClean="0"/>
                  <a:t>。</a:t>
                </a:r>
                <a:endParaRPr lang="en-US" altLang="zh-CN" sz="1600" b="0" dirty="0" smtClean="0"/>
              </a:p>
              <a:p>
                <a:r>
                  <a:rPr lang="en-US" altLang="zh-CN" sz="1600" b="0" dirty="0" smtClean="0"/>
                  <a:t>-------</a:t>
                </a:r>
              </a:p>
              <a:p>
                <a:r>
                  <a:rPr lang="zh-CN" altLang="en-US" sz="1600" b="0" dirty="0" smtClean="0"/>
                  <a:t>如果</a:t>
                </a:r>
                <a:r>
                  <a:rPr lang="en-US" altLang="zh-CN" sz="1600" b="0" dirty="0" smtClean="0"/>
                  <a:t>p</a:t>
                </a:r>
                <a:r>
                  <a:rPr lang="zh-CN" altLang="en-US" sz="1600" b="0" dirty="0" smtClean="0"/>
                  <a:t>是离散概率分布呢，随机变量在离散的集合</a:t>
                </a:r>
                <a:r>
                  <a:rPr lang="en-US" altLang="zh-CN" sz="1600" b="0" dirty="0" smtClean="0"/>
                  <a:t>X</a:t>
                </a:r>
                <a:r>
                  <a:rPr lang="zh-CN" altLang="en-US" sz="1600" b="0" dirty="0" smtClean="0"/>
                  <a:t>中取值。</a:t>
                </a:r>
                <a:endParaRPr lang="en-US" altLang="zh-CN" sz="1600" b="0" dirty="0" smtClean="0"/>
              </a:p>
              <a:p>
                <a:r>
                  <a:rPr lang="zh-CN" altLang="en-US" sz="1600" b="0" dirty="0" smtClean="0"/>
                  <a:t>可以对</a:t>
                </a:r>
                <a:r>
                  <a:rPr lang="en-US" altLang="zh-CN" sz="1600" b="0" dirty="0" smtClean="0"/>
                  <a:t>p(x)</a:t>
                </a:r>
                <a:r>
                  <a:rPr lang="zh-CN" altLang="en-US" sz="1600" b="0" dirty="0" smtClean="0"/>
                  <a:t>做一个加和，把所有可能的取值都算上，加和等于</a:t>
                </a:r>
                <a:r>
                  <a:rPr lang="en-US" altLang="zh-CN" sz="1600" b="0" dirty="0" smtClean="0"/>
                  <a:t>1</a:t>
                </a:r>
                <a:r>
                  <a:rPr lang="zh-CN" altLang="en-US" sz="1600" b="0" dirty="0" smtClean="0"/>
                  <a:t>。</a:t>
                </a:r>
                <a:endParaRPr lang="en-US" altLang="zh-CN" sz="1600" b="0" dirty="0" smtClean="0"/>
              </a:p>
              <a:p>
                <a:r>
                  <a:rPr lang="en-US" altLang="zh-CN" sz="1600" b="0" dirty="0" smtClean="0"/>
                  <a:t>-------</a:t>
                </a:r>
              </a:p>
              <a:p>
                <a:r>
                  <a:rPr lang="zh-CN" altLang="en-US" sz="1600" b="0" dirty="0" smtClean="0"/>
                  <a:t>这就是概率密度函数的基本性质：把所有可能的取值都算上，概率的积分或者加和等于</a:t>
                </a:r>
                <a:r>
                  <a:rPr lang="en-US" altLang="zh-CN" sz="1600" b="0" dirty="0" smtClean="0"/>
                  <a:t>1</a:t>
                </a:r>
                <a:r>
                  <a:rPr lang="zh-CN" altLang="en-US" sz="1600" b="0" dirty="0" smtClean="0"/>
                  <a:t>。</a:t>
                </a:r>
                <a:endParaRPr lang="en-US" sz="1600" b="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b="0" dirty="0" smtClean="0"/>
                  <a:t>Here</a:t>
                </a:r>
                <a:r>
                  <a:rPr lang="zh-CN" altLang="en-US" sz="1600" b="0" dirty="0" smtClean="0"/>
                  <a:t> </a:t>
                </a:r>
                <a:r>
                  <a:rPr lang="en-US" altLang="zh-CN" sz="1600" b="0" dirty="0" smtClean="0"/>
                  <a:t>is</a:t>
                </a:r>
                <a:r>
                  <a:rPr lang="zh-CN" altLang="en-US" sz="1600" b="0" dirty="0" smtClean="0"/>
                  <a:t> </a:t>
                </a:r>
                <a:r>
                  <a:rPr lang="en-US" altLang="zh-CN" sz="1600" b="0" dirty="0" smtClean="0"/>
                  <a:t>a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property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of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PDF.</a:t>
                </a:r>
              </a:p>
              <a:p>
                <a:r>
                  <a:rPr lang="en-US" altLang="zh-CN" sz="1600" b="0" baseline="0" dirty="0" smtClean="0"/>
                  <a:t>Denote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the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domain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of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random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variable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be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the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set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X.</a:t>
                </a:r>
              </a:p>
              <a:p>
                <a:r>
                  <a:rPr lang="en-US" altLang="zh-CN" sz="1600" b="0" baseline="0" dirty="0" smtClean="0"/>
                  <a:t>----</a:t>
                </a:r>
              </a:p>
              <a:p>
                <a:r>
                  <a:rPr lang="en-US" altLang="zh-CN" sz="1600" b="0" baseline="0" dirty="0" smtClean="0"/>
                  <a:t>For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continuous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distribution,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we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can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calculate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the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integral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of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the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PDF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i="0" smtClean="0">
                    <a:latin typeface="Cambria Math" charset="0"/>
                  </a:rPr>
                  <a:t>𝑝</a:t>
                </a:r>
                <a:r>
                  <a:rPr lang="en-US" altLang="zh-CN" sz="1600" i="0">
                    <a:latin typeface="Cambria Math" charset="0"/>
                  </a:rPr>
                  <a:t>(𝑥)</a:t>
                </a:r>
                <a:r>
                  <a:rPr lang="zh-CN" altLang="en-US" sz="1600" b="0" dirty="0" smtClean="0"/>
                  <a:t> </a:t>
                </a:r>
                <a:r>
                  <a:rPr lang="en-US" altLang="zh-CN" sz="1600" b="0" dirty="0" smtClean="0"/>
                  <a:t>on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the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set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X.</a:t>
                </a:r>
              </a:p>
              <a:p>
                <a:r>
                  <a:rPr lang="en-US" altLang="zh-CN" sz="1600" b="0" baseline="0" dirty="0" smtClean="0"/>
                  <a:t>The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integral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equals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1.</a:t>
                </a:r>
              </a:p>
              <a:p>
                <a:r>
                  <a:rPr lang="en-US" altLang="zh-CN" sz="1600" b="0" baseline="0" dirty="0" smtClean="0"/>
                  <a:t>----</a:t>
                </a:r>
              </a:p>
              <a:p>
                <a:r>
                  <a:rPr lang="en-US" altLang="zh-CN" sz="1600" b="0" baseline="0" dirty="0" smtClean="0"/>
                  <a:t>For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discrete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distribution,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we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can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sum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i="0" smtClean="0">
                    <a:latin typeface="Cambria Math" charset="0"/>
                  </a:rPr>
                  <a:t>𝑝</a:t>
                </a:r>
                <a:r>
                  <a:rPr lang="en-US" altLang="zh-CN" sz="1600" i="0">
                    <a:latin typeface="Cambria Math" charset="0"/>
                  </a:rPr>
                  <a:t>(𝑥)</a:t>
                </a:r>
                <a:r>
                  <a:rPr lang="zh-CN" altLang="en-US" sz="1600" b="0" dirty="0" smtClean="0"/>
                  <a:t> </a:t>
                </a:r>
                <a:r>
                  <a:rPr lang="en-US" altLang="zh-CN" sz="1600" b="0" dirty="0" smtClean="0"/>
                  <a:t>for</a:t>
                </a:r>
                <a:r>
                  <a:rPr lang="zh-CN" altLang="en-US" sz="1600" b="0" dirty="0" smtClean="0"/>
                  <a:t> </a:t>
                </a:r>
                <a:r>
                  <a:rPr lang="en-US" altLang="zh-CN" sz="1600" b="0" dirty="0" smtClean="0"/>
                  <a:t>all</a:t>
                </a:r>
                <a:r>
                  <a:rPr lang="zh-CN" altLang="en-US" sz="1600" b="0" dirty="0" smtClean="0"/>
                  <a:t> </a:t>
                </a:r>
                <a:r>
                  <a:rPr lang="en-US" altLang="zh-CN" sz="1600" b="0" dirty="0" smtClean="0"/>
                  <a:t>x</a:t>
                </a:r>
                <a:r>
                  <a:rPr lang="zh-CN" altLang="en-US" sz="1600" b="0" dirty="0" smtClean="0"/>
                  <a:t> </a:t>
                </a:r>
                <a:r>
                  <a:rPr lang="en-US" altLang="zh-CN" sz="1600" b="0" dirty="0" smtClean="0"/>
                  <a:t>in</a:t>
                </a:r>
                <a:r>
                  <a:rPr lang="zh-CN" altLang="en-US" sz="1600" b="0" dirty="0" smtClean="0"/>
                  <a:t> </a:t>
                </a:r>
                <a:r>
                  <a:rPr lang="en-US" altLang="zh-CN" sz="1600" b="0" dirty="0" smtClean="0"/>
                  <a:t>the</a:t>
                </a:r>
                <a:r>
                  <a:rPr lang="zh-CN" altLang="en-US" sz="1600" b="0" dirty="0" smtClean="0"/>
                  <a:t> </a:t>
                </a:r>
                <a:r>
                  <a:rPr lang="en-US" altLang="zh-CN" sz="1600" b="0" dirty="0" smtClean="0"/>
                  <a:t>domain.</a:t>
                </a:r>
              </a:p>
              <a:p>
                <a:r>
                  <a:rPr lang="en-US" altLang="zh-CN" sz="1600" b="0" dirty="0" smtClean="0"/>
                  <a:t>The</a:t>
                </a:r>
                <a:r>
                  <a:rPr lang="zh-CN" altLang="en-US" sz="1600" b="0" dirty="0" smtClean="0"/>
                  <a:t> </a:t>
                </a:r>
                <a:r>
                  <a:rPr lang="en-US" altLang="zh-CN" sz="1600" b="0" dirty="0" smtClean="0"/>
                  <a:t>sum</a:t>
                </a:r>
                <a:r>
                  <a:rPr lang="zh-CN" altLang="en-US" sz="1600" b="0" dirty="0" smtClean="0"/>
                  <a:t> </a:t>
                </a:r>
                <a:r>
                  <a:rPr lang="en-US" altLang="zh-CN" sz="1600" b="0" dirty="0" smtClean="0"/>
                  <a:t>equals</a:t>
                </a:r>
                <a:r>
                  <a:rPr lang="zh-CN" altLang="en-US" sz="1600" b="0" dirty="0" smtClean="0"/>
                  <a:t> </a:t>
                </a:r>
                <a:r>
                  <a:rPr lang="en-US" altLang="zh-CN" sz="1600" b="0" dirty="0" smtClean="0"/>
                  <a:t>1.</a:t>
                </a:r>
              </a:p>
              <a:p>
                <a:endParaRPr lang="en-US" altLang="zh-CN" sz="1600" b="0" dirty="0" smtClean="0"/>
              </a:p>
              <a:p>
                <a:endParaRPr lang="en-US" altLang="zh-CN" sz="1600" b="0" dirty="0" smtClean="0"/>
              </a:p>
              <a:p>
                <a:r>
                  <a:rPr lang="zh-CN" altLang="en-US" sz="1600" b="0" dirty="0" smtClean="0"/>
                  <a:t>概率</a:t>
                </a:r>
                <a:r>
                  <a:rPr lang="zh-CN" altLang="en-US" sz="1600" b="0" dirty="0" smtClean="0"/>
                  <a:t>密度函数有这样的性质。</a:t>
                </a:r>
                <a:endParaRPr lang="en-US" altLang="zh-CN" sz="1600" b="0" dirty="0" smtClean="0"/>
              </a:p>
              <a:p>
                <a:r>
                  <a:rPr lang="zh-CN" altLang="en-US" sz="1600" b="0" dirty="0" smtClean="0"/>
                  <a:t>把随机变量的定义域记做 花体</a:t>
                </a:r>
                <a:r>
                  <a:rPr lang="en-US" altLang="zh-CN" sz="1600" b="0" dirty="0" smtClean="0"/>
                  <a:t>X</a:t>
                </a:r>
                <a:r>
                  <a:rPr lang="zh-CN" altLang="en-US" sz="1600" b="0" dirty="0" smtClean="0"/>
                  <a:t>。</a:t>
                </a:r>
                <a:endParaRPr lang="en-US" altLang="zh-CN" sz="1600" b="0" dirty="0" smtClean="0"/>
              </a:p>
              <a:p>
                <a:r>
                  <a:rPr lang="en-US" altLang="zh-CN" sz="1600" b="0" dirty="0" smtClean="0"/>
                  <a:t>-----</a:t>
                </a:r>
              </a:p>
              <a:p>
                <a:r>
                  <a:rPr lang="zh-CN" altLang="en-US" sz="1600" b="0" dirty="0" smtClean="0"/>
                  <a:t>如果</a:t>
                </a:r>
                <a:r>
                  <a:rPr lang="en-US" altLang="zh-CN" sz="1600" b="0" dirty="0" smtClean="0"/>
                  <a:t>p</a:t>
                </a:r>
                <a:r>
                  <a:rPr lang="zh-CN" altLang="en-US" sz="1600" b="0" dirty="0" smtClean="0"/>
                  <a:t>是连续概率分布，可以对</a:t>
                </a:r>
                <a:r>
                  <a:rPr lang="en-US" altLang="zh-CN" sz="1600" b="0" dirty="0" smtClean="0"/>
                  <a:t>p(x)</a:t>
                </a:r>
                <a:r>
                  <a:rPr lang="zh-CN" altLang="en-US" sz="1600" b="0" dirty="0" smtClean="0"/>
                  <a:t>做定积分，把所有</a:t>
                </a:r>
                <a:r>
                  <a:rPr lang="en-US" altLang="zh-CN" sz="1600" b="0" dirty="0" smtClean="0"/>
                  <a:t>X</a:t>
                </a:r>
                <a:r>
                  <a:rPr lang="zh-CN" altLang="en-US" sz="1600" b="0" dirty="0" smtClean="0"/>
                  <a:t>的取值都算上，积分得到的结果等于</a:t>
                </a:r>
                <a:r>
                  <a:rPr lang="en-US" altLang="zh-CN" sz="1600" b="0" dirty="0" smtClean="0"/>
                  <a:t>1</a:t>
                </a:r>
                <a:r>
                  <a:rPr lang="zh-CN" altLang="en-US" sz="1600" b="0" dirty="0" smtClean="0"/>
                  <a:t>。</a:t>
                </a:r>
                <a:endParaRPr lang="en-US" altLang="zh-CN" sz="1600" b="0" dirty="0" smtClean="0"/>
              </a:p>
              <a:p>
                <a:r>
                  <a:rPr lang="en-US" altLang="zh-CN" sz="1600" b="0" dirty="0" smtClean="0"/>
                  <a:t>-------</a:t>
                </a:r>
              </a:p>
              <a:p>
                <a:r>
                  <a:rPr lang="zh-CN" altLang="en-US" sz="1600" b="0" dirty="0" smtClean="0"/>
                  <a:t>如果</a:t>
                </a:r>
                <a:r>
                  <a:rPr lang="en-US" altLang="zh-CN" sz="1600" b="0" dirty="0" smtClean="0"/>
                  <a:t>p</a:t>
                </a:r>
                <a:r>
                  <a:rPr lang="zh-CN" altLang="en-US" sz="1600" b="0" dirty="0" smtClean="0"/>
                  <a:t>是离散概率分布呢，随机变量在离散的集合</a:t>
                </a:r>
                <a:r>
                  <a:rPr lang="en-US" altLang="zh-CN" sz="1600" b="0" dirty="0" smtClean="0"/>
                  <a:t>X</a:t>
                </a:r>
                <a:r>
                  <a:rPr lang="zh-CN" altLang="en-US" sz="1600" b="0" dirty="0" smtClean="0"/>
                  <a:t>中取值。</a:t>
                </a:r>
                <a:endParaRPr lang="en-US" altLang="zh-CN" sz="1600" b="0" dirty="0" smtClean="0"/>
              </a:p>
              <a:p>
                <a:r>
                  <a:rPr lang="zh-CN" altLang="en-US" sz="1600" b="0" dirty="0" smtClean="0"/>
                  <a:t>可以对</a:t>
                </a:r>
                <a:r>
                  <a:rPr lang="en-US" altLang="zh-CN" sz="1600" b="0" dirty="0" smtClean="0"/>
                  <a:t>p(x)</a:t>
                </a:r>
                <a:r>
                  <a:rPr lang="zh-CN" altLang="en-US" sz="1600" b="0" dirty="0" smtClean="0"/>
                  <a:t>做一个加和，把所有可能的取值都算上，加和等于</a:t>
                </a:r>
                <a:r>
                  <a:rPr lang="en-US" altLang="zh-CN" sz="1600" b="0" dirty="0" smtClean="0"/>
                  <a:t>1</a:t>
                </a:r>
                <a:r>
                  <a:rPr lang="zh-CN" altLang="en-US" sz="1600" b="0" dirty="0" smtClean="0"/>
                  <a:t>。</a:t>
                </a:r>
                <a:endParaRPr lang="en-US" altLang="zh-CN" sz="1600" b="0" dirty="0" smtClean="0"/>
              </a:p>
              <a:p>
                <a:r>
                  <a:rPr lang="en-US" altLang="zh-CN" sz="1600" b="0" dirty="0" smtClean="0"/>
                  <a:t>-------</a:t>
                </a:r>
              </a:p>
              <a:p>
                <a:r>
                  <a:rPr lang="zh-CN" altLang="en-US" sz="1600" b="0" dirty="0" smtClean="0"/>
                  <a:t>这就是概率密度函数的基本性质：把所有可能的取值都算上，概率的积分或者加和等于</a:t>
                </a:r>
                <a:r>
                  <a:rPr lang="en-US" altLang="zh-CN" sz="1600" b="0" dirty="0" smtClean="0"/>
                  <a:t>1</a:t>
                </a:r>
                <a:r>
                  <a:rPr lang="zh-CN" altLang="en-US" sz="1600" b="0" dirty="0" smtClean="0"/>
                  <a:t>。</a:t>
                </a:r>
                <a:endParaRPr lang="en-US" sz="1600" b="0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4967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b="0" dirty="0" smtClean="0"/>
                  <a:t>The</a:t>
                </a:r>
                <a:r>
                  <a:rPr lang="zh-CN" altLang="en-US" sz="1600" b="0" dirty="0" smtClean="0"/>
                  <a:t> </a:t>
                </a:r>
                <a:r>
                  <a:rPr lang="en-US" altLang="zh-CN" sz="1600" b="0" dirty="0" smtClean="0"/>
                  <a:t>next</a:t>
                </a:r>
                <a:r>
                  <a:rPr lang="zh-CN" altLang="en-US" sz="1600" b="0" dirty="0" smtClean="0"/>
                  <a:t> </a:t>
                </a:r>
                <a:r>
                  <a:rPr lang="en-US" altLang="zh-CN" sz="1600" b="0" dirty="0" smtClean="0"/>
                  <a:t>concept,</a:t>
                </a:r>
                <a:r>
                  <a:rPr lang="zh-CN" altLang="en-US" sz="1600" b="0" dirty="0" smtClean="0"/>
                  <a:t> </a:t>
                </a:r>
                <a:r>
                  <a:rPr lang="en-US" altLang="zh-CN" sz="1600" b="0" dirty="0" smtClean="0"/>
                  <a:t>expectation.</a:t>
                </a:r>
              </a:p>
              <a:p>
                <a:r>
                  <a:rPr lang="en-US" altLang="zh-CN" sz="1600" b="0" dirty="0" smtClean="0"/>
                  <a:t>=====================</a:t>
                </a:r>
              </a:p>
              <a:p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charset="0"/>
                      </a:rPr>
                      <m:t>𝑓</m:t>
                    </m:r>
                    <m:r>
                      <a:rPr lang="en-US" altLang="zh-CN" sz="1600" b="0" i="1" smtClean="0">
                        <a:latin typeface="Cambria Math" charset="0"/>
                      </a:rPr>
                      <m:t>(</m:t>
                    </m:r>
                    <m:r>
                      <a:rPr lang="en-US" altLang="zh-CN" sz="1600" b="0" i="1" smtClean="0">
                        <a:latin typeface="Cambria Math" charset="0"/>
                      </a:rPr>
                      <m:t>𝑋</m:t>
                    </m:r>
                    <m:r>
                      <a:rPr lang="en-US" altLang="zh-CN" sz="1600" b="0" i="1" smtClean="0">
                        <a:latin typeface="Cambria Math" charset="0"/>
                      </a:rPr>
                      <m:t>)</m:t>
                    </m:r>
                  </m:oMath>
                </a14:m>
                <a:r>
                  <a:rPr lang="zh-CN" altLang="en-US" sz="1600" dirty="0" smtClean="0"/>
                  <a:t>  </a:t>
                </a:r>
                <a:r>
                  <a:rPr lang="en-US" altLang="zh-CN" sz="1600" dirty="0" smtClean="0"/>
                  <a:t>can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be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any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function.</a:t>
                </a:r>
              </a:p>
              <a:p>
                <a:r>
                  <a:rPr lang="en-US" altLang="zh-CN" sz="1600" b="0" dirty="0" smtClean="0"/>
                  <a:t>The</a:t>
                </a:r>
                <a:r>
                  <a:rPr lang="zh-CN" altLang="en-US" sz="1600" b="0" dirty="0" smtClean="0"/>
                  <a:t> </a:t>
                </a:r>
                <a:r>
                  <a:rPr lang="en-US" altLang="zh-CN" sz="1600" b="0" dirty="0" smtClean="0"/>
                  <a:t>expectation</a:t>
                </a:r>
                <a:r>
                  <a:rPr lang="zh-CN" altLang="en-US" sz="1600" b="0" dirty="0" smtClean="0"/>
                  <a:t> </a:t>
                </a:r>
                <a:r>
                  <a:rPr lang="en-US" altLang="zh-CN" sz="1600" b="0" dirty="0" smtClean="0"/>
                  <a:t>of</a:t>
                </a:r>
                <a:r>
                  <a:rPr lang="zh-CN" altLang="en-US" sz="1600" b="0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charset="0"/>
                      </a:rPr>
                      <m:t>𝑓</m:t>
                    </m:r>
                    <m:r>
                      <a:rPr lang="en-US" altLang="zh-CN" sz="1600" b="0" i="1" smtClean="0">
                        <a:latin typeface="Cambria Math" charset="0"/>
                      </a:rPr>
                      <m:t>(</m:t>
                    </m:r>
                    <m:r>
                      <a:rPr lang="en-US" altLang="zh-CN" sz="1600" b="0" i="1" smtClean="0">
                        <a:latin typeface="Cambria Math" charset="0"/>
                      </a:rPr>
                      <m:t>𝑋</m:t>
                    </m:r>
                    <m:r>
                      <a:rPr lang="en-US" altLang="zh-CN" sz="1600" b="0" i="1" smtClean="0">
                        <a:latin typeface="Cambria Math" charset="0"/>
                      </a:rPr>
                      <m:t>)</m:t>
                    </m:r>
                  </m:oMath>
                </a14:m>
                <a:r>
                  <a:rPr lang="zh-CN" altLang="en-US" sz="1600" dirty="0" smtClean="0"/>
                  <a:t>  </a:t>
                </a:r>
                <a:r>
                  <a:rPr lang="en-US" altLang="zh-CN" sz="160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denoted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by</a:t>
                </a:r>
                <a:r>
                  <a:rPr lang="zh-CN" altLang="en-US" sz="1600" baseline="0" dirty="0" smtClean="0"/>
                  <a:t> </a:t>
                </a:r>
                <a14:m>
                  <m:oMath xmlns:m="http://schemas.openxmlformats.org/officeDocument/2006/math">
                    <m:r>
                      <a:rPr lang="zh-CN" altLang="en-US" sz="1600" i="1" smtClean="0">
                        <a:latin typeface="Cambria Math" charset="0"/>
                      </a:rPr>
                      <m:t>𝔼</m:t>
                    </m:r>
                    <m:r>
                      <a:rPr lang="zh-CN" altLang="en-US" sz="1600" b="0" i="1" smtClean="0">
                        <a:latin typeface="Cambria Math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1600" b="0" i="1" smtClean="0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1600" b="0" i="1" smtClean="0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altLang="zh-CN" sz="1600" b="0" i="1" smtClean="0">
                                <a:latin typeface="Cambria Math" charset="0"/>
                              </a:rPr>
                              <m:t>𝑋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zh-CN" sz="1600" b="0" dirty="0" smtClean="0"/>
                  <a:t>.</a:t>
                </a:r>
              </a:p>
              <a:p>
                <a:r>
                  <a:rPr lang="en-US" altLang="zh-CN" sz="1600" b="0" dirty="0" smtClean="0"/>
                  <a:t>=====================</a:t>
                </a:r>
              </a:p>
              <a:p>
                <a:r>
                  <a:rPr lang="en-US" altLang="zh-CN" sz="1600" b="0" dirty="0" smtClean="0"/>
                  <a:t>For</a:t>
                </a:r>
                <a:r>
                  <a:rPr lang="zh-CN" altLang="en-US" sz="1600" b="0" dirty="0" smtClean="0"/>
                  <a:t> </a:t>
                </a:r>
                <a:r>
                  <a:rPr lang="en-US" altLang="zh-CN" sz="1600" b="0" dirty="0" smtClean="0"/>
                  <a:t>continuous</a:t>
                </a:r>
                <a:r>
                  <a:rPr lang="zh-CN" altLang="en-US" sz="1600" b="0" dirty="0" smtClean="0"/>
                  <a:t> </a:t>
                </a:r>
                <a:r>
                  <a:rPr lang="en-US" altLang="zh-CN" sz="1600" b="0" dirty="0" smtClean="0"/>
                  <a:t>distributions,</a:t>
                </a:r>
                <a:r>
                  <a:rPr lang="zh-CN" altLang="en-US" sz="1600" b="0" dirty="0" smtClean="0"/>
                  <a:t> </a:t>
                </a:r>
                <a:r>
                  <a:rPr lang="en-US" altLang="zh-CN" sz="1600" b="0" baseline="0" dirty="0" smtClean="0"/>
                  <a:t>the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expectation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is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equal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to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dirty="0" smtClean="0"/>
                  <a:t>the</a:t>
                </a:r>
                <a:r>
                  <a:rPr lang="zh-CN" altLang="en-US" sz="1600" b="0" dirty="0" smtClean="0"/>
                  <a:t> </a:t>
                </a:r>
                <a:r>
                  <a:rPr lang="en-US" altLang="zh-CN" sz="1600" b="0" dirty="0" smtClean="0"/>
                  <a:t>integral</a:t>
                </a:r>
                <a:r>
                  <a:rPr lang="zh-CN" altLang="en-US" sz="1600" b="0" dirty="0" smtClean="0"/>
                  <a:t> </a:t>
                </a:r>
                <a:r>
                  <a:rPr lang="en-US" altLang="zh-CN" sz="1600" b="0" dirty="0" smtClean="0"/>
                  <a:t>of</a:t>
                </a:r>
                <a:r>
                  <a:rPr lang="zh-CN" altLang="en-US" sz="1600" b="0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latin typeface="Cambria Math" charset="0"/>
                      </a:rPr>
                      <m:t>𝑝</m:t>
                    </m:r>
                    <m:d>
                      <m:dPr>
                        <m:ctrlPr>
                          <a:rPr lang="en-US" altLang="zh-CN" sz="16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𝑥</m:t>
                        </m:r>
                      </m:e>
                    </m:d>
                    <m:r>
                      <a:rPr lang="en-US" altLang="zh-CN" sz="1600" b="0" i="1" smtClean="0">
                        <a:latin typeface="Cambria Math" charset="0"/>
                      </a:rPr>
                      <m:t>⋅</m:t>
                    </m:r>
                    <m:r>
                      <a:rPr lang="en-US" altLang="zh-CN" sz="1600" b="0" i="1" smtClean="0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1600" b="0" dirty="0" smtClean="0"/>
                  <a:t> </a:t>
                </a:r>
                <a:r>
                  <a:rPr lang="en-US" altLang="zh-CN" sz="1600" b="0" dirty="0" smtClean="0"/>
                  <a:t>on</a:t>
                </a:r>
                <a:r>
                  <a:rPr lang="zh-CN" altLang="en-US" sz="1600" b="0" dirty="0" smtClean="0"/>
                  <a:t> </a:t>
                </a:r>
                <a:r>
                  <a:rPr lang="en-US" altLang="zh-CN" sz="1600" b="0" dirty="0" smtClean="0"/>
                  <a:t>the</a:t>
                </a:r>
                <a:r>
                  <a:rPr lang="zh-CN" altLang="en-US" sz="1600" b="0" dirty="0" smtClean="0"/>
                  <a:t> </a:t>
                </a:r>
                <a:r>
                  <a:rPr lang="en-US" altLang="zh-CN" sz="1600" b="0" dirty="0" smtClean="0"/>
                  <a:t>set</a:t>
                </a:r>
                <a:r>
                  <a:rPr lang="zh-CN" altLang="en-US" sz="1600" b="0" dirty="0" smtClean="0"/>
                  <a:t> </a:t>
                </a:r>
                <a:r>
                  <a:rPr lang="en-US" altLang="zh-CN" sz="1600" b="0" dirty="0" smtClean="0"/>
                  <a:t>big</a:t>
                </a:r>
                <a:r>
                  <a:rPr lang="zh-CN" altLang="en-US" sz="1600" b="0" dirty="0" smtClean="0"/>
                  <a:t> </a:t>
                </a:r>
                <a:r>
                  <a:rPr lang="en-US" altLang="zh-CN" sz="1600" b="0" dirty="0" smtClean="0"/>
                  <a:t>X.</a:t>
                </a:r>
              </a:p>
              <a:p>
                <a:r>
                  <a:rPr lang="en-US" altLang="zh-CN" sz="1600" b="0" dirty="0" smtClean="0"/>
                  <a:t>=====================</a:t>
                </a:r>
              </a:p>
              <a:p>
                <a:r>
                  <a:rPr lang="en-US" altLang="zh-CN" sz="1600" b="0" dirty="0" smtClean="0"/>
                  <a:t>For</a:t>
                </a:r>
                <a:r>
                  <a:rPr lang="zh-CN" altLang="en-US" sz="1600" b="0" dirty="0" smtClean="0"/>
                  <a:t> </a:t>
                </a:r>
                <a:r>
                  <a:rPr lang="en-US" altLang="zh-CN" sz="1600" b="0" dirty="0" smtClean="0"/>
                  <a:t>discrete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distributions,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the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expectation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is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equal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to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the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sum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of</a:t>
                </a:r>
                <a:r>
                  <a:rPr lang="zh-CN" altLang="en-US" sz="1600" b="0" baseline="0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latin typeface="Cambria Math" charset="0"/>
                      </a:rPr>
                      <m:t>𝑝</m:t>
                    </m:r>
                    <m:d>
                      <m:dPr>
                        <m:ctrlPr>
                          <a:rPr lang="en-US" altLang="zh-CN" sz="16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𝑥</m:t>
                        </m:r>
                      </m:e>
                    </m:d>
                    <m:r>
                      <a:rPr lang="en-US" altLang="zh-CN" sz="1600" b="0" i="1" smtClean="0">
                        <a:latin typeface="Cambria Math" charset="0"/>
                      </a:rPr>
                      <m:t>⋅</m:t>
                    </m:r>
                    <m:r>
                      <a:rPr lang="en-US" altLang="zh-CN" sz="1600" b="0" i="1" smtClean="0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CN" sz="1600" b="0" baseline="0" dirty="0" smtClean="0"/>
                  <a:t>.</a:t>
                </a:r>
              </a:p>
              <a:p>
                <a:endParaRPr lang="en-US" altLang="zh-CN" sz="1600" b="0" baseline="0" dirty="0" smtClean="0"/>
              </a:p>
              <a:p>
                <a:endParaRPr lang="en-US" altLang="zh-CN" sz="1600" b="0" dirty="0" smtClean="0"/>
              </a:p>
              <a:p>
                <a:endParaRPr lang="en-US" altLang="zh-CN" sz="1600" b="0" dirty="0" smtClean="0"/>
              </a:p>
              <a:p>
                <a:r>
                  <a:rPr lang="zh-CN" altLang="en-US" sz="1600" b="0" dirty="0" smtClean="0"/>
                  <a:t>下一个概念，</a:t>
                </a:r>
                <a:r>
                  <a:rPr lang="en-US" altLang="zh-CN" sz="1600" b="0" dirty="0" smtClean="0"/>
                  <a:t>expectation</a:t>
                </a:r>
                <a:r>
                  <a:rPr lang="zh-CN" altLang="en-US" sz="1600" b="0" dirty="0" smtClean="0"/>
                  <a:t>期望。</a:t>
                </a:r>
                <a:endParaRPr lang="en-US" altLang="zh-CN" sz="1600" b="0" dirty="0" smtClean="0"/>
              </a:p>
              <a:p>
                <a:r>
                  <a:rPr lang="en-US" altLang="zh-CN" sz="1600" b="0" dirty="0" smtClean="0"/>
                  <a:t>---</a:t>
                </a:r>
              </a:p>
              <a:p>
                <a:r>
                  <a:rPr lang="zh-CN" altLang="en-US" sz="1600" b="0" dirty="0" smtClean="0"/>
                  <a:t>对于连续分布，函数</a:t>
                </a:r>
                <a:r>
                  <a:rPr lang="en-US" altLang="zh-CN" sz="1600" b="0" dirty="0" smtClean="0"/>
                  <a:t>f(X)</a:t>
                </a:r>
                <a:r>
                  <a:rPr lang="zh-CN" altLang="en-US" sz="1600" b="0" dirty="0" smtClean="0"/>
                  <a:t>的期望是这样定义的。</a:t>
                </a:r>
                <a:endParaRPr lang="en-US" altLang="zh-CN" sz="1600" b="0" dirty="0" smtClean="0"/>
              </a:p>
              <a:p>
                <a:r>
                  <a:rPr lang="zh-CN" altLang="en-US" sz="1600" b="0" dirty="0" smtClean="0"/>
                  <a:t>对</a:t>
                </a:r>
                <a:r>
                  <a:rPr lang="en-US" altLang="zh-CN" sz="1600" b="0" dirty="0" smtClean="0"/>
                  <a:t>p(x)</a:t>
                </a:r>
                <a:r>
                  <a:rPr lang="zh-CN" altLang="en-US" sz="1600" b="0" dirty="0" smtClean="0"/>
                  <a:t>和</a:t>
                </a:r>
                <a:r>
                  <a:rPr lang="en-US" altLang="zh-CN" sz="1600" b="0" dirty="0" smtClean="0"/>
                  <a:t>f(x)</a:t>
                </a:r>
                <a:r>
                  <a:rPr lang="zh-CN" altLang="en-US" sz="1600" b="0" dirty="0" smtClean="0"/>
                  <a:t>的乘积做定积分，就得到了</a:t>
                </a:r>
                <a:r>
                  <a:rPr lang="en-US" altLang="zh-CN" sz="1600" b="0" dirty="0" smtClean="0"/>
                  <a:t>F(x)</a:t>
                </a:r>
                <a:r>
                  <a:rPr lang="zh-CN" altLang="en-US" sz="1600" b="0" dirty="0" smtClean="0"/>
                  <a:t>的期望。</a:t>
                </a:r>
                <a:endParaRPr lang="en-US" altLang="zh-CN" sz="1600" b="0" dirty="0" smtClean="0"/>
              </a:p>
              <a:p>
                <a:r>
                  <a:rPr lang="zh-CN" altLang="en-US" sz="1600" b="0" dirty="0" smtClean="0"/>
                  <a:t>这里的</a:t>
                </a:r>
                <a:r>
                  <a:rPr lang="en-US" altLang="zh-CN" sz="1600" b="0" dirty="0" smtClean="0"/>
                  <a:t>p(x)</a:t>
                </a:r>
                <a:r>
                  <a:rPr lang="zh-CN" altLang="en-US" sz="1600" b="0" dirty="0" smtClean="0"/>
                  <a:t>是概率密度函数。</a:t>
                </a:r>
                <a:endParaRPr lang="en-US" altLang="zh-CN" sz="1600" b="0" dirty="0" smtClean="0"/>
              </a:p>
              <a:p>
                <a:r>
                  <a:rPr lang="en-US" altLang="zh-CN" sz="1600" b="0" dirty="0" smtClean="0"/>
                  <a:t>-------</a:t>
                </a:r>
              </a:p>
              <a:p>
                <a:r>
                  <a:rPr lang="zh-CN" altLang="en-US" sz="1600" b="0" dirty="0" smtClean="0"/>
                  <a:t>对于离散分布，期望是用连加定义的。</a:t>
                </a:r>
                <a:endParaRPr lang="en-US" altLang="zh-CN" sz="1600" b="0" dirty="0" smtClean="0"/>
              </a:p>
              <a:p>
                <a:r>
                  <a:rPr lang="zh-CN" altLang="en-US" sz="1600" b="0" dirty="0" smtClean="0"/>
                  <a:t>对</a:t>
                </a:r>
                <a:r>
                  <a:rPr lang="en-US" altLang="zh-CN" sz="1600" b="0" dirty="0" smtClean="0"/>
                  <a:t>p(x)</a:t>
                </a:r>
                <a:r>
                  <a:rPr lang="zh-CN" altLang="en-US" sz="1600" b="0" dirty="0" smtClean="0"/>
                  <a:t>和</a:t>
                </a:r>
                <a:r>
                  <a:rPr lang="en-US" altLang="zh-CN" sz="1600" b="0" dirty="0" smtClean="0"/>
                  <a:t>f(x)</a:t>
                </a:r>
                <a:r>
                  <a:rPr lang="zh-CN" altLang="en-US" sz="1600" b="0" dirty="0" smtClean="0"/>
                  <a:t>的乘积做连加，把</a:t>
                </a:r>
                <a:r>
                  <a:rPr lang="en-US" altLang="zh-CN" sz="1600" b="0" dirty="0" smtClean="0"/>
                  <a:t>x</a:t>
                </a:r>
                <a:r>
                  <a:rPr lang="zh-CN" altLang="en-US" sz="1600" b="0" dirty="0" smtClean="0"/>
                  <a:t>所有的取值都算上，这样就得到</a:t>
                </a:r>
                <a:r>
                  <a:rPr lang="en-US" altLang="zh-CN" sz="1600" b="0" dirty="0" smtClean="0"/>
                  <a:t>F(x)</a:t>
                </a:r>
                <a:r>
                  <a:rPr lang="zh-CN" altLang="en-US" sz="1600" b="0" dirty="0" smtClean="0"/>
                  <a:t>的期望。</a:t>
                </a:r>
                <a:endParaRPr lang="en-US" altLang="zh-CN" sz="1600" b="0" dirty="0" smtClean="0"/>
              </a:p>
              <a:p>
                <a:endParaRPr lang="en-US" sz="1600" b="0" dirty="0" smtClean="0"/>
              </a:p>
              <a:p>
                <a:endParaRPr lang="en-US" sz="1600" b="0" dirty="0" smtClean="0"/>
              </a:p>
              <a:p>
                <a:endParaRPr lang="en-US" sz="1600" b="0" dirty="0" smtClean="0"/>
              </a:p>
              <a:p>
                <a:endParaRPr lang="en-US" sz="1600" b="0" dirty="0" smtClean="0"/>
              </a:p>
              <a:p>
                <a:endParaRPr lang="en-US" sz="1600" b="0" dirty="0" smtClean="0"/>
              </a:p>
              <a:p>
                <a:endParaRPr lang="en-US" sz="1600" b="0" dirty="0" smtClean="0"/>
              </a:p>
              <a:p>
                <a:endParaRPr lang="en-US" sz="1600" b="0" dirty="0" smtClean="0"/>
              </a:p>
              <a:p>
                <a:endParaRPr lang="en-US" sz="1600" b="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b="0" dirty="0" smtClean="0"/>
                  <a:t>The</a:t>
                </a:r>
                <a:r>
                  <a:rPr lang="zh-CN" altLang="en-US" sz="1600" b="0" dirty="0" smtClean="0"/>
                  <a:t> </a:t>
                </a:r>
                <a:r>
                  <a:rPr lang="en-US" altLang="zh-CN" sz="1600" b="0" dirty="0" smtClean="0"/>
                  <a:t>next</a:t>
                </a:r>
                <a:r>
                  <a:rPr lang="zh-CN" altLang="en-US" sz="1600" b="0" dirty="0" smtClean="0"/>
                  <a:t> </a:t>
                </a:r>
                <a:r>
                  <a:rPr lang="en-US" altLang="zh-CN" sz="1600" b="0" dirty="0" smtClean="0"/>
                  <a:t>concept,</a:t>
                </a:r>
                <a:r>
                  <a:rPr lang="zh-CN" altLang="en-US" sz="1600" b="0" dirty="0" smtClean="0"/>
                  <a:t> </a:t>
                </a:r>
                <a:r>
                  <a:rPr lang="en-US" altLang="zh-CN" sz="1600" b="0" dirty="0" smtClean="0"/>
                  <a:t>expectation.</a:t>
                </a:r>
              </a:p>
              <a:p>
                <a:r>
                  <a:rPr lang="en-US" altLang="zh-CN" sz="1600" b="0" i="0" smtClean="0">
                    <a:latin typeface="Cambria Math" charset="0"/>
                  </a:rPr>
                  <a:t>𝑓(𝑋)</a:t>
                </a:r>
                <a:r>
                  <a:rPr lang="zh-CN" altLang="en-US" sz="1600" dirty="0" smtClean="0"/>
                  <a:t> 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can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be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any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function.</a:t>
                </a:r>
              </a:p>
              <a:p>
                <a:r>
                  <a:rPr lang="en-US" altLang="zh-CN" sz="1600" b="0" dirty="0" smtClean="0"/>
                  <a:t>For</a:t>
                </a:r>
                <a:r>
                  <a:rPr lang="zh-CN" altLang="en-US" sz="1600" b="0" dirty="0" smtClean="0"/>
                  <a:t> </a:t>
                </a:r>
                <a:r>
                  <a:rPr lang="en-US" altLang="zh-CN" sz="1600" b="0" dirty="0" smtClean="0"/>
                  <a:t>continuous</a:t>
                </a:r>
                <a:r>
                  <a:rPr lang="zh-CN" altLang="en-US" sz="1600" b="0" dirty="0" smtClean="0"/>
                  <a:t> </a:t>
                </a:r>
                <a:r>
                  <a:rPr lang="en-US" altLang="zh-CN" sz="1600" b="0" dirty="0" smtClean="0"/>
                  <a:t>distribution,</a:t>
                </a:r>
                <a:r>
                  <a:rPr lang="zh-CN" altLang="en-US" sz="1600" b="0" dirty="0" smtClean="0"/>
                  <a:t> </a:t>
                </a:r>
                <a:r>
                  <a:rPr lang="en-US" altLang="zh-CN" sz="1600" b="0" dirty="0" smtClean="0"/>
                  <a:t>the</a:t>
                </a:r>
                <a:r>
                  <a:rPr lang="zh-CN" altLang="en-US" sz="1600" b="0" dirty="0" smtClean="0"/>
                  <a:t> </a:t>
                </a:r>
                <a:r>
                  <a:rPr lang="en-US" altLang="zh-CN" sz="1600" b="0" dirty="0" smtClean="0"/>
                  <a:t>expectation</a:t>
                </a:r>
                <a:r>
                  <a:rPr lang="zh-CN" altLang="en-US" sz="1600" b="0" dirty="0" smtClean="0"/>
                  <a:t> </a:t>
                </a:r>
                <a:r>
                  <a:rPr lang="en-US" altLang="zh-CN" sz="1600" b="0" dirty="0" smtClean="0"/>
                  <a:t>of</a:t>
                </a:r>
                <a:r>
                  <a:rPr lang="zh-CN" altLang="en-US" sz="1600" b="0" dirty="0" smtClean="0"/>
                  <a:t> </a:t>
                </a:r>
                <a:r>
                  <a:rPr lang="en-US" altLang="zh-CN" sz="1600" b="0" i="0" smtClean="0">
                    <a:latin typeface="Cambria Math" charset="0"/>
                  </a:rPr>
                  <a:t>𝑓(𝑋)</a:t>
                </a:r>
                <a:r>
                  <a:rPr lang="zh-CN" altLang="en-US" sz="1600" dirty="0" smtClean="0"/>
                  <a:t> 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denoted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by</a:t>
                </a:r>
                <a:r>
                  <a:rPr lang="zh-CN" altLang="en-US" sz="1600" i="0" smtClean="0">
                    <a:latin typeface="Cambria Math" charset="0"/>
                  </a:rPr>
                  <a:t>𝔼</a:t>
                </a:r>
                <a:r>
                  <a:rPr lang="zh-CN" altLang="en-US" sz="1600" b="0" i="0" smtClean="0">
                    <a:latin typeface="Cambria Math" charset="0"/>
                  </a:rPr>
                  <a:t> </a:t>
                </a:r>
                <a:r>
                  <a:rPr lang="en-US" altLang="zh-CN" sz="1600" b="0" i="0" smtClean="0">
                    <a:latin typeface="Cambria Math" charset="0"/>
                  </a:rPr>
                  <a:t>[𝑓(𝑋)]</a:t>
                </a:r>
                <a:r>
                  <a:rPr lang="en-US" altLang="zh-CN" sz="1600" b="0" dirty="0" smtClean="0"/>
                  <a:t>.</a:t>
                </a:r>
              </a:p>
              <a:p>
                <a:r>
                  <a:rPr lang="en-US" altLang="zh-CN" sz="1600" b="0" dirty="0" smtClean="0"/>
                  <a:t>It</a:t>
                </a:r>
                <a:r>
                  <a:rPr lang="zh-CN" altLang="en-US" sz="1600" b="0" dirty="0" smtClean="0"/>
                  <a:t> </a:t>
                </a:r>
                <a:r>
                  <a:rPr lang="en-US" altLang="zh-CN" sz="1600" b="0" dirty="0" smtClean="0"/>
                  <a:t>equals</a:t>
                </a:r>
                <a:r>
                  <a:rPr lang="zh-CN" altLang="en-US" sz="1600" b="0" dirty="0" smtClean="0"/>
                  <a:t> </a:t>
                </a:r>
                <a:r>
                  <a:rPr lang="en-US" altLang="zh-CN" sz="1600" b="0" dirty="0" smtClean="0"/>
                  <a:t>the</a:t>
                </a:r>
                <a:r>
                  <a:rPr lang="zh-CN" altLang="en-US" sz="1600" b="0" dirty="0" smtClean="0"/>
                  <a:t> </a:t>
                </a:r>
                <a:r>
                  <a:rPr lang="en-US" altLang="zh-CN" sz="1600" b="0" dirty="0" smtClean="0"/>
                  <a:t>integral</a:t>
                </a:r>
                <a:r>
                  <a:rPr lang="zh-CN" altLang="en-US" sz="1600" b="0" dirty="0" smtClean="0"/>
                  <a:t> </a:t>
                </a:r>
                <a:r>
                  <a:rPr lang="en-US" altLang="zh-CN" sz="1600" b="0" dirty="0" smtClean="0"/>
                  <a:t>of</a:t>
                </a:r>
                <a:r>
                  <a:rPr lang="zh-CN" altLang="en-US" sz="1600" b="0" dirty="0" smtClean="0"/>
                  <a:t> </a:t>
                </a:r>
                <a:r>
                  <a:rPr lang="en-US" altLang="zh-CN" sz="1600" i="0" smtClean="0">
                    <a:latin typeface="Cambria Math" charset="0"/>
                  </a:rPr>
                  <a:t>𝑝</a:t>
                </a:r>
                <a:r>
                  <a:rPr lang="en-US" altLang="zh-CN" sz="1600" i="0">
                    <a:latin typeface="Cambria Math" charset="0"/>
                  </a:rPr>
                  <a:t>(𝑥)</a:t>
                </a:r>
                <a:r>
                  <a:rPr lang="en-US" altLang="zh-CN" sz="1600" b="0" i="0" smtClean="0">
                    <a:latin typeface="Cambria Math" charset="0"/>
                  </a:rPr>
                  <a:t>⋅𝑓(𝑥)</a:t>
                </a:r>
                <a:r>
                  <a:rPr lang="zh-CN" altLang="en-US" sz="1600" b="0" dirty="0" smtClean="0"/>
                  <a:t> </a:t>
                </a:r>
                <a:r>
                  <a:rPr lang="en-US" altLang="zh-CN" sz="1600" b="0" dirty="0" smtClean="0"/>
                  <a:t>on</a:t>
                </a:r>
                <a:r>
                  <a:rPr lang="zh-CN" altLang="en-US" sz="1600" b="0" dirty="0" smtClean="0"/>
                  <a:t> </a:t>
                </a:r>
                <a:r>
                  <a:rPr lang="en-US" altLang="zh-CN" sz="1600" b="0" dirty="0" smtClean="0"/>
                  <a:t>the</a:t>
                </a:r>
                <a:r>
                  <a:rPr lang="zh-CN" altLang="en-US" sz="1600" b="0" dirty="0" smtClean="0"/>
                  <a:t> </a:t>
                </a:r>
                <a:r>
                  <a:rPr lang="en-US" altLang="zh-CN" sz="1600" b="0" dirty="0" smtClean="0"/>
                  <a:t>set</a:t>
                </a:r>
                <a:r>
                  <a:rPr lang="zh-CN" altLang="en-US" sz="1600" b="0" dirty="0" smtClean="0"/>
                  <a:t> </a:t>
                </a:r>
                <a:r>
                  <a:rPr lang="en-US" altLang="zh-CN" sz="1600" b="0" dirty="0" smtClean="0"/>
                  <a:t>X.</a:t>
                </a:r>
              </a:p>
              <a:p>
                <a:r>
                  <a:rPr lang="en-US" altLang="zh-CN" sz="1600" b="0" dirty="0" smtClean="0"/>
                  <a:t>-----</a:t>
                </a:r>
              </a:p>
              <a:p>
                <a:r>
                  <a:rPr lang="en-US" altLang="zh-CN" sz="1600" b="0" dirty="0" smtClean="0"/>
                  <a:t>For</a:t>
                </a:r>
                <a:r>
                  <a:rPr lang="zh-CN" altLang="en-US" sz="1600" b="0" dirty="0" smtClean="0"/>
                  <a:t> </a:t>
                </a:r>
                <a:r>
                  <a:rPr lang="en-US" altLang="zh-CN" sz="1600" b="0" dirty="0" smtClean="0"/>
                  <a:t>discrete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distribution,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the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expectation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equals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the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sum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b="0" baseline="0" dirty="0" smtClean="0"/>
                  <a:t>of</a:t>
                </a:r>
                <a:r>
                  <a:rPr lang="zh-CN" altLang="en-US" sz="1600" b="0" baseline="0" dirty="0" smtClean="0"/>
                  <a:t> </a:t>
                </a:r>
                <a:r>
                  <a:rPr lang="en-US" altLang="zh-CN" sz="1600" i="0" smtClean="0">
                    <a:latin typeface="Cambria Math" charset="0"/>
                  </a:rPr>
                  <a:t>𝑝</a:t>
                </a:r>
                <a:r>
                  <a:rPr lang="en-US" altLang="zh-CN" sz="1600" i="0">
                    <a:latin typeface="Cambria Math" charset="0"/>
                  </a:rPr>
                  <a:t>(𝑥)</a:t>
                </a:r>
                <a:r>
                  <a:rPr lang="en-US" altLang="zh-CN" sz="1600" b="0" i="0" smtClean="0">
                    <a:latin typeface="Cambria Math" charset="0"/>
                  </a:rPr>
                  <a:t>⋅𝑓(𝑥)</a:t>
                </a:r>
                <a:r>
                  <a:rPr lang="en-US" altLang="zh-CN" sz="1600" b="0" baseline="0" dirty="0" smtClean="0"/>
                  <a:t>.</a:t>
                </a:r>
              </a:p>
              <a:p>
                <a:endParaRPr lang="en-US" altLang="zh-CN" sz="1600" b="0" baseline="0" dirty="0" smtClean="0"/>
              </a:p>
              <a:p>
                <a:endParaRPr lang="en-US" altLang="zh-CN" sz="1600" b="0" dirty="0" smtClean="0"/>
              </a:p>
              <a:p>
                <a:endParaRPr lang="en-US" altLang="zh-CN" sz="1600" b="0" dirty="0" smtClean="0"/>
              </a:p>
              <a:p>
                <a:r>
                  <a:rPr lang="zh-CN" altLang="en-US" sz="1600" b="0" dirty="0" smtClean="0"/>
                  <a:t>下</a:t>
                </a:r>
                <a:r>
                  <a:rPr lang="zh-CN" altLang="en-US" sz="1600" b="0" dirty="0" smtClean="0"/>
                  <a:t>一个概念，</a:t>
                </a:r>
                <a:r>
                  <a:rPr lang="en-US" altLang="zh-CN" sz="1600" b="0" dirty="0" smtClean="0"/>
                  <a:t>expectation</a:t>
                </a:r>
                <a:r>
                  <a:rPr lang="zh-CN" altLang="en-US" sz="1600" b="0" dirty="0" smtClean="0"/>
                  <a:t>期望。</a:t>
                </a:r>
                <a:endParaRPr lang="en-US" altLang="zh-CN" sz="1600" b="0" dirty="0" smtClean="0"/>
              </a:p>
              <a:p>
                <a:r>
                  <a:rPr lang="en-US" altLang="zh-CN" sz="1600" b="0" dirty="0" smtClean="0"/>
                  <a:t>---</a:t>
                </a:r>
              </a:p>
              <a:p>
                <a:r>
                  <a:rPr lang="zh-CN" altLang="en-US" sz="1600" b="0" dirty="0" smtClean="0"/>
                  <a:t>对于连续分布，函数</a:t>
                </a:r>
                <a:r>
                  <a:rPr lang="en-US" altLang="zh-CN" sz="1600" b="0" dirty="0" smtClean="0"/>
                  <a:t>f(X)</a:t>
                </a:r>
                <a:r>
                  <a:rPr lang="zh-CN" altLang="en-US" sz="1600" b="0" dirty="0" smtClean="0"/>
                  <a:t>的期望是这样定义的。</a:t>
                </a:r>
                <a:endParaRPr lang="en-US" altLang="zh-CN" sz="1600" b="0" dirty="0" smtClean="0"/>
              </a:p>
              <a:p>
                <a:r>
                  <a:rPr lang="zh-CN" altLang="en-US" sz="1600" b="0" dirty="0" smtClean="0"/>
                  <a:t>对</a:t>
                </a:r>
                <a:r>
                  <a:rPr lang="en-US" altLang="zh-CN" sz="1600" b="0" dirty="0" smtClean="0"/>
                  <a:t>p(x)</a:t>
                </a:r>
                <a:r>
                  <a:rPr lang="zh-CN" altLang="en-US" sz="1600" b="0" dirty="0" smtClean="0"/>
                  <a:t>和</a:t>
                </a:r>
                <a:r>
                  <a:rPr lang="en-US" altLang="zh-CN" sz="1600" b="0" dirty="0" smtClean="0"/>
                  <a:t>f(x)</a:t>
                </a:r>
                <a:r>
                  <a:rPr lang="zh-CN" altLang="en-US" sz="1600" b="0" dirty="0" smtClean="0"/>
                  <a:t>的乘积做定积分，就得到了</a:t>
                </a:r>
                <a:r>
                  <a:rPr lang="en-US" altLang="zh-CN" sz="1600" b="0" dirty="0" smtClean="0"/>
                  <a:t>F(x)</a:t>
                </a:r>
                <a:r>
                  <a:rPr lang="zh-CN" altLang="en-US" sz="1600" b="0" dirty="0" smtClean="0"/>
                  <a:t>的期望。</a:t>
                </a:r>
                <a:endParaRPr lang="en-US" altLang="zh-CN" sz="1600" b="0" dirty="0" smtClean="0"/>
              </a:p>
              <a:p>
                <a:r>
                  <a:rPr lang="zh-CN" altLang="en-US" sz="1600" b="0" dirty="0" smtClean="0"/>
                  <a:t>这里的</a:t>
                </a:r>
                <a:r>
                  <a:rPr lang="en-US" altLang="zh-CN" sz="1600" b="0" dirty="0" smtClean="0"/>
                  <a:t>p(x)</a:t>
                </a:r>
                <a:r>
                  <a:rPr lang="zh-CN" altLang="en-US" sz="1600" b="0" dirty="0" smtClean="0"/>
                  <a:t>是概率密度函数。</a:t>
                </a:r>
                <a:endParaRPr lang="en-US" altLang="zh-CN" sz="1600" b="0" dirty="0" smtClean="0"/>
              </a:p>
              <a:p>
                <a:r>
                  <a:rPr lang="en-US" altLang="zh-CN" sz="1600" b="0" dirty="0" smtClean="0"/>
                  <a:t>-------</a:t>
                </a:r>
              </a:p>
              <a:p>
                <a:r>
                  <a:rPr lang="zh-CN" altLang="en-US" sz="1600" b="0" dirty="0" smtClean="0"/>
                  <a:t>对于离散分布，期望是用连加定义的。</a:t>
                </a:r>
                <a:endParaRPr lang="en-US" altLang="zh-CN" sz="1600" b="0" dirty="0" smtClean="0"/>
              </a:p>
              <a:p>
                <a:r>
                  <a:rPr lang="zh-CN" altLang="en-US" sz="1600" b="0" dirty="0" smtClean="0"/>
                  <a:t>对</a:t>
                </a:r>
                <a:r>
                  <a:rPr lang="en-US" altLang="zh-CN" sz="1600" b="0" dirty="0" smtClean="0"/>
                  <a:t>p(x)</a:t>
                </a:r>
                <a:r>
                  <a:rPr lang="zh-CN" altLang="en-US" sz="1600" b="0" dirty="0" smtClean="0"/>
                  <a:t>和</a:t>
                </a:r>
                <a:r>
                  <a:rPr lang="en-US" altLang="zh-CN" sz="1600" b="0" dirty="0" smtClean="0"/>
                  <a:t>f(x)</a:t>
                </a:r>
                <a:r>
                  <a:rPr lang="zh-CN" altLang="en-US" sz="1600" b="0" dirty="0" smtClean="0"/>
                  <a:t>的乘积做连加，把</a:t>
                </a:r>
                <a:r>
                  <a:rPr lang="en-US" altLang="zh-CN" sz="1600" b="0" dirty="0" smtClean="0"/>
                  <a:t>x</a:t>
                </a:r>
                <a:r>
                  <a:rPr lang="zh-CN" altLang="en-US" sz="1600" b="0" dirty="0" smtClean="0"/>
                  <a:t>所有的取值都算上，这样就得到</a:t>
                </a:r>
                <a:r>
                  <a:rPr lang="en-US" altLang="zh-CN" sz="1600" b="0" dirty="0" smtClean="0"/>
                  <a:t>F(x)</a:t>
                </a:r>
                <a:r>
                  <a:rPr lang="zh-CN" altLang="en-US" sz="1600" b="0" dirty="0" smtClean="0"/>
                  <a:t>的期望。</a:t>
                </a:r>
                <a:endParaRPr lang="en-US" sz="1600" b="0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0680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600" b="0" dirty="0" smtClean="0"/>
              <a:t>Random</a:t>
            </a:r>
            <a:r>
              <a:rPr lang="zh-CN" altLang="en-US" sz="1600" b="0" dirty="0" smtClean="0"/>
              <a:t> </a:t>
            </a:r>
            <a:r>
              <a:rPr lang="en-US" altLang="zh-CN" sz="1600" b="0" dirty="0" smtClean="0"/>
              <a:t>sampling.</a:t>
            </a:r>
          </a:p>
          <a:p>
            <a:r>
              <a:rPr lang="en-US" altLang="zh-CN" sz="1600" b="0" dirty="0" smtClean="0"/>
              <a:t>Here</a:t>
            </a:r>
            <a:r>
              <a:rPr lang="zh-CN" altLang="en-US" sz="1600" b="0" dirty="0" smtClean="0"/>
              <a:t> </a:t>
            </a:r>
            <a:r>
              <a:rPr lang="en-US" altLang="zh-CN" sz="1600" b="0" dirty="0" smtClean="0"/>
              <a:t>is</a:t>
            </a:r>
            <a:r>
              <a:rPr lang="zh-CN" altLang="en-US" sz="1600" b="0" dirty="0" smtClean="0"/>
              <a:t> </a:t>
            </a:r>
            <a:r>
              <a:rPr lang="en-US" altLang="zh-CN" sz="1600" b="0" dirty="0" smtClean="0"/>
              <a:t>an</a:t>
            </a:r>
            <a:r>
              <a:rPr lang="zh-CN" altLang="en-US" sz="1600" b="0" dirty="0" smtClean="0"/>
              <a:t> </a:t>
            </a:r>
            <a:r>
              <a:rPr lang="en-US" altLang="zh-CN" sz="1600" b="0" dirty="0" smtClean="0"/>
              <a:t>example.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0" dirty="0" smtClean="0"/>
              <a:t>There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are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10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balls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in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the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bin:</a:t>
            </a:r>
            <a:r>
              <a:rPr lang="zh-CN" altLang="en-US" sz="1600" b="0" baseline="0" dirty="0" smtClean="0"/>
              <a:t> </a:t>
            </a:r>
            <a:r>
              <a:rPr lang="en-US" altLang="zh-CN" sz="1600" dirty="0" smtClean="0">
                <a:solidFill>
                  <a:srgbClr val="FF0000"/>
                </a:solidFill>
              </a:rPr>
              <a:t>2</a:t>
            </a:r>
            <a:r>
              <a:rPr lang="zh-CN" altLang="en-US" sz="1600" dirty="0" smtClean="0">
                <a:solidFill>
                  <a:srgbClr val="FF0000"/>
                </a:solidFill>
              </a:rPr>
              <a:t> </a:t>
            </a:r>
            <a:r>
              <a:rPr lang="en-US" altLang="zh-CN" sz="1600" dirty="0" smtClean="0">
                <a:solidFill>
                  <a:srgbClr val="FF0000"/>
                </a:solidFill>
              </a:rPr>
              <a:t>are</a:t>
            </a:r>
            <a:r>
              <a:rPr lang="zh-CN" altLang="en-US" sz="1600" dirty="0" smtClean="0">
                <a:solidFill>
                  <a:srgbClr val="FF0000"/>
                </a:solidFill>
              </a:rPr>
              <a:t> </a:t>
            </a:r>
            <a:r>
              <a:rPr lang="en-US" altLang="zh-CN" sz="1600" dirty="0" smtClean="0">
                <a:solidFill>
                  <a:srgbClr val="FF0000"/>
                </a:solidFill>
              </a:rPr>
              <a:t>red</a:t>
            </a:r>
            <a:r>
              <a:rPr lang="en-US" altLang="zh-CN" sz="1600" dirty="0" smtClean="0"/>
              <a:t>,</a:t>
            </a:r>
            <a:r>
              <a:rPr lang="zh-CN" altLang="en-US" sz="1600" dirty="0" smtClean="0"/>
              <a:t> </a:t>
            </a:r>
            <a:r>
              <a:rPr lang="en-US" altLang="zh-CN" sz="1600" dirty="0" smtClean="0">
                <a:solidFill>
                  <a:schemeClr val="accent6">
                    <a:lumMod val="75000"/>
                  </a:schemeClr>
                </a:solidFill>
              </a:rPr>
              <a:t>5</a:t>
            </a:r>
            <a:r>
              <a:rPr lang="zh-CN" altLang="en-US" sz="1600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altLang="zh-CN" sz="1600" dirty="0" smtClean="0">
                <a:solidFill>
                  <a:schemeClr val="accent6">
                    <a:lumMod val="75000"/>
                  </a:schemeClr>
                </a:solidFill>
              </a:rPr>
              <a:t>are</a:t>
            </a:r>
            <a:r>
              <a:rPr lang="zh-CN" altLang="en-US" sz="1600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altLang="zh-CN" sz="1600" dirty="0" smtClean="0">
                <a:solidFill>
                  <a:schemeClr val="accent6">
                    <a:lumMod val="75000"/>
                  </a:schemeClr>
                </a:solidFill>
              </a:rPr>
              <a:t>green</a:t>
            </a:r>
            <a:r>
              <a:rPr lang="en-US" altLang="zh-CN" sz="1600" dirty="0" smtClean="0"/>
              <a:t>,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and</a:t>
            </a:r>
            <a:r>
              <a:rPr lang="zh-CN" altLang="en-US" sz="1600" dirty="0" smtClean="0"/>
              <a:t> </a:t>
            </a:r>
            <a:r>
              <a:rPr lang="en-US" altLang="zh-CN" sz="1600" dirty="0" smtClean="0">
                <a:solidFill>
                  <a:srgbClr val="0B24FB"/>
                </a:solidFill>
              </a:rPr>
              <a:t>3</a:t>
            </a:r>
            <a:r>
              <a:rPr lang="zh-CN" altLang="en-US" sz="1600" dirty="0" smtClean="0">
                <a:solidFill>
                  <a:srgbClr val="0B24FB"/>
                </a:solidFill>
              </a:rPr>
              <a:t> </a:t>
            </a:r>
            <a:r>
              <a:rPr lang="en-US" altLang="zh-CN" sz="1600" dirty="0" smtClean="0">
                <a:solidFill>
                  <a:srgbClr val="0B24FB"/>
                </a:solidFill>
              </a:rPr>
              <a:t>are</a:t>
            </a:r>
            <a:r>
              <a:rPr lang="zh-CN" altLang="en-US" sz="1600" dirty="0" smtClean="0">
                <a:solidFill>
                  <a:srgbClr val="0B24FB"/>
                </a:solidFill>
              </a:rPr>
              <a:t> </a:t>
            </a:r>
            <a:r>
              <a:rPr lang="en-US" altLang="zh-CN" sz="1600" dirty="0" smtClean="0">
                <a:solidFill>
                  <a:srgbClr val="0B24FB"/>
                </a:solidFill>
              </a:rPr>
              <a:t>blue</a:t>
            </a:r>
            <a:r>
              <a:rPr lang="en-US" altLang="zh-CN" sz="1600" dirty="0" smtClean="0"/>
              <a:t>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 smtClean="0"/>
              <a:t>----------------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 smtClean="0"/>
              <a:t>I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close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my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eyes,</a:t>
            </a:r>
            <a:r>
              <a:rPr lang="zh-CN" altLang="en-US" sz="1600" baseline="0" dirty="0" smtClean="0"/>
              <a:t> </a:t>
            </a:r>
            <a:r>
              <a:rPr lang="en-US" altLang="zh-CN" sz="1600" dirty="0" smtClean="0"/>
              <a:t>shake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the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bin,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put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my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hand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into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the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bin,</a:t>
            </a:r>
            <a:r>
              <a:rPr lang="zh-CN" altLang="en-US" sz="1600" dirty="0" smtClean="0"/>
              <a:t> </a:t>
            </a:r>
            <a:endParaRPr lang="en-US" altLang="zh-CN" sz="160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 smtClean="0"/>
              <a:t>======================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 smtClean="0"/>
              <a:t>and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get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a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ball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out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of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the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bin.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 smtClean="0"/>
              <a:t>What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is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the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color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of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the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ball?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 smtClean="0"/>
              <a:t>I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don’t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know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until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I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open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my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eyes.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aseline="0" dirty="0" smtClean="0"/>
              <a:t>But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know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ball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can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be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red,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green,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or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blue.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aseline="0" dirty="0" smtClean="0"/>
              <a:t>I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also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know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probabilities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of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3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colors.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aseline="0" dirty="0" smtClean="0"/>
              <a:t>-----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 smtClean="0"/>
              <a:t>Before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I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open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my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eyes,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color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random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variable.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aseline="0" dirty="0" smtClean="0"/>
              <a:t>When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open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my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eyes,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randomness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disappears,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and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observe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color.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aseline="0" dirty="0" smtClean="0"/>
              <a:t>-----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aseline="0" dirty="0" smtClean="0"/>
              <a:t>This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one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trial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of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random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sampling.</a:t>
            </a:r>
            <a:endParaRPr lang="en-US" altLang="zh-CN" sz="1600" dirty="0" smtClean="0"/>
          </a:p>
          <a:p>
            <a:endParaRPr lang="en-US" altLang="zh-CN" sz="1600" b="0" dirty="0" smtClean="0"/>
          </a:p>
          <a:p>
            <a:endParaRPr lang="en-US" altLang="zh-CN" sz="1600" b="0" dirty="0" smtClean="0"/>
          </a:p>
          <a:p>
            <a:endParaRPr lang="en-US" altLang="zh-CN" sz="1600" b="0" dirty="0" smtClean="0"/>
          </a:p>
          <a:p>
            <a:r>
              <a:rPr lang="zh-CN" altLang="en-US" sz="1600" b="0" dirty="0" smtClean="0"/>
              <a:t>最后一个概念，</a:t>
            </a:r>
            <a:r>
              <a:rPr lang="en-US" altLang="zh-CN" sz="1600" b="1" dirty="0" smtClean="0">
                <a:latin typeface="Lucida Bright" panose="02040602050505020304" pitchFamily="18" charset="0"/>
              </a:rPr>
              <a:t>Random</a:t>
            </a:r>
            <a:r>
              <a:rPr lang="zh-CN" altLang="en-US" sz="1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1600" b="1" dirty="0" smtClean="0">
                <a:latin typeface="Lucida Bright" panose="02040602050505020304" pitchFamily="18" charset="0"/>
              </a:rPr>
              <a:t>Sampling</a:t>
            </a:r>
            <a:r>
              <a:rPr lang="zh-CN" altLang="en-US" sz="1600" b="0" dirty="0" smtClean="0"/>
              <a:t>随机抽样。</a:t>
            </a:r>
            <a:endParaRPr lang="en-US" altLang="zh-CN" sz="1600" b="0" dirty="0" smtClean="0"/>
          </a:p>
          <a:p>
            <a:r>
              <a:rPr lang="zh-CN" altLang="en-US" sz="1600" b="0" dirty="0" smtClean="0"/>
              <a:t>我举个例子。</a:t>
            </a:r>
            <a:endParaRPr lang="en-US" altLang="zh-CN" sz="1600" b="0" dirty="0" smtClean="0"/>
          </a:p>
          <a:p>
            <a:r>
              <a:rPr lang="zh-CN" altLang="en-US" sz="1600" b="0" dirty="0" smtClean="0"/>
              <a:t>箱子里有</a:t>
            </a:r>
            <a:r>
              <a:rPr lang="en-US" altLang="zh-CN" sz="1600" b="0" dirty="0" smtClean="0"/>
              <a:t>10</a:t>
            </a:r>
            <a:r>
              <a:rPr lang="zh-CN" altLang="en-US" sz="1600" b="0" dirty="0" smtClean="0"/>
              <a:t>个球。</a:t>
            </a:r>
            <a:endParaRPr lang="en-US" altLang="zh-CN" sz="1600" b="0" dirty="0" smtClean="0"/>
          </a:p>
          <a:p>
            <a:r>
              <a:rPr lang="en-US" altLang="zh-CN" sz="1600" b="0" dirty="0" smtClean="0"/>
              <a:t>2</a:t>
            </a:r>
            <a:r>
              <a:rPr lang="zh-CN" altLang="en-US" sz="1600" b="0" dirty="0" smtClean="0"/>
              <a:t>个是红色，</a:t>
            </a:r>
            <a:r>
              <a:rPr lang="en-US" altLang="zh-CN" sz="1600" b="0" dirty="0" smtClean="0"/>
              <a:t>5</a:t>
            </a:r>
            <a:r>
              <a:rPr lang="zh-CN" altLang="en-US" sz="1600" b="0" dirty="0" smtClean="0"/>
              <a:t>个是绿色，</a:t>
            </a:r>
            <a:r>
              <a:rPr lang="en-US" altLang="zh-CN" sz="1600" b="0" dirty="0" smtClean="0"/>
              <a:t>3</a:t>
            </a:r>
            <a:r>
              <a:rPr lang="zh-CN" altLang="en-US" sz="1600" b="0" dirty="0" smtClean="0"/>
              <a:t>个是蓝色。</a:t>
            </a:r>
            <a:endParaRPr lang="en-US" altLang="zh-CN" sz="1600" b="0" dirty="0" smtClean="0"/>
          </a:p>
          <a:p>
            <a:r>
              <a:rPr lang="en-US" altLang="zh-CN" sz="1600" b="0" dirty="0" smtClean="0"/>
              <a:t>-------</a:t>
            </a:r>
          </a:p>
          <a:p>
            <a:r>
              <a:rPr lang="zh-CN" altLang="en-US" sz="1600" b="0" dirty="0" smtClean="0"/>
              <a:t>我现在把箱子摇一摇，把手伸进箱子里，闭着眼睛摸出来一个球。</a:t>
            </a:r>
            <a:endParaRPr lang="en-US" altLang="zh-CN" sz="1600" b="0" dirty="0" smtClean="0"/>
          </a:p>
          <a:p>
            <a:r>
              <a:rPr lang="zh-CN" altLang="en-US" sz="1600" b="0" dirty="0" smtClean="0"/>
              <a:t>这个球是啥颜色的？</a:t>
            </a:r>
            <a:endParaRPr lang="en-US" altLang="zh-CN" sz="1600" b="0" dirty="0" smtClean="0"/>
          </a:p>
          <a:p>
            <a:r>
              <a:rPr lang="en-US" altLang="zh-CN" sz="1600" b="0" dirty="0" smtClean="0"/>
              <a:t>------</a:t>
            </a:r>
          </a:p>
          <a:p>
            <a:r>
              <a:rPr lang="zh-CN" altLang="en-US" sz="1600" b="0" dirty="0" smtClean="0"/>
              <a:t>这个问题是个人都能回答上来。</a:t>
            </a:r>
            <a:endParaRPr lang="en-US" altLang="zh-CN" sz="1600" b="0" dirty="0" smtClean="0"/>
          </a:p>
          <a:p>
            <a:r>
              <a:rPr lang="zh-CN" altLang="en-US" sz="1600" b="0" dirty="0" smtClean="0"/>
              <a:t>三种颜色的球都有可能被摸到。</a:t>
            </a:r>
            <a:endParaRPr lang="en-US" altLang="zh-CN" sz="1600" b="0" dirty="0" smtClean="0"/>
          </a:p>
          <a:p>
            <a:r>
              <a:rPr lang="zh-CN" altLang="en-US" sz="1600" b="0" dirty="0" smtClean="0"/>
              <a:t>摸到红色的概率是</a:t>
            </a:r>
            <a:r>
              <a:rPr lang="en-US" altLang="zh-CN" sz="1600" b="0" dirty="0" smtClean="0"/>
              <a:t>0.2</a:t>
            </a:r>
            <a:r>
              <a:rPr lang="zh-CN" altLang="en-US" sz="1600" b="0" dirty="0" smtClean="0"/>
              <a:t>，摸到绿色的概率是</a:t>
            </a:r>
            <a:r>
              <a:rPr lang="en-US" altLang="zh-CN" sz="1600" b="0" dirty="0" smtClean="0"/>
              <a:t>0.5</a:t>
            </a:r>
            <a:r>
              <a:rPr lang="zh-CN" altLang="en-US" sz="1600" b="0" dirty="0" smtClean="0"/>
              <a:t>，摸到蓝色的概率是</a:t>
            </a:r>
            <a:r>
              <a:rPr lang="en-US" altLang="zh-CN" sz="1600" b="0" dirty="0" smtClean="0"/>
              <a:t>0.3.</a:t>
            </a:r>
          </a:p>
          <a:p>
            <a:r>
              <a:rPr lang="en-US" altLang="zh-CN" sz="1600" b="0" dirty="0" smtClean="0"/>
              <a:t>-----</a:t>
            </a:r>
          </a:p>
          <a:p>
            <a:r>
              <a:rPr lang="zh-CN" altLang="en-US" sz="1600" b="0" dirty="0" smtClean="0"/>
              <a:t>在我摸之前，摸到的颜色就是随机变量 大</a:t>
            </a:r>
            <a:r>
              <a:rPr lang="en-US" altLang="zh-CN" sz="1600" b="0" dirty="0" smtClean="0"/>
              <a:t>X</a:t>
            </a:r>
            <a:r>
              <a:rPr lang="zh-CN" altLang="en-US" sz="1600" b="0" dirty="0" smtClean="0"/>
              <a:t>。</a:t>
            </a:r>
            <a:endParaRPr lang="en-US" altLang="zh-CN" sz="1600" b="0" dirty="0" smtClean="0"/>
          </a:p>
          <a:p>
            <a:r>
              <a:rPr lang="zh-CN" altLang="en-US" sz="1600" b="0" dirty="0" smtClean="0"/>
              <a:t>大</a:t>
            </a:r>
            <a:r>
              <a:rPr lang="en-US" altLang="zh-CN" sz="1600" b="0" dirty="0" smtClean="0"/>
              <a:t>X</a:t>
            </a:r>
            <a:r>
              <a:rPr lang="zh-CN" altLang="en-US" sz="1600" b="0" dirty="0" smtClean="0"/>
              <a:t>有</a:t>
            </a:r>
            <a:r>
              <a:rPr lang="en-US" altLang="zh-CN" sz="1600" b="0" dirty="0" smtClean="0"/>
              <a:t>3</a:t>
            </a:r>
            <a:r>
              <a:rPr lang="zh-CN" altLang="en-US" sz="1600" b="0" dirty="0" smtClean="0"/>
              <a:t>可能的取值，红色、绿色、蓝色。</a:t>
            </a:r>
            <a:endParaRPr lang="en-US" altLang="zh-CN" sz="1600" b="0" dirty="0" smtClean="0"/>
          </a:p>
          <a:p>
            <a:r>
              <a:rPr lang="en-US" altLang="zh-CN" sz="1600" b="0" dirty="0" smtClean="0"/>
              <a:t>-------</a:t>
            </a:r>
          </a:p>
          <a:p>
            <a:r>
              <a:rPr lang="zh-CN" altLang="en-US" sz="1600" b="0" dirty="0" smtClean="0"/>
              <a:t>现在我摸出来了一个球，我睁开眼睛一看，是红色的。</a:t>
            </a:r>
            <a:endParaRPr lang="en-US" altLang="zh-CN" sz="1600" b="0" dirty="0" smtClean="0"/>
          </a:p>
          <a:p>
            <a:r>
              <a:rPr lang="zh-CN" altLang="en-US" sz="1600" b="0" dirty="0" smtClean="0"/>
              <a:t>这时候随机变量就有了观测值，观测值是红色。</a:t>
            </a:r>
            <a:endParaRPr lang="en-US" altLang="zh-CN" sz="1600" b="0" dirty="0" smtClean="0"/>
          </a:p>
          <a:p>
            <a:r>
              <a:rPr lang="en-US" altLang="zh-CN" sz="1600" b="0" dirty="0" smtClean="0"/>
              <a:t>-------</a:t>
            </a:r>
          </a:p>
          <a:p>
            <a:r>
              <a:rPr lang="zh-CN" altLang="en-US" sz="1600" b="0" dirty="0" smtClean="0"/>
              <a:t>这个过程就叫随机抽样。</a:t>
            </a:r>
            <a:endParaRPr lang="en-US" altLang="zh-CN" sz="1600" b="0" dirty="0" smtClean="0"/>
          </a:p>
          <a:p>
            <a:r>
              <a:rPr lang="zh-CN" altLang="en-US" sz="1600" b="0" dirty="0" smtClean="0"/>
              <a:t>我从箱子里随机摸出来了一个球，并且观测到了颜色。</a:t>
            </a:r>
            <a:endParaRPr lang="en-US" altLang="zh-CN" sz="1600" b="0" dirty="0" smtClean="0"/>
          </a:p>
          <a:p>
            <a:r>
              <a:rPr lang="zh-CN" altLang="en-US" sz="1600" b="0" dirty="0" smtClean="0"/>
              <a:t>一次随机抽样就完成了。</a:t>
            </a:r>
            <a:endParaRPr lang="en-US" sz="1600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3356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600" b="0" baseline="0" dirty="0" smtClean="0"/>
              <a:t>I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ask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the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question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in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another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way.</a:t>
            </a:r>
          </a:p>
          <a:p>
            <a:r>
              <a:rPr lang="en-US" altLang="zh-CN" sz="1600" b="0" baseline="0" dirty="0" smtClean="0"/>
              <a:t>There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are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many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balls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in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the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bin;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I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don’t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know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the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number.</a:t>
            </a:r>
          </a:p>
          <a:p>
            <a:r>
              <a:rPr lang="en-US" altLang="zh-CN" sz="1600" b="0" baseline="0" dirty="0" smtClean="0"/>
              <a:t>But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I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know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20%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are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red,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50%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are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green,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and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30%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are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blue.</a:t>
            </a:r>
          </a:p>
          <a:p>
            <a:r>
              <a:rPr lang="en-US" altLang="zh-CN" sz="1600" b="0" baseline="0" dirty="0" smtClean="0"/>
              <a:t>I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randomly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get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a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ball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from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the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bin.</a:t>
            </a:r>
          </a:p>
          <a:p>
            <a:r>
              <a:rPr lang="en-US" altLang="zh-CN" sz="1600" b="0" baseline="0" dirty="0" smtClean="0"/>
              <a:t>What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is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the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color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of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the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ball?</a:t>
            </a:r>
          </a:p>
          <a:p>
            <a:r>
              <a:rPr lang="en-US" altLang="zh-CN" sz="1600" b="0" baseline="0" dirty="0" smtClean="0"/>
              <a:t>----</a:t>
            </a:r>
          </a:p>
          <a:p>
            <a:r>
              <a:rPr lang="en-US" altLang="zh-CN" sz="1600" b="0" baseline="0" dirty="0" smtClean="0"/>
              <a:t>The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question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is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actually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the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same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as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before.</a:t>
            </a:r>
          </a:p>
          <a:p>
            <a:r>
              <a:rPr lang="en-US" altLang="zh-CN" sz="1600" b="0" baseline="0" dirty="0" smtClean="0"/>
              <a:t>If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I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do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the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sampling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only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once,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then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the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outcome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can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be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any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of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the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three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colors.</a:t>
            </a:r>
          </a:p>
          <a:p>
            <a:r>
              <a:rPr lang="en-US" altLang="zh-CN" sz="1600" b="0" baseline="0" dirty="0" smtClean="0"/>
              <a:t>----</a:t>
            </a:r>
          </a:p>
          <a:p>
            <a:r>
              <a:rPr lang="en-US" altLang="zh-CN" sz="1600" b="0" baseline="0" dirty="0" smtClean="0"/>
              <a:t>However,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if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I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repeat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the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sampling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100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times,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then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the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outcome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will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have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statistical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significance.</a:t>
            </a:r>
          </a:p>
          <a:p>
            <a:r>
              <a:rPr lang="en-US" altLang="zh-CN" sz="1600" b="0" baseline="0" dirty="0" smtClean="0"/>
              <a:t>Around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20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balls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are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red,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around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50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are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green,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and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around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30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are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blue.</a:t>
            </a:r>
          </a:p>
          <a:p>
            <a:endParaRPr lang="en-US" altLang="zh-CN" sz="1600" b="0" dirty="0" smtClean="0"/>
          </a:p>
          <a:p>
            <a:endParaRPr lang="en-US" altLang="zh-CN" sz="1600" b="0" dirty="0" smtClean="0"/>
          </a:p>
          <a:p>
            <a:endParaRPr lang="en-US" altLang="zh-CN" sz="1600" b="0" dirty="0" smtClean="0"/>
          </a:p>
          <a:p>
            <a:r>
              <a:rPr lang="zh-CN" altLang="en-US" sz="1600" b="0" dirty="0" smtClean="0"/>
              <a:t>现在我换一种问法。</a:t>
            </a:r>
            <a:endParaRPr lang="en-US" altLang="zh-CN" sz="1600" b="0" dirty="0" smtClean="0"/>
          </a:p>
          <a:p>
            <a:r>
              <a:rPr lang="zh-CN" altLang="en-US" sz="1600" b="0" dirty="0" smtClean="0"/>
              <a:t>箱子里有很多个球。我也不知道有多少个。</a:t>
            </a:r>
            <a:endParaRPr lang="en-US" altLang="zh-CN" sz="1600" b="0" dirty="0" smtClean="0"/>
          </a:p>
          <a:p>
            <a:r>
              <a:rPr lang="zh-CN" altLang="en-US" sz="1600" b="0" dirty="0" smtClean="0"/>
              <a:t>我现在做随机抽样，抽到红色球概率是</a:t>
            </a:r>
            <a:r>
              <a:rPr lang="en-US" altLang="zh-CN" sz="1600" b="0" dirty="0" smtClean="0"/>
              <a:t>0.2</a:t>
            </a:r>
            <a:r>
              <a:rPr lang="zh-CN" altLang="en-US" sz="1600" b="0" dirty="0" smtClean="0"/>
              <a:t>，抽到绿色球概率是</a:t>
            </a:r>
            <a:r>
              <a:rPr lang="en-US" altLang="zh-CN" sz="1600" b="0" dirty="0" smtClean="0"/>
              <a:t>0.5</a:t>
            </a:r>
            <a:r>
              <a:rPr lang="zh-CN" altLang="en-US" sz="1600" b="0" dirty="0" smtClean="0"/>
              <a:t>，抽到蓝色球概率是</a:t>
            </a:r>
            <a:r>
              <a:rPr lang="en-US" altLang="zh-CN" sz="1600" b="0" dirty="0" smtClean="0"/>
              <a:t>0.3</a:t>
            </a:r>
            <a:r>
              <a:rPr lang="zh-CN" altLang="en-US" sz="1600" b="0" dirty="0" smtClean="0"/>
              <a:t>。</a:t>
            </a:r>
            <a:endParaRPr lang="en-US" altLang="zh-CN" sz="1600" b="0" dirty="0" smtClean="0"/>
          </a:p>
          <a:p>
            <a:r>
              <a:rPr lang="zh-CN" altLang="en-US" sz="1600" b="0" dirty="0" smtClean="0"/>
              <a:t>我现在把手伸到箱子里，闭着眼睛摸个球。</a:t>
            </a:r>
            <a:endParaRPr lang="en-US" altLang="zh-CN" sz="1600" b="0" dirty="0" smtClean="0"/>
          </a:p>
          <a:p>
            <a:r>
              <a:rPr lang="zh-CN" altLang="en-US" sz="1600" b="0" dirty="0" smtClean="0"/>
              <a:t>我摸到的是啥颜色的球？</a:t>
            </a:r>
            <a:endParaRPr lang="en-US" altLang="zh-CN" sz="1600" b="0" dirty="0" smtClean="0"/>
          </a:p>
          <a:p>
            <a:r>
              <a:rPr lang="en-US" altLang="zh-CN" sz="1600" b="0" dirty="0" smtClean="0"/>
              <a:t>-----</a:t>
            </a:r>
          </a:p>
          <a:p>
            <a:r>
              <a:rPr lang="zh-CN" altLang="en-US" sz="1600" b="0" dirty="0" smtClean="0"/>
              <a:t>其实这跟刚才的是完全一样的问题，完全一样的答案对吧？</a:t>
            </a:r>
            <a:endParaRPr lang="en-US" altLang="zh-CN" sz="1600" b="0" dirty="0" smtClean="0"/>
          </a:p>
          <a:p>
            <a:r>
              <a:rPr lang="zh-CN" altLang="en-US" sz="1600" b="0" dirty="0" smtClean="0"/>
              <a:t>三种球都有可能摸到。</a:t>
            </a:r>
            <a:endParaRPr lang="en-US" altLang="zh-CN" sz="1600" b="0" dirty="0" smtClean="0"/>
          </a:p>
          <a:p>
            <a:r>
              <a:rPr lang="zh-CN" altLang="en-US" sz="1600" b="0" dirty="0" smtClean="0"/>
              <a:t>如果我只摸一次，什么颜色的都可能摸到。</a:t>
            </a:r>
            <a:endParaRPr lang="en-US" altLang="zh-CN" sz="1600" b="0" dirty="0" smtClean="0"/>
          </a:p>
          <a:p>
            <a:r>
              <a:rPr lang="en-US" altLang="zh-CN" sz="1600" b="0" dirty="0" smtClean="0"/>
              <a:t>------</a:t>
            </a:r>
          </a:p>
          <a:p>
            <a:r>
              <a:rPr lang="zh-CN" altLang="en-US" sz="1600" b="0" dirty="0" smtClean="0"/>
              <a:t>假如我摸一个球，记录下来颜色，然后放回去。</a:t>
            </a:r>
            <a:endParaRPr lang="en-US" altLang="zh-CN" sz="1600" b="0" dirty="0" smtClean="0"/>
          </a:p>
          <a:p>
            <a:r>
              <a:rPr lang="zh-CN" altLang="en-US" sz="1600" b="0" dirty="0" smtClean="0"/>
              <a:t>我把箱子使劲摇，把球打散，然后重新摸。</a:t>
            </a:r>
            <a:endParaRPr lang="en-US" altLang="zh-CN" sz="1600" b="0" dirty="0" smtClean="0"/>
          </a:p>
          <a:p>
            <a:r>
              <a:rPr lang="zh-CN" altLang="en-US" sz="1600" b="0" dirty="0" smtClean="0"/>
              <a:t>重复一百次，我记录下的颜色有啥特点？</a:t>
            </a:r>
            <a:endParaRPr lang="en-US" altLang="zh-CN" sz="1600" b="0" dirty="0" smtClean="0"/>
          </a:p>
          <a:p>
            <a:r>
              <a:rPr lang="zh-CN" altLang="en-US" sz="1600" b="0" dirty="0" smtClean="0"/>
              <a:t>由于重复了</a:t>
            </a:r>
            <a:r>
              <a:rPr lang="en-US" altLang="zh-CN" sz="1600" b="0" dirty="0" smtClean="0"/>
              <a:t>100</a:t>
            </a:r>
            <a:r>
              <a:rPr lang="zh-CN" altLang="en-US" sz="1600" b="0" dirty="0" smtClean="0"/>
              <a:t>次，就有统计意义了。</a:t>
            </a:r>
            <a:endParaRPr lang="en-US" altLang="zh-CN" sz="1600" b="0" dirty="0" smtClean="0"/>
          </a:p>
          <a:p>
            <a:r>
              <a:rPr lang="zh-CN" altLang="en-US" sz="1600" b="0" dirty="0" smtClean="0"/>
              <a:t>大约有</a:t>
            </a:r>
            <a:r>
              <a:rPr lang="en-US" altLang="zh-CN" sz="1600" b="0" dirty="0" smtClean="0"/>
              <a:t>20</a:t>
            </a:r>
            <a:r>
              <a:rPr lang="zh-CN" altLang="en-US" sz="1600" b="0" dirty="0" smtClean="0"/>
              <a:t>次记录是红色，</a:t>
            </a:r>
            <a:r>
              <a:rPr lang="en-US" altLang="zh-CN" sz="1600" b="0" dirty="0" smtClean="0"/>
              <a:t>50</a:t>
            </a:r>
            <a:r>
              <a:rPr lang="zh-CN" altLang="en-US" sz="1600" b="0" dirty="0" smtClean="0"/>
              <a:t>次是绿色，</a:t>
            </a:r>
            <a:r>
              <a:rPr lang="en-US" altLang="zh-CN" sz="1600" b="0" dirty="0" smtClean="0"/>
              <a:t>30</a:t>
            </a:r>
            <a:r>
              <a:rPr lang="zh-CN" altLang="en-US" sz="1600" b="0" dirty="0" smtClean="0"/>
              <a:t>次是蓝色。</a:t>
            </a:r>
            <a:endParaRPr lang="en-US" sz="1600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3337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600" b="0" dirty="0" smtClean="0"/>
              <a:t>Let’s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implement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the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random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sampling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using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Python.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0" dirty="0" smtClean="0"/>
              <a:t>=====================</a:t>
            </a:r>
          </a:p>
          <a:p>
            <a:r>
              <a:rPr lang="en-US" altLang="zh-CN" sz="1600" b="0" baseline="0" dirty="0" smtClean="0"/>
              <a:t>The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color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can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be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red,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green,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and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blue.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0" dirty="0" smtClean="0"/>
              <a:t>=====================</a:t>
            </a:r>
          </a:p>
          <a:p>
            <a:r>
              <a:rPr lang="en-US" altLang="zh-CN" sz="1600" b="0" baseline="0" dirty="0" smtClean="0"/>
              <a:t>They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are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sampled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with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probabilities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of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0.2,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0.5,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and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0.3,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respectively.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0" dirty="0" smtClean="0"/>
              <a:t>=====================</a:t>
            </a:r>
          </a:p>
          <a:p>
            <a:r>
              <a:rPr lang="en-US" altLang="zh-CN" sz="1600" b="0" baseline="0" dirty="0" smtClean="0"/>
              <a:t>I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want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to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draw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100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samples.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0" dirty="0" smtClean="0"/>
              <a:t>=====================</a:t>
            </a:r>
          </a:p>
          <a:p>
            <a:r>
              <a:rPr lang="en-US" altLang="zh-CN" sz="1600" b="0" baseline="0" dirty="0" smtClean="0"/>
              <a:t>The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choice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function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returns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me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100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samples.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0" dirty="0" smtClean="0"/>
              <a:t>=====================</a:t>
            </a:r>
          </a:p>
          <a:p>
            <a:r>
              <a:rPr lang="en-US" altLang="zh-CN" sz="1600" b="0" baseline="0" dirty="0" smtClean="0"/>
              <a:t>Here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I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print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the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outcome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of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random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sampling.</a:t>
            </a:r>
          </a:p>
          <a:p>
            <a:r>
              <a:rPr lang="en-US" altLang="zh-CN" sz="1600" b="0" baseline="0" dirty="0" smtClean="0"/>
              <a:t>All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of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the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3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colors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can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be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chosen.</a:t>
            </a:r>
            <a:r>
              <a:rPr lang="zh-CN" altLang="en-US" sz="1600" b="0" baseline="0" dirty="0" smtClean="0"/>
              <a:t> </a:t>
            </a:r>
            <a:endParaRPr lang="en-US" altLang="zh-CN" sz="1600" b="0" baseline="0" dirty="0" smtClean="0"/>
          </a:p>
          <a:p>
            <a:r>
              <a:rPr lang="en-US" altLang="zh-CN" sz="1600" b="0" baseline="0" dirty="0" smtClean="0"/>
              <a:t>If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I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execute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the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function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again,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the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outcome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will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be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completely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different.</a:t>
            </a:r>
          </a:p>
          <a:p>
            <a:r>
              <a:rPr lang="en-US" altLang="zh-CN" sz="1600" b="0" baseline="0" dirty="0" smtClean="0"/>
              <a:t>-----</a:t>
            </a:r>
          </a:p>
          <a:p>
            <a:r>
              <a:rPr lang="en-US" altLang="zh-CN" sz="1600" b="0" dirty="0" smtClean="0"/>
              <a:t>In</a:t>
            </a:r>
            <a:r>
              <a:rPr lang="zh-CN" altLang="en-US" sz="1600" b="0" dirty="0" smtClean="0"/>
              <a:t> </a:t>
            </a:r>
            <a:r>
              <a:rPr lang="en-US" altLang="zh-CN" sz="1600" b="0" dirty="0" smtClean="0"/>
              <a:t>this</a:t>
            </a:r>
            <a:r>
              <a:rPr lang="zh-CN" altLang="en-US" sz="1600" b="0" dirty="0" smtClean="0"/>
              <a:t> </a:t>
            </a:r>
            <a:r>
              <a:rPr lang="en-US" altLang="zh-CN" sz="1600" b="0" dirty="0" smtClean="0"/>
              <a:t>and</a:t>
            </a:r>
            <a:r>
              <a:rPr lang="zh-CN" altLang="en-US" sz="1600" b="0" dirty="0" smtClean="0"/>
              <a:t> </a:t>
            </a:r>
            <a:r>
              <a:rPr lang="en-US" altLang="zh-CN" sz="1600" b="0" dirty="0" smtClean="0"/>
              <a:t>the</a:t>
            </a:r>
            <a:r>
              <a:rPr lang="zh-CN" altLang="en-US" sz="1600" b="0" dirty="0" smtClean="0"/>
              <a:t> </a:t>
            </a:r>
            <a:r>
              <a:rPr lang="en-US" altLang="zh-CN" sz="1600" b="0" dirty="0" smtClean="0"/>
              <a:t>upcoming</a:t>
            </a:r>
            <a:r>
              <a:rPr lang="zh-CN" altLang="en-US" sz="1600" b="0" dirty="0" smtClean="0"/>
              <a:t> </a:t>
            </a:r>
            <a:r>
              <a:rPr lang="en-US" altLang="zh-CN" sz="1600" b="0" dirty="0" smtClean="0"/>
              <a:t>lectures</a:t>
            </a:r>
            <a:r>
              <a:rPr lang="en-US" altLang="zh-CN" sz="1600" b="0" baseline="0" dirty="0" smtClean="0"/>
              <a:t>,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randomly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sampling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is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frequently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used.</a:t>
            </a:r>
          </a:p>
          <a:p>
            <a:r>
              <a:rPr lang="en-US" altLang="zh-CN" sz="1600" b="0" baseline="0" dirty="0" smtClean="0"/>
              <a:t>You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can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recall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this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example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when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trying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to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understand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random</a:t>
            </a:r>
            <a:r>
              <a:rPr lang="zh-CN" altLang="en-US" sz="1600" b="0" baseline="0" dirty="0" smtClean="0"/>
              <a:t> </a:t>
            </a:r>
            <a:r>
              <a:rPr lang="en-US" altLang="zh-CN" sz="1600" b="0" baseline="0" dirty="0" smtClean="0"/>
              <a:t>sampling.</a:t>
            </a:r>
            <a:endParaRPr lang="en-US" altLang="zh-CN" sz="1600" b="0" dirty="0" smtClean="0"/>
          </a:p>
          <a:p>
            <a:endParaRPr lang="en-US" altLang="zh-CN" sz="1600" b="0" dirty="0" smtClean="0"/>
          </a:p>
          <a:p>
            <a:endParaRPr lang="en-US" altLang="zh-CN" sz="1600" b="0" dirty="0" smtClean="0"/>
          </a:p>
          <a:p>
            <a:r>
              <a:rPr lang="zh-CN" altLang="en-US" sz="1600" b="0" dirty="0" smtClean="0"/>
              <a:t>用</a:t>
            </a:r>
            <a:r>
              <a:rPr lang="en-US" altLang="zh-CN" sz="1600" b="0" dirty="0" smtClean="0"/>
              <a:t>0.2</a:t>
            </a:r>
            <a:r>
              <a:rPr lang="zh-CN" altLang="en-US" sz="1600" b="0" dirty="0" smtClean="0"/>
              <a:t>、</a:t>
            </a:r>
            <a:r>
              <a:rPr lang="en-US" altLang="zh-CN" sz="1600" b="0" dirty="0" smtClean="0"/>
              <a:t>0.5</a:t>
            </a:r>
            <a:r>
              <a:rPr lang="zh-CN" altLang="en-US" sz="1600" b="0" dirty="0" smtClean="0"/>
              <a:t>、</a:t>
            </a:r>
            <a:r>
              <a:rPr lang="en-US" altLang="zh-CN" sz="1600" b="0" dirty="0" smtClean="0"/>
              <a:t>0.3</a:t>
            </a:r>
            <a:r>
              <a:rPr lang="zh-CN" altLang="en-US" sz="1600" b="0" dirty="0" smtClean="0"/>
              <a:t>这三个概率来抽一个彩球  就是</a:t>
            </a:r>
            <a:r>
              <a:rPr lang="en-US" altLang="zh-CN" sz="1600" b="0" dirty="0" smtClean="0"/>
              <a:t>random</a:t>
            </a:r>
            <a:r>
              <a:rPr lang="zh-CN" altLang="en-US" sz="1600" b="0" dirty="0" smtClean="0"/>
              <a:t> </a:t>
            </a:r>
            <a:r>
              <a:rPr lang="en-US" altLang="zh-CN" sz="1600" b="0" dirty="0" smtClean="0"/>
              <a:t>sampling</a:t>
            </a:r>
            <a:r>
              <a:rPr lang="zh-CN" altLang="en-US" sz="1600" b="0" baseline="0" dirty="0" smtClean="0"/>
              <a:t> 随机抽样。</a:t>
            </a:r>
            <a:endParaRPr lang="en-US" altLang="zh-CN" sz="1600" b="0" baseline="0" dirty="0" smtClean="0"/>
          </a:p>
          <a:p>
            <a:r>
              <a:rPr lang="en-US" altLang="zh-CN" sz="1600" b="0" baseline="0" dirty="0" smtClean="0"/>
              <a:t>----</a:t>
            </a:r>
            <a:endParaRPr lang="en-US" altLang="zh-CN" sz="1600" b="0" dirty="0" smtClean="0"/>
          </a:p>
          <a:p>
            <a:r>
              <a:rPr lang="zh-CN" altLang="en-US" sz="1600" b="0" dirty="0" smtClean="0"/>
              <a:t>用</a:t>
            </a:r>
            <a:r>
              <a:rPr lang="en-US" altLang="zh-CN" sz="1600" b="0" dirty="0" smtClean="0"/>
              <a:t>Python</a:t>
            </a:r>
            <a:r>
              <a:rPr lang="zh-CN" altLang="en-US" sz="1600" b="0" dirty="0" smtClean="0"/>
              <a:t>语言中的</a:t>
            </a:r>
            <a:r>
              <a:rPr lang="en-US" altLang="zh-CN" sz="1600" b="0" dirty="0" err="1" smtClean="0"/>
              <a:t>numpy.random</a:t>
            </a:r>
            <a:r>
              <a:rPr lang="zh-CN" altLang="en-US" sz="1600" b="0" dirty="0" smtClean="0"/>
              <a:t>包里面的</a:t>
            </a:r>
            <a:r>
              <a:rPr lang="en-US" altLang="zh-CN" sz="1600" b="0" dirty="0" smtClean="0"/>
              <a:t>choice</a:t>
            </a:r>
            <a:r>
              <a:rPr lang="zh-CN" altLang="en-US" sz="1600" b="0" dirty="0" smtClean="0"/>
              <a:t>函数就可以做这种抽样。</a:t>
            </a:r>
            <a:endParaRPr lang="en-US" altLang="zh-CN" sz="1600" b="0" dirty="0" smtClean="0"/>
          </a:p>
          <a:p>
            <a:r>
              <a:rPr lang="zh-CN" altLang="en-US" sz="1600" b="0" dirty="0" smtClean="0"/>
              <a:t>我从红、绿、蓝（</a:t>
            </a:r>
            <a:r>
              <a:rPr lang="en-US" altLang="zh-CN" sz="1600" b="0" dirty="0" smtClean="0"/>
              <a:t>R</a:t>
            </a:r>
            <a:r>
              <a:rPr lang="zh-CN" altLang="en-US" sz="1600" b="0" dirty="0" smtClean="0"/>
              <a:t>、</a:t>
            </a:r>
            <a:r>
              <a:rPr lang="en-US" altLang="zh-CN" sz="1600" b="0" dirty="0" smtClean="0"/>
              <a:t>G</a:t>
            </a:r>
            <a:r>
              <a:rPr lang="zh-CN" altLang="en-US" sz="1600" b="0" dirty="0" smtClean="0"/>
              <a:t>、</a:t>
            </a:r>
            <a:r>
              <a:rPr lang="en-US" altLang="zh-CN" sz="1600" b="0" dirty="0" smtClean="0"/>
              <a:t>B</a:t>
            </a:r>
            <a:r>
              <a:rPr lang="zh-CN" altLang="en-US" sz="1600" b="0" dirty="0" smtClean="0"/>
              <a:t>）这个集合里做抽样，然后放回。</a:t>
            </a:r>
            <a:endParaRPr lang="en-US" altLang="zh-CN" sz="1600" b="0" dirty="0" smtClean="0"/>
          </a:p>
          <a:p>
            <a:r>
              <a:rPr lang="zh-CN" altLang="en-US" sz="1600" b="0" dirty="0" smtClean="0"/>
              <a:t>我重复</a:t>
            </a:r>
            <a:r>
              <a:rPr lang="en-US" altLang="zh-CN" sz="1600" b="0" dirty="0" smtClean="0"/>
              <a:t>100</a:t>
            </a:r>
            <a:r>
              <a:rPr lang="zh-CN" altLang="en-US" sz="1600" b="0" dirty="0" smtClean="0"/>
              <a:t>次。</a:t>
            </a:r>
            <a:endParaRPr lang="en-US" altLang="zh-CN" sz="1600" b="0" dirty="0" smtClean="0"/>
          </a:p>
          <a:p>
            <a:r>
              <a:rPr lang="zh-CN" altLang="en-US" sz="1600" b="0" dirty="0" smtClean="0"/>
              <a:t>我把三种颜色的概率设置为</a:t>
            </a:r>
            <a:r>
              <a:rPr lang="en-US" altLang="zh-CN" sz="1600" b="0" dirty="0" smtClean="0"/>
              <a:t>0.2</a:t>
            </a:r>
            <a:r>
              <a:rPr lang="zh-CN" altLang="en-US" sz="1600" b="0" dirty="0" smtClean="0"/>
              <a:t>， </a:t>
            </a:r>
            <a:r>
              <a:rPr lang="en-US" altLang="zh-CN" sz="1600" b="0" dirty="0" smtClean="0"/>
              <a:t>0.5</a:t>
            </a:r>
            <a:r>
              <a:rPr lang="zh-CN" altLang="en-US" sz="1600" b="0" dirty="0" smtClean="0"/>
              <a:t>， </a:t>
            </a:r>
            <a:r>
              <a:rPr lang="en-US" altLang="zh-CN" sz="1600" b="0" dirty="0" smtClean="0"/>
              <a:t>0.3</a:t>
            </a:r>
            <a:r>
              <a:rPr lang="zh-CN" altLang="en-US" sz="1600" b="0" dirty="0" smtClean="0"/>
              <a:t>。</a:t>
            </a:r>
            <a:endParaRPr lang="en-US" altLang="zh-CN" sz="1600" b="0" dirty="0" smtClean="0"/>
          </a:p>
          <a:p>
            <a:r>
              <a:rPr lang="en-US" altLang="zh-CN" sz="1600" b="0" dirty="0" smtClean="0"/>
              <a:t>-----</a:t>
            </a:r>
          </a:p>
          <a:p>
            <a:r>
              <a:rPr lang="en-US" altLang="zh-CN" sz="1600" b="0" dirty="0" smtClean="0"/>
              <a:t>Choice</a:t>
            </a:r>
            <a:r>
              <a:rPr lang="zh-CN" altLang="en-US" sz="1600" b="0" dirty="0" smtClean="0"/>
              <a:t>函数返回结果</a:t>
            </a:r>
            <a:r>
              <a:rPr lang="en-US" altLang="zh-CN" sz="1600" b="0" dirty="0" smtClean="0"/>
              <a:t>samples</a:t>
            </a:r>
            <a:r>
              <a:rPr lang="zh-CN" altLang="en-US" sz="1600" b="0" dirty="0" smtClean="0"/>
              <a:t>给我。</a:t>
            </a:r>
            <a:endParaRPr lang="en-US" altLang="zh-CN" sz="1600" b="0" dirty="0" smtClean="0"/>
          </a:p>
          <a:p>
            <a:r>
              <a:rPr lang="zh-CN" altLang="en-US" sz="1600" b="0" dirty="0" smtClean="0"/>
              <a:t>打印出来看看，结果长这个样。</a:t>
            </a:r>
            <a:endParaRPr lang="en-US" altLang="zh-CN" sz="1600" b="0" dirty="0" smtClean="0"/>
          </a:p>
          <a:p>
            <a:r>
              <a:rPr lang="zh-CN" altLang="en-US" sz="1600" b="0" dirty="0" smtClean="0"/>
              <a:t>三种球都可能被抽到。但是绿色的球最多，其次是蓝色球，最少的是红球。</a:t>
            </a:r>
            <a:endParaRPr lang="en-US" altLang="zh-CN" sz="1600" b="0" dirty="0" smtClean="0"/>
          </a:p>
          <a:p>
            <a:r>
              <a:rPr lang="en-US" altLang="zh-CN" sz="1600" b="0" dirty="0" smtClean="0"/>
              <a:t>-----</a:t>
            </a:r>
          </a:p>
          <a:p>
            <a:r>
              <a:rPr lang="zh-CN" altLang="en-US" sz="1600" b="0" dirty="0" smtClean="0"/>
              <a:t>这节课和后面几节课都要反复用到随机抽样。</a:t>
            </a:r>
            <a:endParaRPr lang="en-US" altLang="zh-CN" sz="1600" b="0" dirty="0" smtClean="0"/>
          </a:p>
          <a:p>
            <a:r>
              <a:rPr lang="zh-CN" altLang="en-US" sz="1600" b="0" dirty="0" smtClean="0"/>
              <a:t>如果你对随机抽样不熟，你就想想这个随机摸彩色球的例子。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8497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600" dirty="0" smtClean="0"/>
              <a:t>Reinforcement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learning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is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difficult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for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beginners.</a:t>
            </a:r>
          </a:p>
          <a:p>
            <a:r>
              <a:rPr lang="en-US" altLang="zh-CN" sz="1600" baseline="0" dirty="0" smtClean="0"/>
              <a:t>A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major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reason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that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reinforcement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learning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has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numerous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terminologies.</a:t>
            </a:r>
          </a:p>
          <a:p>
            <a:r>
              <a:rPr lang="en-US" altLang="zh-CN" sz="1600" baseline="0" dirty="0" smtClean="0"/>
              <a:t>Beginners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can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be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overwhelmed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by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those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terminologies.</a:t>
            </a:r>
          </a:p>
          <a:p>
            <a:r>
              <a:rPr lang="en-US" altLang="zh-CN" sz="1600" baseline="0" dirty="0" smtClean="0"/>
              <a:t>But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you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have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to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understand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and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remember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all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terminologies.</a:t>
            </a:r>
          </a:p>
          <a:p>
            <a:r>
              <a:rPr lang="en-US" altLang="zh-CN" sz="1600" baseline="0" dirty="0" smtClean="0"/>
              <a:t>There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no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way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around.</a:t>
            </a:r>
          </a:p>
          <a:p>
            <a:r>
              <a:rPr lang="en-US" altLang="zh-CN" sz="1600" baseline="0" dirty="0" smtClean="0"/>
              <a:t>In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this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lecture,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let's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study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terminologies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one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by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one.</a:t>
            </a:r>
            <a:endParaRPr lang="en-US" altLang="zh-CN" sz="160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r>
              <a:rPr lang="zh-CN" altLang="en-US" sz="1600" dirty="0" smtClean="0"/>
              <a:t>强化学习比较难入门，门槛高的一个原因就是强化学习有很多很多专业术语。</a:t>
            </a:r>
            <a:endParaRPr lang="en-US" altLang="zh-CN" sz="1600" dirty="0" smtClean="0"/>
          </a:p>
          <a:p>
            <a:r>
              <a:rPr lang="zh-CN" altLang="en-US" sz="1600" dirty="0" smtClean="0"/>
              <a:t>我刚开始接触强化学习的时候最恼火的就是强化学习中的名词，要是记不住的话，完全看不懂文章。</a:t>
            </a:r>
            <a:endParaRPr lang="en-US" altLang="zh-CN" sz="1600" dirty="0" smtClean="0"/>
          </a:p>
          <a:p>
            <a:r>
              <a:rPr lang="zh-CN" altLang="en-US" sz="1600" dirty="0" smtClean="0"/>
              <a:t>想入门强化学习，没有什么捷径，只能老老实实把这些专业术语全都记住，全都理解。</a:t>
            </a:r>
            <a:endParaRPr lang="en-US" altLang="zh-CN" sz="1600" dirty="0" smtClean="0"/>
          </a:p>
          <a:p>
            <a:r>
              <a:rPr lang="zh-CN" altLang="en-US" sz="1600" dirty="0" smtClean="0"/>
              <a:t>这节课的主要内容就是理解这些专业术语。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4545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600" dirty="0" smtClean="0"/>
              <a:t>The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most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important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concepts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are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state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and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action.</a:t>
            </a:r>
          </a:p>
          <a:p>
            <a:r>
              <a:rPr lang="en-US" altLang="zh-CN" sz="1600" dirty="0" smtClean="0"/>
              <a:t>----</a:t>
            </a:r>
          </a:p>
          <a:p>
            <a:r>
              <a:rPr lang="en-US" altLang="zh-CN" sz="1600" dirty="0" smtClean="0"/>
              <a:t>For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example,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w</a:t>
            </a:r>
            <a:r>
              <a:rPr lang="en-US" altLang="zh-CN" sz="1600" dirty="0" smtClean="0"/>
              <a:t>hen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you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play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Super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Mario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game,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you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can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think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of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screenshot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state.</a:t>
            </a:r>
          </a:p>
          <a:p>
            <a:r>
              <a:rPr lang="en-US" altLang="zh-CN" sz="1600" baseline="0" dirty="0" smtClean="0"/>
              <a:t>Admittedly,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this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not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rigorous.</a:t>
            </a:r>
            <a:r>
              <a:rPr lang="zh-CN" altLang="en-US" sz="1600" baseline="0" dirty="0" smtClean="0"/>
              <a:t> </a:t>
            </a:r>
            <a:endParaRPr lang="en-US" altLang="zh-CN" sz="1600" baseline="0" dirty="0" smtClean="0"/>
          </a:p>
          <a:p>
            <a:r>
              <a:rPr lang="en-US" altLang="zh-CN" sz="1600" baseline="0" dirty="0" smtClean="0"/>
              <a:t>Such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screenshot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typically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called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observation.</a:t>
            </a:r>
          </a:p>
          <a:p>
            <a:r>
              <a:rPr lang="en-US" altLang="zh-CN" sz="1600" baseline="0" dirty="0" smtClean="0"/>
              <a:t>But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deep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reinforcement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learning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people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oftentimes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do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not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distinguish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between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state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and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observation.</a:t>
            </a:r>
          </a:p>
          <a:p>
            <a:endParaRPr lang="en-US" altLang="zh-CN" sz="1600" baseline="0" dirty="0" smtClean="0"/>
          </a:p>
          <a:p>
            <a:endParaRPr lang="en-US" altLang="zh-CN" sz="1600" baseline="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r>
              <a:rPr lang="zh-CN" altLang="en-US" sz="1600" dirty="0" smtClean="0"/>
              <a:t>最重要的概念是</a:t>
            </a:r>
            <a:r>
              <a:rPr lang="en-US" altLang="zh-CN" sz="1600" dirty="0" smtClean="0"/>
              <a:t>state</a:t>
            </a:r>
            <a:r>
              <a:rPr lang="zh-CN" altLang="en-US" sz="1600" dirty="0" smtClean="0"/>
              <a:t>和</a:t>
            </a:r>
            <a:r>
              <a:rPr lang="en-US" altLang="zh-CN" sz="1600" dirty="0" smtClean="0"/>
              <a:t>action</a:t>
            </a:r>
            <a:r>
              <a:rPr lang="zh-CN" altLang="en-US" sz="1600" dirty="0" smtClean="0"/>
              <a:t>。</a:t>
            </a:r>
            <a:endParaRPr lang="en-US" altLang="zh-CN" sz="1600" dirty="0" smtClean="0"/>
          </a:p>
          <a:p>
            <a:r>
              <a:rPr lang="en-US" altLang="zh-CN" sz="1600" dirty="0" smtClean="0"/>
              <a:t>State</a:t>
            </a:r>
            <a:r>
              <a:rPr lang="zh-CN" altLang="en-US" sz="1600" dirty="0" smtClean="0"/>
              <a:t>可以翻译成状态。</a:t>
            </a:r>
            <a:endParaRPr lang="en-US" altLang="zh-CN" sz="1600" dirty="0" smtClean="0"/>
          </a:p>
          <a:p>
            <a:r>
              <a:rPr lang="zh-CN" altLang="en-US" sz="1600" dirty="0" smtClean="0"/>
              <a:t>状态是什么意思呢？</a:t>
            </a:r>
            <a:endParaRPr lang="en-US" altLang="zh-CN" sz="1600" dirty="0" smtClean="0"/>
          </a:p>
          <a:p>
            <a:r>
              <a:rPr lang="zh-CN" altLang="en-US" sz="1600" dirty="0" smtClean="0"/>
              <a:t>假设你在玩超级玛丽游戏，你可以认为状态就是当前屏幕上的这张画面。</a:t>
            </a:r>
            <a:endParaRPr lang="en-US" altLang="zh-CN" sz="1600" dirty="0" smtClean="0"/>
          </a:p>
          <a:p>
            <a:r>
              <a:rPr lang="en-US" altLang="zh-CN" sz="1600" dirty="0" smtClean="0"/>
              <a:t>-------</a:t>
            </a:r>
          </a:p>
          <a:p>
            <a:r>
              <a:rPr lang="zh-CN" altLang="en-US" sz="1600" dirty="0" smtClean="0"/>
              <a:t>当然我这么说不太严谨。</a:t>
            </a:r>
            <a:endParaRPr lang="en-US" altLang="zh-CN" sz="1600" dirty="0" smtClean="0"/>
          </a:p>
          <a:p>
            <a:r>
              <a:rPr lang="zh-CN" altLang="en-US" sz="1600" dirty="0" smtClean="0"/>
              <a:t>你的观测</a:t>
            </a:r>
            <a:r>
              <a:rPr lang="en-US" altLang="zh-CN" sz="1600" dirty="0" smtClean="0"/>
              <a:t>observation</a:t>
            </a:r>
            <a:r>
              <a:rPr lang="zh-CN" altLang="en-US" sz="1600" dirty="0" smtClean="0"/>
              <a:t>和状态</a:t>
            </a:r>
            <a:r>
              <a:rPr lang="en-US" altLang="zh-CN" sz="1600" dirty="0" smtClean="0"/>
              <a:t>state</a:t>
            </a:r>
            <a:r>
              <a:rPr lang="zh-CN" altLang="en-US" sz="1600" dirty="0" smtClean="0"/>
              <a:t>未必是相同的东西。</a:t>
            </a:r>
            <a:endParaRPr lang="en-US" altLang="zh-CN" sz="1600" dirty="0" smtClean="0"/>
          </a:p>
          <a:p>
            <a:r>
              <a:rPr lang="zh-CN" altLang="en-US" sz="1600" dirty="0" smtClean="0"/>
              <a:t>为了方便你理解，这节课里你可以认为这张图片就是当前的状态。</a:t>
            </a:r>
            <a:endParaRPr lang="en-US" altLang="zh-CN" sz="160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055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600" dirty="0" smtClean="0"/>
              <a:t>When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you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play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the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Super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Mario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game,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you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observe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current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state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on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screen,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and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you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will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react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accordingly.</a:t>
            </a:r>
          </a:p>
          <a:p>
            <a:r>
              <a:rPr lang="en-US" altLang="zh-CN" sz="1600" baseline="0" dirty="0" smtClean="0"/>
              <a:t>You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can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manipulate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Mario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to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perform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different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actions.</a:t>
            </a:r>
          </a:p>
          <a:p>
            <a:r>
              <a:rPr lang="en-US" altLang="zh-CN" sz="1600" baseline="0" dirty="0" smtClean="0"/>
              <a:t>For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simplicity,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let’s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assume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Mario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can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choose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from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only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3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actions: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go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left,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right,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or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up.</a:t>
            </a:r>
          </a:p>
          <a:p>
            <a:r>
              <a:rPr lang="en-US" altLang="zh-CN" sz="1600" baseline="0" dirty="0" smtClean="0"/>
              <a:t>Left,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right,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and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up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are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called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actions.</a:t>
            </a:r>
          </a:p>
          <a:p>
            <a:r>
              <a:rPr lang="en-US" altLang="zh-CN" sz="1600" baseline="0" dirty="0" smtClean="0"/>
              <a:t>==========================</a:t>
            </a:r>
          </a:p>
          <a:p>
            <a:r>
              <a:rPr lang="en-US" altLang="zh-CN" sz="1600" baseline="0" dirty="0" smtClean="0"/>
              <a:t>In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this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example,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Mario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called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agent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because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performs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actions.</a:t>
            </a:r>
          </a:p>
          <a:p>
            <a:r>
              <a:rPr lang="en-US" altLang="zh-CN" sz="1600" baseline="0" dirty="0" smtClean="0"/>
              <a:t>In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case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of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self-driving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car,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cars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are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agents.</a:t>
            </a:r>
          </a:p>
          <a:p>
            <a:r>
              <a:rPr lang="en-US" altLang="zh-CN" sz="1600" baseline="0" dirty="0" smtClean="0"/>
              <a:t>In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case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of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robotics,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robots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are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agents.</a:t>
            </a:r>
          </a:p>
          <a:p>
            <a:r>
              <a:rPr lang="en-US" altLang="zh-CN" sz="1600" baseline="0" dirty="0" smtClean="0"/>
              <a:t>In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sum,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application,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one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who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performs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actions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called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agent.</a:t>
            </a:r>
            <a:endParaRPr lang="en-US" altLang="zh-CN" sz="160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r>
              <a:rPr lang="zh-CN" altLang="en-US" sz="1600" dirty="0" smtClean="0"/>
              <a:t>你玩超级玛丽游戏的时候，观测到屏幕上现在的状态，你就可以操纵</a:t>
            </a:r>
            <a:r>
              <a:rPr lang="en-US" altLang="zh-CN" sz="1600" dirty="0" smtClean="0"/>
              <a:t>Mario</a:t>
            </a:r>
            <a:r>
              <a:rPr lang="zh-CN" altLang="en-US" sz="1600" dirty="0" smtClean="0"/>
              <a:t>做出相应的动作了。</a:t>
            </a:r>
            <a:endParaRPr lang="en-US" altLang="zh-CN" sz="1600" dirty="0" smtClean="0"/>
          </a:p>
          <a:p>
            <a:r>
              <a:rPr lang="en-US" altLang="zh-CN" sz="1600" dirty="0" smtClean="0"/>
              <a:t>Mario</a:t>
            </a:r>
            <a:r>
              <a:rPr lang="zh-CN" altLang="en-US" sz="1600" dirty="0" smtClean="0"/>
              <a:t>做的动作就叫</a:t>
            </a:r>
            <a:r>
              <a:rPr lang="en-US" altLang="zh-CN" sz="1600" dirty="0" smtClean="0"/>
              <a:t>action</a:t>
            </a:r>
            <a:r>
              <a:rPr lang="zh-CN" altLang="en-US" sz="1600" dirty="0" smtClean="0"/>
              <a:t>。</a:t>
            </a:r>
            <a:endParaRPr lang="en-US" altLang="zh-CN" sz="1600" dirty="0" smtClean="0"/>
          </a:p>
          <a:p>
            <a:r>
              <a:rPr lang="zh-CN" altLang="en-US" sz="1600" dirty="0" smtClean="0"/>
              <a:t>假设</a:t>
            </a:r>
            <a:r>
              <a:rPr lang="en-US" altLang="zh-CN" sz="1600" dirty="0" smtClean="0"/>
              <a:t>Mario</a:t>
            </a:r>
            <a:r>
              <a:rPr lang="zh-CN" altLang="en-US" sz="1600" dirty="0" smtClean="0"/>
              <a:t>可以做</a:t>
            </a:r>
            <a:r>
              <a:rPr lang="en-US" altLang="zh-CN" sz="1600" dirty="0" smtClean="0"/>
              <a:t>3</a:t>
            </a:r>
            <a:r>
              <a:rPr lang="zh-CN" altLang="en-US" sz="1600" dirty="0" smtClean="0"/>
              <a:t>个不同的动作：</a:t>
            </a:r>
            <a:endParaRPr lang="en-US" altLang="zh-CN" sz="1600" dirty="0" smtClean="0"/>
          </a:p>
          <a:p>
            <a:r>
              <a:rPr lang="zh-CN" altLang="en-US" sz="1600" dirty="0" smtClean="0"/>
              <a:t>向左走，向右走，以及往上跳。</a:t>
            </a:r>
            <a:endParaRPr lang="en-US" altLang="zh-CN" sz="1600" dirty="0" smtClean="0"/>
          </a:p>
          <a:p>
            <a:r>
              <a:rPr lang="zh-CN" altLang="en-US" sz="1600" dirty="0" smtClean="0"/>
              <a:t>向左、向右、或者是向上，就叫做动作。</a:t>
            </a:r>
            <a:endParaRPr lang="en-US" altLang="zh-CN" sz="1600" dirty="0" smtClean="0"/>
          </a:p>
          <a:p>
            <a:r>
              <a:rPr lang="en-US" altLang="zh-CN" sz="1600" baseline="0" dirty="0" smtClean="0"/>
              <a:t>==========================</a:t>
            </a:r>
            <a:endParaRPr lang="en-US" altLang="zh-CN" sz="1600" dirty="0" smtClean="0"/>
          </a:p>
          <a:p>
            <a:r>
              <a:rPr lang="zh-CN" altLang="en-US" sz="1600" dirty="0" smtClean="0"/>
              <a:t>这个例子里面，</a:t>
            </a:r>
            <a:r>
              <a:rPr lang="en-US" altLang="zh-CN" sz="1600" dirty="0" smtClean="0"/>
              <a:t>Mario</a:t>
            </a:r>
            <a:r>
              <a:rPr lang="zh-CN" altLang="en-US" sz="1600" dirty="0" smtClean="0"/>
              <a:t>就被叫做</a:t>
            </a:r>
            <a:r>
              <a:rPr lang="en-US" altLang="zh-CN" sz="1600" dirty="0" smtClean="0"/>
              <a:t>agent</a:t>
            </a:r>
            <a:r>
              <a:rPr lang="zh-CN" altLang="en-US" sz="1600" dirty="0" smtClean="0"/>
              <a:t>。</a:t>
            </a:r>
            <a:endParaRPr lang="en-US" altLang="zh-CN" sz="1600" dirty="0" smtClean="0"/>
          </a:p>
          <a:p>
            <a:r>
              <a:rPr lang="zh-CN" altLang="en-US" sz="1600" dirty="0" smtClean="0"/>
              <a:t>如果是自动驾驶的应用里，汽车就叫</a:t>
            </a:r>
            <a:r>
              <a:rPr lang="en-US" altLang="zh-CN" sz="1600" dirty="0" smtClean="0"/>
              <a:t>agent</a:t>
            </a:r>
            <a:r>
              <a:rPr lang="zh-CN" altLang="en-US" sz="1600" dirty="0" smtClean="0"/>
              <a:t>。</a:t>
            </a:r>
            <a:endParaRPr lang="en-US" altLang="zh-CN" sz="1600" dirty="0" smtClean="0"/>
          </a:p>
          <a:p>
            <a:r>
              <a:rPr lang="zh-CN" altLang="en-US" sz="1600" dirty="0" smtClean="0"/>
              <a:t>如果是机器人走路的应用里，机器人就是</a:t>
            </a:r>
            <a:r>
              <a:rPr lang="en-US" altLang="zh-CN" sz="1600" dirty="0" smtClean="0"/>
              <a:t>agent</a:t>
            </a:r>
            <a:r>
              <a:rPr lang="zh-CN" altLang="en-US" sz="1600" dirty="0" smtClean="0"/>
              <a:t>。</a:t>
            </a:r>
            <a:endParaRPr lang="en-US" altLang="zh-CN" sz="1600" dirty="0" smtClean="0"/>
          </a:p>
          <a:p>
            <a:r>
              <a:rPr lang="zh-CN" altLang="en-US" sz="1600" dirty="0" smtClean="0"/>
              <a:t>总之，在一个应用里，动作是由谁做的，谁就是</a:t>
            </a:r>
            <a:r>
              <a:rPr lang="en-US" altLang="zh-CN" sz="1600" dirty="0" smtClean="0"/>
              <a:t>agent</a:t>
            </a:r>
            <a:r>
              <a:rPr lang="zh-CN" altLang="en-US" sz="1600" dirty="0" smtClean="0"/>
              <a:t>。</a:t>
            </a:r>
            <a:endParaRPr lang="en-US" altLang="zh-CN" sz="1600" dirty="0" smtClean="0"/>
          </a:p>
          <a:p>
            <a:r>
              <a:rPr lang="en-US" altLang="zh-CN" sz="1600" dirty="0" smtClean="0"/>
              <a:t>Agent</a:t>
            </a:r>
            <a:r>
              <a:rPr lang="zh-CN" altLang="en-US" sz="1600" dirty="0" smtClean="0"/>
              <a:t>通常被翻译为智能体。我就不翻译了，就叫它</a:t>
            </a:r>
            <a:r>
              <a:rPr lang="en-US" altLang="zh-CN" sz="1600" dirty="0" smtClean="0"/>
              <a:t>agent</a:t>
            </a:r>
            <a:r>
              <a:rPr lang="zh-CN" altLang="en-US" sz="1600" dirty="0" smtClean="0"/>
              <a:t>。</a:t>
            </a:r>
            <a:endParaRPr lang="en-US" altLang="zh-CN" sz="160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530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600" dirty="0" smtClean="0"/>
              <a:t>The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next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concept,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policy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function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π.</a:t>
            </a:r>
          </a:p>
          <a:p>
            <a:r>
              <a:rPr lang="en-US" altLang="zh-CN" sz="1600" baseline="0" dirty="0" smtClean="0"/>
              <a:t>What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does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policy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mean?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aseline="0" dirty="0" smtClean="0"/>
              <a:t>Policy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means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making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decision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based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on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current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state.</a:t>
            </a:r>
          </a:p>
          <a:p>
            <a:r>
              <a:rPr lang="en-US" altLang="zh-CN" sz="1600" baseline="0" dirty="0" smtClean="0"/>
              <a:t>When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you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play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game,</a:t>
            </a:r>
            <a:r>
              <a:rPr lang="zh-CN" altLang="en-US" sz="1600" baseline="0" dirty="0" smtClean="0"/>
              <a:t> </a:t>
            </a:r>
            <a:endParaRPr lang="en-US" altLang="zh-CN" sz="1600" baseline="0" dirty="0" smtClean="0"/>
          </a:p>
          <a:p>
            <a:r>
              <a:rPr lang="en-US" altLang="zh-CN" sz="1600" baseline="0" dirty="0" smtClean="0"/>
              <a:t>=========================</a:t>
            </a:r>
          </a:p>
          <a:p>
            <a:r>
              <a:rPr lang="en-US" altLang="zh-CN" sz="1600" baseline="0" dirty="0" smtClean="0"/>
              <a:t>you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observe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state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on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screen,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how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will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you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control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Mario?</a:t>
            </a:r>
          </a:p>
          <a:p>
            <a:r>
              <a:rPr lang="en-US" altLang="zh-CN" sz="1600" baseline="0" dirty="0" smtClean="0"/>
              <a:t>=========================</a:t>
            </a:r>
          </a:p>
          <a:p>
            <a:r>
              <a:rPr lang="en-US" altLang="zh-CN" sz="1600" dirty="0" smtClean="0"/>
              <a:t>Will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you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let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Mario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move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left,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right,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or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up?</a:t>
            </a:r>
          </a:p>
          <a:p>
            <a:r>
              <a:rPr lang="en-US" altLang="zh-CN" sz="1600" baseline="0" dirty="0" smtClean="0"/>
              <a:t>Probably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moving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up,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because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Mario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can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avoid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enemies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and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collect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coins.</a:t>
            </a:r>
          </a:p>
          <a:p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policy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your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mind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to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avoid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enemies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and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to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collect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coins.</a:t>
            </a:r>
          </a:p>
          <a:p>
            <a:endParaRPr lang="en-US" altLang="zh-CN" sz="1600" baseline="0" dirty="0" smtClean="0"/>
          </a:p>
          <a:p>
            <a:endParaRPr lang="en-US" altLang="zh-CN" sz="1600" baseline="0" dirty="0" smtClean="0"/>
          </a:p>
          <a:p>
            <a:endParaRPr lang="en-US" altLang="zh-CN" sz="1600" dirty="0" smtClean="0"/>
          </a:p>
          <a:p>
            <a:r>
              <a:rPr lang="zh-CN" altLang="en-US" sz="1600" dirty="0" smtClean="0"/>
              <a:t>下一个概念，</a:t>
            </a:r>
            <a:r>
              <a:rPr lang="en-US" altLang="zh-CN" sz="1600" dirty="0" smtClean="0"/>
              <a:t>policy</a:t>
            </a:r>
            <a:r>
              <a:rPr lang="zh-CN" altLang="en-US" sz="1600" dirty="0" smtClean="0"/>
              <a:t>，策略，记为</a:t>
            </a:r>
            <a:r>
              <a:rPr lang="en-US" altLang="zh-CN" sz="1600" dirty="0" smtClean="0"/>
              <a:t>pi</a:t>
            </a:r>
            <a:r>
              <a:rPr lang="zh-CN" altLang="en-US" sz="1600" dirty="0" smtClean="0"/>
              <a:t>函数。</a:t>
            </a:r>
            <a:endParaRPr lang="en-US" altLang="zh-CN" sz="1600" dirty="0" smtClean="0"/>
          </a:p>
          <a:p>
            <a:r>
              <a:rPr lang="en-US" altLang="zh-CN" sz="1600" dirty="0" smtClean="0"/>
              <a:t>policy</a:t>
            </a:r>
            <a:r>
              <a:rPr lang="zh-CN" altLang="en-US" sz="1600" dirty="0" smtClean="0"/>
              <a:t>是啥意思呢？</a:t>
            </a:r>
            <a:endParaRPr lang="en-US" altLang="zh-CN" sz="1600" dirty="0" smtClean="0"/>
          </a:p>
          <a:p>
            <a:r>
              <a:rPr lang="zh-CN" altLang="en-US" sz="1600" dirty="0" smtClean="0"/>
              <a:t>就是你观测到你屏幕上这个画面的时候，你该让</a:t>
            </a:r>
            <a:r>
              <a:rPr lang="en-US" altLang="zh-CN" sz="1600" dirty="0" smtClean="0"/>
              <a:t>Mario</a:t>
            </a:r>
            <a:r>
              <a:rPr lang="zh-CN" altLang="en-US" sz="1600" dirty="0" smtClean="0"/>
              <a:t>做什么动作呢？</a:t>
            </a:r>
            <a:endParaRPr lang="en-US" altLang="zh-CN" sz="1600" dirty="0" smtClean="0"/>
          </a:p>
          <a:p>
            <a:r>
              <a:rPr lang="zh-CN" altLang="en-US" sz="1600" dirty="0" smtClean="0"/>
              <a:t>是往上，往左，还是往右？</a:t>
            </a:r>
            <a:endParaRPr lang="en-US" altLang="zh-CN" sz="1600" dirty="0" smtClean="0"/>
          </a:p>
          <a:p>
            <a:r>
              <a:rPr lang="zh-CN" altLang="en-US" sz="1600" dirty="0" smtClean="0"/>
              <a:t>可能有较大概率往上跳，因为可以吃到金币。</a:t>
            </a:r>
            <a:endParaRPr lang="en-US" altLang="zh-CN" sz="1600" dirty="0" smtClean="0"/>
          </a:p>
          <a:p>
            <a:r>
              <a:rPr lang="en-US" altLang="zh-CN" sz="1600" dirty="0" smtClean="0"/>
              <a:t>-----</a:t>
            </a:r>
          </a:p>
          <a:p>
            <a:r>
              <a:rPr lang="zh-CN" altLang="en-US" sz="1600" dirty="0" smtClean="0"/>
              <a:t>向上跳这个动作 就是你脑中 </a:t>
            </a:r>
            <a:r>
              <a:rPr lang="en-US" altLang="zh-CN" sz="1600" dirty="0" smtClean="0"/>
              <a:t>policy</a:t>
            </a:r>
            <a:r>
              <a:rPr lang="zh-CN" altLang="en-US" sz="1600" dirty="0" smtClean="0"/>
              <a:t> 做出的决策。</a:t>
            </a:r>
            <a:endParaRPr lang="en-US" altLang="zh-CN" sz="1600" dirty="0" smtClean="0"/>
          </a:p>
          <a:p>
            <a:r>
              <a:rPr lang="en-US" altLang="zh-CN" sz="1600" dirty="0" smtClean="0"/>
              <a:t>policy</a:t>
            </a:r>
            <a:r>
              <a:rPr lang="zh-CN" altLang="en-US" sz="1600" dirty="0" smtClean="0"/>
              <a:t>的意思就是  根据观测到的状态，然后做出决策，控制</a:t>
            </a:r>
            <a:r>
              <a:rPr lang="en-US" altLang="zh-CN" sz="1600" dirty="0" smtClean="0"/>
              <a:t>agent</a:t>
            </a:r>
            <a:r>
              <a:rPr lang="zh-CN" altLang="en-US" sz="1600" dirty="0" smtClean="0"/>
              <a:t>运动。</a:t>
            </a:r>
            <a:endParaRPr lang="en-US" altLang="zh-CN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9330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 smtClean="0"/>
                  <a:t>Formally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speaking,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policy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function</a:t>
                </a:r>
                <a:r>
                  <a:rPr lang="zh-CN" altLang="en-US" sz="1600" baseline="0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solidFill>
                          <a:srgbClr val="7030A0"/>
                        </a:solidFill>
                        <a:latin typeface="Cambria Math" charset="0"/>
                      </a:rPr>
                      <m:t>𝜋</m:t>
                    </m:r>
                  </m:oMath>
                </a14:m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defined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way.</a:t>
                </a:r>
              </a:p>
              <a:p>
                <a14:m>
                  <m:oMath xmlns:m="http://schemas.openxmlformats.org/officeDocument/2006/math">
                    <m:r>
                      <a:rPr lang="en-US" altLang="zh-CN" sz="1600" i="1" smtClean="0">
                        <a:solidFill>
                          <a:srgbClr val="7030A0"/>
                        </a:solidFill>
                        <a:latin typeface="Cambria Math" charset="0"/>
                      </a:rPr>
                      <m:t>𝜋</m:t>
                    </m:r>
                  </m:oMath>
                </a14:m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maps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state-action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pair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probability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score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between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0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and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1.</a:t>
                </a:r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r>
                  <a:rPr lang="zh-CN" altLang="en-US" sz="1600" dirty="0" smtClean="0"/>
                  <a:t>在数学上，策略函数 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solidFill>
                          <a:srgbClr val="7030A0"/>
                        </a:solidFill>
                        <a:latin typeface="Cambria Math" charset="0"/>
                      </a:rPr>
                      <m:t>𝜋</m:t>
                    </m:r>
                  </m:oMath>
                </a14:m>
                <a:r>
                  <a:rPr lang="zh-CN" altLang="en-US" sz="1600" dirty="0" smtClean="0"/>
                  <a:t> 是这么定义的。</a:t>
                </a:r>
                <a:endParaRPr lang="en-US" altLang="zh-CN" sz="1600" dirty="0" smtClean="0"/>
              </a:p>
              <a:p>
                <a14:m>
                  <m:oMath xmlns:m="http://schemas.openxmlformats.org/officeDocument/2006/math">
                    <m:r>
                      <a:rPr lang="en-US" altLang="zh-CN" sz="1600" i="1" smtClean="0">
                        <a:solidFill>
                          <a:srgbClr val="7030A0"/>
                        </a:solidFill>
                        <a:latin typeface="Cambria Math" charset="0"/>
                      </a:rPr>
                      <m:t>𝜋</m:t>
                    </m:r>
                  </m:oMath>
                </a14:m>
                <a:r>
                  <a:rPr lang="zh-CN" altLang="en-US" sz="1600" dirty="0" smtClean="0"/>
                  <a:t> 把状态</a:t>
                </a:r>
                <a:r>
                  <a:rPr lang="en-US" altLang="zh-CN" sz="1600" dirty="0" smtClean="0"/>
                  <a:t>—</a:t>
                </a:r>
                <a:r>
                  <a:rPr lang="zh-CN" altLang="en-US" sz="1600" dirty="0" smtClean="0"/>
                  <a:t>动作二元组映射到一个介于</a:t>
                </a:r>
                <a:r>
                  <a:rPr lang="en-US" altLang="zh-CN" sz="1600" dirty="0" smtClean="0"/>
                  <a:t>0</a:t>
                </a:r>
                <a:r>
                  <a:rPr lang="zh-CN" altLang="en-US" sz="1600" dirty="0" smtClean="0"/>
                  <a:t> 到 </a:t>
                </a:r>
                <a:r>
                  <a:rPr lang="en-US" altLang="zh-CN" sz="1600" dirty="0" smtClean="0"/>
                  <a:t>1</a:t>
                </a:r>
                <a:r>
                  <a:rPr lang="zh-CN" altLang="en-US" sz="1600" dirty="0" smtClean="0"/>
                  <a:t> 之间的数。</a:t>
                </a: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 smtClean="0"/>
                  <a:t>Formally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speaking,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policy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function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pi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defined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way.</a:t>
                </a:r>
              </a:p>
              <a:p>
                <a:r>
                  <a:rPr lang="en-US" altLang="zh-CN" sz="1600" baseline="0" dirty="0" smtClean="0"/>
                  <a:t>It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conditional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probability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density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function.</a:t>
                </a:r>
              </a:p>
              <a:p>
                <a:r>
                  <a:rPr lang="en-US" altLang="zh-CN" sz="1600" i="0" smtClean="0">
                    <a:solidFill>
                      <a:srgbClr val="7030A0"/>
                    </a:solidFill>
                    <a:latin typeface="Cambria Math" charset="0"/>
                  </a:rPr>
                  <a:t>𝜋</a:t>
                </a:r>
                <a:r>
                  <a:rPr lang="en-US" altLang="zh-CN" sz="1600" i="0">
                    <a:latin typeface="Cambria Math" charset="0"/>
                  </a:rPr>
                  <a:t>(</a:t>
                </a:r>
                <a:r>
                  <a:rPr lang="en-US" altLang="zh-CN" sz="1600" i="0">
                    <a:solidFill>
                      <a:srgbClr val="FF0000"/>
                    </a:solidFill>
                    <a:latin typeface="Cambria Math" charset="0"/>
                  </a:rPr>
                  <a:t>𝑎</a:t>
                </a:r>
                <a:r>
                  <a:rPr lang="zh-CN" altLang="en-US" sz="1600" i="0">
                    <a:latin typeface="Cambria Math" charset="0"/>
                  </a:rPr>
                  <a:t> </a:t>
                </a:r>
                <a:r>
                  <a:rPr lang="en-US" altLang="zh-CN" sz="1600" i="0">
                    <a:latin typeface="Cambria Math" charset="0"/>
                  </a:rPr>
                  <a:t>|</a:t>
                </a:r>
                <a:r>
                  <a:rPr lang="zh-CN" altLang="en-US" sz="1600" i="0">
                    <a:latin typeface="Cambria Math" charset="0"/>
                  </a:rPr>
                  <a:t> </a:t>
                </a:r>
                <a:r>
                  <a:rPr lang="en-US" altLang="zh-CN" sz="1600" i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𝑠)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means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probability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of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taking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action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small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when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observing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state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small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s.</a:t>
                </a:r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r>
                  <a:rPr lang="zh-CN" altLang="en-US" sz="1600" dirty="0" smtClean="0"/>
                  <a:t>在</a:t>
                </a:r>
                <a:r>
                  <a:rPr lang="zh-CN" altLang="en-US" sz="1600" dirty="0" smtClean="0"/>
                  <a:t>数学上，</a:t>
                </a:r>
                <a:r>
                  <a:rPr lang="en-US" altLang="zh-CN" sz="1600" dirty="0" smtClean="0"/>
                  <a:t>policy</a:t>
                </a:r>
                <a:r>
                  <a:rPr lang="zh-CN" altLang="en-US" sz="1600" dirty="0" smtClean="0"/>
                  <a:t>函数</a:t>
                </a:r>
                <a:r>
                  <a:rPr lang="en-US" altLang="zh-CN" sz="1600" dirty="0" smtClean="0"/>
                  <a:t>pi</a:t>
                </a:r>
                <a:r>
                  <a:rPr lang="zh-CN" altLang="en-US" sz="1600" dirty="0" smtClean="0"/>
                  <a:t>是这么定义的。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这个</a:t>
                </a:r>
                <a:r>
                  <a:rPr lang="en-US" altLang="zh-CN" sz="1600" dirty="0" smtClean="0"/>
                  <a:t>policy</a:t>
                </a:r>
                <a:r>
                  <a:rPr lang="zh-CN" altLang="en-US" sz="1600" dirty="0" smtClean="0"/>
                  <a:t>函数</a:t>
                </a:r>
                <a:r>
                  <a:rPr lang="en-US" altLang="zh-CN" sz="1600" dirty="0" smtClean="0"/>
                  <a:t>pi</a:t>
                </a:r>
                <a:r>
                  <a:rPr lang="zh-CN" altLang="en-US" sz="1600" dirty="0" smtClean="0"/>
                  <a:t>是个概率密度函数。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我前面已经讲过</a:t>
                </a:r>
                <a:r>
                  <a:rPr lang="zh-CN" altLang="en-US" sz="1600" baseline="0" dirty="0" smtClean="0"/>
                  <a:t> </a:t>
                </a:r>
                <a:r>
                  <a:rPr lang="zh-CN" altLang="en-US" sz="1600" dirty="0" smtClean="0"/>
                  <a:t>概率密度函数  是啥意思了。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Pi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(a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given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s)</a:t>
                </a:r>
                <a:r>
                  <a:rPr lang="zh-CN" altLang="en-US" sz="1600" baseline="0" dirty="0" smtClean="0"/>
                  <a:t>的意思是给定状态</a:t>
                </a:r>
                <a:r>
                  <a:rPr lang="en-US" altLang="zh-CN" sz="1600" baseline="0" dirty="0" smtClean="0"/>
                  <a:t>s</a:t>
                </a:r>
                <a:r>
                  <a:rPr lang="zh-CN" altLang="en-US" sz="1600" baseline="0" dirty="0" smtClean="0"/>
                  <a:t>，做出动作</a:t>
                </a:r>
                <a:r>
                  <a:rPr lang="en-US" altLang="zh-CN" sz="1600" baseline="0" dirty="0" smtClean="0"/>
                  <a:t>a</a:t>
                </a:r>
                <a:r>
                  <a:rPr lang="zh-CN" altLang="en-US" sz="1600" baseline="0" dirty="0" smtClean="0"/>
                  <a:t>的概率密度。</a:t>
                </a:r>
                <a:endParaRPr lang="en-US" sz="1600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5941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CN" sz="1600" i="1" smtClean="0">
                        <a:solidFill>
                          <a:srgbClr val="7030A0"/>
                        </a:solidFill>
                        <a:latin typeface="Cambria Math" charset="0"/>
                      </a:rPr>
                      <m:t>𝜋</m:t>
                    </m:r>
                  </m:oMath>
                </a14:m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conditional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probability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density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function.</a:t>
                </a:r>
              </a:p>
              <a:p>
                <a14:m>
                  <m:oMath xmlns:m="http://schemas.openxmlformats.org/officeDocument/2006/math">
                    <m:r>
                      <a:rPr lang="en-US" altLang="zh-CN" sz="1600" i="1" smtClean="0">
                        <a:solidFill>
                          <a:srgbClr val="7030A0"/>
                        </a:solidFill>
                        <a:latin typeface="Cambria Math" charset="0"/>
                      </a:rPr>
                      <m:t>𝜋</m:t>
                    </m:r>
                    <m:d>
                      <m:dPr>
                        <m:ctrlPr>
                          <a:rPr lang="en-US" altLang="zh-CN" sz="16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  <m:r>
                          <a:rPr lang="zh-CN" altLang="en-US" sz="1600" i="1">
                            <a:latin typeface="Cambria Math" charset="0"/>
                          </a:rPr>
                          <m:t> </m:t>
                        </m:r>
                        <m:r>
                          <a:rPr lang="en-US" altLang="zh-CN" sz="1600" i="1">
                            <a:latin typeface="Cambria Math" charset="0"/>
                          </a:rPr>
                          <m:t>|</m:t>
                        </m:r>
                        <m:r>
                          <a:rPr lang="zh-CN" altLang="en-US" sz="1600" i="1">
                            <a:latin typeface="Cambria Math" charset="0"/>
                          </a:rPr>
                          <m:t> </m:t>
                        </m:r>
                        <m:r>
                          <a:rPr lang="en-US" altLang="zh-CN" sz="16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is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probability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of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taking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action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small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when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observing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state,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small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s.</a:t>
                </a:r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r>
                  <a:rPr lang="zh-CN" altLang="en-US" sz="1600" dirty="0" smtClean="0"/>
                  <a:t>策略函数 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solidFill>
                          <a:srgbClr val="7030A0"/>
                        </a:solidFill>
                        <a:latin typeface="Cambria Math" charset="0"/>
                      </a:rPr>
                      <m:t>𝜋</m:t>
                    </m:r>
                  </m:oMath>
                </a14:m>
                <a:r>
                  <a:rPr lang="zh-CN" altLang="en-US" sz="1600" dirty="0" smtClean="0"/>
                  <a:t> 是个概率密度函数。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我前面已经讲过</a:t>
                </a:r>
                <a:r>
                  <a:rPr lang="zh-CN" altLang="en-US" sz="1600" baseline="0" dirty="0" smtClean="0"/>
                  <a:t> </a:t>
                </a:r>
                <a:r>
                  <a:rPr lang="zh-CN" altLang="en-US" sz="1600" dirty="0" smtClean="0"/>
                  <a:t>概率密度函数  是啥意思了。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Pi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(a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given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s)</a:t>
                </a:r>
                <a:r>
                  <a:rPr lang="zh-CN" altLang="en-US" sz="1600" baseline="0" dirty="0" smtClean="0"/>
                  <a:t>的意思是给定状态</a:t>
                </a:r>
                <a:r>
                  <a:rPr lang="en-US" altLang="zh-CN" sz="1600" baseline="0" dirty="0" smtClean="0"/>
                  <a:t>s</a:t>
                </a:r>
                <a:r>
                  <a:rPr lang="zh-CN" altLang="en-US" sz="1600" baseline="0" dirty="0" smtClean="0"/>
                  <a:t>，做出动作</a:t>
                </a:r>
                <a:r>
                  <a:rPr lang="en-US" altLang="zh-CN" sz="1600" baseline="0" dirty="0" smtClean="0"/>
                  <a:t>a</a:t>
                </a:r>
                <a:r>
                  <a:rPr lang="zh-CN" altLang="en-US" sz="1600" baseline="0" dirty="0" smtClean="0"/>
                  <a:t>的概率密度。</a:t>
                </a:r>
                <a:endParaRPr lang="en-US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 smtClean="0"/>
                  <a:t>Formally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speaking,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policy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function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pi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defined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way.</a:t>
                </a:r>
              </a:p>
              <a:p>
                <a:r>
                  <a:rPr lang="en-US" altLang="zh-CN" sz="1600" baseline="0" dirty="0" smtClean="0"/>
                  <a:t>It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conditional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probability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density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function.</a:t>
                </a:r>
              </a:p>
              <a:p>
                <a:r>
                  <a:rPr lang="en-US" altLang="zh-CN" sz="1600" i="0" smtClean="0">
                    <a:solidFill>
                      <a:srgbClr val="7030A0"/>
                    </a:solidFill>
                    <a:latin typeface="Cambria Math" charset="0"/>
                  </a:rPr>
                  <a:t>𝜋</a:t>
                </a:r>
                <a:r>
                  <a:rPr lang="en-US" altLang="zh-CN" sz="1600" i="0">
                    <a:latin typeface="Cambria Math" charset="0"/>
                  </a:rPr>
                  <a:t>(</a:t>
                </a:r>
                <a:r>
                  <a:rPr lang="en-US" altLang="zh-CN" sz="1600" i="0">
                    <a:solidFill>
                      <a:srgbClr val="FF0000"/>
                    </a:solidFill>
                    <a:latin typeface="Cambria Math" charset="0"/>
                  </a:rPr>
                  <a:t>𝑎</a:t>
                </a:r>
                <a:r>
                  <a:rPr lang="zh-CN" altLang="en-US" sz="1600" i="0">
                    <a:latin typeface="Cambria Math" charset="0"/>
                  </a:rPr>
                  <a:t> </a:t>
                </a:r>
                <a:r>
                  <a:rPr lang="en-US" altLang="zh-CN" sz="1600" i="0">
                    <a:latin typeface="Cambria Math" charset="0"/>
                  </a:rPr>
                  <a:t>|</a:t>
                </a:r>
                <a:r>
                  <a:rPr lang="zh-CN" altLang="en-US" sz="1600" i="0">
                    <a:latin typeface="Cambria Math" charset="0"/>
                  </a:rPr>
                  <a:t> </a:t>
                </a:r>
                <a:r>
                  <a:rPr lang="en-US" altLang="zh-CN" sz="1600" i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𝑠)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means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probability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of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taking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action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small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when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observing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state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small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s.</a:t>
                </a:r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r>
                  <a:rPr lang="zh-CN" altLang="en-US" sz="1600" dirty="0" smtClean="0"/>
                  <a:t>在</a:t>
                </a:r>
                <a:r>
                  <a:rPr lang="zh-CN" altLang="en-US" sz="1600" dirty="0" smtClean="0"/>
                  <a:t>数学上，</a:t>
                </a:r>
                <a:r>
                  <a:rPr lang="en-US" altLang="zh-CN" sz="1600" dirty="0" smtClean="0"/>
                  <a:t>policy</a:t>
                </a:r>
                <a:r>
                  <a:rPr lang="zh-CN" altLang="en-US" sz="1600" dirty="0" smtClean="0"/>
                  <a:t>函数</a:t>
                </a:r>
                <a:r>
                  <a:rPr lang="en-US" altLang="zh-CN" sz="1600" dirty="0" smtClean="0"/>
                  <a:t>pi</a:t>
                </a:r>
                <a:r>
                  <a:rPr lang="zh-CN" altLang="en-US" sz="1600" dirty="0" smtClean="0"/>
                  <a:t>是这么定义的。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这个</a:t>
                </a:r>
                <a:r>
                  <a:rPr lang="en-US" altLang="zh-CN" sz="1600" dirty="0" smtClean="0"/>
                  <a:t>policy</a:t>
                </a:r>
                <a:r>
                  <a:rPr lang="zh-CN" altLang="en-US" sz="1600" dirty="0" smtClean="0"/>
                  <a:t>函数</a:t>
                </a:r>
                <a:r>
                  <a:rPr lang="en-US" altLang="zh-CN" sz="1600" dirty="0" smtClean="0"/>
                  <a:t>pi</a:t>
                </a:r>
                <a:r>
                  <a:rPr lang="zh-CN" altLang="en-US" sz="1600" dirty="0" smtClean="0"/>
                  <a:t>是个概率密度函数。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我前面已经讲过</a:t>
                </a:r>
                <a:r>
                  <a:rPr lang="zh-CN" altLang="en-US" sz="1600" baseline="0" dirty="0" smtClean="0"/>
                  <a:t> </a:t>
                </a:r>
                <a:r>
                  <a:rPr lang="zh-CN" altLang="en-US" sz="1600" dirty="0" smtClean="0"/>
                  <a:t>概率密度函数  是啥意思了。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Pi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(a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given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s)</a:t>
                </a:r>
                <a:r>
                  <a:rPr lang="zh-CN" altLang="en-US" sz="1600" baseline="0" dirty="0" smtClean="0"/>
                  <a:t>的意思是给定状态</a:t>
                </a:r>
                <a:r>
                  <a:rPr lang="en-US" altLang="zh-CN" sz="1600" baseline="0" dirty="0" smtClean="0"/>
                  <a:t>s</a:t>
                </a:r>
                <a:r>
                  <a:rPr lang="zh-CN" altLang="en-US" sz="1600" baseline="0" dirty="0" smtClean="0"/>
                  <a:t>，做出动作</a:t>
                </a:r>
                <a:r>
                  <a:rPr lang="en-US" altLang="zh-CN" sz="1600" baseline="0" dirty="0" smtClean="0"/>
                  <a:t>a</a:t>
                </a:r>
                <a:r>
                  <a:rPr lang="zh-CN" altLang="en-US" sz="1600" baseline="0" dirty="0" smtClean="0"/>
                  <a:t>的概率密度。</a:t>
                </a:r>
                <a:endParaRPr lang="en-US" sz="1600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5590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600" baseline="0" dirty="0" smtClean="0"/>
              <a:t>For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example,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when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observing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screen,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agent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can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make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one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of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three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actions: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left,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right,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or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up.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aseline="0" dirty="0" smtClean="0"/>
              <a:t>==========================</a:t>
            </a:r>
          </a:p>
          <a:p>
            <a:r>
              <a:rPr lang="en-US" altLang="zh-CN" sz="1600" baseline="0" dirty="0" smtClean="0"/>
              <a:t>Feed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this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screenshot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to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policy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function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π,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π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will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output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three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probability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scores.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aseline="0" dirty="0" smtClean="0"/>
              <a:t>==========================</a:t>
            </a:r>
          </a:p>
          <a:p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probability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of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moving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left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0.2,</a:t>
            </a:r>
            <a:r>
              <a:rPr lang="zh-CN" altLang="en-US" sz="1600" baseline="0" dirty="0" smtClean="0"/>
              <a:t> </a:t>
            </a:r>
            <a:endParaRPr lang="en-US" altLang="zh-CN" sz="1600" baseline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aseline="0" dirty="0" smtClean="0"/>
              <a:t>==========================</a:t>
            </a:r>
          </a:p>
          <a:p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probability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of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moving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right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0.1,</a:t>
            </a:r>
            <a:r>
              <a:rPr lang="zh-CN" altLang="en-US" sz="1600" baseline="0" dirty="0" smtClean="0"/>
              <a:t>  </a:t>
            </a:r>
            <a:endParaRPr lang="en-US" altLang="zh-CN" sz="1600" baseline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aseline="0" dirty="0" smtClean="0"/>
              <a:t>==========================</a:t>
            </a:r>
          </a:p>
          <a:p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probability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of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moving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up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0.7.</a:t>
            </a:r>
          </a:p>
          <a:p>
            <a:r>
              <a:rPr lang="en-US" altLang="zh-CN" sz="1600" baseline="0" dirty="0" smtClean="0"/>
              <a:t>==========================</a:t>
            </a:r>
          </a:p>
          <a:p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probabilities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output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by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policy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function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will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guide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agent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to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make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decisions.</a:t>
            </a:r>
          </a:p>
          <a:p>
            <a:r>
              <a:rPr lang="en-US" altLang="zh-CN" sz="1600" baseline="0" dirty="0" smtClean="0"/>
              <a:t>With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probabilities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hand,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let’s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perform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random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sampling.</a:t>
            </a:r>
          </a:p>
          <a:p>
            <a:r>
              <a:rPr lang="en-US" altLang="zh-CN" sz="1600" baseline="0" dirty="0" smtClean="0"/>
              <a:t>All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of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3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actions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may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be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chosen,</a:t>
            </a:r>
            <a:r>
              <a:rPr lang="zh-CN" altLang="en-US" sz="1600" baseline="0" dirty="0" smtClean="0"/>
              <a:t> </a:t>
            </a:r>
            <a:endParaRPr lang="en-US" altLang="zh-CN" sz="1600" baseline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aseline="0" dirty="0" smtClean="0"/>
              <a:t>==========================</a:t>
            </a:r>
          </a:p>
          <a:p>
            <a:r>
              <a:rPr lang="en-US" altLang="zh-CN" sz="1600" baseline="0" dirty="0" smtClean="0"/>
              <a:t>but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moving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up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has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highest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probability,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0.7.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aseline="0" dirty="0" smtClean="0"/>
              <a:t>==========================</a:t>
            </a:r>
          </a:p>
          <a:p>
            <a:r>
              <a:rPr lang="en-US" altLang="zh-CN" sz="1600" baseline="0" dirty="0" smtClean="0"/>
              <a:t>Moving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left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and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right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are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also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possible,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but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their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probabilities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are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lower.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aseline="0" dirty="0" smtClean="0"/>
              <a:t>==========================</a:t>
            </a:r>
          </a:p>
          <a:p>
            <a:r>
              <a:rPr lang="en-US" altLang="zh-CN" sz="1600" baseline="0" dirty="0" smtClean="0"/>
              <a:t>Decisions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are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made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by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policy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function.</a:t>
            </a:r>
          </a:p>
          <a:p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policy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function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tell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agent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what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to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do.</a:t>
            </a:r>
          </a:p>
          <a:p>
            <a:r>
              <a:rPr lang="en-US" altLang="zh-CN" sz="1600" baseline="0" dirty="0" smtClean="0"/>
              <a:t>How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to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learn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policy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function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main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theme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reinforcement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learning.</a:t>
            </a:r>
          </a:p>
          <a:p>
            <a:endParaRPr lang="en-US" altLang="zh-CN" sz="1600" baseline="0" dirty="0" smtClean="0"/>
          </a:p>
          <a:p>
            <a:endParaRPr lang="en-US" altLang="zh-CN" sz="1600" baseline="0" dirty="0" smtClean="0"/>
          </a:p>
          <a:p>
            <a:endParaRPr lang="en-US" altLang="zh-CN" sz="1600" baseline="0" dirty="0" smtClean="0"/>
          </a:p>
          <a:p>
            <a:r>
              <a:rPr lang="zh-CN" altLang="en-US" sz="1600" baseline="0" dirty="0" smtClean="0"/>
              <a:t>举个栗子，观测到这张图片，</a:t>
            </a:r>
            <a:r>
              <a:rPr lang="en-US" altLang="zh-CN" sz="1600" baseline="0" dirty="0" smtClean="0"/>
              <a:t>agent</a:t>
            </a:r>
            <a:r>
              <a:rPr lang="zh-CN" altLang="en-US" sz="1600" baseline="0" dirty="0" smtClean="0"/>
              <a:t>可以做出</a:t>
            </a:r>
            <a:r>
              <a:rPr lang="en-US" altLang="zh-CN" sz="1600" baseline="0" dirty="0" smtClean="0"/>
              <a:t>3</a:t>
            </a:r>
            <a:r>
              <a:rPr lang="zh-CN" altLang="en-US" sz="1600" baseline="0" dirty="0" smtClean="0"/>
              <a:t>种动作中的一种。</a:t>
            </a:r>
            <a:endParaRPr lang="en-US" altLang="zh-CN" sz="1600" baseline="0" dirty="0" smtClean="0"/>
          </a:p>
          <a:p>
            <a:r>
              <a:rPr lang="zh-CN" altLang="en-US" sz="1600" baseline="0" dirty="0" smtClean="0"/>
              <a:t>把这张图片输入</a:t>
            </a:r>
            <a:r>
              <a:rPr lang="en-US" altLang="zh-CN" sz="1600" baseline="0" dirty="0" smtClean="0"/>
              <a:t>policy</a:t>
            </a:r>
            <a:r>
              <a:rPr lang="zh-CN" altLang="en-US" sz="1600" baseline="0" dirty="0" smtClean="0"/>
              <a:t>函数</a:t>
            </a:r>
            <a:r>
              <a:rPr lang="en-US" altLang="zh-CN" sz="1600" baseline="0" dirty="0" smtClean="0"/>
              <a:t>pi</a:t>
            </a:r>
            <a:r>
              <a:rPr lang="zh-CN" altLang="en-US" sz="1600" baseline="0" dirty="0" smtClean="0"/>
              <a:t>，他会告诉我，</a:t>
            </a:r>
            <a:endParaRPr lang="en-US" altLang="zh-CN" sz="1600" baseline="0" dirty="0" smtClean="0"/>
          </a:p>
          <a:p>
            <a:r>
              <a:rPr lang="zh-CN" altLang="en-US" sz="1600" baseline="0" dirty="0" smtClean="0"/>
              <a:t>向左的概率是</a:t>
            </a:r>
            <a:r>
              <a:rPr lang="en-US" altLang="zh-CN" sz="1600" baseline="0" dirty="0" smtClean="0"/>
              <a:t>0.2</a:t>
            </a:r>
            <a:r>
              <a:rPr lang="zh-CN" altLang="en-US" sz="1600" baseline="0" dirty="0" smtClean="0"/>
              <a:t>，</a:t>
            </a:r>
            <a:endParaRPr lang="en-US" altLang="zh-CN" sz="1600" baseline="0" dirty="0" smtClean="0"/>
          </a:p>
          <a:p>
            <a:r>
              <a:rPr lang="zh-CN" altLang="en-US" sz="1600" baseline="0" dirty="0" smtClean="0"/>
              <a:t>向右的概率是</a:t>
            </a:r>
            <a:r>
              <a:rPr lang="en-US" altLang="zh-CN" sz="1600" baseline="0" dirty="0" smtClean="0"/>
              <a:t>0.1</a:t>
            </a:r>
            <a:r>
              <a:rPr lang="zh-CN" altLang="en-US" sz="1600" baseline="0" dirty="0" smtClean="0"/>
              <a:t>，</a:t>
            </a:r>
            <a:endParaRPr lang="en-US" altLang="zh-CN" sz="1600" baseline="0" dirty="0" smtClean="0"/>
          </a:p>
          <a:p>
            <a:r>
              <a:rPr lang="zh-CN" altLang="en-US" sz="1600" baseline="0" dirty="0" smtClean="0"/>
              <a:t>向上的概率是</a:t>
            </a:r>
            <a:r>
              <a:rPr lang="en-US" altLang="zh-CN" sz="1600" baseline="0" dirty="0" smtClean="0"/>
              <a:t>0.7.</a:t>
            </a:r>
          </a:p>
          <a:p>
            <a:r>
              <a:rPr lang="en-US" altLang="zh-CN" sz="1600" baseline="0" dirty="0" smtClean="0"/>
              <a:t>-----</a:t>
            </a:r>
          </a:p>
          <a:p>
            <a:r>
              <a:rPr lang="zh-CN" altLang="en-US" sz="1600" baseline="0" dirty="0" smtClean="0"/>
              <a:t>如果你让这个</a:t>
            </a:r>
            <a:r>
              <a:rPr lang="en-US" altLang="zh-CN" sz="1600" baseline="0" dirty="0" smtClean="0"/>
              <a:t>policy</a:t>
            </a:r>
            <a:r>
              <a:rPr lang="zh-CN" altLang="en-US" sz="1600" baseline="0" dirty="0" smtClean="0"/>
              <a:t>函数来自动操作，</a:t>
            </a:r>
            <a:endParaRPr lang="en-US" altLang="zh-CN" sz="1600" baseline="0" dirty="0" smtClean="0"/>
          </a:p>
          <a:p>
            <a:r>
              <a:rPr lang="zh-CN" altLang="en-US" sz="1600" baseline="0" dirty="0" smtClean="0"/>
              <a:t>它就会做一个随机抽样：</a:t>
            </a:r>
            <a:endParaRPr lang="en-US" altLang="zh-CN" sz="1600" baseline="0" dirty="0" smtClean="0"/>
          </a:p>
          <a:p>
            <a:r>
              <a:rPr lang="zh-CN" altLang="en-US" sz="1600" baseline="0" dirty="0" smtClean="0"/>
              <a:t>以</a:t>
            </a:r>
            <a:r>
              <a:rPr lang="en-US" altLang="zh-CN" sz="1600" baseline="0" dirty="0" smtClean="0"/>
              <a:t>0.2</a:t>
            </a:r>
            <a:r>
              <a:rPr lang="zh-CN" altLang="en-US" sz="1600" baseline="0" dirty="0" smtClean="0"/>
              <a:t>的概率向左走，</a:t>
            </a:r>
            <a:endParaRPr lang="en-US" altLang="zh-CN" sz="1600" baseline="0" dirty="0" smtClean="0"/>
          </a:p>
          <a:p>
            <a:r>
              <a:rPr lang="en-US" altLang="zh-CN" sz="1600" baseline="0" dirty="0" smtClean="0"/>
              <a:t>0.1</a:t>
            </a:r>
            <a:r>
              <a:rPr lang="zh-CN" altLang="en-US" sz="1600" baseline="0" dirty="0" smtClean="0"/>
              <a:t>的概率向右走，</a:t>
            </a:r>
            <a:endParaRPr lang="en-US" altLang="zh-CN" sz="1600" baseline="0" dirty="0" smtClean="0"/>
          </a:p>
          <a:p>
            <a:r>
              <a:rPr lang="en-US" altLang="zh-CN" sz="1600" baseline="0" dirty="0" smtClean="0"/>
              <a:t>0.7</a:t>
            </a:r>
            <a:r>
              <a:rPr lang="zh-CN" altLang="en-US" sz="1600" baseline="0" dirty="0" smtClean="0"/>
              <a:t>的概率向上跳。</a:t>
            </a:r>
            <a:endParaRPr lang="en-US" altLang="zh-CN" sz="1600" baseline="0" dirty="0" smtClean="0"/>
          </a:p>
          <a:p>
            <a:r>
              <a:rPr lang="zh-CN" altLang="en-US" sz="1600" dirty="0" smtClean="0"/>
              <a:t>三种动作都有可能发生，但是向上的概率最大，向左概率较小，向右概率很小。</a:t>
            </a:r>
            <a:endParaRPr lang="en-US" altLang="zh-CN" sz="1600" dirty="0" smtClean="0"/>
          </a:p>
          <a:p>
            <a:r>
              <a:rPr lang="en-US" altLang="zh-CN" sz="1600" dirty="0" smtClean="0"/>
              <a:t>-----</a:t>
            </a:r>
          </a:p>
          <a:p>
            <a:r>
              <a:rPr lang="zh-CN" altLang="en-US" sz="1600" dirty="0" smtClean="0"/>
              <a:t>强化学习 学什么？就是学这个</a:t>
            </a:r>
            <a:r>
              <a:rPr lang="en-US" altLang="zh-CN" sz="1600" dirty="0" smtClean="0"/>
              <a:t>policy</a:t>
            </a:r>
            <a:r>
              <a:rPr lang="zh-CN" altLang="en-US" sz="1600" dirty="0" smtClean="0"/>
              <a:t>函数。</a:t>
            </a:r>
            <a:endParaRPr lang="en-US" altLang="zh-CN" sz="1600" dirty="0" smtClean="0"/>
          </a:p>
          <a:p>
            <a:r>
              <a:rPr lang="zh-CN" altLang="en-US" sz="1600" dirty="0" smtClean="0"/>
              <a:t>只要有了</a:t>
            </a:r>
            <a:r>
              <a:rPr lang="en-US" altLang="zh-CN" sz="1600" dirty="0" smtClean="0"/>
              <a:t>policy</a:t>
            </a:r>
            <a:r>
              <a:rPr lang="zh-CN" altLang="en-US" sz="1600" dirty="0" smtClean="0"/>
              <a:t>函数，就可以让它自动操作</a:t>
            </a:r>
            <a:r>
              <a:rPr lang="en-US" altLang="zh-CN" sz="1600" dirty="0" smtClean="0"/>
              <a:t>Mario</a:t>
            </a:r>
            <a:r>
              <a:rPr lang="zh-CN" altLang="en-US" sz="1600" dirty="0" smtClean="0"/>
              <a:t>打赢游戏。</a:t>
            </a:r>
            <a:endParaRPr lang="en-US" altLang="zh-CN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7164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600" dirty="0" smtClean="0"/>
              <a:t>In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this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example,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agent’s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actions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are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random.</a:t>
            </a:r>
          </a:p>
          <a:p>
            <a:r>
              <a:rPr lang="en-US" altLang="zh-CN" sz="1600" baseline="0" dirty="0" smtClean="0"/>
              <a:t>Actions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are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sampled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from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probabilities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computed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by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policy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function.</a:t>
            </a:r>
          </a:p>
          <a:p>
            <a:endParaRPr lang="en-US" altLang="zh-CN" sz="1600" baseline="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r>
              <a:rPr lang="zh-CN" altLang="en-US" sz="1600" dirty="0" smtClean="0"/>
              <a:t>我举的这个例子里，</a:t>
            </a:r>
            <a:r>
              <a:rPr lang="en-US" altLang="zh-CN" sz="1600" dirty="0" smtClean="0"/>
              <a:t>agent</a:t>
            </a:r>
            <a:r>
              <a:rPr lang="zh-CN" altLang="en-US" sz="1600" baseline="0" dirty="0" smtClean="0"/>
              <a:t> </a:t>
            </a:r>
            <a:r>
              <a:rPr lang="zh-CN" altLang="en-US" sz="1600" dirty="0" smtClean="0"/>
              <a:t>动作是随机的，根据</a:t>
            </a:r>
            <a:r>
              <a:rPr lang="en-US" altLang="zh-CN" sz="1600" dirty="0" smtClean="0"/>
              <a:t>policy</a:t>
            </a:r>
            <a:r>
              <a:rPr lang="zh-CN" altLang="en-US" sz="1600" dirty="0" smtClean="0"/>
              <a:t>函数输出的概率来做动作。</a:t>
            </a:r>
            <a:endParaRPr lang="en-US" altLang="zh-CN" sz="1600" dirty="0" smtClean="0"/>
          </a:p>
          <a:p>
            <a:endParaRPr lang="en-US" altLang="zh-CN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0447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600" baseline="0" dirty="0" smtClean="0"/>
              <a:t>Different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from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random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policy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functions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discussed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here,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family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of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policy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functions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makes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deterministic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decisions.</a:t>
            </a:r>
          </a:p>
          <a:p>
            <a:r>
              <a:rPr lang="en-US" altLang="zh-CN" sz="1600" baseline="0" dirty="0" smtClean="0"/>
              <a:t>Given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current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state,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action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nonrandom.</a:t>
            </a:r>
          </a:p>
          <a:p>
            <a:r>
              <a:rPr lang="en-US" altLang="zh-CN" sz="1600" baseline="0" dirty="0" smtClean="0"/>
              <a:t>------</a:t>
            </a:r>
          </a:p>
          <a:p>
            <a:r>
              <a:rPr lang="en-US" altLang="zh-CN" sz="1600" baseline="0" dirty="0" smtClean="0"/>
              <a:t>In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Super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Mario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game,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both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random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policy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and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deterministic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policy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will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work.</a:t>
            </a:r>
          </a:p>
          <a:p>
            <a:r>
              <a:rPr lang="en-US" altLang="zh-CN" sz="1600" baseline="0" dirty="0" smtClean="0"/>
              <a:t>However,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some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applications,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making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random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decisions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necessary.</a:t>
            </a:r>
          </a:p>
          <a:p>
            <a:r>
              <a:rPr lang="en-US" altLang="zh-CN" sz="1600" baseline="0" dirty="0" smtClean="0"/>
              <a:t>=============================</a:t>
            </a:r>
          </a:p>
          <a:p>
            <a:r>
              <a:rPr lang="en-US" altLang="zh-CN" sz="1600" baseline="0" dirty="0" smtClean="0"/>
              <a:t>For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example,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when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you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play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“rock paper scissors”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with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another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person,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you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must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use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random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policy.</a:t>
            </a:r>
          </a:p>
          <a:p>
            <a:r>
              <a:rPr lang="en-US" altLang="zh-CN" sz="1600" baseline="0" dirty="0" smtClean="0"/>
              <a:t>Otherwise,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if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your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policy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deterministic,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your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opponent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will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find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your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pattern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and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can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predict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your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next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action.</a:t>
            </a:r>
          </a:p>
          <a:p>
            <a:r>
              <a:rPr lang="en-US" altLang="zh-CN" sz="1600" baseline="0" dirty="0" smtClean="0"/>
              <a:t>In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this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way,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your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opponent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will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beat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you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based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on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your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pattern.</a:t>
            </a:r>
          </a:p>
          <a:p>
            <a:r>
              <a:rPr lang="en-US" altLang="zh-CN" sz="1600" baseline="0" dirty="0" smtClean="0"/>
              <a:t>You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have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chance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to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win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only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if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your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policy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random.</a:t>
            </a:r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r>
              <a:rPr lang="zh-CN" altLang="en-US" sz="1600" dirty="0" smtClean="0"/>
              <a:t>当然也有确定的</a:t>
            </a:r>
            <a:r>
              <a:rPr lang="en-US" altLang="zh-CN" sz="1600" dirty="0" smtClean="0"/>
              <a:t>policy</a:t>
            </a:r>
            <a:r>
              <a:rPr lang="zh-CN" altLang="en-US" sz="1600" dirty="0" smtClean="0"/>
              <a:t>，那样的话动作就是确定的。</a:t>
            </a:r>
            <a:endParaRPr lang="en-US" altLang="zh-CN" sz="1600" dirty="0" smtClean="0"/>
          </a:p>
          <a:p>
            <a:r>
              <a:rPr lang="en-US" altLang="zh-CN" sz="1600" dirty="0" smtClean="0"/>
              <a:t>-----</a:t>
            </a:r>
          </a:p>
          <a:p>
            <a:r>
              <a:rPr lang="zh-CN" altLang="en-US" sz="1600" dirty="0" smtClean="0"/>
              <a:t>为什么要让</a:t>
            </a:r>
            <a:r>
              <a:rPr lang="en-US" altLang="zh-CN" sz="1600" dirty="0" smtClean="0"/>
              <a:t>agent</a:t>
            </a:r>
            <a:r>
              <a:rPr lang="zh-CN" altLang="en-US" sz="1600" dirty="0" smtClean="0"/>
              <a:t>的动作随机呢？</a:t>
            </a:r>
            <a:endParaRPr lang="en-US" altLang="zh-CN" sz="1600" dirty="0" smtClean="0"/>
          </a:p>
          <a:p>
            <a:r>
              <a:rPr lang="zh-CN" altLang="en-US" sz="1600" dirty="0" smtClean="0"/>
              <a:t>超级玛丽这个游戏里面，</a:t>
            </a:r>
            <a:r>
              <a:rPr lang="en-US" altLang="zh-CN" sz="1600" dirty="0" smtClean="0"/>
              <a:t>Mario</a:t>
            </a:r>
            <a:r>
              <a:rPr lang="zh-CN" altLang="en-US" sz="1600" dirty="0" smtClean="0"/>
              <a:t>的动作不管是随机还是确定，都没问题。</a:t>
            </a:r>
            <a:endParaRPr lang="en-US" altLang="zh-CN" sz="1600" dirty="0" smtClean="0"/>
          </a:p>
          <a:p>
            <a:r>
              <a:rPr lang="zh-CN" altLang="en-US" sz="1600" dirty="0" smtClean="0"/>
              <a:t>但是如果跟人博弈，那么还是随机更好。</a:t>
            </a:r>
            <a:endParaRPr lang="en-US" altLang="zh-CN" sz="1600" dirty="0" smtClean="0"/>
          </a:p>
          <a:p>
            <a:r>
              <a:rPr lang="zh-CN" altLang="en-US" sz="1600" dirty="0" smtClean="0"/>
              <a:t>要是你的动作很确定，别人就有办法赢。</a:t>
            </a:r>
            <a:endParaRPr lang="en-US" altLang="zh-CN" sz="1600" dirty="0" smtClean="0"/>
          </a:p>
          <a:p>
            <a:r>
              <a:rPr lang="en-US" altLang="zh-CN" sz="1600" dirty="0" smtClean="0"/>
              <a:t>----</a:t>
            </a:r>
          </a:p>
          <a:p>
            <a:r>
              <a:rPr lang="zh-CN" altLang="en-US" sz="1600" dirty="0" smtClean="0"/>
              <a:t>想想剪刀石头布的例子。</a:t>
            </a:r>
            <a:endParaRPr lang="en-US" altLang="zh-CN" sz="1600" dirty="0" smtClean="0"/>
          </a:p>
          <a:p>
            <a:r>
              <a:rPr lang="zh-CN" altLang="en-US" sz="1600" dirty="0" smtClean="0"/>
              <a:t>要是你出拳的策略是确定的，那就有规律可循的，你对手就能猜出来你下一步要做什么，你肯定会输。</a:t>
            </a:r>
            <a:endParaRPr lang="en-US" altLang="zh-CN" sz="1600" dirty="0" smtClean="0"/>
          </a:p>
          <a:p>
            <a:r>
              <a:rPr lang="zh-CN" altLang="en-US" sz="1600" dirty="0" smtClean="0"/>
              <a:t>只有让你的策略随机，别人猜不出来你的出拳，你才有机会赢。</a:t>
            </a:r>
            <a:endParaRPr lang="en-US" altLang="zh-CN" sz="1600" dirty="0" smtClean="0"/>
          </a:p>
          <a:p>
            <a:r>
              <a:rPr lang="en-US" altLang="zh-CN" sz="1600" dirty="0" smtClean="0"/>
              <a:t>----</a:t>
            </a:r>
          </a:p>
          <a:p>
            <a:r>
              <a:rPr lang="zh-CN" altLang="en-US" sz="1600" dirty="0" smtClean="0"/>
              <a:t>所以呢，有很多应用里面，</a:t>
            </a:r>
            <a:r>
              <a:rPr lang="en-US" altLang="zh-CN" sz="1600" dirty="0" smtClean="0"/>
              <a:t>policy</a:t>
            </a:r>
            <a:r>
              <a:rPr lang="zh-CN" altLang="en-US" sz="1600" dirty="0" smtClean="0"/>
              <a:t>最好是个概率密度函数，动作最好是随机抽样得到的，有随机性。</a:t>
            </a:r>
            <a:endParaRPr lang="en-US" altLang="zh-CN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74257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600" dirty="0" smtClean="0"/>
              <a:t>Another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terminology: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reward.</a:t>
            </a:r>
          </a:p>
          <a:p>
            <a:r>
              <a:rPr lang="en-US" altLang="zh-CN" sz="1600" baseline="0" dirty="0" smtClean="0"/>
              <a:t>After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Mario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executes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action,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game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will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provide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Mario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with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reward.</a:t>
            </a:r>
          </a:p>
          <a:p>
            <a:r>
              <a:rPr lang="en-US" altLang="zh-CN" sz="1600" baseline="0" dirty="0" smtClean="0"/>
              <a:t>How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to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define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reward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up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to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us,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and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crucial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to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outcome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of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reinforcement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learning.</a:t>
            </a:r>
          </a:p>
          <a:p>
            <a:r>
              <a:rPr lang="en-US" altLang="zh-CN" sz="1600" baseline="0" dirty="0" smtClean="0"/>
              <a:t>==============================</a:t>
            </a:r>
          </a:p>
          <a:p>
            <a:r>
              <a:rPr lang="en-US" altLang="zh-CN" sz="1600" baseline="0" dirty="0" smtClean="0"/>
              <a:t>For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example,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can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define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reward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this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way.</a:t>
            </a:r>
          </a:p>
          <a:p>
            <a:r>
              <a:rPr lang="en-US" altLang="zh-CN" sz="1600" baseline="0" dirty="0" smtClean="0"/>
              <a:t>When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Mario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collects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coin,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receives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reward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of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positive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1.</a:t>
            </a:r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r>
              <a:rPr lang="zh-CN" altLang="en-US" sz="1600" dirty="0" smtClean="0"/>
              <a:t>下一个知识点是</a:t>
            </a:r>
            <a:r>
              <a:rPr lang="en-US" altLang="zh-CN" sz="1600" dirty="0" smtClean="0"/>
              <a:t>reward</a:t>
            </a:r>
            <a:r>
              <a:rPr lang="zh-CN" altLang="en-US" sz="1600" dirty="0" smtClean="0"/>
              <a:t>，奖励。</a:t>
            </a:r>
            <a:endParaRPr lang="en-US" altLang="zh-CN" sz="1600" dirty="0" smtClean="0"/>
          </a:p>
          <a:p>
            <a:r>
              <a:rPr lang="en-US" altLang="zh-CN" sz="1600" dirty="0" smtClean="0"/>
              <a:t>Agent</a:t>
            </a:r>
            <a:r>
              <a:rPr lang="zh-CN" altLang="en-US" sz="1600" dirty="0" smtClean="0"/>
              <a:t>做出一个动作，游戏就会给一个奖励。</a:t>
            </a:r>
            <a:endParaRPr lang="en-US" altLang="zh-CN" sz="1600" dirty="0" smtClean="0"/>
          </a:p>
          <a:p>
            <a:r>
              <a:rPr lang="zh-CN" altLang="en-US" sz="1600" dirty="0" smtClean="0"/>
              <a:t>这个奖励需要我们自己来定义。</a:t>
            </a:r>
            <a:endParaRPr lang="en-US" altLang="zh-CN" sz="1600" dirty="0" smtClean="0"/>
          </a:p>
          <a:p>
            <a:r>
              <a:rPr lang="zh-CN" altLang="en-US" sz="1600" dirty="0" smtClean="0"/>
              <a:t>奖励定义得好坏非常影响强化学习的结果。</a:t>
            </a:r>
            <a:endParaRPr lang="en-US" altLang="zh-CN" sz="1600" dirty="0" smtClean="0"/>
          </a:p>
          <a:p>
            <a:r>
              <a:rPr lang="en-US" altLang="zh-CN" sz="1600" dirty="0" smtClean="0"/>
              <a:t>-----</a:t>
            </a:r>
          </a:p>
          <a:p>
            <a:r>
              <a:rPr lang="zh-CN" altLang="en-US" sz="1600" dirty="0" smtClean="0"/>
              <a:t>怎么定义奖励就见仁见智了。</a:t>
            </a:r>
            <a:endParaRPr lang="en-US" altLang="zh-CN" sz="1600" dirty="0" smtClean="0"/>
          </a:p>
          <a:p>
            <a:r>
              <a:rPr lang="zh-CN" altLang="en-US" sz="1600" dirty="0" smtClean="0"/>
              <a:t>我举个栗子，</a:t>
            </a:r>
            <a:r>
              <a:rPr lang="en-US" altLang="zh-CN" sz="1600" dirty="0" smtClean="0"/>
              <a:t>Mario</a:t>
            </a:r>
            <a:r>
              <a:rPr lang="zh-CN" altLang="en-US" sz="1600" dirty="0" smtClean="0"/>
              <a:t>吃到一个金币，奖励 </a:t>
            </a:r>
            <a:r>
              <a:rPr lang="en-US" altLang="zh-CN" sz="1600" dirty="0" smtClean="0"/>
              <a:t>r</a:t>
            </a:r>
            <a:r>
              <a:rPr lang="zh-CN" altLang="en-US" sz="1600" dirty="0" smtClean="0"/>
              <a:t> 就等于 正一。</a:t>
            </a:r>
            <a:endParaRPr lang="en-US" altLang="zh-CN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5464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600" dirty="0" smtClean="0"/>
              <a:t>The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reward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for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winning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the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game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should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be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set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very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big.</a:t>
            </a:r>
          </a:p>
          <a:p>
            <a:r>
              <a:rPr lang="en-US" altLang="zh-CN" sz="1600" dirty="0" smtClean="0"/>
              <a:t>For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example,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when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Mario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wins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the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game,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the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reward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is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10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thousand.</a:t>
            </a:r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r>
              <a:rPr lang="zh-CN" altLang="en-US" sz="1600" dirty="0" smtClean="0"/>
              <a:t>如果赢了这局游戏，奖励正的一万。</a:t>
            </a:r>
            <a:endParaRPr lang="en-US" altLang="zh-CN" sz="1600" dirty="0" smtClean="0"/>
          </a:p>
          <a:p>
            <a:r>
              <a:rPr lang="zh-CN" altLang="en-US" sz="1600" dirty="0" smtClean="0"/>
              <a:t>我们应该把打赢游戏的奖励定义得大一些，这样才能激励学到的</a:t>
            </a:r>
            <a:r>
              <a:rPr lang="en-US" altLang="zh-CN" sz="1600" dirty="0" smtClean="0"/>
              <a:t>policy</a:t>
            </a:r>
            <a:r>
              <a:rPr lang="zh-CN" altLang="en-US" sz="1600" dirty="0" smtClean="0"/>
              <a:t>去打赢游戏，而不是一味地吃金币。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15108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600" dirty="0" smtClean="0"/>
              <a:t>If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Mario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touches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the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enemy</a:t>
            </a:r>
            <a:r>
              <a:rPr lang="zh-CN" altLang="en-US" sz="1600" dirty="0" smtClean="0"/>
              <a:t> </a:t>
            </a:r>
            <a:r>
              <a:rPr lang="en-US" altLang="zh-CN" sz="1600" dirty="0" err="1" smtClean="0"/>
              <a:t>Goomba</a:t>
            </a:r>
            <a:r>
              <a:rPr lang="en-US" altLang="zh-CN" sz="1600" dirty="0" smtClean="0"/>
              <a:t>,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Mario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will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die,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and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game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over.</a:t>
            </a:r>
          </a:p>
          <a:p>
            <a:r>
              <a:rPr lang="en-US" altLang="zh-CN" sz="1600" dirty="0" smtClean="0"/>
              <a:t>=====================</a:t>
            </a:r>
          </a:p>
          <a:p>
            <a:r>
              <a:rPr lang="en-US" altLang="zh-CN" sz="1600" dirty="0" smtClean="0"/>
              <a:t>Let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the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reward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be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negative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10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thousand.</a:t>
            </a:r>
          </a:p>
          <a:p>
            <a:r>
              <a:rPr lang="en-US" altLang="zh-CN" sz="1600" dirty="0" smtClean="0"/>
              <a:t>So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Mario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has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motivation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to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avoid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enemies.</a:t>
            </a:r>
            <a:endParaRPr lang="en-US" altLang="zh-CN" sz="160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r>
              <a:rPr lang="zh-CN" altLang="en-US" sz="1600" dirty="0" smtClean="0"/>
              <a:t>如果</a:t>
            </a:r>
            <a:r>
              <a:rPr lang="en-US" altLang="zh-CN" sz="1600" dirty="0" smtClean="0"/>
              <a:t>Mario</a:t>
            </a:r>
            <a:r>
              <a:rPr lang="zh-CN" altLang="en-US" sz="1600" dirty="0" smtClean="0"/>
              <a:t>碰到了这个敌人</a:t>
            </a:r>
            <a:r>
              <a:rPr lang="en-US" altLang="zh-CN" sz="1600" dirty="0" err="1" smtClean="0"/>
              <a:t>Goomba</a:t>
            </a:r>
            <a:r>
              <a:rPr lang="zh-CN" altLang="en-US" sz="1600" dirty="0" smtClean="0"/>
              <a:t>，</a:t>
            </a:r>
            <a:r>
              <a:rPr lang="en-US" altLang="zh-CN" sz="1600" dirty="0" smtClean="0"/>
              <a:t>Mario</a:t>
            </a:r>
            <a:r>
              <a:rPr lang="zh-CN" altLang="en-US" sz="1600" dirty="0" smtClean="0"/>
              <a:t>就死了，</a:t>
            </a:r>
            <a:r>
              <a:rPr lang="en-US" altLang="zh-CN" sz="1600" dirty="0" smtClean="0"/>
              <a:t>game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over</a:t>
            </a:r>
            <a:r>
              <a:rPr lang="zh-CN" altLang="en-US" sz="1600" dirty="0" smtClean="0"/>
              <a:t>，奖励负一万。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87489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aseline="0" dirty="0" smtClean="0"/>
              <a:t>If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nothing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happens,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reward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zero.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aseline="0" dirty="0" smtClean="0"/>
              <a:t>---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goal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of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reinforcement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learning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to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maximize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cumulative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reward.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aseline="0" dirty="0" smtClean="0"/>
              <a:t>---</a:t>
            </a:r>
          </a:p>
          <a:p>
            <a:r>
              <a:rPr lang="en-US" altLang="zh-CN" sz="1600" dirty="0" smtClean="0"/>
              <a:t>The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way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we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define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reward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will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affect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learned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policy.</a:t>
            </a:r>
          </a:p>
          <a:p>
            <a:r>
              <a:rPr lang="en-US" altLang="zh-CN" sz="1600" baseline="0" dirty="0" smtClean="0"/>
              <a:t>For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example,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if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reward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for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winning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game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not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big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enough,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Mario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will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try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his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best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to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collect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coins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rather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than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winning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game.</a:t>
            </a:r>
            <a:endParaRPr lang="en-US" altLang="zh-CN" sz="160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r>
              <a:rPr lang="zh-CN" altLang="en-US" sz="1600" dirty="0" smtClean="0"/>
              <a:t>如果这一步啥也没发生，奖励就是</a:t>
            </a:r>
            <a:r>
              <a:rPr lang="en-US" altLang="zh-CN" sz="1600" dirty="0" smtClean="0"/>
              <a:t>0.</a:t>
            </a:r>
          </a:p>
          <a:p>
            <a:r>
              <a:rPr lang="en-US" altLang="zh-CN" sz="1600" dirty="0" smtClean="0"/>
              <a:t>------</a:t>
            </a:r>
          </a:p>
          <a:p>
            <a:r>
              <a:rPr lang="zh-CN" altLang="en-US" sz="1600" dirty="0" smtClean="0"/>
              <a:t>强化学习的目标就是获得的奖励总和尽量高。</a:t>
            </a:r>
            <a:endParaRPr lang="en-US" altLang="zh-CN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72608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600" dirty="0" smtClean="0"/>
              <a:t>Another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terminology: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state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transition.</a:t>
            </a:r>
          </a:p>
          <a:p>
            <a:r>
              <a:rPr lang="en-US" altLang="zh-CN" sz="1600" dirty="0" smtClean="0"/>
              <a:t>============================</a:t>
            </a:r>
          </a:p>
          <a:p>
            <a:r>
              <a:rPr lang="en-US" altLang="zh-CN" sz="1600" dirty="0" smtClean="0"/>
              <a:t>Given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current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state,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Mario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executes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action,</a:t>
            </a:r>
            <a:r>
              <a:rPr lang="zh-CN" altLang="en-US" sz="1600" baseline="0" dirty="0" smtClean="0"/>
              <a:t> </a:t>
            </a:r>
            <a:r>
              <a:rPr lang="en-US" altLang="zh-CN" sz="1600" dirty="0" smtClean="0"/>
              <a:t>then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game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will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generate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new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state.</a:t>
            </a:r>
          </a:p>
          <a:p>
            <a:r>
              <a:rPr lang="en-US" altLang="zh-CN" sz="1600" baseline="0" dirty="0" smtClean="0"/>
              <a:t>This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known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state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transition.</a:t>
            </a:r>
            <a:endParaRPr lang="en-US" altLang="zh-CN" sz="160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r>
              <a:rPr lang="zh-CN" altLang="en-US" sz="1600" dirty="0" smtClean="0"/>
              <a:t>下一个知识点是</a:t>
            </a:r>
            <a:r>
              <a:rPr lang="zh-CN" altLang="en-US" sz="1600" baseline="0" dirty="0" smtClean="0"/>
              <a:t> </a:t>
            </a:r>
            <a:r>
              <a:rPr lang="en-US" altLang="zh-CN" sz="1600" dirty="0" smtClean="0"/>
              <a:t>state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transition</a:t>
            </a:r>
            <a:r>
              <a:rPr lang="zh-CN" altLang="en-US" sz="1600" dirty="0" smtClean="0"/>
              <a:t>状态转移。</a:t>
            </a:r>
            <a:endParaRPr lang="en-US" altLang="zh-CN" sz="1600" dirty="0" smtClean="0"/>
          </a:p>
          <a:p>
            <a:r>
              <a:rPr lang="zh-CN" altLang="en-US" sz="1600" dirty="0" smtClean="0"/>
              <a:t>当前状态下，</a:t>
            </a:r>
            <a:r>
              <a:rPr lang="en-US" altLang="zh-CN" sz="1600" dirty="0" smtClean="0"/>
              <a:t>Mario</a:t>
            </a:r>
            <a:r>
              <a:rPr lang="zh-CN" altLang="en-US" sz="1600" dirty="0" smtClean="0"/>
              <a:t>做个动作，游戏就会给出一个新的状态。</a:t>
            </a:r>
            <a:endParaRPr lang="en-US" altLang="zh-CN" sz="1600" dirty="0" smtClean="0"/>
          </a:p>
          <a:p>
            <a:endParaRPr lang="en-US" altLang="zh-CN" sz="1600" dirty="0" smtClean="0"/>
          </a:p>
          <a:p>
            <a:endParaRPr lang="en-US" sz="1600" dirty="0" smtClean="0"/>
          </a:p>
          <a:p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08613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600" dirty="0" smtClean="0"/>
              <a:t>For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example,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if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Mario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moves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upward,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then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the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next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frame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on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the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screen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will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be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different.</a:t>
            </a:r>
          </a:p>
          <a:p>
            <a:r>
              <a:rPr lang="en-US" altLang="zh-CN" sz="1600" dirty="0" smtClean="0"/>
              <a:t>This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means</a:t>
            </a:r>
            <a:r>
              <a:rPr lang="zh-CN" altLang="en-US" sz="1600" baseline="0" dirty="0" smtClean="0"/>
              <a:t> </a:t>
            </a:r>
            <a:r>
              <a:rPr lang="en-US" altLang="zh-CN" sz="1600" dirty="0" smtClean="0"/>
              <a:t>the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state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changes.</a:t>
            </a:r>
          </a:p>
          <a:p>
            <a:r>
              <a:rPr lang="en-US" altLang="zh-CN" sz="1600" dirty="0" smtClean="0"/>
              <a:t>The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action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executed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by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the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agent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leads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to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a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new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state.</a:t>
            </a:r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r>
              <a:rPr lang="zh-CN" altLang="en-US" sz="1600" dirty="0" smtClean="0"/>
              <a:t>比如</a:t>
            </a:r>
            <a:r>
              <a:rPr lang="en-US" altLang="zh-CN" sz="1600" dirty="0" smtClean="0"/>
              <a:t>Mario</a:t>
            </a:r>
            <a:r>
              <a:rPr lang="zh-CN" altLang="en-US" sz="1600" dirty="0" smtClean="0"/>
              <a:t>跳一下，屏幕上下一个画面就不一样了，也就是说状态变了。</a:t>
            </a:r>
            <a:endParaRPr lang="en-US" altLang="zh-CN" sz="1600" dirty="0" smtClean="0"/>
          </a:p>
          <a:p>
            <a:r>
              <a:rPr lang="zh-CN" altLang="en-US" sz="1600" dirty="0" smtClean="0"/>
              <a:t>这个过程就叫做</a:t>
            </a:r>
            <a:r>
              <a:rPr lang="en-US" altLang="zh-CN" sz="1600" dirty="0" smtClean="0"/>
              <a:t>state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transition</a:t>
            </a:r>
            <a:r>
              <a:rPr lang="zh-CN" altLang="en-US" sz="1600" dirty="0" smtClean="0"/>
              <a:t>状态转移。</a:t>
            </a:r>
            <a:endParaRPr lang="en-US" sz="1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56958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600" dirty="0" smtClean="0"/>
              <a:t>State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transition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can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be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either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deterministic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or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random.</a:t>
            </a:r>
          </a:p>
          <a:p>
            <a:r>
              <a:rPr lang="en-US" altLang="zh-CN" sz="1600" baseline="0" dirty="0" smtClean="0"/>
              <a:t>We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typically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assume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state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transition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random.</a:t>
            </a:r>
          </a:p>
          <a:p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randomness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easy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to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understand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if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you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know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Markov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chain.</a:t>
            </a:r>
          </a:p>
          <a:p>
            <a:r>
              <a:rPr lang="en-US" altLang="zh-CN" sz="1600" baseline="0" dirty="0" smtClean="0"/>
              <a:t>==========================</a:t>
            </a:r>
          </a:p>
          <a:p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randomness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state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transition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from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environment.</a:t>
            </a:r>
          </a:p>
          <a:p>
            <a:r>
              <a:rPr lang="en-US" altLang="zh-CN" sz="1600" baseline="0" dirty="0" smtClean="0"/>
              <a:t>What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does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“environment”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mean?</a:t>
            </a:r>
          </a:p>
          <a:p>
            <a:r>
              <a:rPr lang="en-US" altLang="zh-CN" sz="1600" baseline="0" dirty="0" smtClean="0"/>
              <a:t>In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this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example,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environment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game.</a:t>
            </a:r>
          </a:p>
          <a:p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program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of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game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determines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next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state.</a:t>
            </a:r>
          </a:p>
          <a:p>
            <a:r>
              <a:rPr lang="en-US" altLang="zh-CN" sz="1600" baseline="0" dirty="0" smtClean="0"/>
              <a:t>-----</a:t>
            </a:r>
          </a:p>
          <a:p>
            <a:r>
              <a:rPr lang="en-US" altLang="zh-CN" sz="1600" baseline="0" dirty="0" smtClean="0"/>
              <a:t>In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robotics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applications,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robots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are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agents,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and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our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physical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world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environment.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aseline="0" dirty="0" smtClean="0"/>
              <a:t>In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recommender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system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applications,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websites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are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agents,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and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customers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are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environments.</a:t>
            </a:r>
          </a:p>
          <a:p>
            <a:endParaRPr lang="en-US" altLang="zh-CN" sz="1600" baseline="0" dirty="0" smtClean="0"/>
          </a:p>
          <a:p>
            <a:endParaRPr lang="en-US" altLang="zh-CN" sz="1600" baseline="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r>
              <a:rPr lang="zh-CN" altLang="en-US" sz="1600" dirty="0" smtClean="0"/>
              <a:t>状态转移可以是确定的，也可以是随机的。</a:t>
            </a:r>
            <a:endParaRPr lang="en-US" altLang="zh-CN" sz="1600" dirty="0" smtClean="0"/>
          </a:p>
          <a:p>
            <a:r>
              <a:rPr lang="zh-CN" altLang="en-US" sz="1600" dirty="0" smtClean="0"/>
              <a:t>通常我们认为状态转移是随机的。</a:t>
            </a:r>
            <a:endParaRPr lang="en-US" altLang="zh-CN" sz="1600" dirty="0" smtClean="0"/>
          </a:p>
          <a:p>
            <a:r>
              <a:rPr lang="zh-CN" altLang="en-US" sz="1600" dirty="0" smtClean="0"/>
              <a:t>如果你学过马尔科夫链，状态转移的随机性应该很好理解。</a:t>
            </a:r>
            <a:endParaRPr lang="en-US" altLang="zh-CN" sz="1600" dirty="0" smtClean="0"/>
          </a:p>
          <a:p>
            <a:r>
              <a:rPr lang="en-US" altLang="zh-CN" sz="1600" dirty="0" smtClean="0"/>
              <a:t>----</a:t>
            </a:r>
          </a:p>
          <a:p>
            <a:r>
              <a:rPr lang="zh-CN" altLang="en-US" sz="1600" dirty="0" smtClean="0"/>
              <a:t>状态转移的随机性是从环境来的。</a:t>
            </a:r>
            <a:endParaRPr lang="en-US" altLang="zh-CN" sz="1600" dirty="0" smtClean="0"/>
          </a:p>
          <a:p>
            <a:r>
              <a:rPr lang="zh-CN" altLang="en-US" sz="1600" dirty="0" smtClean="0"/>
              <a:t>环境是什么？在这里，环境就是这个游戏的程序，游戏决定下一个状态是什么。</a:t>
            </a:r>
            <a:endParaRPr lang="en-US" altLang="zh-CN" sz="160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14189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600" baseline="0" dirty="0" smtClean="0"/>
              <a:t>State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transition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can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be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random.</a:t>
            </a:r>
          </a:p>
          <a:p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randomness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state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transition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can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be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understood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this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way.</a:t>
            </a:r>
          </a:p>
          <a:p>
            <a:r>
              <a:rPr lang="en-US" altLang="zh-CN" sz="1600" baseline="0" dirty="0" smtClean="0"/>
              <a:t>========================</a:t>
            </a:r>
          </a:p>
          <a:p>
            <a:r>
              <a:rPr lang="en-US" altLang="zh-CN" sz="1600" baseline="0" dirty="0" smtClean="0"/>
              <a:t>When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control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Mario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to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jump,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will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move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to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target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position.</a:t>
            </a:r>
          </a:p>
          <a:p>
            <a:r>
              <a:rPr lang="en-US" altLang="zh-CN" sz="1600" baseline="0" dirty="0" smtClean="0"/>
              <a:t>Mario’s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next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position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determined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by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action;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this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part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non-random.</a:t>
            </a:r>
          </a:p>
          <a:p>
            <a:r>
              <a:rPr lang="en-US" altLang="zh-CN" sz="1600" baseline="0" dirty="0" smtClean="0"/>
              <a:t>========================</a:t>
            </a:r>
          </a:p>
          <a:p>
            <a:r>
              <a:rPr lang="en-US" altLang="zh-CN" sz="1600" baseline="0" dirty="0" smtClean="0"/>
              <a:t>However,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enemy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err="1" smtClean="0"/>
              <a:t>Goomba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may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move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left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and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may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move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right.</a:t>
            </a:r>
          </a:p>
          <a:p>
            <a:r>
              <a:rPr lang="en-US" altLang="zh-CN" sz="1600" baseline="0" dirty="0" err="1" smtClean="0"/>
              <a:t>Goomba’s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movement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random,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and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determined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by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environment.</a:t>
            </a:r>
          </a:p>
          <a:p>
            <a:r>
              <a:rPr lang="en-US" altLang="zh-CN" sz="1600" baseline="0" dirty="0" smtClean="0"/>
              <a:t>I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have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no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control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over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err="1" smtClean="0"/>
              <a:t>Goomba’s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next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position.</a:t>
            </a:r>
          </a:p>
          <a:p>
            <a:r>
              <a:rPr lang="en-US" altLang="zh-CN" sz="1600" baseline="0" dirty="0" smtClean="0"/>
              <a:t>Because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of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err="1" smtClean="0"/>
              <a:t>Goomba’s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randomness,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next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state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random.</a:t>
            </a:r>
          </a:p>
          <a:p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randomness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from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environment,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namely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game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program.</a:t>
            </a:r>
            <a:endParaRPr lang="en-US" altLang="zh-CN" sz="160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r>
              <a:rPr lang="zh-CN" altLang="en-US" sz="1600" dirty="0" smtClean="0"/>
              <a:t>如果</a:t>
            </a:r>
            <a:r>
              <a:rPr lang="en-US" altLang="zh-CN" sz="1600" dirty="0" smtClean="0"/>
              <a:t>Mario</a:t>
            </a:r>
            <a:r>
              <a:rPr lang="zh-CN" altLang="en-US" sz="1600" dirty="0" smtClean="0"/>
              <a:t>向上跳，</a:t>
            </a:r>
            <a:r>
              <a:rPr lang="en-US" altLang="zh-CN" sz="1600" dirty="0" smtClean="0"/>
              <a:t>Mario</a:t>
            </a:r>
            <a:r>
              <a:rPr lang="zh-CN" altLang="en-US" sz="1600" dirty="0" smtClean="0"/>
              <a:t>的位置就到上面来了；这个是确定的。</a:t>
            </a:r>
            <a:endParaRPr lang="en-US" altLang="zh-CN" sz="1600" dirty="0" smtClean="0"/>
          </a:p>
          <a:p>
            <a:r>
              <a:rPr lang="zh-CN" altLang="en-US" sz="1600" dirty="0" smtClean="0"/>
              <a:t>但是这个敌人</a:t>
            </a:r>
            <a:r>
              <a:rPr lang="en-US" altLang="zh-CN" sz="1600" dirty="0" err="1" smtClean="0"/>
              <a:t>Goomba</a:t>
            </a:r>
            <a:r>
              <a:rPr lang="zh-CN" altLang="en-US" sz="1600" dirty="0" smtClean="0"/>
              <a:t>有可能往左，也有可能往右。</a:t>
            </a:r>
            <a:endParaRPr lang="en-US" altLang="zh-CN" sz="1600" dirty="0" smtClean="0"/>
          </a:p>
          <a:p>
            <a:r>
              <a:rPr lang="en-US" altLang="zh-CN" sz="1600" dirty="0" err="1" smtClean="0"/>
              <a:t>Goomba</a:t>
            </a:r>
            <a:r>
              <a:rPr lang="zh-CN" altLang="en-US" sz="1600" dirty="0" smtClean="0"/>
              <a:t>移动的方向可以是随机的。</a:t>
            </a:r>
            <a:endParaRPr lang="en-US" altLang="zh-CN" sz="1600" dirty="0" smtClean="0"/>
          </a:p>
          <a:p>
            <a:r>
              <a:rPr lang="zh-CN" altLang="en-US" sz="1600" dirty="0" smtClean="0"/>
              <a:t>这就造成了下一个状态的随机性。</a:t>
            </a:r>
            <a:endParaRPr lang="en-US" altLang="zh-CN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2814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 smtClean="0"/>
                  <a:t>We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denote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state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transition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by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baseline="0" dirty="0" smtClean="0"/>
                  <a:t>function</a:t>
                </a:r>
                <a:r>
                  <a:rPr lang="zh-CN" altLang="en-US" sz="1600" baseline="0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charset="0"/>
                      </a:rPr>
                      <m:t>𝑝</m:t>
                    </m:r>
                    <m:d>
                      <m:dPr>
                        <m:ctrlPr>
                          <a:rPr lang="en-US" altLang="zh-CN" sz="1600" b="0" i="1" dirty="0" smtClean="0">
                            <a:latin typeface="Cambria Math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600" b="0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sz="1600" b="0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zh-CN" sz="1600" b="0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′</m:t>
                            </m:r>
                          </m:sup>
                        </m:sSup>
                      </m:e>
                      <m:e>
                        <m:r>
                          <a:rPr lang="en-US" altLang="zh-CN" sz="1600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  <m:r>
                          <a:rPr lang="en-US" altLang="zh-CN" sz="1600" b="0" i="1" dirty="0" smtClean="0">
                            <a:latin typeface="Cambria Math" charset="0"/>
                          </a:rPr>
                          <m:t>,</m:t>
                        </m:r>
                        <m:r>
                          <a:rPr lang="en-US" altLang="zh-CN" sz="1600" b="0" i="1" dirty="0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altLang="zh-CN" sz="1600" baseline="0" dirty="0" smtClean="0"/>
                  <a:t>.</a:t>
                </a:r>
              </a:p>
              <a:p>
                <a:r>
                  <a:rPr lang="en-US" altLang="zh-CN" sz="1600" baseline="0" dirty="0" smtClean="0"/>
                  <a:t>p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conditional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probability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density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function.</a:t>
                </a:r>
              </a:p>
              <a:p>
                <a:r>
                  <a:rPr lang="en-US" altLang="zh-CN" sz="1600" baseline="0" dirty="0" smtClean="0"/>
                  <a:t>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current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state,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current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action,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and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s’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next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state.</a:t>
                </a:r>
              </a:p>
              <a:p>
                <a:r>
                  <a:rPr lang="en-US" altLang="zh-CN" sz="1600" baseline="0" dirty="0" smtClean="0"/>
                  <a:t>----</a:t>
                </a:r>
              </a:p>
              <a:p>
                <a:r>
                  <a:rPr lang="en-US" altLang="zh-CN" sz="1600" baseline="0" dirty="0" smtClean="0"/>
                  <a:t>Given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current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state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and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action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function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outputs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probability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new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state,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s’.</a:t>
                </a:r>
              </a:p>
              <a:p>
                <a:r>
                  <a:rPr lang="en-US" altLang="zh-CN" sz="1600" baseline="0" dirty="0" smtClean="0"/>
                  <a:t>In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our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example,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next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state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will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that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Mario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moves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upwards.</a:t>
                </a:r>
              </a:p>
              <a:p>
                <a:r>
                  <a:rPr lang="en-US" altLang="zh-CN" sz="1600" baseline="0" dirty="0" smtClean="0"/>
                  <a:t>But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err="1" smtClean="0"/>
                  <a:t>Goomba’s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location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will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random.</a:t>
                </a:r>
              </a:p>
              <a:p>
                <a:r>
                  <a:rPr lang="en-US" altLang="zh-CN" sz="1600" baseline="0" dirty="0" smtClean="0"/>
                  <a:t>It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will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left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with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probability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0.8.</a:t>
                </a:r>
              </a:p>
              <a:p>
                <a:r>
                  <a:rPr lang="en-US" altLang="zh-CN" sz="1600" baseline="0" dirty="0" smtClean="0"/>
                  <a:t>It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will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right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with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probability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0.2.</a:t>
                </a:r>
              </a:p>
              <a:p>
                <a:r>
                  <a:rPr lang="en-US" altLang="zh-CN" sz="1600" baseline="0" dirty="0" smtClean="0"/>
                  <a:t>-----</a:t>
                </a:r>
              </a:p>
              <a:p>
                <a:r>
                  <a:rPr lang="en-US" altLang="zh-CN" sz="1600" baseline="0" dirty="0" smtClean="0"/>
                  <a:t>In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practice,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don’t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know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state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transition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function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p.</a:t>
                </a:r>
              </a:p>
              <a:p>
                <a:r>
                  <a:rPr lang="en-US" altLang="zh-CN" sz="1600" baseline="0" dirty="0" smtClean="0"/>
                  <a:t>We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know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state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transition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function,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but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don’t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have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function.</a:t>
                </a:r>
              </a:p>
              <a:p>
                <a:r>
                  <a:rPr lang="en-US" altLang="zh-CN" sz="1600" baseline="0" dirty="0" smtClean="0"/>
                  <a:t>Only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environment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has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function.</a:t>
                </a:r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r>
                  <a:rPr lang="zh-CN" altLang="en-US" sz="1600" dirty="0" smtClean="0"/>
                  <a:t>可以把状态转移用</a:t>
                </a:r>
                <a:r>
                  <a:rPr lang="en-US" altLang="zh-CN" sz="1600" dirty="0" smtClean="0"/>
                  <a:t>p</a:t>
                </a:r>
                <a:r>
                  <a:rPr lang="zh-CN" altLang="en-US" sz="1600" dirty="0" smtClean="0"/>
                  <a:t>函数来表示，这是个“条件 概率密度函数”。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意思是</a:t>
                </a:r>
                <a:r>
                  <a:rPr lang="zh-CN" altLang="en-US" sz="1600" baseline="0" dirty="0" smtClean="0"/>
                  <a:t> </a:t>
                </a:r>
                <a:r>
                  <a:rPr lang="zh-CN" altLang="en-US" sz="1600" dirty="0" smtClean="0"/>
                  <a:t>如果观测到当前状态</a:t>
                </a:r>
                <a:r>
                  <a:rPr lang="en-US" altLang="zh-CN" sz="1600" dirty="0" smtClean="0"/>
                  <a:t>s</a:t>
                </a:r>
                <a:r>
                  <a:rPr lang="zh-CN" altLang="en-US" sz="1600" dirty="0" smtClean="0"/>
                  <a:t> 以及 动作</a:t>
                </a:r>
                <a:r>
                  <a:rPr lang="en-US" altLang="zh-CN" sz="1600" dirty="0" smtClean="0"/>
                  <a:t>a</a:t>
                </a:r>
                <a:r>
                  <a:rPr lang="zh-CN" altLang="en-US" sz="1600" dirty="0" smtClean="0"/>
                  <a:t>，</a:t>
                </a:r>
                <a:r>
                  <a:rPr lang="en-US" altLang="zh-CN" sz="1600" dirty="0" smtClean="0"/>
                  <a:t>P</a:t>
                </a:r>
                <a:r>
                  <a:rPr lang="zh-CN" altLang="en-US" sz="1600" dirty="0" smtClean="0"/>
                  <a:t>函数输出 “状态变成</a:t>
                </a:r>
                <a:r>
                  <a:rPr lang="en-US" altLang="zh-CN" sz="1600" dirty="0" smtClean="0"/>
                  <a:t>s’</a:t>
                </a:r>
                <a:r>
                  <a:rPr lang="zh-CN" altLang="en-US" sz="1600" dirty="0" smtClean="0"/>
                  <a:t>的概率”。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</a:t>
                </a:r>
              </a:p>
              <a:p>
                <a:r>
                  <a:rPr lang="zh-CN" altLang="en-US" sz="1600" dirty="0" smtClean="0"/>
                  <a:t>我举的这个例子里，下一个状态里会</a:t>
                </a:r>
                <a:r>
                  <a:rPr lang="en-US" altLang="zh-CN" sz="1600" dirty="0" smtClean="0"/>
                  <a:t>Mario</a:t>
                </a:r>
                <a:r>
                  <a:rPr lang="zh-CN" altLang="en-US" sz="1600" dirty="0" smtClean="0"/>
                  <a:t>跳到了上面，</a:t>
                </a:r>
                <a:r>
                  <a:rPr lang="en-US" altLang="zh-CN" sz="1600" dirty="0" err="1" smtClean="0"/>
                  <a:t>Goomba</a:t>
                </a:r>
                <a:r>
                  <a:rPr lang="zh-CN" altLang="en-US" sz="1600" dirty="0" smtClean="0"/>
                  <a:t>往左一步的概率是</a:t>
                </a:r>
                <a:r>
                  <a:rPr lang="en-US" altLang="zh-CN" sz="1600" dirty="0" smtClean="0"/>
                  <a:t>0.8</a:t>
                </a:r>
                <a:r>
                  <a:rPr lang="zh-CN" altLang="en-US" sz="1600" dirty="0" smtClean="0"/>
                  <a:t>，往右一步的概率是</a:t>
                </a:r>
                <a:r>
                  <a:rPr lang="en-US" altLang="zh-CN" sz="1600" dirty="0" smtClean="0"/>
                  <a:t>0.2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</a:t>
                </a:r>
              </a:p>
              <a:p>
                <a:r>
                  <a:rPr lang="zh-CN" altLang="en-US" sz="1600" dirty="0" smtClean="0"/>
                  <a:t>但是呢，我们是不知道这个状态转移函数的。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我知道</a:t>
                </a:r>
                <a:r>
                  <a:rPr lang="en-US" altLang="zh-CN" sz="1600" dirty="0" err="1" smtClean="0"/>
                  <a:t>Goomba</a:t>
                </a:r>
                <a:r>
                  <a:rPr lang="zh-CN" altLang="en-US" sz="1600" dirty="0" smtClean="0"/>
                  <a:t>可能往左也可能往右，但我不确定它往左和往右的概率有多大。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这个状态转移函数只有环境自己知道，我们玩家是不知道的。</a:t>
                </a:r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 smtClean="0"/>
                  <a:t>We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denote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state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transition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by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baseline="0" dirty="0" smtClean="0"/>
                  <a:t>function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="0" i="0" dirty="0" smtClean="0">
                    <a:latin typeface="Cambria Math" charset="0"/>
                  </a:rPr>
                  <a:t>𝑝</a:t>
                </a:r>
                <a:r>
                  <a:rPr lang="en-US" altLang="zh-CN" sz="1600" b="0" i="0" dirty="0" smtClean="0">
                    <a:latin typeface="Cambria Math" charset="0"/>
                  </a:rPr>
                  <a:t>(</a:t>
                </a:r>
                <a:r>
                  <a:rPr lang="en-US" altLang="zh-CN" sz="1600" b="0" i="0" dirty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𝑠^′│𝑠</a:t>
                </a:r>
                <a:r>
                  <a:rPr lang="en-US" altLang="zh-CN" sz="1600" b="0" i="0" dirty="0" smtClean="0">
                    <a:latin typeface="Cambria Math" charset="0"/>
                  </a:rPr>
                  <a:t>,</a:t>
                </a:r>
                <a:r>
                  <a:rPr lang="en-US" altLang="zh-CN" sz="1600" b="0" i="0" dirty="0" smtClean="0">
                    <a:solidFill>
                      <a:srgbClr val="FF0000"/>
                    </a:solidFill>
                    <a:latin typeface="Cambria Math" charset="0"/>
                  </a:rPr>
                  <a:t>𝑎)</a:t>
                </a:r>
                <a:r>
                  <a:rPr lang="en-US" altLang="zh-CN" sz="1600" baseline="0" dirty="0" smtClean="0"/>
                  <a:t>.</a:t>
                </a:r>
                <a:endParaRPr lang="en-US" altLang="zh-CN" sz="1600" baseline="0" dirty="0" smtClean="0"/>
              </a:p>
              <a:p>
                <a:r>
                  <a:rPr lang="en-US" altLang="zh-CN" sz="1600" baseline="0" dirty="0" smtClean="0"/>
                  <a:t>p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conditional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probability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density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function.</a:t>
                </a:r>
              </a:p>
              <a:p>
                <a:r>
                  <a:rPr lang="en-US" altLang="zh-CN" sz="1600" baseline="0" dirty="0" smtClean="0"/>
                  <a:t>Here,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current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state,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action,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and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s’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next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state.</a:t>
                </a:r>
              </a:p>
              <a:p>
                <a:r>
                  <a:rPr lang="en-US" altLang="zh-CN" sz="1600" baseline="0" dirty="0" smtClean="0"/>
                  <a:t>----</a:t>
                </a:r>
              </a:p>
              <a:p>
                <a:r>
                  <a:rPr lang="en-US" altLang="zh-CN" sz="1600" baseline="0" dirty="0" smtClean="0"/>
                  <a:t>Given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current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state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and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action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function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outputs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probability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new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state,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small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s’.</a:t>
                </a:r>
              </a:p>
              <a:p>
                <a:r>
                  <a:rPr lang="en-US" altLang="zh-CN" sz="1600" baseline="0" dirty="0" smtClean="0"/>
                  <a:t>In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my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example,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next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state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will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that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Mario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moves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upwards.</a:t>
                </a:r>
              </a:p>
              <a:p>
                <a:r>
                  <a:rPr lang="en-US" altLang="zh-CN" sz="1600" baseline="0" dirty="0" smtClean="0"/>
                  <a:t>But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err="1" smtClean="0"/>
                  <a:t>Goomba’s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location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will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random.</a:t>
                </a:r>
              </a:p>
              <a:p>
                <a:r>
                  <a:rPr lang="en-US" altLang="zh-CN" sz="1600" baseline="0" dirty="0" smtClean="0"/>
                  <a:t>It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will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left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with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probability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0.8.</a:t>
                </a:r>
              </a:p>
              <a:p>
                <a:r>
                  <a:rPr lang="en-US" altLang="zh-CN" sz="1600" baseline="0" dirty="0" smtClean="0"/>
                  <a:t>It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will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right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with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probability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0.2.</a:t>
                </a:r>
              </a:p>
              <a:p>
                <a:r>
                  <a:rPr lang="en-US" altLang="zh-CN" sz="1600" baseline="0" dirty="0" smtClean="0"/>
                  <a:t>-----</a:t>
                </a:r>
              </a:p>
              <a:p>
                <a:r>
                  <a:rPr lang="en-US" altLang="zh-CN" sz="1600" baseline="0" dirty="0" smtClean="0"/>
                  <a:t>In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practice,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don’t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know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state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transition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function.</a:t>
                </a:r>
              </a:p>
              <a:p>
                <a:r>
                  <a:rPr lang="en-US" altLang="zh-CN" sz="1600" baseline="0" dirty="0" smtClean="0"/>
                  <a:t>We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know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state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transition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function,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but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don’t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know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have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function.</a:t>
                </a:r>
                <a:endParaRPr lang="en-US" altLang="zh-CN" sz="1600" baseline="0" dirty="0" smtClean="0"/>
              </a:p>
              <a:p>
                <a:r>
                  <a:rPr lang="en-US" altLang="zh-CN" sz="1600" baseline="0" dirty="0" smtClean="0"/>
                  <a:t>Only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environment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has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function.</a:t>
                </a:r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r>
                  <a:rPr lang="zh-CN" altLang="en-US" sz="1600" dirty="0" smtClean="0"/>
                  <a:t>可以把状态转移用</a:t>
                </a:r>
                <a:r>
                  <a:rPr lang="en-US" altLang="zh-CN" sz="1600" dirty="0" smtClean="0"/>
                  <a:t>p</a:t>
                </a:r>
                <a:r>
                  <a:rPr lang="zh-CN" altLang="en-US" sz="1600" dirty="0" smtClean="0"/>
                  <a:t>函数来表示，这是个“条件 概率密度函数”。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意思是</a:t>
                </a:r>
                <a:r>
                  <a:rPr lang="zh-CN" altLang="en-US" sz="1600" baseline="0" dirty="0" smtClean="0"/>
                  <a:t> </a:t>
                </a:r>
                <a:r>
                  <a:rPr lang="zh-CN" altLang="en-US" sz="1600" dirty="0" smtClean="0"/>
                  <a:t>如果观测到当前状态</a:t>
                </a:r>
                <a:r>
                  <a:rPr lang="en-US" altLang="zh-CN" sz="1600" dirty="0" smtClean="0"/>
                  <a:t>s</a:t>
                </a:r>
                <a:r>
                  <a:rPr lang="zh-CN" altLang="en-US" sz="1600" dirty="0" smtClean="0"/>
                  <a:t> 以及 动作</a:t>
                </a:r>
                <a:r>
                  <a:rPr lang="en-US" altLang="zh-CN" sz="1600" dirty="0" smtClean="0"/>
                  <a:t>a</a:t>
                </a:r>
                <a:r>
                  <a:rPr lang="zh-CN" altLang="en-US" sz="1600" dirty="0" smtClean="0"/>
                  <a:t>，</a:t>
                </a:r>
                <a:r>
                  <a:rPr lang="en-US" altLang="zh-CN" sz="1600" dirty="0" smtClean="0"/>
                  <a:t>P</a:t>
                </a:r>
                <a:r>
                  <a:rPr lang="zh-CN" altLang="en-US" sz="1600" dirty="0" smtClean="0"/>
                  <a:t>函数输出 “状态变成</a:t>
                </a:r>
                <a:r>
                  <a:rPr lang="en-US" altLang="zh-CN" sz="1600" dirty="0" smtClean="0"/>
                  <a:t>s’</a:t>
                </a:r>
                <a:r>
                  <a:rPr lang="zh-CN" altLang="en-US" sz="1600" dirty="0" smtClean="0"/>
                  <a:t>的概率”。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</a:t>
                </a:r>
              </a:p>
              <a:p>
                <a:r>
                  <a:rPr lang="zh-CN" altLang="en-US" sz="1600" dirty="0" smtClean="0"/>
                  <a:t>我举的这个例子里，下一个状态里会</a:t>
                </a:r>
                <a:r>
                  <a:rPr lang="en-US" altLang="zh-CN" sz="1600" dirty="0" smtClean="0"/>
                  <a:t>Mario</a:t>
                </a:r>
                <a:r>
                  <a:rPr lang="zh-CN" altLang="en-US" sz="1600" dirty="0" smtClean="0"/>
                  <a:t>跳到了上面，</a:t>
                </a:r>
                <a:r>
                  <a:rPr lang="en-US" altLang="zh-CN" sz="1600" dirty="0" err="1" smtClean="0"/>
                  <a:t>Goomba</a:t>
                </a:r>
                <a:r>
                  <a:rPr lang="zh-CN" altLang="en-US" sz="1600" dirty="0" smtClean="0"/>
                  <a:t>往左一步的概率是</a:t>
                </a:r>
                <a:r>
                  <a:rPr lang="en-US" altLang="zh-CN" sz="1600" dirty="0" smtClean="0"/>
                  <a:t>0.8</a:t>
                </a:r>
                <a:r>
                  <a:rPr lang="zh-CN" altLang="en-US" sz="1600" dirty="0" smtClean="0"/>
                  <a:t>，往右一步的概率是</a:t>
                </a:r>
                <a:r>
                  <a:rPr lang="en-US" altLang="zh-CN" sz="1600" dirty="0" smtClean="0"/>
                  <a:t>0.2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</a:t>
                </a:r>
              </a:p>
              <a:p>
                <a:r>
                  <a:rPr lang="zh-CN" altLang="en-US" sz="1600" dirty="0" smtClean="0"/>
                  <a:t>但是呢，我们是不知道这个状态转移函数的。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我知道</a:t>
                </a:r>
                <a:r>
                  <a:rPr lang="en-US" altLang="zh-CN" sz="1600" dirty="0" err="1" smtClean="0"/>
                  <a:t>Goomba</a:t>
                </a:r>
                <a:r>
                  <a:rPr lang="zh-CN" altLang="en-US" sz="1600" dirty="0" smtClean="0"/>
                  <a:t>可能往左也可能往右，但我不确定它往左和往右的概率有多大。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这个状态转移函数只有环境自己知道，我们玩家是不知道的。</a:t>
                </a:r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26530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600" dirty="0" smtClean="0"/>
              <a:t>We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have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done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with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the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basic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terminologies.</a:t>
            </a:r>
          </a:p>
          <a:p>
            <a:r>
              <a:rPr lang="en-US" altLang="zh-CN" sz="1600" dirty="0" smtClean="0"/>
              <a:t>Let’s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study</a:t>
            </a:r>
            <a:r>
              <a:rPr lang="zh-CN" altLang="en-US" sz="1600" baseline="0" dirty="0" smtClean="0"/>
              <a:t> </a:t>
            </a:r>
            <a:r>
              <a:rPr lang="en-US" altLang="zh-CN" sz="1600" dirty="0" smtClean="0"/>
              <a:t>the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randomness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in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reinforcement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learning.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aseline="0" dirty="0" smtClean="0"/>
              <a:t>There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are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two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sources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of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randomness: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one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from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actions,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and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other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from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states.</a:t>
            </a:r>
            <a:endParaRPr lang="en-US" altLang="zh-CN" sz="1600" dirty="0" smtClean="0"/>
          </a:p>
          <a:p>
            <a:r>
              <a:rPr lang="en-US" altLang="zh-CN" sz="1600" dirty="0" smtClean="0"/>
              <a:t>Understanding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randomness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crucial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to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understanding</a:t>
            </a:r>
            <a:r>
              <a:rPr lang="zh-CN" altLang="en-US" sz="1600" baseline="0" dirty="0" smtClean="0"/>
              <a:t> </a:t>
            </a:r>
            <a:r>
              <a:rPr lang="en-US" altLang="zh-CN" sz="1600" dirty="0" smtClean="0"/>
              <a:t>reinforcement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learning</a:t>
            </a:r>
            <a:r>
              <a:rPr lang="en-US" altLang="zh-CN" sz="1600" baseline="0" dirty="0" smtClean="0"/>
              <a:t>.</a:t>
            </a:r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altLang="zh-CN" sz="1600" dirty="0" smtClean="0"/>
          </a:p>
          <a:p>
            <a:r>
              <a:rPr lang="zh-CN" altLang="en-US" sz="1600" dirty="0" smtClean="0"/>
              <a:t>我们来看一下强化学习中的随机性。</a:t>
            </a:r>
            <a:endParaRPr lang="en-US" altLang="zh-CN" sz="1600" dirty="0" smtClean="0"/>
          </a:p>
          <a:p>
            <a:r>
              <a:rPr lang="zh-CN" altLang="en-US" sz="1600" dirty="0" smtClean="0"/>
              <a:t>搞明白随机性的两个来源，对之后理解算法很有帮助。</a:t>
            </a:r>
            <a:endParaRPr lang="en-US" altLang="zh-CN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15244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baseline="0" dirty="0" smtClean="0"/>
                  <a:t>Let’s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first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study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randomness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actions.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/>
                  <a:t>========================</a:t>
                </a:r>
              </a:p>
              <a:p>
                <a:r>
                  <a:rPr lang="en-US" sz="1600" dirty="0" smtClean="0"/>
                  <a:t>Given state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charset="0"/>
                      </a:rPr>
                      <m:t>𝒔</m:t>
                    </m:r>
                  </m:oMath>
                </a14:m>
                <a:r>
                  <a:rPr lang="en-US" sz="1600" dirty="0" smtClean="0"/>
                  <a:t>, the action </a:t>
                </a:r>
                <a:r>
                  <a:rPr lang="en-US" altLang="zh-CN" sz="1600" b="1" dirty="0" smtClean="0"/>
                  <a:t>a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is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randomly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selected.</a:t>
                </a:r>
              </a:p>
              <a:p>
                <a:endParaRPr lang="en-US" altLang="zh-CN" sz="1600" baseline="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r>
                  <a:rPr lang="zh-CN" altLang="en-US" sz="1600" dirty="0" smtClean="0"/>
                  <a:t>第一个随机性是从</a:t>
                </a:r>
                <a:r>
                  <a:rPr lang="en-US" altLang="zh-CN" sz="1600" dirty="0" smtClean="0"/>
                  <a:t>agent</a:t>
                </a:r>
                <a:r>
                  <a:rPr lang="zh-CN" altLang="en-US" sz="1600" dirty="0" smtClean="0"/>
                  <a:t>的动作来的，因为动作是根据</a:t>
                </a:r>
                <a:r>
                  <a:rPr lang="en-US" altLang="zh-CN" sz="1600" dirty="0" smtClean="0"/>
                  <a:t>policy</a:t>
                </a:r>
                <a:r>
                  <a:rPr lang="zh-CN" altLang="en-US" sz="1600" dirty="0" smtClean="0"/>
                  <a:t>函数随机抽样得到的。</a:t>
                </a:r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baseline="0" dirty="0" smtClean="0"/>
                  <a:t>Let’s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first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study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randomness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actions.</a:t>
                </a:r>
                <a:endParaRPr lang="en-US" altLang="zh-CN" sz="1600" baseline="0" dirty="0" smtClean="0"/>
              </a:p>
              <a:p>
                <a:r>
                  <a:rPr lang="en-US" sz="1600" dirty="0" smtClean="0"/>
                  <a:t>Given state </a:t>
                </a:r>
                <a:r>
                  <a:rPr lang="en-US" sz="1600" b="1" i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𝒔</a:t>
                </a:r>
                <a:r>
                  <a:rPr lang="en-US" sz="1600" dirty="0" smtClean="0"/>
                  <a:t>, the action </a:t>
                </a:r>
                <a:r>
                  <a:rPr lang="en-US" altLang="zh-CN" sz="1600" b="1" dirty="0" smtClean="0"/>
                  <a:t>a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is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randomly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selected.</a:t>
                </a:r>
              </a:p>
              <a:p>
                <a:r>
                  <a:rPr lang="en-US" altLang="zh-CN" sz="1600" baseline="0" dirty="0" smtClean="0"/>
                  <a:t>========================</a:t>
                </a:r>
                <a:endParaRPr lang="en-US" altLang="zh-CN" sz="1600" baseline="0" dirty="0" smtClean="0"/>
              </a:p>
              <a:p>
                <a:r>
                  <a:rPr lang="en-US" altLang="zh-CN" sz="1600" baseline="0" dirty="0" smtClean="0"/>
                  <a:t>For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example,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policy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function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outputs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probabilities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3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actions.</a:t>
                </a:r>
              </a:p>
              <a:p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three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probabilities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0.2,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0.1,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and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0.7.</a:t>
                </a:r>
              </a:p>
              <a:p>
                <a:r>
                  <a:rPr lang="en-US" altLang="zh-CN" sz="1600" baseline="0" dirty="0" smtClean="0"/>
                  <a:t>----</a:t>
                </a:r>
              </a:p>
              <a:p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action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randomly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sampled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from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discrete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probability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distribution.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/>
                  <a:t>========================</a:t>
                </a:r>
              </a:p>
              <a:p>
                <a:r>
                  <a:rPr lang="en-US" altLang="zh-CN" sz="1600" baseline="0" dirty="0" smtClean="0"/>
                  <a:t>Left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selected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with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probability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0.2,</a:t>
                </a:r>
                <a:r>
                  <a:rPr lang="zh-CN" altLang="en-US" sz="1600" baseline="0" dirty="0" smtClean="0"/>
                  <a:t> </a:t>
                </a:r>
                <a:endParaRPr lang="en-US" altLang="zh-CN" sz="1600" baseline="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/>
                  <a:t>========================</a:t>
                </a:r>
              </a:p>
              <a:p>
                <a:r>
                  <a:rPr lang="en-US" altLang="zh-CN" sz="1600" baseline="0" dirty="0" smtClean="0"/>
                  <a:t>right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selected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probability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0.1,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/>
                  <a:t>========================</a:t>
                </a:r>
              </a:p>
              <a:p>
                <a:r>
                  <a:rPr lang="en-US" altLang="zh-CN" sz="1600" baseline="0" dirty="0" smtClean="0"/>
                  <a:t>and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up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selected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probability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0.7.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/>
                  <a:t>Any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3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actions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can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selected,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but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up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most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likely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elected.</a:t>
                </a:r>
              </a:p>
              <a:p>
                <a:endParaRPr lang="en-US" altLang="zh-CN" sz="1600" baseline="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r>
                  <a:rPr lang="zh-CN" altLang="en-US" sz="1600" dirty="0" smtClean="0"/>
                  <a:t>第一个随机性是从</a:t>
                </a:r>
                <a:r>
                  <a:rPr lang="en-US" altLang="zh-CN" sz="1600" dirty="0" smtClean="0"/>
                  <a:t>agent</a:t>
                </a:r>
                <a:r>
                  <a:rPr lang="zh-CN" altLang="en-US" sz="1600" dirty="0" smtClean="0"/>
                  <a:t>的动作来的，因为动作是根据</a:t>
                </a:r>
                <a:r>
                  <a:rPr lang="en-US" altLang="zh-CN" sz="1600" dirty="0" smtClean="0"/>
                  <a:t>policy</a:t>
                </a:r>
                <a:r>
                  <a:rPr lang="zh-CN" altLang="en-US" sz="1600" dirty="0" smtClean="0"/>
                  <a:t>函数随机抽样得到的。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</a:t>
                </a:r>
              </a:p>
              <a:p>
                <a:r>
                  <a:rPr lang="zh-CN" altLang="en-US" sz="1600" dirty="0" smtClean="0"/>
                  <a:t>我们用</a:t>
                </a:r>
                <a:r>
                  <a:rPr lang="en-US" altLang="zh-CN" sz="1600" dirty="0" smtClean="0"/>
                  <a:t>policy</a:t>
                </a:r>
                <a:r>
                  <a:rPr lang="zh-CN" altLang="en-US" sz="1600" dirty="0" smtClean="0"/>
                  <a:t>函数来控制</a:t>
                </a:r>
                <a:r>
                  <a:rPr lang="en-US" altLang="zh-CN" sz="1600" dirty="0" smtClean="0"/>
                  <a:t>agent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给定当前状态</a:t>
                </a:r>
                <a:r>
                  <a:rPr lang="en-US" altLang="zh-CN" sz="1600" dirty="0" smtClean="0"/>
                  <a:t>s</a:t>
                </a:r>
                <a:r>
                  <a:rPr lang="zh-CN" altLang="en-US" sz="1600" dirty="0" smtClean="0"/>
                  <a:t>，</a:t>
                </a:r>
                <a:r>
                  <a:rPr lang="en-US" altLang="zh-CN" sz="1600" dirty="0" smtClean="0"/>
                  <a:t>agent</a:t>
                </a:r>
                <a:r>
                  <a:rPr lang="zh-CN" altLang="en-US" sz="1600" dirty="0" smtClean="0"/>
                  <a:t>的动作</a:t>
                </a:r>
                <a:r>
                  <a:rPr lang="en-US" altLang="zh-CN" sz="1600" dirty="0" smtClean="0"/>
                  <a:t>a</a:t>
                </a:r>
                <a:r>
                  <a:rPr lang="zh-CN" altLang="en-US" sz="1600" dirty="0" smtClean="0"/>
                  <a:t>按照</a:t>
                </a:r>
                <a:r>
                  <a:rPr lang="en-US" altLang="zh-CN" sz="1600" dirty="0" smtClean="0"/>
                  <a:t>policy</a:t>
                </a:r>
                <a:r>
                  <a:rPr lang="zh-CN" altLang="en-US" sz="1600" dirty="0" smtClean="0"/>
                  <a:t>函数输出的概率来随机抽样。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比如说，当前观测到状态</a:t>
                </a:r>
                <a:r>
                  <a:rPr lang="en-US" altLang="zh-CN" sz="1600" dirty="0" smtClean="0"/>
                  <a:t>s</a:t>
                </a:r>
                <a:r>
                  <a:rPr lang="zh-CN" altLang="en-US" sz="1600" dirty="0" smtClean="0"/>
                  <a:t>，</a:t>
                </a:r>
                <a:r>
                  <a:rPr lang="en-US" altLang="zh-CN" sz="1600" dirty="0" smtClean="0"/>
                  <a:t>policy</a:t>
                </a:r>
                <a:r>
                  <a:rPr lang="zh-CN" altLang="en-US" sz="1600" dirty="0" smtClean="0"/>
                  <a:t>函数会告诉我们每个动作的概率是多大。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比如，向左走概率是</a:t>
                </a:r>
                <a:r>
                  <a:rPr lang="en-US" altLang="zh-CN" sz="1600" dirty="0" smtClean="0"/>
                  <a:t>0.2</a:t>
                </a:r>
                <a:r>
                  <a:rPr lang="zh-CN" altLang="en-US" sz="1600" dirty="0" smtClean="0"/>
                  <a:t>， 向右是</a:t>
                </a:r>
                <a:r>
                  <a:rPr lang="en-US" altLang="zh-CN" sz="1600" dirty="0" smtClean="0"/>
                  <a:t>0.1</a:t>
                </a:r>
                <a:r>
                  <a:rPr lang="zh-CN" altLang="en-US" sz="1600" dirty="0" smtClean="0"/>
                  <a:t>，向上是</a:t>
                </a:r>
                <a:r>
                  <a:rPr lang="en-US" altLang="zh-CN" sz="1600" dirty="0" smtClean="0"/>
                  <a:t>0.7.</a:t>
                </a:r>
              </a:p>
              <a:p>
                <a:r>
                  <a:rPr lang="en-US" altLang="zh-CN" sz="1600" dirty="0" smtClean="0"/>
                  <a:t>------</a:t>
                </a:r>
              </a:p>
              <a:p>
                <a:r>
                  <a:rPr lang="zh-CN" altLang="en-US" sz="1600" dirty="0" smtClean="0"/>
                  <a:t>所以</a:t>
                </a:r>
                <a:r>
                  <a:rPr lang="en-US" altLang="zh-CN" sz="1600" dirty="0" smtClean="0"/>
                  <a:t>agent</a:t>
                </a:r>
                <a:r>
                  <a:rPr lang="zh-CN" altLang="en-US" sz="1600" dirty="0" smtClean="0"/>
                  <a:t>有可能做出其中任何一种动作，有可能往左，有可能往右，也有可能往上。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但是这些动作的概率有大有小。概率最大的是往上走，抽样的概率是</a:t>
                </a:r>
                <a:r>
                  <a:rPr lang="en-US" altLang="zh-CN" sz="1600" dirty="0" smtClean="0"/>
                  <a:t>0.7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sz="1600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88080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baseline="0" dirty="0" smtClean="0"/>
                  <a:t>For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example,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policy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function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outputs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probabilities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3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actions.</a:t>
                </a:r>
              </a:p>
              <a:p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three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probabilities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0.2,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0.1,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and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0.7.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/>
                  <a:t>========================</a:t>
                </a:r>
              </a:p>
              <a:p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action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randomly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sampled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from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discrete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probability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distribution.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/>
                  <a:t>========================</a:t>
                </a:r>
              </a:p>
              <a:p>
                <a:r>
                  <a:rPr lang="en-US" altLang="zh-CN" sz="1600" baseline="0" dirty="0" smtClean="0"/>
                  <a:t>Left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selected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with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probability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0.2,</a:t>
                </a:r>
                <a:r>
                  <a:rPr lang="zh-CN" altLang="en-US" sz="1600" baseline="0" dirty="0" smtClean="0"/>
                  <a:t> </a:t>
                </a:r>
                <a:endParaRPr lang="en-US" altLang="zh-CN" sz="1600" baseline="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/>
                  <a:t>========================</a:t>
                </a:r>
              </a:p>
              <a:p>
                <a:r>
                  <a:rPr lang="en-US" altLang="zh-CN" sz="1600" baseline="0" dirty="0" smtClean="0"/>
                  <a:t>right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selected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probability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0.1,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/>
                  <a:t>========================</a:t>
                </a:r>
              </a:p>
              <a:p>
                <a:r>
                  <a:rPr lang="en-US" altLang="zh-CN" sz="1600" baseline="0" dirty="0" smtClean="0"/>
                  <a:t>and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up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selected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probability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0.7.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/>
                  <a:t>Any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3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actions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can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selected,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but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up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has the highest probability.</a:t>
                </a:r>
              </a:p>
              <a:p>
                <a:endParaRPr lang="en-US" altLang="zh-CN" sz="1600" baseline="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r>
                  <a:rPr lang="zh-CN" altLang="en-US" sz="1600" dirty="0" smtClean="0"/>
                  <a:t>第一个随机性是从</a:t>
                </a:r>
                <a:r>
                  <a:rPr lang="en-US" altLang="zh-CN" sz="1600" dirty="0" smtClean="0"/>
                  <a:t>agent</a:t>
                </a:r>
                <a:r>
                  <a:rPr lang="zh-CN" altLang="en-US" sz="1600" dirty="0" smtClean="0"/>
                  <a:t>的动作来的，因为动作是根据</a:t>
                </a:r>
                <a:r>
                  <a:rPr lang="en-US" altLang="zh-CN" sz="1600" dirty="0" smtClean="0"/>
                  <a:t>policy</a:t>
                </a:r>
                <a:r>
                  <a:rPr lang="zh-CN" altLang="en-US" sz="1600" dirty="0" smtClean="0"/>
                  <a:t>函数随机抽样得到的。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</a:t>
                </a:r>
              </a:p>
              <a:p>
                <a:r>
                  <a:rPr lang="zh-CN" altLang="en-US" sz="1600" dirty="0" smtClean="0"/>
                  <a:t>我们用</a:t>
                </a:r>
                <a:r>
                  <a:rPr lang="en-US" altLang="zh-CN" sz="1600" dirty="0" smtClean="0"/>
                  <a:t>policy</a:t>
                </a:r>
                <a:r>
                  <a:rPr lang="zh-CN" altLang="en-US" sz="1600" dirty="0" smtClean="0"/>
                  <a:t>函数来控制</a:t>
                </a:r>
                <a:r>
                  <a:rPr lang="en-US" altLang="zh-CN" sz="1600" dirty="0" smtClean="0"/>
                  <a:t>agent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给定当前状态</a:t>
                </a:r>
                <a:r>
                  <a:rPr lang="en-US" altLang="zh-CN" sz="1600" dirty="0" smtClean="0"/>
                  <a:t>s</a:t>
                </a:r>
                <a:r>
                  <a:rPr lang="zh-CN" altLang="en-US" sz="1600" dirty="0" smtClean="0"/>
                  <a:t>，</a:t>
                </a:r>
                <a:r>
                  <a:rPr lang="en-US" altLang="zh-CN" sz="1600" dirty="0" smtClean="0"/>
                  <a:t>agent</a:t>
                </a:r>
                <a:r>
                  <a:rPr lang="zh-CN" altLang="en-US" sz="1600" dirty="0" smtClean="0"/>
                  <a:t>的动作</a:t>
                </a:r>
                <a:r>
                  <a:rPr lang="en-US" altLang="zh-CN" sz="1600" dirty="0" smtClean="0"/>
                  <a:t>a</a:t>
                </a:r>
                <a:r>
                  <a:rPr lang="zh-CN" altLang="en-US" sz="1600" dirty="0" smtClean="0"/>
                  <a:t>按照</a:t>
                </a:r>
                <a:r>
                  <a:rPr lang="en-US" altLang="zh-CN" sz="1600" dirty="0" smtClean="0"/>
                  <a:t>policy</a:t>
                </a:r>
                <a:r>
                  <a:rPr lang="zh-CN" altLang="en-US" sz="1600" dirty="0" smtClean="0"/>
                  <a:t>函数输出的概率来随机抽样。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比如说，当前观测到状态</a:t>
                </a:r>
                <a:r>
                  <a:rPr lang="en-US" altLang="zh-CN" sz="1600" dirty="0" smtClean="0"/>
                  <a:t>s</a:t>
                </a:r>
                <a:r>
                  <a:rPr lang="zh-CN" altLang="en-US" sz="1600" dirty="0" smtClean="0"/>
                  <a:t>，</a:t>
                </a:r>
                <a:r>
                  <a:rPr lang="en-US" altLang="zh-CN" sz="1600" dirty="0" smtClean="0"/>
                  <a:t>policy</a:t>
                </a:r>
                <a:r>
                  <a:rPr lang="zh-CN" altLang="en-US" sz="1600" dirty="0" smtClean="0"/>
                  <a:t>函数会告诉我们每个动作的概率是多大。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比如，向左走概率是</a:t>
                </a:r>
                <a:r>
                  <a:rPr lang="en-US" altLang="zh-CN" sz="1600" dirty="0" smtClean="0"/>
                  <a:t>0.2</a:t>
                </a:r>
                <a:r>
                  <a:rPr lang="zh-CN" altLang="en-US" sz="1600" dirty="0" smtClean="0"/>
                  <a:t>， 向右是</a:t>
                </a:r>
                <a:r>
                  <a:rPr lang="en-US" altLang="zh-CN" sz="1600" dirty="0" smtClean="0"/>
                  <a:t>0.1</a:t>
                </a:r>
                <a:r>
                  <a:rPr lang="zh-CN" altLang="en-US" sz="1600" dirty="0" smtClean="0"/>
                  <a:t>，向上是</a:t>
                </a:r>
                <a:r>
                  <a:rPr lang="en-US" altLang="zh-CN" sz="1600" dirty="0" smtClean="0"/>
                  <a:t>0.7.</a:t>
                </a:r>
              </a:p>
              <a:p>
                <a:r>
                  <a:rPr lang="en-US" altLang="zh-CN" sz="1600" dirty="0" smtClean="0"/>
                  <a:t>------</a:t>
                </a:r>
              </a:p>
              <a:p>
                <a:r>
                  <a:rPr lang="zh-CN" altLang="en-US" sz="1600" dirty="0" smtClean="0"/>
                  <a:t>所以</a:t>
                </a:r>
                <a:r>
                  <a:rPr lang="en-US" altLang="zh-CN" sz="1600" dirty="0" smtClean="0"/>
                  <a:t>agent</a:t>
                </a:r>
                <a:r>
                  <a:rPr lang="zh-CN" altLang="en-US" sz="1600" dirty="0" smtClean="0"/>
                  <a:t>有可能做出其中任何一种动作，有可能往左，有可能往右，也有可能往上。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但是这些动作的概率有大有小。概率最大的是往上走，抽样的概率是</a:t>
                </a:r>
                <a:r>
                  <a:rPr lang="en-US" altLang="zh-CN" sz="1600" dirty="0" smtClean="0"/>
                  <a:t>0.7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baseline="0" dirty="0" smtClean="0"/>
                  <a:t>Let’s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first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study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randomness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actions.</a:t>
                </a:r>
                <a:endParaRPr lang="en-US" altLang="zh-CN" sz="1600" baseline="0" dirty="0" smtClean="0"/>
              </a:p>
              <a:p>
                <a:r>
                  <a:rPr lang="en-US" sz="1600" dirty="0" smtClean="0"/>
                  <a:t>Given state </a:t>
                </a:r>
                <a:r>
                  <a:rPr lang="en-US" sz="1600" b="1" i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𝒔</a:t>
                </a:r>
                <a:r>
                  <a:rPr lang="en-US" sz="1600" dirty="0" smtClean="0"/>
                  <a:t>, the action </a:t>
                </a:r>
                <a:r>
                  <a:rPr lang="en-US" altLang="zh-CN" sz="1600" b="1" dirty="0" smtClean="0"/>
                  <a:t>a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is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randomly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selected.</a:t>
                </a:r>
              </a:p>
              <a:p>
                <a:r>
                  <a:rPr lang="en-US" altLang="zh-CN" sz="1600" baseline="0" dirty="0" smtClean="0"/>
                  <a:t>========================</a:t>
                </a:r>
                <a:endParaRPr lang="en-US" altLang="zh-CN" sz="1600" baseline="0" dirty="0" smtClean="0"/>
              </a:p>
              <a:p>
                <a:r>
                  <a:rPr lang="en-US" altLang="zh-CN" sz="1600" baseline="0" dirty="0" smtClean="0"/>
                  <a:t>For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example,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policy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function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outputs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probabilities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3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actions.</a:t>
                </a:r>
              </a:p>
              <a:p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three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probabilities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0.2,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0.1,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and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0.7.</a:t>
                </a:r>
              </a:p>
              <a:p>
                <a:r>
                  <a:rPr lang="en-US" altLang="zh-CN" sz="1600" baseline="0" dirty="0" smtClean="0"/>
                  <a:t>----</a:t>
                </a:r>
              </a:p>
              <a:p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action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randomly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sampled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from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discrete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probability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distribution.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/>
                  <a:t>========================</a:t>
                </a:r>
              </a:p>
              <a:p>
                <a:r>
                  <a:rPr lang="en-US" altLang="zh-CN" sz="1600" baseline="0" dirty="0" smtClean="0"/>
                  <a:t>Left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selected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with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probability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0.2,</a:t>
                </a:r>
                <a:r>
                  <a:rPr lang="zh-CN" altLang="en-US" sz="1600" baseline="0" dirty="0" smtClean="0"/>
                  <a:t> </a:t>
                </a:r>
                <a:endParaRPr lang="en-US" altLang="zh-CN" sz="1600" baseline="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/>
                  <a:t>========================</a:t>
                </a:r>
              </a:p>
              <a:p>
                <a:r>
                  <a:rPr lang="en-US" altLang="zh-CN" sz="1600" baseline="0" dirty="0" smtClean="0"/>
                  <a:t>right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selected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probability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0.1,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/>
                  <a:t>========================</a:t>
                </a:r>
              </a:p>
              <a:p>
                <a:r>
                  <a:rPr lang="en-US" altLang="zh-CN" sz="1600" baseline="0" dirty="0" smtClean="0"/>
                  <a:t>and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up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selected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probability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0.7.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/>
                  <a:t>Any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3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actions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can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selected,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but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up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most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likely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elected.</a:t>
                </a:r>
              </a:p>
              <a:p>
                <a:endParaRPr lang="en-US" altLang="zh-CN" sz="1600" baseline="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r>
                  <a:rPr lang="zh-CN" altLang="en-US" sz="1600" dirty="0" smtClean="0"/>
                  <a:t>第一个随机性是从</a:t>
                </a:r>
                <a:r>
                  <a:rPr lang="en-US" altLang="zh-CN" sz="1600" dirty="0" smtClean="0"/>
                  <a:t>agent</a:t>
                </a:r>
                <a:r>
                  <a:rPr lang="zh-CN" altLang="en-US" sz="1600" dirty="0" smtClean="0"/>
                  <a:t>的动作来的，因为动作是根据</a:t>
                </a:r>
                <a:r>
                  <a:rPr lang="en-US" altLang="zh-CN" sz="1600" dirty="0" smtClean="0"/>
                  <a:t>policy</a:t>
                </a:r>
                <a:r>
                  <a:rPr lang="zh-CN" altLang="en-US" sz="1600" dirty="0" smtClean="0"/>
                  <a:t>函数随机抽样得到的。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</a:t>
                </a:r>
              </a:p>
              <a:p>
                <a:r>
                  <a:rPr lang="zh-CN" altLang="en-US" sz="1600" dirty="0" smtClean="0"/>
                  <a:t>我们用</a:t>
                </a:r>
                <a:r>
                  <a:rPr lang="en-US" altLang="zh-CN" sz="1600" dirty="0" smtClean="0"/>
                  <a:t>policy</a:t>
                </a:r>
                <a:r>
                  <a:rPr lang="zh-CN" altLang="en-US" sz="1600" dirty="0" smtClean="0"/>
                  <a:t>函数来控制</a:t>
                </a:r>
                <a:r>
                  <a:rPr lang="en-US" altLang="zh-CN" sz="1600" dirty="0" smtClean="0"/>
                  <a:t>agent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给定当前状态</a:t>
                </a:r>
                <a:r>
                  <a:rPr lang="en-US" altLang="zh-CN" sz="1600" dirty="0" smtClean="0"/>
                  <a:t>s</a:t>
                </a:r>
                <a:r>
                  <a:rPr lang="zh-CN" altLang="en-US" sz="1600" dirty="0" smtClean="0"/>
                  <a:t>，</a:t>
                </a:r>
                <a:r>
                  <a:rPr lang="en-US" altLang="zh-CN" sz="1600" dirty="0" smtClean="0"/>
                  <a:t>agent</a:t>
                </a:r>
                <a:r>
                  <a:rPr lang="zh-CN" altLang="en-US" sz="1600" dirty="0" smtClean="0"/>
                  <a:t>的动作</a:t>
                </a:r>
                <a:r>
                  <a:rPr lang="en-US" altLang="zh-CN" sz="1600" dirty="0" smtClean="0"/>
                  <a:t>a</a:t>
                </a:r>
                <a:r>
                  <a:rPr lang="zh-CN" altLang="en-US" sz="1600" dirty="0" smtClean="0"/>
                  <a:t>按照</a:t>
                </a:r>
                <a:r>
                  <a:rPr lang="en-US" altLang="zh-CN" sz="1600" dirty="0" smtClean="0"/>
                  <a:t>policy</a:t>
                </a:r>
                <a:r>
                  <a:rPr lang="zh-CN" altLang="en-US" sz="1600" dirty="0" smtClean="0"/>
                  <a:t>函数输出的概率来随机抽样。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比如说，当前观测到状态</a:t>
                </a:r>
                <a:r>
                  <a:rPr lang="en-US" altLang="zh-CN" sz="1600" dirty="0" smtClean="0"/>
                  <a:t>s</a:t>
                </a:r>
                <a:r>
                  <a:rPr lang="zh-CN" altLang="en-US" sz="1600" dirty="0" smtClean="0"/>
                  <a:t>，</a:t>
                </a:r>
                <a:r>
                  <a:rPr lang="en-US" altLang="zh-CN" sz="1600" dirty="0" smtClean="0"/>
                  <a:t>policy</a:t>
                </a:r>
                <a:r>
                  <a:rPr lang="zh-CN" altLang="en-US" sz="1600" dirty="0" smtClean="0"/>
                  <a:t>函数会告诉我们每个动作的概率是多大。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比如，向左走概率是</a:t>
                </a:r>
                <a:r>
                  <a:rPr lang="en-US" altLang="zh-CN" sz="1600" dirty="0" smtClean="0"/>
                  <a:t>0.2</a:t>
                </a:r>
                <a:r>
                  <a:rPr lang="zh-CN" altLang="en-US" sz="1600" dirty="0" smtClean="0"/>
                  <a:t>， 向右是</a:t>
                </a:r>
                <a:r>
                  <a:rPr lang="en-US" altLang="zh-CN" sz="1600" dirty="0" smtClean="0"/>
                  <a:t>0.1</a:t>
                </a:r>
                <a:r>
                  <a:rPr lang="zh-CN" altLang="en-US" sz="1600" dirty="0" smtClean="0"/>
                  <a:t>，向上是</a:t>
                </a:r>
                <a:r>
                  <a:rPr lang="en-US" altLang="zh-CN" sz="1600" dirty="0" smtClean="0"/>
                  <a:t>0.7.</a:t>
                </a:r>
              </a:p>
              <a:p>
                <a:r>
                  <a:rPr lang="en-US" altLang="zh-CN" sz="1600" dirty="0" smtClean="0"/>
                  <a:t>------</a:t>
                </a:r>
              </a:p>
              <a:p>
                <a:r>
                  <a:rPr lang="zh-CN" altLang="en-US" sz="1600" dirty="0" smtClean="0"/>
                  <a:t>所以</a:t>
                </a:r>
                <a:r>
                  <a:rPr lang="en-US" altLang="zh-CN" sz="1600" dirty="0" smtClean="0"/>
                  <a:t>agent</a:t>
                </a:r>
                <a:r>
                  <a:rPr lang="zh-CN" altLang="en-US" sz="1600" dirty="0" smtClean="0"/>
                  <a:t>有可能做出其中任何一种动作，有可能往左，有可能往右，也有可能往上。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但是这些动作的概率有大有小。概率最大的是往上走，抽样的概率是</a:t>
                </a:r>
                <a:r>
                  <a:rPr lang="en-US" altLang="zh-CN" sz="1600" dirty="0" smtClean="0"/>
                  <a:t>0.7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sz="1600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28087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other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source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of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randomness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is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state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transition.</a:t>
                </a:r>
              </a:p>
              <a:p>
                <a:r>
                  <a:rPr lang="en-US" altLang="zh-CN" sz="1600" dirty="0" smtClean="0"/>
                  <a:t>=====================</a:t>
                </a:r>
              </a:p>
              <a:p>
                <a:r>
                  <a:rPr lang="en-US" altLang="zh-CN" sz="1600" dirty="0" smtClean="0"/>
                  <a:t>We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observed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current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state,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b="1" dirty="0" smtClean="0"/>
                  <a:t>s</a:t>
                </a:r>
                <a:r>
                  <a:rPr lang="en-US" altLang="zh-CN" sz="1600" dirty="0" smtClean="0"/>
                  <a:t>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/>
                  <a:t>=====================</a:t>
                </a:r>
              </a:p>
              <a:p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agent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executed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action,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="1" baseline="0" dirty="0" smtClean="0"/>
                  <a:t>a</a:t>
                </a:r>
                <a:r>
                  <a:rPr lang="en-US" altLang="zh-CN" sz="1600" baseline="0" dirty="0" smtClean="0"/>
                  <a:t>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/>
                  <a:t>=====================</a:t>
                </a:r>
              </a:p>
              <a:p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next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state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is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decided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by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environment.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/>
                  <a:t>=====================</a:t>
                </a:r>
              </a:p>
              <a:p>
                <a:r>
                  <a:rPr lang="en-US" altLang="zh-CN" sz="1600" dirty="0" smtClean="0"/>
                  <a:t>More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specifically,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next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state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randomly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sampled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from 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state-transition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function,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p.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Even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if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current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state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and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action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both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given,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next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state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not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determined;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next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state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has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randomness.</a:t>
                </a:r>
                <a:endParaRPr lang="en-US" altLang="zh-CN" sz="1600" dirty="0" smtClean="0"/>
              </a:p>
              <a:p>
                <a:endParaRPr lang="en-US" altLang="zh-CN" sz="1600" baseline="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r>
                  <a:rPr lang="zh-CN" altLang="en-US" sz="1600" dirty="0" smtClean="0"/>
                  <a:t>另一个随机性来源是状态转移。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假定</a:t>
                </a:r>
                <a:r>
                  <a:rPr lang="en-US" altLang="zh-CN" sz="1600" dirty="0" smtClean="0"/>
                  <a:t>agent</a:t>
                </a:r>
                <a:r>
                  <a:rPr lang="zh-CN" altLang="en-US" sz="1600" dirty="0" smtClean="0"/>
                  <a:t>做出了向上跳的动作。环境就要生成下一个状态</a:t>
                </a:r>
                <a:r>
                  <a:rPr lang="en-US" altLang="zh-CN" sz="1600" dirty="0" smtClean="0"/>
                  <a:t>s’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</a:t>
                </a:r>
              </a:p>
              <a:p>
                <a:r>
                  <a:rPr lang="zh-CN" altLang="en-US" sz="1600" dirty="0" smtClean="0"/>
                  <a:t>这个状态</a:t>
                </a:r>
                <a:r>
                  <a:rPr lang="en-US" altLang="zh-CN" sz="1600" dirty="0" smtClean="0"/>
                  <a:t>s’</a:t>
                </a:r>
                <a:r>
                  <a:rPr lang="zh-CN" altLang="en-US" sz="1600" dirty="0" smtClean="0"/>
                  <a:t> 具有随机性。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环境用状态转移函数</a:t>
                </a:r>
                <a:r>
                  <a:rPr lang="en-US" altLang="zh-CN" sz="1600" dirty="0" smtClean="0"/>
                  <a:t>p</a:t>
                </a:r>
                <a:r>
                  <a:rPr lang="zh-CN" altLang="en-US" sz="1600" dirty="0" smtClean="0"/>
                  <a:t>算出概率，然后用概率来随机抽样得到下一个状态</a:t>
                </a:r>
                <a:r>
                  <a:rPr lang="en-US" altLang="zh-CN" sz="1600" dirty="0" smtClean="0"/>
                  <a:t>s’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 smtClean="0"/>
                  <a:t>Another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source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of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randomness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is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state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transition.</a:t>
                </a:r>
              </a:p>
              <a:p>
                <a:r>
                  <a:rPr lang="en-US" altLang="zh-CN" sz="1600" dirty="0" smtClean="0"/>
                  <a:t>Suppose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agent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choose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action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moving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upward.</a:t>
                </a:r>
              </a:p>
              <a:p>
                <a:r>
                  <a:rPr lang="en-US" altLang="zh-CN" sz="1600" baseline="0" dirty="0" smtClean="0"/>
                  <a:t>Then,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environment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will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generate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new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state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according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state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transition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function</a:t>
                </a:r>
                <a:r>
                  <a:rPr lang="zh-CN" altLang="en-US" sz="1600" baseline="0" dirty="0" smtClean="0"/>
                  <a:t> </a:t>
                </a:r>
                <a:r>
                  <a:rPr lang="en-US" sz="1600" b="0" i="0" dirty="0" smtClean="0">
                    <a:latin typeface="Cambria Math" charset="0"/>
                  </a:rPr>
                  <a:t>𝑝</a:t>
                </a:r>
                <a:r>
                  <a:rPr lang="en-US" altLang="zh-CN" sz="1600" baseline="0" dirty="0" smtClean="0"/>
                  <a:t>.</a:t>
                </a:r>
              </a:p>
              <a:p>
                <a:endParaRPr lang="en-US" altLang="zh-CN" sz="1600" baseline="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r>
                  <a:rPr lang="zh-CN" altLang="en-US" sz="1600" dirty="0" smtClean="0"/>
                  <a:t>另</a:t>
                </a:r>
                <a:r>
                  <a:rPr lang="zh-CN" altLang="en-US" sz="1600" dirty="0" smtClean="0"/>
                  <a:t>一个随机性来源是状态转移。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假定</a:t>
                </a:r>
                <a:r>
                  <a:rPr lang="en-US" altLang="zh-CN" sz="1600" dirty="0" smtClean="0"/>
                  <a:t>agent</a:t>
                </a:r>
                <a:r>
                  <a:rPr lang="zh-CN" altLang="en-US" sz="1600" dirty="0" smtClean="0"/>
                  <a:t>做出了向上跳的动作。环境就要生成下一个状态</a:t>
                </a:r>
                <a:r>
                  <a:rPr lang="en-US" altLang="zh-CN" sz="1600" dirty="0" smtClean="0"/>
                  <a:t>s’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</a:t>
                </a:r>
              </a:p>
              <a:p>
                <a:r>
                  <a:rPr lang="zh-CN" altLang="en-US" sz="1600" dirty="0" smtClean="0"/>
                  <a:t>这个状态</a:t>
                </a:r>
                <a:r>
                  <a:rPr lang="en-US" altLang="zh-CN" sz="1600" dirty="0" smtClean="0"/>
                  <a:t>s’</a:t>
                </a:r>
                <a:r>
                  <a:rPr lang="zh-CN" altLang="en-US" sz="1600" dirty="0" smtClean="0"/>
                  <a:t> 具有随机性。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环境用状态转移函数</a:t>
                </a:r>
                <a:r>
                  <a:rPr lang="en-US" altLang="zh-CN" sz="1600" dirty="0" smtClean="0"/>
                  <a:t>p</a:t>
                </a:r>
                <a:r>
                  <a:rPr lang="zh-CN" altLang="en-US" sz="1600" dirty="0" smtClean="0"/>
                  <a:t>算出概率，然后用概率来随机抽样得到下一个状态</a:t>
                </a:r>
                <a:r>
                  <a:rPr lang="en-US" altLang="zh-CN" sz="1600" dirty="0" smtClean="0"/>
                  <a:t>s’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endParaRPr lang="en-US" sz="1600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1531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600" dirty="0" smtClean="0"/>
              <a:t>For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example,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the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next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state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is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randomly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chosen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from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two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options.</a:t>
            </a:r>
            <a:endParaRPr lang="en-US" altLang="zh-CN" sz="1600" dirty="0" smtClean="0"/>
          </a:p>
          <a:p>
            <a:r>
              <a:rPr lang="en-US" altLang="zh-CN" sz="1600" dirty="0" smtClean="0"/>
              <a:t>According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to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state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transition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function,</a:t>
            </a:r>
            <a:r>
              <a:rPr lang="zh-CN" altLang="en-US" sz="1600" baseline="0" dirty="0" smtClean="0"/>
              <a:t> </a:t>
            </a:r>
            <a:endParaRPr lang="en-US" altLang="zh-CN" sz="1600" baseline="0" dirty="0" smtClean="0"/>
          </a:p>
          <a:p>
            <a:r>
              <a:rPr lang="en-US" altLang="zh-CN" sz="1600" dirty="0" smtClean="0"/>
              <a:t>=====================</a:t>
            </a:r>
            <a:endParaRPr lang="en-US" altLang="zh-CN" sz="1600" baseline="0" dirty="0" smtClean="0"/>
          </a:p>
          <a:p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two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possible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states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have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probabilities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of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0.8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and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0.2,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respectively.</a:t>
            </a:r>
          </a:p>
          <a:p>
            <a:r>
              <a:rPr lang="en-US" altLang="zh-CN" sz="1600" baseline="0" dirty="0" smtClean="0"/>
              <a:t>Either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can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be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next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state.</a:t>
            </a:r>
          </a:p>
          <a:p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environment,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namely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game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program,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will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randomly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select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one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out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of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two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choices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according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to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probabilities.</a:t>
            </a:r>
          </a:p>
          <a:p>
            <a:endParaRPr lang="en-US" altLang="zh-CN" sz="1600" baseline="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r>
              <a:rPr lang="zh-CN" altLang="en-US" sz="1600" dirty="0" smtClean="0"/>
              <a:t>比如说，下一个状态有这两种可能。</a:t>
            </a:r>
            <a:endParaRPr lang="en-US" altLang="zh-CN" sz="1600" dirty="0" smtClean="0"/>
          </a:p>
          <a:p>
            <a:r>
              <a:rPr lang="zh-CN" altLang="en-US" sz="1600" dirty="0" smtClean="0"/>
              <a:t>根据状态转移函数的计算，这种状态概率是</a:t>
            </a:r>
            <a:r>
              <a:rPr lang="en-US" altLang="zh-CN" sz="1600" dirty="0" smtClean="0"/>
              <a:t>0.8</a:t>
            </a:r>
            <a:r>
              <a:rPr lang="zh-CN" altLang="en-US" sz="1600" dirty="0" smtClean="0"/>
              <a:t>， 另一种状态概率是</a:t>
            </a:r>
            <a:r>
              <a:rPr lang="en-US" altLang="zh-CN" sz="1600" dirty="0" smtClean="0"/>
              <a:t>0.2.</a:t>
            </a:r>
          </a:p>
          <a:p>
            <a:r>
              <a:rPr lang="zh-CN" altLang="en-US" sz="1600" dirty="0" smtClean="0"/>
              <a:t>这两个都有可能成为下一个状态。</a:t>
            </a:r>
            <a:endParaRPr lang="en-US" altLang="zh-CN" sz="1600" dirty="0" smtClean="0"/>
          </a:p>
          <a:p>
            <a:r>
              <a:rPr lang="zh-CN" altLang="en-US" sz="1600" dirty="0" smtClean="0"/>
              <a:t>系统会做一个随机抽样，来决定下一个状态是什么。</a:t>
            </a:r>
            <a:endParaRPr lang="en-US" altLang="zh-CN" sz="160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29916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200" baseline="0" dirty="0" smtClean="0"/>
                  <a:t>In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sum,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there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can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be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two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sources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of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randomness.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200" baseline="0" dirty="0" smtClean="0"/>
                  <a:t>==============================</a:t>
                </a:r>
              </a:p>
              <a:p>
                <a:r>
                  <a:rPr lang="en-US" altLang="zh-CN" sz="1200" baseline="0" dirty="0" smtClean="0"/>
                  <a:t>One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source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is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the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agent’s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action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="1" baseline="0" dirty="0" smtClean="0"/>
                  <a:t>a</a:t>
                </a:r>
                <a:r>
                  <a:rPr lang="en-US" altLang="zh-CN" sz="1200" baseline="0" dirty="0" smtClean="0"/>
                  <a:t>.</a:t>
                </a:r>
              </a:p>
              <a:p>
                <a:r>
                  <a:rPr lang="en-US" altLang="zh-CN" sz="1200" baseline="0" dirty="0" smtClean="0"/>
                  <a:t>The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policy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function</a:t>
                </a:r>
                <a:r>
                  <a:rPr lang="zh-CN" altLang="en-US" sz="1200" baseline="0" dirty="0" smtClean="0"/>
                  <a:t>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charset="0"/>
                      </a:rPr>
                      <m:t>𝜋</m:t>
                    </m:r>
                  </m:oMath>
                </a14:m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outputs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a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probability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distribution.</a:t>
                </a:r>
              </a:p>
              <a:p>
                <a:r>
                  <a:rPr lang="en-US" altLang="zh-CN" sz="1200" baseline="0" dirty="0" smtClean="0"/>
                  <a:t>The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action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is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random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sampled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from the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probability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distribution.</a:t>
                </a:r>
              </a:p>
              <a:p>
                <a:r>
                  <a:rPr lang="en-US" altLang="zh-CN" sz="1200" baseline="0" dirty="0" smtClean="0"/>
                  <a:t>==============================</a:t>
                </a:r>
              </a:p>
              <a:p>
                <a:r>
                  <a:rPr lang="en-US" altLang="zh-CN" sz="1200" baseline="0" dirty="0" smtClean="0"/>
                  <a:t>The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other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source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of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randomness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is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the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state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transition.</a:t>
                </a:r>
              </a:p>
              <a:p>
                <a:r>
                  <a:rPr lang="en-US" altLang="zh-CN" sz="1200" baseline="0" dirty="0" smtClean="0"/>
                  <a:t>The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environment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has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a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state-transition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function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p.</a:t>
                </a:r>
              </a:p>
              <a:p>
                <a:r>
                  <a:rPr lang="en-US" altLang="zh-CN" sz="1200" baseline="0" dirty="0" smtClean="0"/>
                  <a:t>It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is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a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conditional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probability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density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function.</a:t>
                </a:r>
                <a:r>
                  <a:rPr lang="zh-CN" altLang="en-US" sz="1200" baseline="0" dirty="0" smtClean="0"/>
                  <a:t> </a:t>
                </a:r>
                <a:endParaRPr lang="en-US" altLang="zh-CN" sz="1200" baseline="0" dirty="0" smtClean="0"/>
              </a:p>
              <a:p>
                <a:r>
                  <a:rPr lang="en-US" altLang="zh-CN" sz="1200" baseline="0" dirty="0" smtClean="0"/>
                  <a:t>The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environment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generates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the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new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state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by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randomly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sampling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from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the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state-transition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function.</a:t>
                </a:r>
              </a:p>
              <a:p>
                <a:endParaRPr lang="en-US" dirty="0" smtClean="0"/>
              </a:p>
              <a:p>
                <a:endParaRPr lang="en-US" dirty="0" smtClean="0"/>
              </a:p>
              <a:p>
                <a:endParaRPr lang="en-US" dirty="0" smtClean="0"/>
              </a:p>
              <a:p>
                <a:endParaRPr lang="en-US" dirty="0" smtClean="0"/>
              </a:p>
              <a:p>
                <a:endParaRPr lang="en-US" dirty="0" smtClean="0"/>
              </a:p>
              <a:p>
                <a:r>
                  <a:rPr lang="zh-CN" altLang="en-US" sz="1200" dirty="0" smtClean="0"/>
                  <a:t>概括一下，强化学习中有两种随机性的来源。</a:t>
                </a:r>
                <a:endParaRPr lang="en-US" altLang="zh-CN" sz="1200" dirty="0" smtClean="0"/>
              </a:p>
              <a:p>
                <a:r>
                  <a:rPr lang="zh-CN" altLang="en-US" sz="1200" dirty="0" smtClean="0"/>
                  <a:t>一种来源是</a:t>
                </a:r>
                <a:r>
                  <a:rPr lang="en-US" altLang="zh-CN" sz="1200" dirty="0" smtClean="0"/>
                  <a:t>agent</a:t>
                </a:r>
                <a:r>
                  <a:rPr lang="zh-CN" altLang="en-US" sz="1200" dirty="0" smtClean="0"/>
                  <a:t>的动作，因为动作是根据</a:t>
                </a:r>
                <a:r>
                  <a:rPr lang="en-US" altLang="zh-CN" sz="1200" dirty="0" smtClean="0"/>
                  <a:t>policy</a:t>
                </a:r>
                <a:r>
                  <a:rPr lang="zh-CN" altLang="en-US" sz="1200" dirty="0" smtClean="0"/>
                  <a:t>函数</a:t>
                </a:r>
                <a:r>
                  <a:rPr lang="en-US" altLang="zh-CN" sz="1200" dirty="0" smtClean="0"/>
                  <a:t>pi</a:t>
                </a:r>
                <a:r>
                  <a:rPr lang="zh-CN" altLang="en-US" sz="1200" dirty="0" smtClean="0"/>
                  <a:t>来随机抽样的。</a:t>
                </a:r>
                <a:endParaRPr lang="en-US" altLang="zh-CN" sz="1200" dirty="0" smtClean="0"/>
              </a:p>
              <a:p>
                <a:r>
                  <a:rPr lang="zh-CN" altLang="en-US" sz="1200" dirty="0" smtClean="0"/>
                  <a:t>另一种来源是状态转移，下一个状态是 环境根据状态转移函数 </a:t>
                </a:r>
                <a:r>
                  <a:rPr lang="en-US" altLang="zh-CN" sz="1200" dirty="0" smtClean="0"/>
                  <a:t>p</a:t>
                </a:r>
                <a:r>
                  <a:rPr lang="zh-CN" altLang="en-US" sz="1200" baseline="0" dirty="0" smtClean="0"/>
                  <a:t> 来随机抽样的。</a:t>
                </a:r>
                <a:endParaRPr lang="en-US" altLang="zh-CN" sz="1200" baseline="0" dirty="0" smtClean="0"/>
              </a:p>
              <a:p>
                <a:endParaRPr lang="en-US" altLang="zh-CN" sz="1200" baseline="0" dirty="0" smtClean="0"/>
              </a:p>
              <a:p>
                <a:endParaRPr lang="en-US" altLang="zh-CN" sz="1200" baseline="0" dirty="0" smtClean="0"/>
              </a:p>
              <a:p>
                <a:endParaRPr lang="en-US" altLang="zh-CN" sz="1200" baseline="0" dirty="0" smtClean="0"/>
              </a:p>
              <a:p>
                <a:endParaRPr lang="en-US" altLang="zh-CN" sz="1200" baseline="0" dirty="0" smtClean="0"/>
              </a:p>
              <a:p>
                <a:endParaRPr lang="en-US" altLang="zh-CN" sz="1200" baseline="0" dirty="0" smtClean="0"/>
              </a:p>
              <a:p>
                <a:endParaRPr lang="en-US" altLang="zh-CN" sz="1200" baseline="0" dirty="0" smtClean="0"/>
              </a:p>
              <a:p>
                <a:endParaRPr lang="en-US" altLang="zh-CN" sz="1200" baseline="0" dirty="0" smtClean="0"/>
              </a:p>
              <a:p>
                <a:endParaRPr lang="en-US" altLang="zh-CN" sz="1200" baseline="0" dirty="0" smtClean="0"/>
              </a:p>
              <a:p>
                <a:endParaRPr lang="en-US" altLang="zh-CN" sz="1200" baseline="0" dirty="0" smtClean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200" baseline="0" dirty="0" smtClean="0"/>
                  <a:t>In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sum,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there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can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be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two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sources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of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randomness.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200" baseline="0" dirty="0" smtClean="0"/>
                  <a:t>==============================</a:t>
                </a:r>
              </a:p>
              <a:p>
                <a:r>
                  <a:rPr lang="en-US" altLang="zh-CN" sz="1200" baseline="0" dirty="0" smtClean="0"/>
                  <a:t>One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source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is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the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agent’s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action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="1" baseline="0" dirty="0" smtClean="0"/>
                  <a:t>a</a:t>
                </a:r>
                <a:r>
                  <a:rPr lang="en-US" altLang="zh-CN" sz="1200" baseline="0" dirty="0" smtClean="0"/>
                  <a:t>.</a:t>
                </a:r>
              </a:p>
              <a:p>
                <a:r>
                  <a:rPr lang="en-US" altLang="zh-CN" sz="1200" baseline="0" dirty="0" smtClean="0"/>
                  <a:t>The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policy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function</a:t>
                </a:r>
                <a:r>
                  <a:rPr lang="zh-CN" altLang="en-US" sz="1200" baseline="0" dirty="0" smtClean="0"/>
                  <a:t> </a:t>
                </a:r>
                <a:r>
                  <a:rPr lang="en-US" sz="1200" i="0" dirty="0" smtClean="0">
                    <a:latin typeface="Cambria Math" charset="0"/>
                  </a:rPr>
                  <a:t>𝜋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outputs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a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probability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distribution.</a:t>
                </a:r>
              </a:p>
              <a:p>
                <a:r>
                  <a:rPr lang="en-US" altLang="zh-CN" sz="1200" baseline="0" dirty="0" smtClean="0"/>
                  <a:t>The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action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is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random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sampled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according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to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the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probability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distribution.</a:t>
                </a:r>
              </a:p>
              <a:p>
                <a:r>
                  <a:rPr lang="en-US" altLang="zh-CN" sz="1200" baseline="0" dirty="0" smtClean="0"/>
                  <a:t>==============================</a:t>
                </a:r>
              </a:p>
              <a:p>
                <a:r>
                  <a:rPr lang="en-US" altLang="zh-CN" sz="1200" baseline="0" dirty="0" smtClean="0"/>
                  <a:t>The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other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source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of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randomness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is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the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state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transition.</a:t>
                </a:r>
              </a:p>
              <a:p>
                <a:r>
                  <a:rPr lang="en-US" altLang="zh-CN" sz="1200" baseline="0" dirty="0" smtClean="0"/>
                  <a:t>The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environment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has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a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state-transition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function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p.</a:t>
                </a:r>
              </a:p>
              <a:p>
                <a:r>
                  <a:rPr lang="en-US" altLang="zh-CN" sz="1200" baseline="0" dirty="0" smtClean="0"/>
                  <a:t>It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is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a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conditional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probability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density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function.</a:t>
                </a:r>
                <a:r>
                  <a:rPr lang="zh-CN" altLang="en-US" sz="1200" baseline="0" dirty="0" smtClean="0"/>
                  <a:t> </a:t>
                </a:r>
                <a:endParaRPr lang="en-US" altLang="zh-CN" sz="1200" baseline="0" dirty="0" smtClean="0"/>
              </a:p>
              <a:p>
                <a:r>
                  <a:rPr lang="en-US" altLang="zh-CN" sz="1200" baseline="0" dirty="0" smtClean="0"/>
                  <a:t>The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environment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generates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the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new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state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by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randomly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sampling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from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the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state-transition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function.</a:t>
                </a:r>
              </a:p>
              <a:p>
                <a:endParaRPr lang="en-US" dirty="0" smtClean="0"/>
              </a:p>
              <a:p>
                <a:endParaRPr lang="en-US" dirty="0" smtClean="0"/>
              </a:p>
              <a:p>
                <a:endParaRPr lang="en-US" dirty="0" smtClean="0"/>
              </a:p>
              <a:p>
                <a:endParaRPr lang="en-US" dirty="0" smtClean="0"/>
              </a:p>
              <a:p>
                <a:endParaRPr lang="en-US" dirty="0" smtClean="0"/>
              </a:p>
              <a:p>
                <a:r>
                  <a:rPr lang="zh-CN" altLang="en-US" sz="1200" dirty="0" smtClean="0"/>
                  <a:t>概括一下，强化学习中有两种随机性的来源。</a:t>
                </a:r>
                <a:endParaRPr lang="en-US" altLang="zh-CN" sz="1200" dirty="0" smtClean="0"/>
              </a:p>
              <a:p>
                <a:r>
                  <a:rPr lang="zh-CN" altLang="en-US" sz="1200" dirty="0" smtClean="0"/>
                  <a:t>一种来源是</a:t>
                </a:r>
                <a:r>
                  <a:rPr lang="en-US" altLang="zh-CN" sz="1200" dirty="0" smtClean="0"/>
                  <a:t>agent</a:t>
                </a:r>
                <a:r>
                  <a:rPr lang="zh-CN" altLang="en-US" sz="1200" dirty="0" smtClean="0"/>
                  <a:t>的动作，因为动作是根据</a:t>
                </a:r>
                <a:r>
                  <a:rPr lang="en-US" altLang="zh-CN" sz="1200" dirty="0" smtClean="0"/>
                  <a:t>policy</a:t>
                </a:r>
                <a:r>
                  <a:rPr lang="zh-CN" altLang="en-US" sz="1200" dirty="0" smtClean="0"/>
                  <a:t>函数</a:t>
                </a:r>
                <a:r>
                  <a:rPr lang="en-US" altLang="zh-CN" sz="1200" dirty="0" smtClean="0"/>
                  <a:t>pi</a:t>
                </a:r>
                <a:r>
                  <a:rPr lang="zh-CN" altLang="en-US" sz="1200" dirty="0" smtClean="0"/>
                  <a:t>来随机抽样的。</a:t>
                </a:r>
                <a:endParaRPr lang="en-US" altLang="zh-CN" sz="1200" dirty="0" smtClean="0"/>
              </a:p>
              <a:p>
                <a:r>
                  <a:rPr lang="zh-CN" altLang="en-US" sz="1200" dirty="0" smtClean="0"/>
                  <a:t>另一种来源是状态转移，下一个状态是 环境根据状态转移函数 </a:t>
                </a:r>
                <a:r>
                  <a:rPr lang="en-US" altLang="zh-CN" sz="1200" dirty="0" smtClean="0"/>
                  <a:t>p</a:t>
                </a:r>
                <a:r>
                  <a:rPr lang="zh-CN" altLang="en-US" sz="1200" baseline="0" dirty="0" smtClean="0"/>
                  <a:t> 来随机抽样的。</a:t>
                </a:r>
                <a:endParaRPr lang="en-US" altLang="zh-CN" sz="1200" baseline="0" dirty="0" smtClean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72540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600" dirty="0" smtClean="0"/>
              <a:t>We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have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studied</a:t>
            </a:r>
            <a:r>
              <a:rPr lang="zh-CN" altLang="en-US" sz="1600" baseline="0" dirty="0" smtClean="0"/>
              <a:t> </a:t>
            </a:r>
            <a:r>
              <a:rPr lang="en-US" altLang="zh-CN" sz="1600" dirty="0" smtClean="0"/>
              <a:t>the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basic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concepts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and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two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sources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of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randomness</a:t>
            </a:r>
            <a:r>
              <a:rPr lang="en-US" altLang="zh-CN" sz="1600" dirty="0" smtClean="0"/>
              <a:t>.</a:t>
            </a:r>
          </a:p>
          <a:p>
            <a:r>
              <a:rPr lang="en-US" altLang="zh-CN" sz="1600" dirty="0" smtClean="0"/>
              <a:t>The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next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topic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agent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environment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interaction.</a:t>
            </a:r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r>
              <a:rPr lang="zh-CN" altLang="en-US" sz="1600" dirty="0" smtClean="0"/>
              <a:t>最基本的概念讲得差不多了。</a:t>
            </a:r>
            <a:endParaRPr lang="en-US" altLang="zh-CN" sz="1600" dirty="0" smtClean="0"/>
          </a:p>
          <a:p>
            <a:r>
              <a:rPr lang="zh-CN" altLang="en-US" sz="1600" dirty="0" smtClean="0"/>
              <a:t>下面来看一下</a:t>
            </a:r>
            <a:r>
              <a:rPr lang="en-US" altLang="zh-CN" sz="1600" dirty="0" smtClean="0"/>
              <a:t>agent</a:t>
            </a:r>
            <a:r>
              <a:rPr lang="zh-CN" altLang="en-US" sz="1600" dirty="0" smtClean="0"/>
              <a:t>和环境是怎么交互的。</a:t>
            </a:r>
            <a:endParaRPr lang="en-US" altLang="zh-CN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68944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baseline="0" dirty="0" smtClean="0"/>
                  <a:t>In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our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example,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environment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Super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Mario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game.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/>
                  <a:t>==============</a:t>
                </a:r>
              </a:p>
              <a:p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agent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Mario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because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Mario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performs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actions.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/>
                  <a:t>In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t-</a:t>
                </a:r>
                <a:r>
                  <a:rPr lang="en-US" altLang="zh-CN" sz="1600" baseline="0" dirty="0" err="1" smtClean="0"/>
                  <a:t>th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round,</a:t>
                </a:r>
                <a:r>
                  <a:rPr lang="zh-CN" altLang="en-US" sz="1600" baseline="0" dirty="0" smtClean="0"/>
                  <a:t> </a:t>
                </a:r>
                <a:endParaRPr lang="en-US" altLang="zh-CN" sz="1600" baseline="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/>
                  <a:t>==============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agent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observes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state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environment.</a:t>
                </a:r>
                <a:r>
                  <a:rPr lang="zh-CN" altLang="en-US" sz="1600" baseline="0" dirty="0" smtClean="0"/>
                  <a:t> </a:t>
                </a:r>
                <a:endParaRPr lang="en-US" altLang="zh-CN" sz="1600" baseline="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/>
                  <a:t>Denote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current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state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by</a:t>
                </a:r>
                <a:r>
                  <a:rPr lang="zh-CN" altLang="en-US" sz="1600" baseline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1600" baseline="0" dirty="0" smtClean="0"/>
                  <a:t>.</a:t>
                </a:r>
              </a:p>
              <a:p>
                <a:r>
                  <a:rPr lang="en-US" altLang="zh-CN" sz="1600" dirty="0" smtClean="0"/>
                  <a:t>In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Super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Mario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game,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we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can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regard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screenshot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current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state.</a:t>
                </a:r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r>
                  <a:rPr lang="zh-CN" altLang="en-US" sz="1600" dirty="0" smtClean="0"/>
                  <a:t>这里的环境是游戏程序，</a:t>
                </a:r>
                <a:r>
                  <a:rPr lang="en-US" altLang="zh-CN" sz="1600" dirty="0" smtClean="0"/>
                  <a:t>Agent</a:t>
                </a:r>
                <a:r>
                  <a:rPr lang="zh-CN" altLang="en-US" sz="1600" dirty="0" smtClean="0"/>
                  <a:t>是</a:t>
                </a:r>
                <a:r>
                  <a:rPr lang="en-US" altLang="zh-CN" sz="1600" dirty="0" smtClean="0"/>
                  <a:t>Mario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</a:t>
                </a:r>
              </a:p>
              <a:p>
                <a:r>
                  <a:rPr lang="zh-CN" altLang="en-US" sz="1600" dirty="0" smtClean="0"/>
                  <a:t>状态</a:t>
                </a:r>
                <a:r>
                  <a:rPr lang="en-US" altLang="zh-CN" sz="1600" dirty="0" err="1" smtClean="0"/>
                  <a:t>s_t</a:t>
                </a:r>
                <a:r>
                  <a:rPr lang="zh-CN" altLang="en-US" sz="1600" dirty="0" smtClean="0"/>
                  <a:t> 是环境告诉我们的。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在超级玛丽的例子里，我们可以把当前屏幕上显示的图片看作是状态</a:t>
                </a:r>
                <a:r>
                  <a:rPr lang="en-US" altLang="zh-CN" sz="1600" dirty="0" err="1" smtClean="0"/>
                  <a:t>s_t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 smtClean="0"/>
                  <a:t>We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have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learned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all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basic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concepts.</a:t>
                </a:r>
              </a:p>
              <a:p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next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topic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agent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environment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interaction.</a:t>
                </a:r>
              </a:p>
              <a:p>
                <a:r>
                  <a:rPr lang="en-US" altLang="zh-CN" sz="1600" baseline="0" dirty="0" smtClean="0"/>
                  <a:t>----</a:t>
                </a:r>
              </a:p>
              <a:p>
                <a:r>
                  <a:rPr lang="en-US" altLang="zh-CN" sz="1600" baseline="0" dirty="0" smtClean="0"/>
                  <a:t>In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our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example,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agent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Mario,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and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environment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game’s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program.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/>
                  <a:t>In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t-</a:t>
                </a:r>
                <a:r>
                  <a:rPr lang="en-US" altLang="zh-CN" sz="1600" baseline="0" dirty="0" err="1" smtClean="0"/>
                  <a:t>th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round,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environment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shows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us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current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state</a:t>
                </a:r>
                <a:r>
                  <a:rPr lang="zh-CN" altLang="en-US" sz="1600" baseline="0" dirty="0" smtClean="0"/>
                  <a:t> </a:t>
                </a:r>
                <a:r>
                  <a:rPr lang="en-US" sz="1600" b="0" i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𝑠</a:t>
                </a:r>
                <a:r>
                  <a:rPr lang="en-US" sz="1600" b="1" i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_</a:t>
                </a:r>
                <a:r>
                  <a:rPr lang="en-US" sz="1600" b="0" i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𝑡</a:t>
                </a:r>
                <a:r>
                  <a:rPr lang="en-US" altLang="zh-CN" sz="1600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.</a:t>
                </a:r>
                <a:endParaRPr lang="en-US" sz="1600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r>
                  <a:rPr lang="en-US" altLang="zh-CN" sz="1600" dirty="0" smtClean="0"/>
                  <a:t>In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Super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Mario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game,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we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can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regard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screen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current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state.</a:t>
                </a:r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r>
                  <a:rPr lang="zh-CN" altLang="en-US" sz="1600" dirty="0" smtClean="0"/>
                  <a:t>最</a:t>
                </a:r>
                <a:r>
                  <a:rPr lang="zh-CN" altLang="en-US" sz="1600" dirty="0" smtClean="0"/>
                  <a:t>基本的概念讲得差不多了。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下面来看一下</a:t>
                </a:r>
                <a:r>
                  <a:rPr lang="en-US" altLang="zh-CN" sz="1600" dirty="0" smtClean="0"/>
                  <a:t>agent</a:t>
                </a:r>
                <a:r>
                  <a:rPr lang="zh-CN" altLang="en-US" sz="1600" dirty="0" smtClean="0"/>
                  <a:t>和环境是怎么交互的。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</a:t>
                </a:r>
              </a:p>
              <a:p>
                <a:r>
                  <a:rPr lang="zh-CN" altLang="en-US" sz="1600" dirty="0" smtClean="0"/>
                  <a:t>这里的环境是游戏程序，</a:t>
                </a:r>
                <a:r>
                  <a:rPr lang="en-US" altLang="zh-CN" sz="1600" dirty="0" smtClean="0"/>
                  <a:t>Agent</a:t>
                </a:r>
                <a:r>
                  <a:rPr lang="zh-CN" altLang="en-US" sz="1600" dirty="0" smtClean="0"/>
                  <a:t>是</a:t>
                </a:r>
                <a:r>
                  <a:rPr lang="en-US" altLang="zh-CN" sz="1600" dirty="0" smtClean="0"/>
                  <a:t>Mario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</a:t>
                </a:r>
              </a:p>
              <a:p>
                <a:r>
                  <a:rPr lang="zh-CN" altLang="en-US" sz="1600" dirty="0" smtClean="0"/>
                  <a:t>状态</a:t>
                </a:r>
                <a:r>
                  <a:rPr lang="en-US" altLang="zh-CN" sz="1600" dirty="0" err="1" smtClean="0"/>
                  <a:t>s_t</a:t>
                </a:r>
                <a:r>
                  <a:rPr lang="zh-CN" altLang="en-US" sz="1600" dirty="0" smtClean="0"/>
                  <a:t> 是环境告诉我们的。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在超级玛丽的例子里，我们可以把当前屏幕上显示的图片看作是状态</a:t>
                </a:r>
                <a:r>
                  <a:rPr lang="en-US" altLang="zh-CN" sz="1600" dirty="0" err="1" smtClean="0"/>
                  <a:t>s_t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endParaRPr lang="en-US" altLang="zh-CN" sz="1600" dirty="0" smtClean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31870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/>
                  <a:t>Upon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observing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state</a:t>
                </a:r>
                <a:r>
                  <a:rPr lang="zh-CN" altLang="en-US" sz="1600" baseline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1600" dirty="0" smtClean="0"/>
                  <a:t>,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agent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will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execute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action</a:t>
                </a:r>
                <a:r>
                  <a:rPr lang="zh-CN" altLang="en-US" sz="16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1600" dirty="0" smtClean="0">
                    <a:solidFill>
                      <a:srgbClr val="FF0000"/>
                    </a:solidFill>
                  </a:rPr>
                  <a:t>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rgbClr val="FF0000"/>
                    </a:solidFill>
                  </a:rPr>
                  <a:t>The</a:t>
                </a:r>
                <a:r>
                  <a:rPr lang="zh-CN" altLang="en-US" sz="1600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rgbClr val="FF0000"/>
                    </a:solidFill>
                  </a:rPr>
                  <a:t>action</a:t>
                </a:r>
                <a:r>
                  <a:rPr lang="zh-CN" altLang="en-US" sz="1600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rgbClr val="FF0000"/>
                    </a:solidFill>
                  </a:rPr>
                  <a:t>can</a:t>
                </a:r>
                <a:r>
                  <a:rPr lang="zh-CN" altLang="en-US" sz="1600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rgbClr val="FF0000"/>
                    </a:solidFill>
                  </a:rPr>
                  <a:t>be</a:t>
                </a:r>
                <a:r>
                  <a:rPr lang="zh-CN" altLang="en-US" sz="1600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rgbClr val="FF0000"/>
                    </a:solidFill>
                  </a:rPr>
                  <a:t>moving</a:t>
                </a:r>
                <a:r>
                  <a:rPr lang="zh-CN" altLang="en-US" sz="1600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rgbClr val="FF0000"/>
                    </a:solidFill>
                  </a:rPr>
                  <a:t>left,</a:t>
                </a:r>
                <a:r>
                  <a:rPr lang="zh-CN" altLang="en-US" sz="1600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rgbClr val="FF0000"/>
                    </a:solidFill>
                  </a:rPr>
                  <a:t>right,</a:t>
                </a:r>
                <a:r>
                  <a:rPr lang="zh-CN" altLang="en-US" sz="1600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rgbClr val="FF0000"/>
                    </a:solidFill>
                  </a:rPr>
                  <a:t>or</a:t>
                </a:r>
                <a:r>
                  <a:rPr lang="zh-CN" altLang="en-US" sz="1600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rgbClr val="FF0000"/>
                    </a:solidFill>
                  </a:rPr>
                  <a:t>up.</a:t>
                </a:r>
                <a:endParaRPr lang="en-US" sz="1600" dirty="0">
                  <a:solidFill>
                    <a:srgbClr val="FF0000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/>
                  <a:t>Agent</a:t>
                </a:r>
                <a:r>
                  <a:rPr lang="zh-CN" altLang="en-US" sz="1600" dirty="0" smtClean="0"/>
                  <a:t>看到状态</a:t>
                </a:r>
                <a:r>
                  <a:rPr lang="en-US" altLang="zh-CN" sz="1600" dirty="0" err="1" smtClean="0"/>
                  <a:t>s_t</a:t>
                </a:r>
                <a:r>
                  <a:rPr lang="zh-CN" altLang="en-US" sz="1600" dirty="0" smtClean="0"/>
                  <a:t>之后，要做出一个动作</a:t>
                </a:r>
                <a:r>
                  <a:rPr lang="en-US" altLang="zh-CN" sz="1600" dirty="0" err="1" smtClean="0"/>
                  <a:t>a_t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/>
                  <a:t>动作可以是向左走、向右走、或者是往上跳。</a:t>
                </a:r>
                <a:endParaRPr lang="en-US" sz="1600" dirty="0" smtClean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/>
                  <a:t>Upon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observing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state</a:t>
                </a:r>
                <a:r>
                  <a:rPr lang="zh-CN" altLang="en-US" sz="1600" baseline="0" dirty="0" smtClean="0"/>
                  <a:t> </a:t>
                </a:r>
                <a:r>
                  <a:rPr lang="en-US" sz="1600" b="0" i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𝑠</a:t>
                </a:r>
                <a:r>
                  <a:rPr lang="en-US" sz="1600" b="1" i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_</a:t>
                </a:r>
                <a:r>
                  <a:rPr lang="en-US" sz="1600" b="0" i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𝑡</a:t>
                </a:r>
                <a:r>
                  <a:rPr lang="en-US" altLang="zh-CN" sz="1600" dirty="0" smtClean="0"/>
                  <a:t>,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agent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will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make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action</a:t>
                </a:r>
                <a:r>
                  <a:rPr lang="zh-CN" altLang="en-US" sz="1600" dirty="0" smtClean="0"/>
                  <a:t> </a:t>
                </a:r>
                <a:r>
                  <a:rPr lang="en-US" sz="1600" b="0" i="0" smtClean="0">
                    <a:solidFill>
                      <a:srgbClr val="FF0000"/>
                    </a:solidFill>
                    <a:latin typeface="Cambria Math" charset="0"/>
                  </a:rPr>
                  <a:t>𝑎</a:t>
                </a:r>
                <a:r>
                  <a:rPr lang="en-US" sz="1600" b="0" i="0" smtClean="0">
                    <a:solidFill>
                      <a:srgbClr val="FF0000"/>
                    </a:solidFill>
                    <a:latin typeface="Cambria Math" charset="0"/>
                  </a:rPr>
                  <a:t>_</a:t>
                </a:r>
                <a:r>
                  <a:rPr lang="en-US" sz="1600" b="0" i="0" smtClean="0">
                    <a:solidFill>
                      <a:srgbClr val="FF0000"/>
                    </a:solidFill>
                    <a:latin typeface="Cambria Math" charset="0"/>
                  </a:rPr>
                  <a:t>𝑡</a:t>
                </a:r>
                <a:r>
                  <a:rPr lang="en-US" altLang="zh-CN" sz="1600" dirty="0" smtClean="0">
                    <a:solidFill>
                      <a:srgbClr val="FF0000"/>
                    </a:solidFill>
                  </a:rPr>
                  <a:t>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rgbClr val="FF0000"/>
                    </a:solidFill>
                  </a:rPr>
                  <a:t>The</a:t>
                </a:r>
                <a:r>
                  <a:rPr lang="zh-CN" altLang="en-US" sz="1600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rgbClr val="FF0000"/>
                    </a:solidFill>
                  </a:rPr>
                  <a:t>action</a:t>
                </a:r>
                <a:r>
                  <a:rPr lang="zh-CN" altLang="en-US" sz="1600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rgbClr val="FF0000"/>
                    </a:solidFill>
                  </a:rPr>
                  <a:t>can</a:t>
                </a:r>
                <a:r>
                  <a:rPr lang="zh-CN" altLang="en-US" sz="1600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rgbClr val="FF0000"/>
                    </a:solidFill>
                  </a:rPr>
                  <a:t>be</a:t>
                </a:r>
                <a:r>
                  <a:rPr lang="zh-CN" altLang="en-US" sz="1600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rgbClr val="FF0000"/>
                    </a:solidFill>
                  </a:rPr>
                  <a:t>move</a:t>
                </a:r>
                <a:r>
                  <a:rPr lang="zh-CN" altLang="en-US" sz="1600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rgbClr val="FF0000"/>
                    </a:solidFill>
                  </a:rPr>
                  <a:t>left,</a:t>
                </a:r>
                <a:r>
                  <a:rPr lang="zh-CN" altLang="en-US" sz="1600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rgbClr val="FF0000"/>
                    </a:solidFill>
                  </a:rPr>
                  <a:t>right,</a:t>
                </a:r>
                <a:r>
                  <a:rPr lang="zh-CN" altLang="en-US" sz="1600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rgbClr val="FF0000"/>
                    </a:solidFill>
                  </a:rPr>
                  <a:t>or</a:t>
                </a:r>
                <a:r>
                  <a:rPr lang="zh-CN" altLang="en-US" sz="1600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rgbClr val="FF0000"/>
                    </a:solidFill>
                  </a:rPr>
                  <a:t>up.</a:t>
                </a:r>
                <a:endParaRPr lang="en-US" sz="1600" dirty="0">
                  <a:solidFill>
                    <a:srgbClr val="FF0000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/>
                  <a:t>Agent</a:t>
                </a:r>
                <a:r>
                  <a:rPr lang="zh-CN" altLang="en-US" sz="1600" dirty="0" smtClean="0"/>
                  <a:t>看到状态</a:t>
                </a:r>
                <a:r>
                  <a:rPr lang="en-US" altLang="zh-CN" sz="1600" dirty="0" err="1" smtClean="0"/>
                  <a:t>s_t</a:t>
                </a:r>
                <a:r>
                  <a:rPr lang="zh-CN" altLang="en-US" sz="1600" dirty="0" smtClean="0"/>
                  <a:t>之后，要做出一个动作</a:t>
                </a:r>
                <a:r>
                  <a:rPr lang="en-US" altLang="zh-CN" sz="1600" dirty="0" err="1" smtClean="0"/>
                  <a:t>a_t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/>
                  <a:t>动作可以是向左走、向右走、或者是往上跳。</a:t>
                </a:r>
                <a:endParaRPr lang="en-US" sz="1600" dirty="0" smtClean="0"/>
              </a:p>
              <a:p>
                <a:endParaRPr lang="en-US" sz="1600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29366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/>
                  <a:t>Knowing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agent’s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action</a:t>
                </a:r>
                <a:r>
                  <a:rPr lang="zh-CN" altLang="en-US" sz="1600" baseline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1600" dirty="0" smtClean="0"/>
                  <a:t>,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environment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updates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state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to</a:t>
                </a:r>
                <a:r>
                  <a:rPr lang="zh-CN" altLang="en-US" sz="1600" baseline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altLang="zh-CN" sz="16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/>
                  <a:t>=======================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environment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provides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agent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with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reward,</a:t>
                </a:r>
                <a:r>
                  <a:rPr lang="zh-CN" altLang="en-US" sz="1600" baseline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𝑟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i="1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1" dirty="0" smtClean="0">
                    <a:solidFill>
                      <a:srgbClr val="0070C0"/>
                    </a:solidFill>
                  </a:rPr>
                  <a:t>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i="0" dirty="0" smtClean="0">
                    <a:solidFill>
                      <a:srgbClr val="0070C0"/>
                    </a:solidFill>
                  </a:rPr>
                  <a:t>We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have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discussed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the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reward.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If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Mario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collects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a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coin,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it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will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receive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a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positive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reward.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If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Mario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wins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the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game,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the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reward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will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be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a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big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positive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number.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If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Mario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touches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an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enemy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and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then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game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over,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then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the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reward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is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a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big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negative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number.</a:t>
                </a:r>
                <a:endParaRPr lang="en-US" sz="1600" i="0" dirty="0">
                  <a:solidFill>
                    <a:srgbClr val="0070C0"/>
                  </a:solidFill>
                </a:endParaRPr>
              </a:p>
              <a:p>
                <a:r>
                  <a:rPr lang="zh-CN" altLang="en-US" sz="1600" dirty="0" smtClean="0"/>
                  <a:t> </a:t>
                </a:r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r>
                  <a:rPr lang="en-US" altLang="zh-CN" sz="1600" dirty="0" smtClean="0"/>
                  <a:t>Agent</a:t>
                </a:r>
                <a:r>
                  <a:rPr lang="zh-CN" altLang="en-US" sz="1600" dirty="0" smtClean="0"/>
                  <a:t>做出动作之后，环境会更新状态，把状态变成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altLang="zh-CN" sz="16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------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/>
                  <a:t>同时，环境还会给</a:t>
                </a:r>
                <a:r>
                  <a:rPr lang="en-US" altLang="zh-CN" sz="1600" dirty="0" smtClean="0"/>
                  <a:t>Agent</a:t>
                </a:r>
                <a:r>
                  <a:rPr lang="zh-CN" altLang="en-US" sz="1600" dirty="0" smtClean="0"/>
                  <a:t>一个奖励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𝑟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要是吃到金币，奖励是正的；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要是赢了游戏，奖励是一个很大的正数；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要是碰到敌人，</a:t>
                </a:r>
                <a:r>
                  <a:rPr lang="en-US" altLang="zh-CN" sz="1600" dirty="0" smtClean="0"/>
                  <a:t>game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over</a:t>
                </a:r>
                <a:r>
                  <a:rPr lang="zh-CN" altLang="en-US" sz="1600" dirty="0" smtClean="0"/>
                  <a:t>，奖励是个很大的负数。</a:t>
                </a:r>
                <a:endParaRPr lang="en-US" altLang="zh-CN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/>
                  <a:t>Know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agent’s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action</a:t>
                </a:r>
                <a:r>
                  <a:rPr lang="zh-CN" altLang="en-US" sz="1600" baseline="0" dirty="0" smtClean="0"/>
                  <a:t> </a:t>
                </a:r>
                <a:r>
                  <a:rPr lang="en-US" sz="1600" b="0" i="0" smtClean="0">
                    <a:solidFill>
                      <a:srgbClr val="FF0000"/>
                    </a:solidFill>
                    <a:latin typeface="Cambria Math" charset="0"/>
                  </a:rPr>
                  <a:t>𝑎</a:t>
                </a:r>
                <a:r>
                  <a:rPr lang="en-US" sz="1600" b="0" i="0" smtClean="0">
                    <a:solidFill>
                      <a:srgbClr val="FF0000"/>
                    </a:solidFill>
                    <a:latin typeface="Cambria Math" charset="0"/>
                  </a:rPr>
                  <a:t>_</a:t>
                </a:r>
                <a:r>
                  <a:rPr lang="en-US" sz="1600" b="0" i="0" smtClean="0">
                    <a:solidFill>
                      <a:srgbClr val="FF0000"/>
                    </a:solidFill>
                    <a:latin typeface="Cambria Math" charset="0"/>
                  </a:rPr>
                  <a:t>𝑡</a:t>
                </a:r>
                <a:r>
                  <a:rPr lang="en-US" altLang="zh-CN" sz="1600" dirty="0" smtClean="0"/>
                  <a:t>,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environment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updates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state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to</a:t>
                </a:r>
                <a:r>
                  <a:rPr lang="zh-CN" altLang="en-US" sz="1600" baseline="0" dirty="0" smtClean="0"/>
                  <a:t> </a:t>
                </a:r>
                <a:r>
                  <a:rPr lang="en-US" sz="1600" b="0" i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𝑠</a:t>
                </a:r>
                <a:r>
                  <a:rPr lang="en-US" sz="1600" b="1" i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_(</a:t>
                </a:r>
                <a:r>
                  <a:rPr lang="en-US" sz="1600" b="0" i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𝑡</a:t>
                </a:r>
                <a:r>
                  <a:rPr lang="en-US" altLang="zh-CN" sz="1600" b="0" i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+1</a:t>
                </a:r>
                <a:r>
                  <a:rPr lang="en-US" altLang="zh-CN" sz="1600" b="1" i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)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environment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will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let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agent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know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new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state</a:t>
                </a:r>
                <a:r>
                  <a:rPr lang="zh-CN" altLang="en-US" sz="1600" baseline="0" dirty="0" smtClean="0"/>
                  <a:t> </a:t>
                </a:r>
                <a:r>
                  <a:rPr lang="en-US" sz="1600" b="0" i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𝑠</a:t>
                </a:r>
                <a:r>
                  <a:rPr lang="en-US" sz="1600" b="1" i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_(</a:t>
                </a:r>
                <a:r>
                  <a:rPr lang="en-US" sz="1600" b="0" i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𝑡</a:t>
                </a:r>
                <a:r>
                  <a:rPr lang="en-US" altLang="zh-CN" sz="1600" b="0" i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+1</a:t>
                </a:r>
                <a:r>
                  <a:rPr lang="en-US" altLang="zh-CN" sz="1600" b="1" i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)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and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reward</a:t>
                </a:r>
                <a:r>
                  <a:rPr lang="zh-CN" altLang="en-US" sz="1600" baseline="0" dirty="0" smtClean="0"/>
                  <a:t> </a:t>
                </a:r>
                <a:r>
                  <a:rPr lang="en-US" sz="1600" b="0" i="0" smtClean="0">
                    <a:solidFill>
                      <a:srgbClr val="0070C0"/>
                    </a:solidFill>
                    <a:latin typeface="Cambria Math" charset="0"/>
                  </a:rPr>
                  <a:t>𝑟</a:t>
                </a:r>
                <a:r>
                  <a:rPr lang="en-US" sz="1600" b="0" i="0" smtClean="0">
                    <a:solidFill>
                      <a:srgbClr val="0070C0"/>
                    </a:solidFill>
                    <a:latin typeface="Cambria Math" charset="0"/>
                  </a:rPr>
                  <a:t>_</a:t>
                </a:r>
                <a:r>
                  <a:rPr lang="en-US" sz="1600" b="0" i="0" smtClean="0">
                    <a:solidFill>
                      <a:srgbClr val="0070C0"/>
                    </a:solidFill>
                    <a:latin typeface="Cambria Math" charset="0"/>
                  </a:rPr>
                  <a:t>𝑡</a:t>
                </a:r>
                <a:r>
                  <a:rPr lang="zh-CN" altLang="en-US" sz="1600" i="1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1" dirty="0" smtClean="0">
                    <a:solidFill>
                      <a:srgbClr val="0070C0"/>
                    </a:solidFill>
                  </a:rPr>
                  <a:t>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i="0" dirty="0" smtClean="0">
                    <a:solidFill>
                      <a:srgbClr val="0070C0"/>
                    </a:solidFill>
                  </a:rPr>
                  <a:t>We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have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discussed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the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reward.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If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Mario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collects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a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coin,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it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will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receive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a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positive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reward.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If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Mario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wins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the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game,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the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reward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will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be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a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big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negative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number.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If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Mario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touches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an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enemy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and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then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game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over,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then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the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reward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is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a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big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negative</a:t>
                </a:r>
                <a:r>
                  <a:rPr lang="zh-CN" altLang="en-US" sz="1600" i="0" baseline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1600" i="0" baseline="0" dirty="0" smtClean="0">
                    <a:solidFill>
                      <a:srgbClr val="0070C0"/>
                    </a:solidFill>
                  </a:rPr>
                  <a:t>number.</a:t>
                </a:r>
                <a:endParaRPr lang="en-US" sz="1600" i="0" dirty="0">
                  <a:solidFill>
                    <a:srgbClr val="0070C0"/>
                  </a:solidFill>
                </a:endParaRPr>
              </a:p>
              <a:p>
                <a:r>
                  <a:rPr lang="zh-CN" altLang="en-US" sz="1600" dirty="0" smtClean="0"/>
                  <a:t> </a:t>
                </a:r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r>
                  <a:rPr lang="en-US" altLang="zh-CN" sz="1600" dirty="0" smtClean="0"/>
                  <a:t>Agent</a:t>
                </a:r>
                <a:r>
                  <a:rPr lang="zh-CN" altLang="en-US" sz="1600" dirty="0" smtClean="0"/>
                  <a:t>做出动作之后，环境会更新状态，把状态变成</a:t>
                </a:r>
                <a:r>
                  <a:rPr lang="en-US" sz="1600" b="0" i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𝑠</a:t>
                </a:r>
                <a:r>
                  <a:rPr lang="en-US" sz="1600" b="1" i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_(</a:t>
                </a:r>
                <a:r>
                  <a:rPr lang="en-US" sz="1600" b="0" i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𝑡</a:t>
                </a:r>
                <a:r>
                  <a:rPr lang="en-US" altLang="zh-CN" sz="1600" b="0" i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+1</a:t>
                </a:r>
                <a:r>
                  <a:rPr lang="en-US" altLang="zh-CN" sz="1600" b="1" i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)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------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/>
                  <a:t>同时，环境还会给</a:t>
                </a:r>
                <a:r>
                  <a:rPr lang="en-US" altLang="zh-CN" sz="1600" dirty="0" smtClean="0"/>
                  <a:t>Agent</a:t>
                </a:r>
                <a:r>
                  <a:rPr lang="zh-CN" altLang="en-US" sz="1600" dirty="0" smtClean="0"/>
                  <a:t>一个奖励</a:t>
                </a:r>
                <a:r>
                  <a:rPr lang="en-US" sz="1600" b="0" i="0" smtClean="0">
                    <a:solidFill>
                      <a:srgbClr val="0070C0"/>
                    </a:solidFill>
                    <a:latin typeface="Cambria Math" charset="0"/>
                  </a:rPr>
                  <a:t>𝑟</a:t>
                </a:r>
                <a:r>
                  <a:rPr lang="en-US" sz="1600" b="0" i="0" smtClean="0">
                    <a:solidFill>
                      <a:srgbClr val="0070C0"/>
                    </a:solidFill>
                    <a:latin typeface="Cambria Math" charset="0"/>
                  </a:rPr>
                  <a:t>_</a:t>
                </a:r>
                <a:r>
                  <a:rPr lang="en-US" sz="1600" b="0" i="0" smtClean="0">
                    <a:solidFill>
                      <a:srgbClr val="0070C0"/>
                    </a:solidFill>
                    <a:latin typeface="Cambria Math" charset="0"/>
                  </a:rPr>
                  <a:t>𝑡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要是吃到金币，奖励是正的；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要是赢了游戏，奖励是一个很大的正数；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要是碰到敌人，</a:t>
                </a:r>
                <a:r>
                  <a:rPr lang="en-US" altLang="zh-CN" sz="1600" dirty="0" smtClean="0"/>
                  <a:t>game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over</a:t>
                </a:r>
                <a:r>
                  <a:rPr lang="zh-CN" altLang="en-US" sz="1600" dirty="0" smtClean="0"/>
                  <a:t>，奖励是个很大的负数。</a:t>
                </a:r>
                <a:endParaRPr lang="en-US" sz="1600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08417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200" dirty="0" smtClean="0"/>
                  <a:t>How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do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we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use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AI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to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control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Mario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to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play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the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game?</a:t>
                </a:r>
              </a:p>
              <a:p>
                <a:r>
                  <a:rPr lang="en-US" altLang="zh-CN" sz="1200" baseline="0" dirty="0" smtClean="0"/>
                  <a:t>We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will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use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reinforcement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learning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to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learn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a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policy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function</a:t>
                </a:r>
                <a:r>
                  <a:rPr lang="zh-CN" altLang="en-US" sz="1200" baseline="0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𝜋</m:t>
                    </m:r>
                  </m:oMath>
                </a14:m>
                <a:r>
                  <a:rPr lang="en-US" altLang="zh-CN" sz="1200" baseline="0" dirty="0" smtClean="0"/>
                  <a:t>.</a:t>
                </a:r>
              </a:p>
              <a:p>
                <a:r>
                  <a:rPr lang="en-US" altLang="zh-CN" sz="1200" baseline="0" dirty="0" smtClean="0"/>
                  <a:t>The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AI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will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use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the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policy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function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to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control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Mario.</a:t>
                </a:r>
              </a:p>
              <a:p>
                <a:r>
                  <a:rPr lang="en-US" altLang="zh-CN" sz="1200" baseline="0" dirty="0" smtClean="0"/>
                  <a:t>-----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200" baseline="0" dirty="0" smtClean="0"/>
                  <a:t>Observing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the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current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state</a:t>
                </a:r>
                <a:r>
                  <a:rPr lang="zh-CN" altLang="en-US" sz="1200" baseline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1200" baseline="0" dirty="0" smtClean="0"/>
                  <a:t>,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the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AI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uses</a:t>
                </a:r>
                <a:r>
                  <a:rPr lang="zh-CN" altLang="en-US" sz="1200" baseline="0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𝜋</m:t>
                    </m:r>
                  </m:oMath>
                </a14:m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to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compute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probabilities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and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then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randomly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dirty="0" smtClean="0"/>
                  <a:t>samples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an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action,</a:t>
                </a:r>
                <a:r>
                  <a:rPr lang="zh-CN" altLang="en-US" sz="1200" baseline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1200" baseline="0" dirty="0" smtClean="0"/>
                  <a:t>.</a:t>
                </a:r>
              </a:p>
              <a:p>
                <a:r>
                  <a:rPr lang="en-US" altLang="zh-CN" sz="1200" baseline="0" dirty="0" smtClean="0"/>
                  <a:t>=======================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200" baseline="0" dirty="0" smtClean="0"/>
                  <a:t>After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the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agent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executes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action</a:t>
                </a:r>
                <a:r>
                  <a:rPr lang="zh-CN" altLang="en-US" sz="1200" baseline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1200" baseline="0" dirty="0" smtClean="0"/>
                  <a:t>,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the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environment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dirty="0" smtClean="0"/>
                  <a:t>will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update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the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state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to</a:t>
                </a:r>
                <a:r>
                  <a:rPr lang="zh-CN" altLang="en-US" sz="1200" baseline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altLang="zh-CN" sz="1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according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to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the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state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transition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function.</a:t>
                </a:r>
              </a:p>
              <a:p>
                <a:r>
                  <a:rPr lang="en-US" altLang="zh-CN" sz="1200" dirty="0" smtClean="0"/>
                  <a:t>The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new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state</a:t>
                </a:r>
                <a:r>
                  <a:rPr lang="zh-CN" altLang="en-US" sz="1200" baseline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altLang="zh-CN" sz="1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and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reward</a:t>
                </a:r>
                <a:r>
                  <a:rPr lang="zh-CN" altLang="en-US" sz="12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b="0" i="1" dirty="0" smtClean="0">
                            <a:solidFill>
                              <a:srgbClr val="0070C0"/>
                            </a:solidFill>
                            <a:latin typeface="Cambria Math" charset="0"/>
                            <a:sym typeface="Wingdings"/>
                          </a:rPr>
                        </m:ctrlPr>
                      </m:sSubPr>
                      <m:e>
                        <m:r>
                          <a:rPr lang="en-US" altLang="zh-CN" sz="1200" i="1" dirty="0">
                            <a:solidFill>
                              <a:srgbClr val="0070C0"/>
                            </a:solidFill>
                            <a:latin typeface="Cambria Math" charset="0"/>
                            <a:sym typeface="Wingdings"/>
                          </a:rPr>
                          <m:t>𝑟</m:t>
                        </m:r>
                      </m:e>
                      <m:sub>
                        <m:r>
                          <a:rPr lang="en-US" altLang="zh-CN" sz="1200" b="0" i="1" dirty="0" smtClean="0">
                            <a:solidFill>
                              <a:srgbClr val="0070C0"/>
                            </a:solidFill>
                            <a:latin typeface="Cambria Math" charset="0"/>
                            <a:sym typeface="Wingdings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are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provided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to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the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agent.</a:t>
                </a:r>
              </a:p>
              <a:p>
                <a:endParaRPr lang="en-US" altLang="zh-CN" sz="1200" dirty="0" smtClean="0"/>
              </a:p>
              <a:p>
                <a:endParaRPr lang="en-US" altLang="zh-CN" sz="1200" dirty="0" smtClean="0"/>
              </a:p>
              <a:p>
                <a:r>
                  <a:rPr lang="zh-CN" altLang="en-US" sz="1200" dirty="0" smtClean="0"/>
                  <a:t>怎么样让</a:t>
                </a:r>
                <a:r>
                  <a:rPr lang="en-US" altLang="zh-CN" sz="1200" dirty="0" smtClean="0"/>
                  <a:t>Ai</a:t>
                </a:r>
                <a:r>
                  <a:rPr lang="zh-CN" altLang="en-US" sz="1200" dirty="0" smtClean="0"/>
                  <a:t>自动打赢游戏呢？</a:t>
                </a:r>
                <a:endParaRPr lang="en-US" altLang="zh-CN" sz="1200" dirty="0" smtClean="0"/>
              </a:p>
              <a:p>
                <a:r>
                  <a:rPr lang="zh-CN" altLang="en-US" sz="1200" dirty="0" smtClean="0"/>
                  <a:t>我们通过强化学习，学出来</a:t>
                </a:r>
                <a:r>
                  <a:rPr lang="en-US" altLang="zh-CN" sz="1200" dirty="0" smtClean="0"/>
                  <a:t>policy</a:t>
                </a:r>
                <a:r>
                  <a:rPr lang="zh-CN" altLang="en-US" sz="1200" dirty="0" smtClean="0"/>
                  <a:t>函数</a:t>
                </a:r>
                <a:r>
                  <a:rPr lang="en-US" altLang="zh-CN" sz="1200" dirty="0" smtClean="0"/>
                  <a:t>pi</a:t>
                </a:r>
                <a:r>
                  <a:rPr lang="zh-CN" altLang="en-US" sz="1200" dirty="0" smtClean="0"/>
                  <a:t>；</a:t>
                </a:r>
                <a:r>
                  <a:rPr lang="zh-CN" altLang="en-US" sz="1200" baseline="0" dirty="0" smtClean="0"/>
                  <a:t> 我之后会讲怎么学习</a:t>
                </a:r>
                <a:r>
                  <a:rPr lang="en-US" altLang="zh-CN" sz="1200" baseline="0" dirty="0" smtClean="0"/>
                  <a:t>policy</a:t>
                </a:r>
                <a:r>
                  <a:rPr lang="zh-CN" altLang="en-US" sz="1200" baseline="0" dirty="0" smtClean="0"/>
                  <a:t>函数。</a:t>
                </a:r>
                <a:endParaRPr lang="en-US" altLang="zh-CN" sz="1200" baseline="0" dirty="0" smtClean="0"/>
              </a:p>
              <a:p>
                <a:r>
                  <a:rPr lang="en-US" altLang="zh-CN" sz="1200" baseline="0" dirty="0" smtClean="0"/>
                  <a:t>AI</a:t>
                </a:r>
                <a:r>
                  <a:rPr lang="zh-CN" altLang="en-US" sz="1200" baseline="0" dirty="0" smtClean="0"/>
                  <a:t>就是用</a:t>
                </a:r>
                <a:r>
                  <a:rPr lang="en-US" altLang="zh-CN" sz="1200" baseline="0" dirty="0" smtClean="0"/>
                  <a:t>policy</a:t>
                </a:r>
                <a:r>
                  <a:rPr lang="zh-CN" altLang="en-US" sz="1200" baseline="0" dirty="0" smtClean="0"/>
                  <a:t>函数来控制</a:t>
                </a:r>
                <a:r>
                  <a:rPr lang="en-US" altLang="zh-CN" sz="1200" baseline="0" dirty="0" smtClean="0"/>
                  <a:t>agent</a:t>
                </a:r>
                <a:r>
                  <a:rPr lang="zh-CN" altLang="en-US" sz="1200" baseline="0" dirty="0" smtClean="0"/>
                  <a:t>的。</a:t>
                </a:r>
                <a:endParaRPr lang="en-US" altLang="zh-CN" sz="1200" baseline="0" dirty="0" smtClean="0"/>
              </a:p>
              <a:p>
                <a:r>
                  <a:rPr lang="en-US" altLang="zh-CN" sz="1200" baseline="0" dirty="0" smtClean="0"/>
                  <a:t>------</a:t>
                </a:r>
              </a:p>
              <a:p>
                <a:r>
                  <a:rPr lang="zh-CN" altLang="en-US" sz="1200" baseline="0" dirty="0" smtClean="0"/>
                  <a:t>观测到游戏当前这一帧的状态</a:t>
                </a:r>
                <a:r>
                  <a:rPr lang="en-US" altLang="zh-CN" sz="1200" baseline="0" dirty="0" smtClean="0"/>
                  <a:t>s_1</a:t>
                </a:r>
                <a:r>
                  <a:rPr lang="zh-CN" altLang="en-US" sz="1200" baseline="0" dirty="0" smtClean="0"/>
                  <a:t>，</a:t>
                </a:r>
                <a:endParaRPr lang="en-US" altLang="zh-CN" sz="1200" baseline="0" dirty="0" smtClean="0"/>
              </a:p>
              <a:p>
                <a:r>
                  <a:rPr lang="en-US" altLang="zh-CN" sz="1200" baseline="0" dirty="0" smtClean="0"/>
                  <a:t>AI</a:t>
                </a:r>
                <a:r>
                  <a:rPr lang="zh-CN" altLang="en-US" sz="1200" baseline="0" dirty="0" smtClean="0"/>
                  <a:t>用</a:t>
                </a:r>
                <a:r>
                  <a:rPr lang="en-US" altLang="zh-CN" sz="1200" baseline="0" dirty="0" smtClean="0"/>
                  <a:t>policy</a:t>
                </a:r>
                <a:r>
                  <a:rPr lang="zh-CN" altLang="en-US" sz="1200" baseline="0" dirty="0" smtClean="0"/>
                  <a:t>函数来算概率，然后随机抽样得到动作</a:t>
                </a:r>
                <a:r>
                  <a:rPr lang="en-US" altLang="zh-CN" sz="1200" baseline="0" dirty="0" smtClean="0"/>
                  <a:t>a_1</a:t>
                </a:r>
                <a:r>
                  <a:rPr lang="zh-CN" altLang="en-US" sz="1200" baseline="0" dirty="0" smtClean="0"/>
                  <a:t>；动作是左、右、上其中的一种。</a:t>
                </a:r>
                <a:endParaRPr lang="en-US" altLang="zh-CN" sz="1200" baseline="0" dirty="0" smtClean="0"/>
              </a:p>
              <a:p>
                <a:r>
                  <a:rPr lang="en-US" altLang="zh-CN" sz="1200" baseline="0" dirty="0" smtClean="0"/>
                  <a:t>=======================</a:t>
                </a:r>
              </a:p>
              <a:p>
                <a:r>
                  <a:rPr lang="zh-CN" altLang="en-US" sz="1200" baseline="0" dirty="0" smtClean="0"/>
                  <a:t>然后，环境就会生成下一个状态</a:t>
                </a:r>
                <a:r>
                  <a:rPr lang="en-US" altLang="zh-CN" sz="1200" baseline="0" dirty="0" smtClean="0"/>
                  <a:t>s_2</a:t>
                </a:r>
                <a:r>
                  <a:rPr lang="zh-CN" altLang="en-US" sz="1200" baseline="0" dirty="0" smtClean="0"/>
                  <a:t>，并且给</a:t>
                </a:r>
                <a:r>
                  <a:rPr lang="en-US" altLang="zh-CN" sz="1200" baseline="0" dirty="0" smtClean="0"/>
                  <a:t>agent</a:t>
                </a:r>
                <a:r>
                  <a:rPr lang="zh-CN" altLang="en-US" sz="1200" baseline="0" dirty="0" smtClean="0"/>
                  <a:t>一个奖励，记做</a:t>
                </a:r>
                <a:r>
                  <a:rPr lang="en-US" altLang="zh-CN" sz="1200" baseline="0" dirty="0" smtClean="0"/>
                  <a:t>r_1</a:t>
                </a:r>
                <a:r>
                  <a:rPr lang="zh-CN" altLang="en-US" sz="1200" baseline="0" dirty="0" smtClean="0"/>
                  <a:t>。</a:t>
                </a:r>
                <a:endParaRPr lang="en-US" altLang="zh-CN" sz="1200" baseline="0" dirty="0" smtClean="0"/>
              </a:p>
              <a:p>
                <a:r>
                  <a:rPr lang="zh-CN" altLang="en-US" sz="1200" baseline="0" dirty="0" smtClean="0"/>
                  <a:t>然后呢，</a:t>
                </a:r>
                <a:r>
                  <a:rPr lang="en-US" altLang="zh-CN" sz="1200" baseline="0" dirty="0" smtClean="0"/>
                  <a:t>AI</a:t>
                </a:r>
                <a:r>
                  <a:rPr lang="zh-CN" altLang="en-US" sz="1200" baseline="0" dirty="0" smtClean="0"/>
                  <a:t>就拿新的状态作为输入，用</a:t>
                </a:r>
                <a:r>
                  <a:rPr lang="en-US" altLang="zh-CN" sz="1200" baseline="0" dirty="0" smtClean="0"/>
                  <a:t>policy</a:t>
                </a:r>
                <a:r>
                  <a:rPr lang="zh-CN" altLang="en-US" sz="1200" baseline="0" dirty="0" smtClean="0"/>
                  <a:t>函数算概率，然后随机抽样，得到新的动作</a:t>
                </a:r>
                <a:r>
                  <a:rPr lang="en-US" altLang="zh-CN" sz="1200" baseline="0" dirty="0" smtClean="0"/>
                  <a:t>a_2</a:t>
                </a:r>
                <a:r>
                  <a:rPr lang="zh-CN" altLang="en-US" sz="1200" baseline="0" dirty="0" smtClean="0"/>
                  <a:t>。</a:t>
                </a:r>
                <a:endParaRPr lang="en-US" altLang="zh-CN" sz="1200" baseline="0" dirty="0" smtClean="0"/>
              </a:p>
              <a:p>
                <a:r>
                  <a:rPr lang="zh-CN" altLang="en-US" sz="1200" baseline="0" dirty="0" smtClean="0"/>
                  <a:t>这样一直循环下去，到打赢游戏或者</a:t>
                </a:r>
                <a:r>
                  <a:rPr lang="en-US" altLang="zh-CN" sz="1200" baseline="0" dirty="0" smtClean="0"/>
                  <a:t>game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over</a:t>
                </a:r>
                <a:r>
                  <a:rPr lang="zh-CN" altLang="en-US" sz="1200" baseline="0" dirty="0" smtClean="0"/>
                  <a:t>。</a:t>
                </a:r>
                <a:endParaRPr lang="en-US" altLang="zh-CN" sz="1200" baseline="0" dirty="0" smtClean="0"/>
              </a:p>
              <a:p>
                <a:endParaRPr lang="en-US" altLang="zh-CN" sz="1200" baseline="0" dirty="0" smtClean="0"/>
              </a:p>
              <a:p>
                <a:endParaRPr lang="en-US" altLang="zh-CN" sz="1200" baseline="0" dirty="0" smtClean="0"/>
              </a:p>
              <a:p>
                <a:endParaRPr lang="en-US" altLang="zh-CN" sz="1200" baseline="0" dirty="0" smtClean="0"/>
              </a:p>
              <a:p>
                <a:endParaRPr lang="en-US" altLang="zh-CN" sz="1200" baseline="0" dirty="0" smtClean="0"/>
              </a:p>
              <a:p>
                <a:endParaRPr lang="en-US" altLang="zh-CN" sz="1200" baseline="0" dirty="0" smtClean="0"/>
              </a:p>
              <a:p>
                <a:endParaRPr lang="en-US" altLang="zh-CN" sz="1200" baseline="0" dirty="0" smtClean="0"/>
              </a:p>
              <a:p>
                <a:endParaRPr lang="en-US" altLang="zh-CN" sz="1200" baseline="0" dirty="0" smtClean="0"/>
              </a:p>
              <a:p>
                <a:endParaRPr lang="en-US" altLang="zh-CN" sz="1200" baseline="0" dirty="0" smtClean="0"/>
              </a:p>
              <a:p>
                <a:endParaRPr lang="en-US" altLang="zh-CN" sz="1200" baseline="0" dirty="0" smtClean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200" dirty="0" smtClean="0"/>
                  <a:t>How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do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we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use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AI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to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control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Mario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to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play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the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game?</a:t>
                </a:r>
              </a:p>
              <a:p>
                <a:r>
                  <a:rPr lang="en-US" altLang="zh-CN" sz="1200" baseline="0" dirty="0" smtClean="0"/>
                  <a:t>We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will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use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reinforcement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learning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to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learn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a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policy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function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b="0" i="0" smtClean="0">
                    <a:solidFill>
                      <a:schemeClr val="tx1"/>
                    </a:solidFill>
                    <a:latin typeface="Cambria Math" charset="0"/>
                  </a:rPr>
                  <a:t>𝜋</a:t>
                </a:r>
                <a:r>
                  <a:rPr lang="en-US" altLang="zh-CN" sz="1200" baseline="0" dirty="0" smtClean="0"/>
                  <a:t>.</a:t>
                </a:r>
              </a:p>
              <a:p>
                <a:r>
                  <a:rPr lang="en-US" altLang="zh-CN" sz="1200" baseline="0" dirty="0" smtClean="0"/>
                  <a:t>The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AI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will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use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the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policy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function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to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control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Mario</a:t>
                </a:r>
                <a:r>
                  <a:rPr lang="en-US" altLang="zh-CN" sz="1200" baseline="0" dirty="0" smtClean="0"/>
                  <a:t>.</a:t>
                </a:r>
              </a:p>
              <a:p>
                <a:r>
                  <a:rPr lang="en-US" altLang="zh-CN" sz="1200" baseline="0" dirty="0" smtClean="0"/>
                  <a:t>-----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200" baseline="0" dirty="0" smtClean="0"/>
                  <a:t>Observing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the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current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state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="0" i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𝑠</a:t>
                </a:r>
                <a:r>
                  <a:rPr lang="en-US" altLang="zh-CN" sz="1200" b="0" i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_𝑡</a:t>
                </a:r>
                <a:r>
                  <a:rPr lang="en-US" altLang="zh-CN" sz="1200" baseline="0" dirty="0" smtClean="0"/>
                  <a:t>,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AI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uses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b="0" i="0" smtClean="0">
                    <a:solidFill>
                      <a:schemeClr val="tx1"/>
                    </a:solidFill>
                    <a:latin typeface="Cambria Math" charset="0"/>
                  </a:rPr>
                  <a:t>𝜋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to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compute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probabilities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and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then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randomly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dirty="0" smtClean="0"/>
                  <a:t>sample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an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action,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="0" i="0" smtClean="0">
                    <a:solidFill>
                      <a:srgbClr val="FF0000"/>
                    </a:solidFill>
                    <a:latin typeface="Cambria Math" charset="0"/>
                  </a:rPr>
                  <a:t>𝑎_</a:t>
                </a:r>
                <a:r>
                  <a:rPr lang="en-US" altLang="zh-CN" sz="1200" b="0" i="0" smtClean="0">
                    <a:solidFill>
                      <a:srgbClr val="FF0000"/>
                    </a:solidFill>
                    <a:latin typeface="Cambria Math" charset="0"/>
                  </a:rPr>
                  <a:t>𝑡</a:t>
                </a:r>
                <a:r>
                  <a:rPr lang="en-US" altLang="zh-CN" sz="1200" baseline="0" dirty="0" smtClean="0"/>
                  <a:t>.</a:t>
                </a:r>
                <a:endParaRPr lang="en-US" altLang="zh-CN" sz="1200" baseline="0" dirty="0" smtClean="0"/>
              </a:p>
              <a:p>
                <a:r>
                  <a:rPr lang="en-US" altLang="zh-CN" sz="1200" baseline="0" dirty="0" smtClean="0"/>
                  <a:t>=======================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200" baseline="0" dirty="0" smtClean="0"/>
                  <a:t>After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the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agent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executes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action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="0" i="0" smtClean="0">
                    <a:solidFill>
                      <a:srgbClr val="FF0000"/>
                    </a:solidFill>
                    <a:latin typeface="Cambria Math" charset="0"/>
                  </a:rPr>
                  <a:t>𝑎</a:t>
                </a:r>
                <a:r>
                  <a:rPr lang="en-US" altLang="zh-CN" sz="1200" b="0" i="0" smtClean="0">
                    <a:solidFill>
                      <a:srgbClr val="FF0000"/>
                    </a:solidFill>
                    <a:latin typeface="Cambria Math" charset="0"/>
                  </a:rPr>
                  <a:t>_</a:t>
                </a:r>
                <a:r>
                  <a:rPr lang="en-US" altLang="zh-CN" sz="1200" b="0" i="0" smtClean="0">
                    <a:solidFill>
                      <a:srgbClr val="FF0000"/>
                    </a:solidFill>
                    <a:latin typeface="Cambria Math" charset="0"/>
                  </a:rPr>
                  <a:t>𝑡</a:t>
                </a:r>
                <a:r>
                  <a:rPr lang="en-US" altLang="zh-CN" sz="1200" baseline="0" dirty="0" smtClean="0"/>
                  <a:t>,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the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environment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dirty="0" smtClean="0"/>
                  <a:t>will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update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the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state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to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="0" i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𝑠_(</a:t>
                </a:r>
                <a:r>
                  <a:rPr lang="en-US" altLang="zh-CN" sz="1200" b="0" i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𝑡+1)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according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to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the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state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transition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function.</a:t>
                </a:r>
              </a:p>
              <a:p>
                <a:r>
                  <a:rPr lang="en-US" altLang="zh-CN" sz="1200" dirty="0" smtClean="0"/>
                  <a:t>The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new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state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="0" i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𝑠_(</a:t>
                </a:r>
                <a:r>
                  <a:rPr lang="en-US" altLang="zh-CN" sz="1200" b="0" i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𝑡+1)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and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reward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i="0" dirty="0">
                    <a:solidFill>
                      <a:srgbClr val="0070C0"/>
                    </a:solidFill>
                    <a:latin typeface="Cambria Math" charset="0"/>
                    <a:sym typeface="Wingdings"/>
                  </a:rPr>
                  <a:t>𝑟</a:t>
                </a:r>
                <a:r>
                  <a:rPr lang="en-US" altLang="zh-CN" sz="1200" b="0" i="0" dirty="0" smtClean="0">
                    <a:solidFill>
                      <a:srgbClr val="0070C0"/>
                    </a:solidFill>
                    <a:latin typeface="Cambria Math" charset="0"/>
                    <a:sym typeface="Wingdings"/>
                  </a:rPr>
                  <a:t>_</a:t>
                </a:r>
                <a:r>
                  <a:rPr lang="en-US" altLang="zh-CN" sz="1200" b="0" i="0" dirty="0" smtClean="0">
                    <a:solidFill>
                      <a:srgbClr val="0070C0"/>
                    </a:solidFill>
                    <a:latin typeface="Cambria Math" charset="0"/>
                    <a:sym typeface="Wingdings"/>
                  </a:rPr>
                  <a:t>𝑡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are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provided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to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the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agent.</a:t>
                </a:r>
              </a:p>
              <a:p>
                <a:endParaRPr lang="en-US" altLang="zh-CN" sz="1200" dirty="0" smtClean="0"/>
              </a:p>
              <a:p>
                <a:endParaRPr lang="en-US" altLang="zh-CN" sz="1200" dirty="0" smtClean="0"/>
              </a:p>
              <a:p>
                <a:r>
                  <a:rPr lang="zh-CN" altLang="en-US" sz="1200" dirty="0" smtClean="0"/>
                  <a:t>怎么样让</a:t>
                </a:r>
                <a:r>
                  <a:rPr lang="en-US" altLang="zh-CN" sz="1200" dirty="0" smtClean="0"/>
                  <a:t>Ai</a:t>
                </a:r>
                <a:r>
                  <a:rPr lang="zh-CN" altLang="en-US" sz="1200" dirty="0" smtClean="0"/>
                  <a:t>自动打赢游戏呢？</a:t>
                </a:r>
                <a:endParaRPr lang="en-US" altLang="zh-CN" sz="1200" dirty="0" smtClean="0"/>
              </a:p>
              <a:p>
                <a:r>
                  <a:rPr lang="zh-CN" altLang="en-US" sz="1200" dirty="0" smtClean="0"/>
                  <a:t>我们通过强化学习，学出来</a:t>
                </a:r>
                <a:r>
                  <a:rPr lang="en-US" altLang="zh-CN" sz="1200" dirty="0" smtClean="0"/>
                  <a:t>policy</a:t>
                </a:r>
                <a:r>
                  <a:rPr lang="zh-CN" altLang="en-US" sz="1200" dirty="0" smtClean="0"/>
                  <a:t>函数</a:t>
                </a:r>
                <a:r>
                  <a:rPr lang="en-US" altLang="zh-CN" sz="1200" dirty="0" smtClean="0"/>
                  <a:t>pi</a:t>
                </a:r>
                <a:r>
                  <a:rPr lang="zh-CN" altLang="en-US" sz="1200" dirty="0" smtClean="0"/>
                  <a:t>；</a:t>
                </a:r>
                <a:r>
                  <a:rPr lang="zh-CN" altLang="en-US" sz="1200" baseline="0" dirty="0" smtClean="0"/>
                  <a:t> 我之后会讲怎么学习</a:t>
                </a:r>
                <a:r>
                  <a:rPr lang="en-US" altLang="zh-CN" sz="1200" baseline="0" dirty="0" smtClean="0"/>
                  <a:t>policy</a:t>
                </a:r>
                <a:r>
                  <a:rPr lang="zh-CN" altLang="en-US" sz="1200" baseline="0" dirty="0" smtClean="0"/>
                  <a:t>函数。</a:t>
                </a:r>
                <a:endParaRPr lang="en-US" altLang="zh-CN" sz="1200" baseline="0" dirty="0" smtClean="0"/>
              </a:p>
              <a:p>
                <a:r>
                  <a:rPr lang="en-US" altLang="zh-CN" sz="1200" baseline="0" dirty="0" smtClean="0"/>
                  <a:t>AI</a:t>
                </a:r>
                <a:r>
                  <a:rPr lang="zh-CN" altLang="en-US" sz="1200" baseline="0" dirty="0" smtClean="0"/>
                  <a:t>就是用</a:t>
                </a:r>
                <a:r>
                  <a:rPr lang="en-US" altLang="zh-CN" sz="1200" baseline="0" dirty="0" smtClean="0"/>
                  <a:t>policy</a:t>
                </a:r>
                <a:r>
                  <a:rPr lang="zh-CN" altLang="en-US" sz="1200" baseline="0" dirty="0" smtClean="0"/>
                  <a:t>函数来控制</a:t>
                </a:r>
                <a:r>
                  <a:rPr lang="en-US" altLang="zh-CN" sz="1200" baseline="0" dirty="0" smtClean="0"/>
                  <a:t>agent</a:t>
                </a:r>
                <a:r>
                  <a:rPr lang="zh-CN" altLang="en-US" sz="1200" baseline="0" dirty="0" smtClean="0"/>
                  <a:t>的。</a:t>
                </a:r>
                <a:endParaRPr lang="en-US" altLang="zh-CN" sz="1200" baseline="0" dirty="0" smtClean="0"/>
              </a:p>
              <a:p>
                <a:r>
                  <a:rPr lang="en-US" altLang="zh-CN" sz="1200" baseline="0" dirty="0" smtClean="0"/>
                  <a:t>------</a:t>
                </a:r>
              </a:p>
              <a:p>
                <a:r>
                  <a:rPr lang="zh-CN" altLang="en-US" sz="1200" baseline="0" dirty="0" smtClean="0"/>
                  <a:t>观测到游戏当前这一帧的状态</a:t>
                </a:r>
                <a:r>
                  <a:rPr lang="en-US" altLang="zh-CN" sz="1200" baseline="0" dirty="0" smtClean="0"/>
                  <a:t>s_1</a:t>
                </a:r>
                <a:r>
                  <a:rPr lang="zh-CN" altLang="en-US" sz="1200" baseline="0" dirty="0" smtClean="0"/>
                  <a:t>，</a:t>
                </a:r>
                <a:endParaRPr lang="en-US" altLang="zh-CN" sz="1200" baseline="0" dirty="0" smtClean="0"/>
              </a:p>
              <a:p>
                <a:r>
                  <a:rPr lang="en-US" altLang="zh-CN" sz="1200" baseline="0" dirty="0" smtClean="0"/>
                  <a:t>AI</a:t>
                </a:r>
                <a:r>
                  <a:rPr lang="zh-CN" altLang="en-US" sz="1200" baseline="0" dirty="0" smtClean="0"/>
                  <a:t>用</a:t>
                </a:r>
                <a:r>
                  <a:rPr lang="en-US" altLang="zh-CN" sz="1200" baseline="0" dirty="0" smtClean="0"/>
                  <a:t>policy</a:t>
                </a:r>
                <a:r>
                  <a:rPr lang="zh-CN" altLang="en-US" sz="1200" baseline="0" dirty="0" smtClean="0"/>
                  <a:t>函数来算概率，然后随机抽样得到动作</a:t>
                </a:r>
                <a:r>
                  <a:rPr lang="en-US" altLang="zh-CN" sz="1200" baseline="0" dirty="0" smtClean="0"/>
                  <a:t>a_1</a:t>
                </a:r>
                <a:r>
                  <a:rPr lang="zh-CN" altLang="en-US" sz="1200" baseline="0" dirty="0" smtClean="0"/>
                  <a:t>；动作是左、右、上其中的一种。</a:t>
                </a:r>
                <a:endParaRPr lang="en-US" altLang="zh-CN" sz="1200" baseline="0" dirty="0" smtClean="0"/>
              </a:p>
              <a:p>
                <a:r>
                  <a:rPr lang="en-US" altLang="zh-CN" sz="1200" baseline="0" dirty="0" smtClean="0"/>
                  <a:t>=======================</a:t>
                </a:r>
              </a:p>
              <a:p>
                <a:r>
                  <a:rPr lang="zh-CN" altLang="en-US" sz="1200" baseline="0" dirty="0" smtClean="0"/>
                  <a:t>然后</a:t>
                </a:r>
                <a:r>
                  <a:rPr lang="zh-CN" altLang="en-US" sz="1200" baseline="0" dirty="0" smtClean="0"/>
                  <a:t>，环境就会生成下一个状态</a:t>
                </a:r>
                <a:r>
                  <a:rPr lang="en-US" altLang="zh-CN" sz="1200" baseline="0" dirty="0" smtClean="0"/>
                  <a:t>s_2</a:t>
                </a:r>
                <a:r>
                  <a:rPr lang="zh-CN" altLang="en-US" sz="1200" baseline="0" dirty="0" smtClean="0"/>
                  <a:t>，并且给</a:t>
                </a:r>
                <a:r>
                  <a:rPr lang="en-US" altLang="zh-CN" sz="1200" baseline="0" dirty="0" smtClean="0"/>
                  <a:t>agent</a:t>
                </a:r>
                <a:r>
                  <a:rPr lang="zh-CN" altLang="en-US" sz="1200" baseline="0" dirty="0" smtClean="0"/>
                  <a:t>一个奖励，记做</a:t>
                </a:r>
                <a:r>
                  <a:rPr lang="en-US" altLang="zh-CN" sz="1200" baseline="0" dirty="0" smtClean="0"/>
                  <a:t>r_1</a:t>
                </a:r>
                <a:r>
                  <a:rPr lang="zh-CN" altLang="en-US" sz="1200" baseline="0" dirty="0" smtClean="0"/>
                  <a:t>。</a:t>
                </a:r>
                <a:endParaRPr lang="en-US" altLang="zh-CN" sz="1200" baseline="0" dirty="0" smtClean="0"/>
              </a:p>
              <a:p>
                <a:r>
                  <a:rPr lang="zh-CN" altLang="en-US" sz="1200" baseline="0" dirty="0" smtClean="0"/>
                  <a:t>然后呢，</a:t>
                </a:r>
                <a:r>
                  <a:rPr lang="en-US" altLang="zh-CN" sz="1200" baseline="0" dirty="0" smtClean="0"/>
                  <a:t>AI</a:t>
                </a:r>
                <a:r>
                  <a:rPr lang="zh-CN" altLang="en-US" sz="1200" baseline="0" dirty="0" smtClean="0"/>
                  <a:t>就拿新的状态作为输入，用</a:t>
                </a:r>
                <a:r>
                  <a:rPr lang="en-US" altLang="zh-CN" sz="1200" baseline="0" dirty="0" smtClean="0"/>
                  <a:t>policy</a:t>
                </a:r>
                <a:r>
                  <a:rPr lang="zh-CN" altLang="en-US" sz="1200" baseline="0" dirty="0" smtClean="0"/>
                  <a:t>函数算概率，然后随机抽样，得到新的动作</a:t>
                </a:r>
                <a:r>
                  <a:rPr lang="en-US" altLang="zh-CN" sz="1200" baseline="0" dirty="0" smtClean="0"/>
                  <a:t>a_2</a:t>
                </a:r>
                <a:r>
                  <a:rPr lang="zh-CN" altLang="en-US" sz="1200" baseline="0" dirty="0" smtClean="0"/>
                  <a:t>。</a:t>
                </a:r>
                <a:endParaRPr lang="en-US" altLang="zh-CN" sz="1200" baseline="0" dirty="0" smtClean="0"/>
              </a:p>
              <a:p>
                <a:r>
                  <a:rPr lang="zh-CN" altLang="en-US" sz="1200" baseline="0" dirty="0" smtClean="0"/>
                  <a:t>这样一直循环下去，到打赢游戏或者</a:t>
                </a:r>
                <a:r>
                  <a:rPr lang="en-US" altLang="zh-CN" sz="1200" baseline="0" dirty="0" smtClean="0"/>
                  <a:t>game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over</a:t>
                </a:r>
                <a:r>
                  <a:rPr lang="zh-CN" altLang="en-US" sz="1200" baseline="0" dirty="0" smtClean="0"/>
                  <a:t>。</a:t>
                </a:r>
                <a:endParaRPr lang="en-US" altLang="zh-CN" sz="1200" baseline="0" dirty="0" smtClean="0"/>
              </a:p>
              <a:p>
                <a:endParaRPr lang="en-US" altLang="zh-CN" sz="1200" baseline="0" dirty="0" smtClean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1523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200" dirty="0" smtClean="0"/>
                  <a:t>Given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the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first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state</a:t>
                </a:r>
                <a:r>
                  <a:rPr lang="zh-CN" altLang="en-US" sz="12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200" dirty="0" smtClean="0"/>
                  <a:t>,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the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policy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makes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a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decision,</a:t>
                </a:r>
                <a:r>
                  <a:rPr lang="zh-CN" altLang="en-US" sz="1200" baseline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200" baseline="0" dirty="0" smtClean="0"/>
                  <a:t>,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and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the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agent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executes</a:t>
                </a:r>
                <a:r>
                  <a:rPr lang="zh-CN" altLang="en-US" sz="1200" baseline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200" baseline="0" dirty="0" smtClean="0"/>
                  <a:t>.</a:t>
                </a:r>
              </a:p>
              <a:p>
                <a:r>
                  <a:rPr lang="en-US" altLang="zh-CN" sz="1200" baseline="0" dirty="0" smtClean="0"/>
                  <a:t>=======================</a:t>
                </a:r>
              </a:p>
              <a:p>
                <a:r>
                  <a:rPr lang="en-US" altLang="zh-CN" sz="1200" baseline="0" dirty="0" smtClean="0"/>
                  <a:t>Then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the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environment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updates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the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state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to</a:t>
                </a:r>
                <a:r>
                  <a:rPr lang="zh-CN" altLang="en-US" sz="1200" baseline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200" baseline="0" dirty="0" smtClean="0"/>
                  <a:t>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200" baseline="0" dirty="0" smtClean="0"/>
                  <a:t>=======================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200" baseline="0" dirty="0" smtClean="0"/>
                  <a:t>The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environment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provides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the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agent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with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feedback,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namely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reward</a:t>
                </a:r>
                <a:r>
                  <a:rPr lang="zh-CN" altLang="en-US" sz="1200" baseline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b="0" i="1" dirty="0" smtClean="0">
                            <a:solidFill>
                              <a:srgbClr val="0070C0"/>
                            </a:solidFill>
                            <a:latin typeface="Cambria Math" charset="0"/>
                            <a:sym typeface="Wingdings"/>
                          </a:rPr>
                        </m:ctrlPr>
                      </m:sSubPr>
                      <m:e>
                        <m:r>
                          <a:rPr lang="en-US" altLang="zh-CN" sz="1200" i="1" dirty="0">
                            <a:solidFill>
                              <a:srgbClr val="0070C0"/>
                            </a:solidFill>
                            <a:latin typeface="Cambria Math" charset="0"/>
                            <a:sym typeface="Wingdings"/>
                          </a:rPr>
                          <m:t>𝑟</m:t>
                        </m:r>
                      </m:e>
                      <m:sub>
                        <m:r>
                          <a:rPr lang="en-US" altLang="zh-CN" sz="1200" b="0" i="1" dirty="0" smtClean="0">
                            <a:solidFill>
                              <a:srgbClr val="0070C0"/>
                            </a:solidFill>
                            <a:latin typeface="Cambria Math" charset="0"/>
                            <a:sym typeface="Wingdings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200" baseline="0" dirty="0" smtClean="0"/>
                  <a:t>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b="0" i="1" dirty="0" smtClean="0">
                            <a:solidFill>
                              <a:srgbClr val="0070C0"/>
                            </a:solidFill>
                            <a:latin typeface="Cambria Math" charset="0"/>
                            <a:sym typeface="Wingdings"/>
                          </a:rPr>
                        </m:ctrlPr>
                      </m:sSubPr>
                      <m:e>
                        <m:r>
                          <a:rPr lang="en-US" altLang="zh-CN" sz="1200" i="1" dirty="0">
                            <a:solidFill>
                              <a:srgbClr val="0070C0"/>
                            </a:solidFill>
                            <a:latin typeface="Cambria Math" charset="0"/>
                            <a:sym typeface="Wingdings"/>
                          </a:rPr>
                          <m:t>𝑟</m:t>
                        </m:r>
                      </m:e>
                      <m:sub>
                        <m:r>
                          <a:rPr lang="en-US" altLang="zh-CN" sz="1200" b="0" i="1" dirty="0" smtClean="0">
                            <a:solidFill>
                              <a:srgbClr val="0070C0"/>
                            </a:solidFill>
                            <a:latin typeface="Cambria Math" charset="0"/>
                            <a:sym typeface="Wingdings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indicates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how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good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the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action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is.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200" baseline="0" dirty="0" smtClean="0"/>
              </a:p>
              <a:p>
                <a:endParaRPr lang="en-US" altLang="zh-CN" sz="1200" baseline="0" dirty="0" smtClean="0"/>
              </a:p>
              <a:p>
                <a:endParaRPr lang="en-US" altLang="zh-CN" sz="1200" baseline="0" dirty="0" smtClean="0"/>
              </a:p>
              <a:p>
                <a:endParaRPr lang="en-US" altLang="zh-CN" sz="1200" baseline="0" dirty="0" smtClean="0"/>
              </a:p>
              <a:p>
                <a:r>
                  <a:rPr lang="zh-CN" altLang="en-US" sz="1200" baseline="0" dirty="0" smtClean="0"/>
                  <a:t>然后呢，</a:t>
                </a:r>
                <a:r>
                  <a:rPr lang="en-US" altLang="zh-CN" sz="1200" baseline="0" dirty="0" smtClean="0"/>
                  <a:t>AI</a:t>
                </a:r>
                <a:r>
                  <a:rPr lang="zh-CN" altLang="en-US" sz="1200" baseline="0" dirty="0" smtClean="0"/>
                  <a:t>就拿新的状态作为输入，用</a:t>
                </a:r>
                <a:r>
                  <a:rPr lang="en-US" altLang="zh-CN" sz="1200" baseline="0" dirty="0" smtClean="0"/>
                  <a:t>policy</a:t>
                </a:r>
                <a:r>
                  <a:rPr lang="zh-CN" altLang="en-US" sz="1200" baseline="0" dirty="0" smtClean="0"/>
                  <a:t>函数算概率，然后随机抽样，得到新的动作</a:t>
                </a:r>
                <a:r>
                  <a:rPr lang="en-US" altLang="zh-CN" sz="1200" baseline="0" dirty="0" smtClean="0"/>
                  <a:t>a_2</a:t>
                </a:r>
                <a:r>
                  <a:rPr lang="zh-CN" altLang="en-US" sz="1200" baseline="0" dirty="0" smtClean="0"/>
                  <a:t>。</a:t>
                </a:r>
                <a:endParaRPr lang="en-US" altLang="zh-CN" sz="1200" baseline="0" dirty="0" smtClean="0"/>
              </a:p>
              <a:p>
                <a:r>
                  <a:rPr lang="zh-CN" altLang="en-US" sz="1200" baseline="0" dirty="0" smtClean="0"/>
                  <a:t>这样一直循环下去，到打赢游戏或者</a:t>
                </a:r>
                <a:r>
                  <a:rPr lang="en-US" altLang="zh-CN" sz="1200" baseline="0" dirty="0" smtClean="0"/>
                  <a:t>game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over</a:t>
                </a:r>
                <a:r>
                  <a:rPr lang="zh-CN" altLang="en-US" sz="1200" baseline="0" dirty="0" smtClean="0"/>
                  <a:t>。</a:t>
                </a:r>
                <a:endParaRPr lang="en-US" altLang="zh-CN" sz="1200" baseline="0" dirty="0" smtClean="0"/>
              </a:p>
              <a:p>
                <a:endParaRPr lang="en-US" altLang="zh-CN" sz="1200" baseline="0" dirty="0" smtClean="0"/>
              </a:p>
              <a:p>
                <a:endParaRPr lang="en-US" altLang="zh-CN" sz="1200" baseline="0" dirty="0" smtClean="0"/>
              </a:p>
              <a:p>
                <a:endParaRPr lang="en-US" altLang="zh-CN" sz="1200" baseline="0" dirty="0" smtClean="0"/>
              </a:p>
              <a:p>
                <a:endParaRPr lang="en-US" altLang="zh-CN" sz="1200" baseline="0" dirty="0" smtClean="0"/>
              </a:p>
              <a:p>
                <a:endParaRPr lang="en-US" altLang="zh-CN" sz="1200" baseline="0" dirty="0" smtClean="0"/>
              </a:p>
              <a:p>
                <a:endParaRPr lang="en-US" altLang="zh-CN" sz="1200" baseline="0" dirty="0" smtClean="0"/>
              </a:p>
              <a:p>
                <a:endParaRPr lang="en-US" altLang="zh-CN" sz="1200" baseline="0" dirty="0" smtClean="0"/>
              </a:p>
              <a:p>
                <a:endParaRPr lang="en-US" altLang="zh-CN" sz="1200" baseline="0" dirty="0" smtClean="0"/>
              </a:p>
              <a:p>
                <a:endParaRPr lang="en-US" altLang="zh-CN" sz="1200" baseline="0" dirty="0" smtClean="0"/>
              </a:p>
              <a:p>
                <a:endParaRPr lang="en-US" altLang="zh-CN" sz="1200" baseline="0" dirty="0" smtClean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200" dirty="0" smtClean="0"/>
                  <a:t>Given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the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first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state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b="0" i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𝑠</a:t>
                </a:r>
                <a:r>
                  <a:rPr lang="en-US" altLang="zh-CN" sz="1200" b="0" i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_1</a:t>
                </a:r>
                <a:r>
                  <a:rPr lang="en-US" altLang="zh-CN" sz="1200" dirty="0" smtClean="0"/>
                  <a:t>,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the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policy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makes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a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decision,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="0" i="0" smtClean="0">
                    <a:solidFill>
                      <a:srgbClr val="FF0000"/>
                    </a:solidFill>
                    <a:latin typeface="Cambria Math" charset="0"/>
                  </a:rPr>
                  <a:t>𝑎</a:t>
                </a:r>
                <a:r>
                  <a:rPr lang="en-US" altLang="zh-CN" sz="1200" b="0" i="0" smtClean="0">
                    <a:solidFill>
                      <a:srgbClr val="FF0000"/>
                    </a:solidFill>
                    <a:latin typeface="Cambria Math" charset="0"/>
                  </a:rPr>
                  <a:t>_1</a:t>
                </a:r>
                <a:r>
                  <a:rPr lang="en-US" altLang="zh-CN" sz="1200" baseline="0" dirty="0" smtClean="0"/>
                  <a:t>,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and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the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agent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executes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="0" i="0" smtClean="0">
                    <a:solidFill>
                      <a:srgbClr val="FF0000"/>
                    </a:solidFill>
                    <a:latin typeface="Cambria Math" charset="0"/>
                  </a:rPr>
                  <a:t>𝑎</a:t>
                </a:r>
                <a:r>
                  <a:rPr lang="en-US" altLang="zh-CN" sz="1200" b="0" i="0" smtClean="0">
                    <a:solidFill>
                      <a:srgbClr val="FF0000"/>
                    </a:solidFill>
                    <a:latin typeface="Cambria Math" charset="0"/>
                  </a:rPr>
                  <a:t>_</a:t>
                </a:r>
                <a:r>
                  <a:rPr lang="en-US" altLang="zh-CN" sz="1200" b="0" i="0" smtClean="0">
                    <a:solidFill>
                      <a:srgbClr val="FF0000"/>
                    </a:solidFill>
                    <a:latin typeface="Cambria Math" charset="0"/>
                  </a:rPr>
                  <a:t>1</a:t>
                </a:r>
                <a:r>
                  <a:rPr lang="en-US" altLang="zh-CN" sz="1200" baseline="0" dirty="0" smtClean="0"/>
                  <a:t>.</a:t>
                </a:r>
                <a:endParaRPr lang="en-US" altLang="zh-CN" sz="1200" baseline="0" dirty="0" smtClean="0"/>
              </a:p>
              <a:p>
                <a:r>
                  <a:rPr lang="en-US" altLang="zh-CN" sz="1200" baseline="0" dirty="0" smtClean="0"/>
                  <a:t>=======================</a:t>
                </a:r>
              </a:p>
              <a:p>
                <a:r>
                  <a:rPr lang="en-US" altLang="zh-CN" sz="1200" baseline="0" dirty="0" smtClean="0"/>
                  <a:t>Then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the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environment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update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the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state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to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="0" i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𝑠</a:t>
                </a:r>
                <a:r>
                  <a:rPr lang="en-US" altLang="zh-CN" sz="1200" b="0" i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_</a:t>
                </a:r>
                <a:r>
                  <a:rPr lang="en-US" altLang="zh-CN" sz="1200" b="0" i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2</a:t>
                </a:r>
                <a:r>
                  <a:rPr lang="en-US" altLang="zh-CN" sz="1200" baseline="0" dirty="0" smtClean="0"/>
                  <a:t>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200" baseline="0" dirty="0" smtClean="0"/>
                  <a:t>=======================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200" baseline="0" dirty="0" smtClean="0"/>
                  <a:t>The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environment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gives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the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agent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a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feedback,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reward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i="0" dirty="0">
                    <a:solidFill>
                      <a:srgbClr val="0070C0"/>
                    </a:solidFill>
                    <a:latin typeface="Cambria Math" charset="0"/>
                    <a:sym typeface="Wingdings"/>
                  </a:rPr>
                  <a:t>𝑟</a:t>
                </a:r>
                <a:r>
                  <a:rPr lang="en-US" altLang="zh-CN" sz="1200" b="0" i="0" dirty="0" smtClean="0">
                    <a:solidFill>
                      <a:srgbClr val="0070C0"/>
                    </a:solidFill>
                    <a:latin typeface="Cambria Math" charset="0"/>
                    <a:sym typeface="Wingdings"/>
                  </a:rPr>
                  <a:t>_</a:t>
                </a:r>
                <a:r>
                  <a:rPr lang="en-US" altLang="zh-CN" sz="1200" b="0" i="0" dirty="0" smtClean="0">
                    <a:solidFill>
                      <a:srgbClr val="0070C0"/>
                    </a:solidFill>
                    <a:latin typeface="Cambria Math" charset="0"/>
                    <a:sym typeface="Wingdings"/>
                  </a:rPr>
                  <a:t>1</a:t>
                </a:r>
                <a:r>
                  <a:rPr lang="en-US" altLang="zh-CN" sz="1200" baseline="0" dirty="0" smtClean="0"/>
                  <a:t>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200" baseline="0" dirty="0" smtClean="0"/>
                  <a:t>It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indicates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how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good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the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action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is.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200" baseline="0" dirty="0" smtClean="0"/>
              </a:p>
              <a:p>
                <a:endParaRPr lang="en-US" altLang="zh-CN" sz="1200" baseline="0" dirty="0" smtClean="0"/>
              </a:p>
              <a:p>
                <a:endParaRPr lang="en-US" altLang="zh-CN" sz="1200" baseline="0" dirty="0" smtClean="0"/>
              </a:p>
              <a:p>
                <a:endParaRPr lang="en-US" altLang="zh-CN" sz="1200" baseline="0" dirty="0" smtClean="0"/>
              </a:p>
              <a:p>
                <a:r>
                  <a:rPr lang="zh-CN" altLang="en-US" sz="1200" baseline="0" dirty="0" smtClean="0"/>
                  <a:t>然后呢，</a:t>
                </a:r>
                <a:r>
                  <a:rPr lang="en-US" altLang="zh-CN" sz="1200" baseline="0" dirty="0" smtClean="0"/>
                  <a:t>AI</a:t>
                </a:r>
                <a:r>
                  <a:rPr lang="zh-CN" altLang="en-US" sz="1200" baseline="0" dirty="0" smtClean="0"/>
                  <a:t>就拿新的状态作为输入，用</a:t>
                </a:r>
                <a:r>
                  <a:rPr lang="en-US" altLang="zh-CN" sz="1200" baseline="0" dirty="0" smtClean="0"/>
                  <a:t>policy</a:t>
                </a:r>
                <a:r>
                  <a:rPr lang="zh-CN" altLang="en-US" sz="1200" baseline="0" dirty="0" smtClean="0"/>
                  <a:t>函数算概率，然后随机抽样，得到新的动作</a:t>
                </a:r>
                <a:r>
                  <a:rPr lang="en-US" altLang="zh-CN" sz="1200" baseline="0" dirty="0" smtClean="0"/>
                  <a:t>a_2</a:t>
                </a:r>
                <a:r>
                  <a:rPr lang="zh-CN" altLang="en-US" sz="1200" baseline="0" dirty="0" smtClean="0"/>
                  <a:t>。</a:t>
                </a:r>
                <a:endParaRPr lang="en-US" altLang="zh-CN" sz="1200" baseline="0" dirty="0" smtClean="0"/>
              </a:p>
              <a:p>
                <a:r>
                  <a:rPr lang="zh-CN" altLang="en-US" sz="1200" baseline="0" dirty="0" smtClean="0"/>
                  <a:t>这样一直循环下去，到打赢游戏或者</a:t>
                </a:r>
                <a:r>
                  <a:rPr lang="en-US" altLang="zh-CN" sz="1200" baseline="0" dirty="0" smtClean="0"/>
                  <a:t>game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over</a:t>
                </a:r>
                <a:r>
                  <a:rPr lang="zh-CN" altLang="en-US" sz="1200" baseline="0" dirty="0" smtClean="0"/>
                  <a:t>。</a:t>
                </a:r>
                <a:endParaRPr lang="en-US" altLang="zh-CN" sz="1200" baseline="0" dirty="0" smtClean="0"/>
              </a:p>
              <a:p>
                <a:endParaRPr lang="en-US" altLang="zh-CN" sz="1200" baseline="0" dirty="0" smtClean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48880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200" dirty="0" smtClean="0"/>
                  <a:t>Based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on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the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new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state</a:t>
                </a:r>
                <a:r>
                  <a:rPr lang="zh-CN" altLang="en-US" sz="12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200" dirty="0" smtClean="0"/>
                  <a:t>,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the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policy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makes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a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decision,</a:t>
                </a:r>
                <a:r>
                  <a:rPr lang="zh-CN" altLang="en-US" sz="1200" baseline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200" baseline="0" dirty="0" smtClean="0"/>
                  <a:t>,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and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the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agent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executes</a:t>
                </a:r>
                <a:r>
                  <a:rPr lang="zh-CN" altLang="en-US" sz="1200" baseline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200" baseline="0" dirty="0" smtClean="0"/>
                  <a:t>.</a:t>
                </a:r>
              </a:p>
              <a:p>
                <a:r>
                  <a:rPr lang="en-US" altLang="zh-CN" sz="1200" baseline="0" dirty="0" smtClean="0"/>
                  <a:t>=======================</a:t>
                </a:r>
              </a:p>
              <a:p>
                <a:r>
                  <a:rPr lang="en-US" altLang="zh-CN" sz="1200" baseline="0" dirty="0" smtClean="0"/>
                  <a:t>Then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the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environment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updates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the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state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to</a:t>
                </a:r>
                <a:r>
                  <a:rPr lang="zh-CN" altLang="en-US" sz="1200" baseline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and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provides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the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agent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with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reward</a:t>
                </a:r>
                <a:r>
                  <a:rPr lang="zh-CN" altLang="en-US" sz="1200" baseline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b="0" i="1" dirty="0" smtClean="0">
                            <a:solidFill>
                              <a:srgbClr val="0070C0"/>
                            </a:solidFill>
                            <a:latin typeface="Cambria Math" charset="0"/>
                            <a:sym typeface="Wingdings"/>
                          </a:rPr>
                        </m:ctrlPr>
                      </m:sSubPr>
                      <m:e>
                        <m:r>
                          <a:rPr lang="en-US" altLang="zh-CN" sz="1200" i="1" dirty="0">
                            <a:solidFill>
                              <a:srgbClr val="0070C0"/>
                            </a:solidFill>
                            <a:latin typeface="Cambria Math" charset="0"/>
                            <a:sym typeface="Wingdings"/>
                          </a:rPr>
                          <m:t>𝑟</m:t>
                        </m:r>
                      </m:e>
                      <m:sub>
                        <m:r>
                          <a:rPr lang="en-US" altLang="zh-CN" sz="1200" b="0" i="1" dirty="0" smtClean="0">
                            <a:solidFill>
                              <a:srgbClr val="0070C0"/>
                            </a:solidFill>
                            <a:latin typeface="Cambria Math" charset="0"/>
                            <a:sym typeface="Wingdings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200" baseline="0" dirty="0" smtClean="0"/>
                  <a:t>.</a:t>
                </a:r>
              </a:p>
              <a:p>
                <a:r>
                  <a:rPr lang="en-US" altLang="zh-CN" sz="1200" baseline="0" dirty="0" smtClean="0"/>
                  <a:t>=======================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200" baseline="0" dirty="0" smtClean="0"/>
                  <a:t>Then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dirty="0" smtClean="0"/>
                  <a:t>the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policy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makes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a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decision,</a:t>
                </a:r>
                <a:r>
                  <a:rPr lang="zh-CN" altLang="en-US" sz="1200" baseline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1200" baseline="0" dirty="0" smtClean="0"/>
                  <a:t>,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and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the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agent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executes</a:t>
                </a:r>
                <a:r>
                  <a:rPr lang="zh-CN" altLang="en-US" sz="1200" baseline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1200" baseline="0" dirty="0" smtClean="0"/>
                  <a:t>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200" baseline="0" dirty="0" smtClean="0"/>
                  <a:t>=======================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200" baseline="0" dirty="0" smtClean="0"/>
                  <a:t>The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environment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updates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the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state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to</a:t>
                </a:r>
                <a:r>
                  <a:rPr lang="zh-CN" altLang="en-US" sz="1200" baseline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and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provides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the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agent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with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reward</a:t>
                </a:r>
                <a:r>
                  <a:rPr lang="zh-CN" altLang="en-US" sz="1200" baseline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b="0" i="1" dirty="0" smtClean="0">
                            <a:solidFill>
                              <a:srgbClr val="0070C0"/>
                            </a:solidFill>
                            <a:latin typeface="Cambria Math" charset="0"/>
                            <a:sym typeface="Wingdings"/>
                          </a:rPr>
                        </m:ctrlPr>
                      </m:sSubPr>
                      <m:e>
                        <m:r>
                          <a:rPr lang="en-US" altLang="zh-CN" sz="1200" i="1" dirty="0">
                            <a:solidFill>
                              <a:srgbClr val="0070C0"/>
                            </a:solidFill>
                            <a:latin typeface="Cambria Math" charset="0"/>
                            <a:sym typeface="Wingdings"/>
                          </a:rPr>
                          <m:t>𝑟</m:t>
                        </m:r>
                      </m:e>
                      <m:sub>
                        <m:r>
                          <a:rPr lang="en-US" altLang="zh-CN" sz="1200" b="0" i="1" dirty="0" smtClean="0">
                            <a:solidFill>
                              <a:srgbClr val="0070C0"/>
                            </a:solidFill>
                            <a:latin typeface="Cambria Math" charset="0"/>
                            <a:sym typeface="Wingdings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1200" baseline="0" dirty="0" smtClean="0"/>
                  <a:t>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200" baseline="0" dirty="0" smtClean="0"/>
                  <a:t>=======================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200" baseline="0" dirty="0" smtClean="0"/>
                  <a:t>Continue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this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process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to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the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end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of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the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game.</a:t>
                </a:r>
              </a:p>
              <a:p>
                <a:endParaRPr lang="en-US" altLang="zh-CN" sz="1200" baseline="0" dirty="0" smtClean="0"/>
              </a:p>
              <a:p>
                <a:endParaRPr lang="en-US" altLang="zh-CN" sz="1200" baseline="0" dirty="0" smtClean="0"/>
              </a:p>
              <a:p>
                <a:endParaRPr lang="en-US" altLang="zh-CN" sz="1200" baseline="0" dirty="0" smtClean="0"/>
              </a:p>
              <a:p>
                <a:endParaRPr lang="en-US" altLang="zh-CN" sz="1200" baseline="0" dirty="0" smtClean="0"/>
              </a:p>
              <a:p>
                <a:r>
                  <a:rPr lang="zh-CN" altLang="en-US" sz="1200" baseline="0" dirty="0" smtClean="0"/>
                  <a:t>这样一直循环下去，到打赢游戏或者</a:t>
                </a:r>
                <a:r>
                  <a:rPr lang="en-US" altLang="zh-CN" sz="1200" baseline="0" dirty="0" smtClean="0"/>
                  <a:t>game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over</a:t>
                </a:r>
                <a:r>
                  <a:rPr lang="zh-CN" altLang="en-US" sz="1200" baseline="0" dirty="0" smtClean="0"/>
                  <a:t>。</a:t>
                </a:r>
                <a:endParaRPr lang="en-US" altLang="zh-CN" sz="1200" baseline="0" dirty="0" smtClean="0"/>
              </a:p>
              <a:p>
                <a:endParaRPr lang="en-US" altLang="zh-CN" sz="1200" baseline="0" dirty="0" smtClean="0"/>
              </a:p>
              <a:p>
                <a:endParaRPr lang="en-US" dirty="0" smtClean="0"/>
              </a:p>
              <a:p>
                <a:endParaRPr lang="en-US" dirty="0" smtClean="0"/>
              </a:p>
              <a:p>
                <a:endParaRPr lang="en-US" dirty="0" smtClean="0"/>
              </a:p>
              <a:p>
                <a:endParaRPr lang="en-US" dirty="0" smtClean="0"/>
              </a:p>
              <a:p>
                <a:endParaRPr lang="en-US" dirty="0" smtClean="0"/>
              </a:p>
              <a:p>
                <a:endParaRPr lang="en-US" dirty="0" smtClean="0"/>
              </a:p>
              <a:p>
                <a:endParaRPr lang="en-US" dirty="0" smtClean="0"/>
              </a:p>
              <a:p>
                <a:endParaRPr lang="en-US" dirty="0" smtClean="0"/>
              </a:p>
              <a:p>
                <a:endParaRPr lang="en-US" dirty="0" smtClean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200" dirty="0" smtClean="0"/>
                  <a:t>Based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on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the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new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state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b="0" i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𝑠</a:t>
                </a:r>
                <a:r>
                  <a:rPr lang="en-US" altLang="zh-CN" sz="1200" b="0" i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_2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as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input,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the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policy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makes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a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decision,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="0" i="0" smtClean="0">
                    <a:solidFill>
                      <a:srgbClr val="FF0000"/>
                    </a:solidFill>
                    <a:latin typeface="Cambria Math" charset="0"/>
                  </a:rPr>
                  <a:t>𝑎</a:t>
                </a:r>
                <a:r>
                  <a:rPr lang="en-US" altLang="zh-CN" sz="1200" b="0" i="0" smtClean="0">
                    <a:solidFill>
                      <a:srgbClr val="FF0000"/>
                    </a:solidFill>
                    <a:latin typeface="Cambria Math" charset="0"/>
                  </a:rPr>
                  <a:t>_2</a:t>
                </a:r>
                <a:r>
                  <a:rPr lang="en-US" altLang="zh-CN" sz="1200" baseline="0" dirty="0" smtClean="0"/>
                  <a:t>,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and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the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agent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executes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="0" i="0" smtClean="0">
                    <a:solidFill>
                      <a:srgbClr val="FF0000"/>
                    </a:solidFill>
                    <a:latin typeface="Cambria Math" charset="0"/>
                  </a:rPr>
                  <a:t>𝑎</a:t>
                </a:r>
                <a:r>
                  <a:rPr lang="en-US" altLang="zh-CN" sz="1200" b="0" i="0" smtClean="0">
                    <a:solidFill>
                      <a:srgbClr val="FF0000"/>
                    </a:solidFill>
                    <a:latin typeface="Cambria Math" charset="0"/>
                  </a:rPr>
                  <a:t>_2</a:t>
                </a:r>
                <a:r>
                  <a:rPr lang="en-US" altLang="zh-CN" sz="1200" baseline="0" dirty="0" smtClean="0"/>
                  <a:t>.</a:t>
                </a:r>
                <a:endParaRPr lang="en-US" altLang="zh-CN" sz="1200" baseline="0" dirty="0" smtClean="0"/>
              </a:p>
              <a:p>
                <a:r>
                  <a:rPr lang="en-US" altLang="zh-CN" sz="1200" baseline="0" dirty="0" smtClean="0"/>
                  <a:t>=======================</a:t>
                </a:r>
              </a:p>
              <a:p>
                <a:r>
                  <a:rPr lang="en-US" altLang="zh-CN" sz="1200" baseline="0" dirty="0" smtClean="0"/>
                  <a:t>Then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the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environment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update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the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state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to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="0" i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𝑠</a:t>
                </a:r>
                <a:r>
                  <a:rPr lang="en-US" altLang="zh-CN" sz="1200" b="0" i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_3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and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provide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the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agent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with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reward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i="0" dirty="0">
                    <a:solidFill>
                      <a:srgbClr val="0070C0"/>
                    </a:solidFill>
                    <a:latin typeface="Cambria Math" charset="0"/>
                    <a:sym typeface="Wingdings"/>
                  </a:rPr>
                  <a:t>𝑟</a:t>
                </a:r>
                <a:r>
                  <a:rPr lang="en-US" altLang="zh-CN" sz="1200" b="0" i="0" dirty="0" smtClean="0">
                    <a:solidFill>
                      <a:srgbClr val="0070C0"/>
                    </a:solidFill>
                    <a:latin typeface="Cambria Math" charset="0"/>
                    <a:sym typeface="Wingdings"/>
                  </a:rPr>
                  <a:t>_2</a:t>
                </a:r>
                <a:r>
                  <a:rPr lang="en-US" altLang="zh-CN" sz="1200" baseline="0" dirty="0" smtClean="0"/>
                  <a:t>.</a:t>
                </a:r>
              </a:p>
              <a:p>
                <a:r>
                  <a:rPr lang="en-US" altLang="zh-CN" sz="1200" baseline="0" dirty="0" smtClean="0"/>
                  <a:t>=======================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200" baseline="0" dirty="0" smtClean="0"/>
                  <a:t>Then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dirty="0" smtClean="0"/>
                  <a:t>the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policy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makes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a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decision,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="0" i="0" smtClean="0">
                    <a:solidFill>
                      <a:srgbClr val="FF0000"/>
                    </a:solidFill>
                    <a:latin typeface="Cambria Math" charset="0"/>
                  </a:rPr>
                  <a:t>𝑎_</a:t>
                </a:r>
                <a:r>
                  <a:rPr lang="en-US" altLang="zh-CN" sz="1200" b="0" i="0" smtClean="0">
                    <a:solidFill>
                      <a:srgbClr val="FF0000"/>
                    </a:solidFill>
                    <a:latin typeface="Cambria Math" charset="0"/>
                  </a:rPr>
                  <a:t>3</a:t>
                </a:r>
                <a:r>
                  <a:rPr lang="en-US" altLang="zh-CN" sz="1200" baseline="0" dirty="0" smtClean="0"/>
                  <a:t>,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and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the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agent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executes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="0" i="0" smtClean="0">
                    <a:solidFill>
                      <a:srgbClr val="FF0000"/>
                    </a:solidFill>
                    <a:latin typeface="Cambria Math" charset="0"/>
                  </a:rPr>
                  <a:t>𝑎_</a:t>
                </a:r>
                <a:r>
                  <a:rPr lang="en-US" altLang="zh-CN" sz="1200" b="0" i="0" smtClean="0">
                    <a:solidFill>
                      <a:srgbClr val="FF0000"/>
                    </a:solidFill>
                    <a:latin typeface="Cambria Math" charset="0"/>
                  </a:rPr>
                  <a:t>3</a:t>
                </a:r>
                <a:r>
                  <a:rPr lang="en-US" altLang="zh-CN" sz="1200" baseline="0" dirty="0" smtClean="0"/>
                  <a:t>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200" baseline="0" dirty="0" smtClean="0"/>
                  <a:t>=======================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200" baseline="0" dirty="0" smtClean="0"/>
                  <a:t>Then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the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environment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update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the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state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to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="0" i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𝑠_</a:t>
                </a:r>
                <a:r>
                  <a:rPr lang="en-US" altLang="zh-CN" sz="1200" b="0" i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4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and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provide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the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agent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with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reward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i="0" dirty="0">
                    <a:solidFill>
                      <a:srgbClr val="0070C0"/>
                    </a:solidFill>
                    <a:latin typeface="Cambria Math" charset="0"/>
                    <a:sym typeface="Wingdings"/>
                  </a:rPr>
                  <a:t>𝑟</a:t>
                </a:r>
                <a:r>
                  <a:rPr lang="en-US" altLang="zh-CN" sz="1200" b="0" i="0" dirty="0" smtClean="0">
                    <a:solidFill>
                      <a:srgbClr val="0070C0"/>
                    </a:solidFill>
                    <a:latin typeface="Cambria Math" charset="0"/>
                    <a:sym typeface="Wingdings"/>
                  </a:rPr>
                  <a:t>_</a:t>
                </a:r>
                <a:r>
                  <a:rPr lang="en-US" altLang="zh-CN" sz="1200" b="0" i="0" dirty="0" smtClean="0">
                    <a:solidFill>
                      <a:srgbClr val="0070C0"/>
                    </a:solidFill>
                    <a:latin typeface="Cambria Math" charset="0"/>
                    <a:sym typeface="Wingdings"/>
                  </a:rPr>
                  <a:t>3</a:t>
                </a:r>
                <a:r>
                  <a:rPr lang="en-US" altLang="zh-CN" sz="1200" baseline="0" dirty="0" smtClean="0"/>
                  <a:t>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200" baseline="0" dirty="0" smtClean="0"/>
                  <a:t>=======================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200" baseline="0" dirty="0" smtClean="0"/>
                  <a:t>Continue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this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process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to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the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end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of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the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game.</a:t>
                </a:r>
              </a:p>
              <a:p>
                <a:endParaRPr lang="en-US" altLang="zh-CN" sz="1200" baseline="0" dirty="0" smtClean="0"/>
              </a:p>
              <a:p>
                <a:endParaRPr lang="en-US" altLang="zh-CN" sz="1200" baseline="0" dirty="0" smtClean="0"/>
              </a:p>
              <a:p>
                <a:endParaRPr lang="en-US" altLang="zh-CN" sz="1200" baseline="0" dirty="0" smtClean="0"/>
              </a:p>
              <a:p>
                <a:endParaRPr lang="en-US" altLang="zh-CN" sz="1200" baseline="0" dirty="0" smtClean="0"/>
              </a:p>
              <a:p>
                <a:r>
                  <a:rPr lang="zh-CN" altLang="en-US" sz="1200" baseline="0" dirty="0" smtClean="0"/>
                  <a:t>这样</a:t>
                </a:r>
                <a:r>
                  <a:rPr lang="zh-CN" altLang="en-US" sz="1200" baseline="0" dirty="0" smtClean="0"/>
                  <a:t>一直循环下去，到打赢游戏或者</a:t>
                </a:r>
                <a:r>
                  <a:rPr lang="en-US" altLang="zh-CN" sz="1200" baseline="0" dirty="0" smtClean="0"/>
                  <a:t>game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over</a:t>
                </a:r>
                <a:r>
                  <a:rPr lang="zh-CN" altLang="en-US" sz="1200" baseline="0" dirty="0" smtClean="0"/>
                  <a:t>。</a:t>
                </a:r>
                <a:endParaRPr lang="en-US" altLang="zh-CN" sz="1200" baseline="0" dirty="0" smtClean="0"/>
              </a:p>
              <a:p>
                <a:endParaRPr lang="en-US" altLang="zh-CN" sz="1200" baseline="0" dirty="0" smtClean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89785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200" dirty="0" smtClean="0"/>
                  <a:t>In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this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way,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we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obtain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a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trajectory.</a:t>
                </a:r>
              </a:p>
              <a:p>
                <a:r>
                  <a:rPr lang="en-US" altLang="zh-CN" sz="1200" dirty="0" smtClean="0"/>
                  <a:t>It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contains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all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the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states,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actions,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and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rewards.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200" dirty="0" smtClean="0"/>
                  <a:t>===============================</a:t>
                </a:r>
              </a:p>
              <a:p>
                <a:r>
                  <a:rPr lang="en-US" altLang="zh-CN" sz="1200" baseline="0" dirty="0" smtClean="0"/>
                  <a:t>It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is</a:t>
                </a:r>
                <a:r>
                  <a:rPr lang="zh-CN" altLang="en-US" sz="1200" baseline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  <a:sym typeface="Wingdings"/>
                          </a:rPr>
                        </m:ctrlPr>
                      </m:sSubPr>
                      <m:e>
                        <m:r>
                          <a:rPr lang="en-US" altLang="zh-CN" sz="1200" b="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  <a:sym typeface="Wingdings"/>
                          </a:rPr>
                          <m:t>𝑠</m:t>
                        </m:r>
                      </m:e>
                      <m:sub>
                        <m:r>
                          <a:rPr lang="en-US" altLang="zh-CN" sz="1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  <a:sym typeface="Wingdings"/>
                          </a:rPr>
                          <m:t>1</m:t>
                        </m:r>
                      </m:sub>
                    </m:sSub>
                    <m:r>
                      <a:rPr lang="en-US" altLang="zh-CN" sz="1200" i="1">
                        <a:latin typeface="Cambria Math" charset="0"/>
                        <a:sym typeface="Wingdings"/>
                      </a:rPr>
                      <m:t>, </m:t>
                    </m:r>
                    <m:sSub>
                      <m:sSubPr>
                        <m:ctrlPr>
                          <a:rPr lang="en-US" altLang="zh-CN" sz="1200" i="1">
                            <a:solidFill>
                              <a:srgbClr val="FF0000"/>
                            </a:solidFill>
                            <a:latin typeface="Cambria Math" charset="0"/>
                            <a:sym typeface="Wingdings"/>
                          </a:rPr>
                        </m:ctrlPr>
                      </m:sSubPr>
                      <m:e>
                        <m:r>
                          <a:rPr lang="en-US" altLang="zh-CN" sz="1200" i="1">
                            <a:solidFill>
                              <a:srgbClr val="FF0000"/>
                            </a:solidFill>
                            <a:latin typeface="Cambria Math" charset="0"/>
                            <a:sym typeface="Wingdings"/>
                          </a:rPr>
                          <m:t>𝑎</m:t>
                        </m:r>
                      </m:e>
                      <m:sub>
                        <m: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charset="0"/>
                            <a:sym typeface="Wingdings"/>
                          </a:rPr>
                          <m:t>1</m:t>
                        </m:r>
                      </m:sub>
                    </m:sSub>
                    <m:r>
                      <a:rPr lang="en-US" altLang="zh-CN" sz="1200" i="1">
                        <a:latin typeface="Cambria Math" charset="0"/>
                        <a:sym typeface="Wingdings"/>
                      </a:rPr>
                      <m:t>, </m:t>
                    </m:r>
                    <m:sSub>
                      <m:sSubPr>
                        <m:ctrlPr>
                          <a:rPr lang="en-US" altLang="zh-CN" sz="1200" i="1">
                            <a:solidFill>
                              <a:srgbClr val="0070C0"/>
                            </a:solidFill>
                            <a:latin typeface="Cambria Math" charset="0"/>
                            <a:sym typeface="Wingdings"/>
                          </a:rPr>
                        </m:ctrlPr>
                      </m:sSubPr>
                      <m:e>
                        <m:r>
                          <a:rPr lang="en-US" altLang="zh-CN" sz="1200" i="1">
                            <a:solidFill>
                              <a:srgbClr val="0070C0"/>
                            </a:solidFill>
                            <a:latin typeface="Cambria Math" charset="0"/>
                            <a:sym typeface="Wingdings"/>
                          </a:rPr>
                          <m:t>𝑟</m:t>
                        </m:r>
                      </m:e>
                      <m:sub>
                        <m:r>
                          <a:rPr lang="en-US" altLang="zh-CN" sz="1200" b="0" i="1" smtClean="0">
                            <a:solidFill>
                              <a:srgbClr val="0070C0"/>
                            </a:solidFill>
                            <a:latin typeface="Cambria Math" charset="0"/>
                            <a:sym typeface="Wingdings"/>
                          </a:rPr>
                          <m:t>1</m:t>
                        </m:r>
                      </m:sub>
                    </m:sSub>
                    <m:r>
                      <a:rPr lang="en-US" altLang="zh-CN" sz="1200" i="1">
                        <a:latin typeface="Cambria Math" charset="0"/>
                        <a:sym typeface="Wingdings"/>
                      </a:rPr>
                      <m:t>,</m:t>
                    </m:r>
                  </m:oMath>
                </a14:m>
                <a:r>
                  <a:rPr lang="en-US" altLang="zh-CN" sz="1200" dirty="0">
                    <a:solidFill>
                      <a:schemeClr val="accent6">
                        <a:lumMod val="75000"/>
                      </a:schemeClr>
                    </a:solidFill>
                    <a:sym typeface="Wingdings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  <a:sym typeface="Wingdings"/>
                          </a:rPr>
                        </m:ctrlPr>
                      </m:sSubPr>
                      <m:e>
                        <m:r>
                          <a:rPr lang="en-US" altLang="zh-CN" sz="1200" b="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  <a:sym typeface="Wingdings"/>
                          </a:rPr>
                          <m:t>𝑠</m:t>
                        </m:r>
                      </m:e>
                      <m:sub>
                        <m:r>
                          <a:rPr lang="en-US" altLang="zh-CN" sz="1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  <a:sym typeface="Wingdings"/>
                          </a:rPr>
                          <m:t>2</m:t>
                        </m:r>
                      </m:sub>
                    </m:sSub>
                    <m:r>
                      <a:rPr lang="en-US" altLang="zh-CN" sz="1200" i="1">
                        <a:latin typeface="Cambria Math" charset="0"/>
                        <a:sym typeface="Wingdings"/>
                      </a:rPr>
                      <m:t>, </m:t>
                    </m:r>
                    <m:sSub>
                      <m:sSubPr>
                        <m:ctrlPr>
                          <a:rPr lang="en-US" altLang="zh-CN" sz="1200" i="1">
                            <a:solidFill>
                              <a:srgbClr val="FF0000"/>
                            </a:solidFill>
                            <a:latin typeface="Cambria Math" charset="0"/>
                            <a:sym typeface="Wingdings"/>
                          </a:rPr>
                        </m:ctrlPr>
                      </m:sSubPr>
                      <m:e>
                        <m:r>
                          <a:rPr lang="en-US" altLang="zh-CN" sz="1200" i="1">
                            <a:solidFill>
                              <a:srgbClr val="FF0000"/>
                            </a:solidFill>
                            <a:latin typeface="Cambria Math" charset="0"/>
                            <a:sym typeface="Wingdings"/>
                          </a:rPr>
                          <m:t>𝑎</m:t>
                        </m:r>
                      </m:e>
                      <m:sub>
                        <m: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charset="0"/>
                            <a:sym typeface="Wingdings"/>
                          </a:rPr>
                          <m:t>2</m:t>
                        </m:r>
                      </m:sub>
                    </m:sSub>
                    <m:r>
                      <a:rPr lang="en-US" altLang="zh-CN" sz="1200" i="1">
                        <a:latin typeface="Cambria Math" charset="0"/>
                        <a:sym typeface="Wingdings"/>
                      </a:rPr>
                      <m:t>, </m:t>
                    </m:r>
                    <m:sSub>
                      <m:sSubPr>
                        <m:ctrlPr>
                          <a:rPr lang="en-US" altLang="zh-CN" sz="1200" i="1">
                            <a:solidFill>
                              <a:srgbClr val="0070C0"/>
                            </a:solidFill>
                            <a:latin typeface="Cambria Math" charset="0"/>
                            <a:sym typeface="Wingdings"/>
                          </a:rPr>
                        </m:ctrlPr>
                      </m:sSubPr>
                      <m:e>
                        <m:r>
                          <a:rPr lang="en-US" altLang="zh-CN" sz="1200" i="1">
                            <a:solidFill>
                              <a:srgbClr val="0070C0"/>
                            </a:solidFill>
                            <a:latin typeface="Cambria Math" charset="0"/>
                            <a:sym typeface="Wingdings"/>
                          </a:rPr>
                          <m:t>𝑟</m:t>
                        </m:r>
                      </m:e>
                      <m:sub>
                        <m:r>
                          <a:rPr lang="en-US" altLang="zh-CN" sz="1200" b="0" i="1" smtClean="0">
                            <a:solidFill>
                              <a:srgbClr val="0070C0"/>
                            </a:solidFill>
                            <a:latin typeface="Cambria Math" charset="0"/>
                            <a:sym typeface="Wingdings"/>
                          </a:rPr>
                          <m:t>2</m:t>
                        </m:r>
                      </m:sub>
                    </m:sSub>
                    <m:r>
                      <a:rPr lang="en-US" altLang="zh-CN" sz="1200" i="1">
                        <a:latin typeface="Cambria Math" charset="0"/>
                        <a:sym typeface="Wingdings"/>
                      </a:rPr>
                      <m:t>,</m:t>
                    </m:r>
                  </m:oMath>
                </a14:m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to</a:t>
                </a:r>
                <a:r>
                  <a:rPr lang="zh-CN" altLang="en-US" sz="12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  <a:sym typeface="Wingdings"/>
                          </a:rPr>
                        </m:ctrlPr>
                      </m:sSubPr>
                      <m:e>
                        <m:r>
                          <a:rPr lang="en-US" altLang="zh-CN" sz="1200" b="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  <a:sym typeface="Wingdings"/>
                          </a:rPr>
                          <m:t>𝑠</m:t>
                        </m:r>
                      </m:e>
                      <m:sub>
                        <m:r>
                          <a:rPr lang="en-US" altLang="zh-CN" sz="1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  <a:sym typeface="Wingdings"/>
                          </a:rPr>
                          <m:t>𝑛</m:t>
                        </m:r>
                      </m:sub>
                    </m:sSub>
                    <m:r>
                      <a:rPr lang="en-US" altLang="zh-CN" sz="1200" i="1">
                        <a:latin typeface="Cambria Math" charset="0"/>
                        <a:sym typeface="Wingdings"/>
                      </a:rPr>
                      <m:t>, </m:t>
                    </m:r>
                    <m:sSub>
                      <m:sSubPr>
                        <m:ctrlPr>
                          <a:rPr lang="en-US" altLang="zh-CN" sz="1200" i="1">
                            <a:solidFill>
                              <a:srgbClr val="FF0000"/>
                            </a:solidFill>
                            <a:latin typeface="Cambria Math" charset="0"/>
                            <a:sym typeface="Wingdings"/>
                          </a:rPr>
                        </m:ctrlPr>
                      </m:sSubPr>
                      <m:e>
                        <m:r>
                          <a:rPr lang="en-US" altLang="zh-CN" sz="1200" i="1">
                            <a:solidFill>
                              <a:srgbClr val="FF0000"/>
                            </a:solidFill>
                            <a:latin typeface="Cambria Math" charset="0"/>
                            <a:sym typeface="Wingdings"/>
                          </a:rPr>
                          <m:t>𝑎</m:t>
                        </m:r>
                      </m:e>
                      <m:sub>
                        <m: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charset="0"/>
                            <a:sym typeface="Wingdings"/>
                          </a:rPr>
                          <m:t>𝑛</m:t>
                        </m:r>
                      </m:sub>
                    </m:sSub>
                    <m:r>
                      <a:rPr lang="en-US" altLang="zh-CN" sz="1200" i="1">
                        <a:latin typeface="Cambria Math" charset="0"/>
                        <a:sym typeface="Wingdings"/>
                      </a:rPr>
                      <m:t>, </m:t>
                    </m:r>
                    <m:sSub>
                      <m:sSubPr>
                        <m:ctrlPr>
                          <a:rPr lang="en-US" altLang="zh-CN" sz="1200" i="1">
                            <a:solidFill>
                              <a:srgbClr val="0070C0"/>
                            </a:solidFill>
                            <a:latin typeface="Cambria Math" charset="0"/>
                            <a:sym typeface="Wingdings"/>
                          </a:rPr>
                        </m:ctrlPr>
                      </m:sSubPr>
                      <m:e>
                        <m:r>
                          <a:rPr lang="en-US" altLang="zh-CN" sz="1200" i="1">
                            <a:solidFill>
                              <a:srgbClr val="0070C0"/>
                            </a:solidFill>
                            <a:latin typeface="Cambria Math" charset="0"/>
                            <a:sym typeface="Wingdings"/>
                          </a:rPr>
                          <m:t>𝑟</m:t>
                        </m:r>
                      </m:e>
                      <m:sub>
                        <m:r>
                          <a:rPr lang="en-US" altLang="zh-CN" sz="1200" b="0" i="1" smtClean="0">
                            <a:solidFill>
                              <a:srgbClr val="0070C0"/>
                            </a:solidFill>
                            <a:latin typeface="Cambria Math" charset="0"/>
                            <a:sym typeface="Wingdings"/>
                          </a:rPr>
                          <m:t>𝑛</m:t>
                        </m:r>
                      </m:sub>
                    </m:sSub>
                    <m:r>
                      <a:rPr lang="en-US" altLang="zh-CN" sz="1200" b="0" i="1" smtClean="0">
                        <a:latin typeface="Cambria Math" charset="0"/>
                        <a:sym typeface="Wingdings"/>
                      </a:rPr>
                      <m:t>.</m:t>
                    </m:r>
                    <m:r>
                      <a:rPr lang="en-US" altLang="zh-CN" sz="1200" i="1">
                        <a:latin typeface="Cambria Math" charset="0"/>
                        <a:sym typeface="Wingdings"/>
                      </a:rPr>
                      <m:t> </m:t>
                    </m:r>
                  </m:oMath>
                </a14:m>
                <a:endParaRPr lang="en-US" altLang="zh-CN" sz="12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200" dirty="0" smtClean="0"/>
                  <a:t>n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is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the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length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of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the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episode;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different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episodes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can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have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different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lengths.</a:t>
                </a:r>
                <a:endParaRPr lang="en-US" altLang="zh-CN" sz="1200" dirty="0" smtClean="0"/>
              </a:p>
              <a:p>
                <a:r>
                  <a:rPr lang="en-US" altLang="zh-CN" sz="1200" dirty="0" smtClean="0"/>
                  <a:t>===============================</a:t>
                </a:r>
              </a:p>
              <a:p>
                <a:r>
                  <a:rPr lang="en-US" altLang="zh-CN" dirty="0" smtClean="0">
                    <a:sym typeface="Wingdings"/>
                  </a:rPr>
                  <a:t>One</a:t>
                </a:r>
                <a:r>
                  <a:rPr lang="zh-CN" altLang="en-US" dirty="0" smtClean="0">
                    <a:sym typeface="Wingdings"/>
                  </a:rPr>
                  <a:t> </a:t>
                </a:r>
                <a:r>
                  <a:rPr lang="en-US" altLang="zh-CN" dirty="0" smtClean="0">
                    <a:sym typeface="Wingdings"/>
                  </a:rPr>
                  <a:t>episode</a:t>
                </a:r>
                <a:r>
                  <a:rPr lang="zh-CN" altLang="en-US" dirty="0" smtClean="0">
                    <a:sym typeface="Wingdings"/>
                  </a:rPr>
                  <a:t> </a:t>
                </a:r>
                <a:r>
                  <a:rPr lang="en-US" altLang="zh-CN" dirty="0" smtClean="0">
                    <a:sym typeface="Wingdings"/>
                  </a:rPr>
                  <a:t>is</a:t>
                </a:r>
                <a:r>
                  <a:rPr lang="zh-CN" altLang="en-US" dirty="0" smtClean="0">
                    <a:sym typeface="Wingdings"/>
                  </a:rPr>
                  <a:t> </a:t>
                </a:r>
                <a:r>
                  <a:rPr lang="en-US" altLang="zh-CN" dirty="0" smtClean="0">
                    <a:sym typeface="Wingdings"/>
                  </a:rPr>
                  <a:t>from</a:t>
                </a:r>
                <a:r>
                  <a:rPr lang="zh-CN" altLang="en-US" dirty="0" smtClean="0">
                    <a:sym typeface="Wingdings"/>
                  </a:rPr>
                  <a:t> </a:t>
                </a:r>
                <a:r>
                  <a:rPr lang="en-US" altLang="zh-CN" dirty="0" smtClean="0">
                    <a:sym typeface="Wingdings"/>
                  </a:rPr>
                  <a:t>the</a:t>
                </a:r>
                <a:r>
                  <a:rPr lang="zh-CN" altLang="en-US" dirty="0" smtClean="0">
                    <a:sym typeface="Wingdings"/>
                  </a:rPr>
                  <a:t> </a:t>
                </a:r>
                <a:r>
                  <a:rPr lang="en-US" altLang="zh-CN" dirty="0" smtClean="0">
                    <a:sym typeface="Wingdings"/>
                  </a:rPr>
                  <a:t>beginning</a:t>
                </a:r>
                <a:r>
                  <a:rPr lang="zh-CN" altLang="en-US" dirty="0" smtClean="0">
                    <a:sym typeface="Wingdings"/>
                  </a:rPr>
                  <a:t> </a:t>
                </a:r>
                <a:r>
                  <a:rPr lang="en-US" altLang="zh-CN" dirty="0" smtClean="0">
                    <a:sym typeface="Wingdings"/>
                  </a:rPr>
                  <a:t>to</a:t>
                </a:r>
                <a:r>
                  <a:rPr lang="zh-CN" altLang="en-US" dirty="0" smtClean="0">
                    <a:sym typeface="Wingdings"/>
                  </a:rPr>
                  <a:t> </a:t>
                </a:r>
                <a:r>
                  <a:rPr lang="en-US" altLang="zh-CN" dirty="0" smtClean="0">
                    <a:sym typeface="Wingdings"/>
                  </a:rPr>
                  <a:t>the</a:t>
                </a:r>
                <a:r>
                  <a:rPr lang="zh-CN" altLang="en-US" dirty="0" smtClean="0">
                    <a:sym typeface="Wingdings"/>
                  </a:rPr>
                  <a:t> </a:t>
                </a:r>
                <a:r>
                  <a:rPr lang="en-US" altLang="zh-CN" dirty="0" smtClean="0">
                    <a:sym typeface="Wingdings"/>
                  </a:rPr>
                  <a:t>end.</a:t>
                </a:r>
              </a:p>
              <a:p>
                <a:r>
                  <a:rPr lang="en-US" altLang="zh-CN" sz="1200" dirty="0" smtClean="0">
                    <a:sym typeface="Wingdings"/>
                  </a:rPr>
                  <a:t>In</a:t>
                </a:r>
                <a:r>
                  <a:rPr lang="zh-CN" altLang="en-US" sz="1200" baseline="0" dirty="0" smtClean="0">
                    <a:sym typeface="Wingdings"/>
                  </a:rPr>
                  <a:t> </a:t>
                </a:r>
                <a:r>
                  <a:rPr lang="en-US" altLang="zh-CN" sz="1200" baseline="0" dirty="0" smtClean="0">
                    <a:sym typeface="Wingdings"/>
                  </a:rPr>
                  <a:t>the</a:t>
                </a:r>
                <a:r>
                  <a:rPr lang="zh-CN" altLang="en-US" sz="1200" baseline="0" dirty="0" smtClean="0">
                    <a:sym typeface="Wingdings"/>
                  </a:rPr>
                  <a:t> </a:t>
                </a:r>
                <a:r>
                  <a:rPr lang="en-US" altLang="zh-CN" sz="1200" baseline="0" dirty="0" smtClean="0">
                    <a:sym typeface="Wingdings"/>
                  </a:rPr>
                  <a:t>Super</a:t>
                </a:r>
                <a:r>
                  <a:rPr lang="zh-CN" altLang="en-US" sz="1200" baseline="0" dirty="0" smtClean="0">
                    <a:sym typeface="Wingdings"/>
                  </a:rPr>
                  <a:t> </a:t>
                </a:r>
                <a:r>
                  <a:rPr lang="en-US" altLang="zh-CN" sz="1200" baseline="0" dirty="0" smtClean="0">
                    <a:sym typeface="Wingdings"/>
                  </a:rPr>
                  <a:t>Mario</a:t>
                </a:r>
                <a:r>
                  <a:rPr lang="zh-CN" altLang="en-US" sz="1200" baseline="0" dirty="0" smtClean="0">
                    <a:sym typeface="Wingdings"/>
                  </a:rPr>
                  <a:t> </a:t>
                </a:r>
                <a:r>
                  <a:rPr lang="en-US" altLang="zh-CN" sz="1200" baseline="0" dirty="0" smtClean="0">
                    <a:sym typeface="Wingdings"/>
                  </a:rPr>
                  <a:t>game,</a:t>
                </a:r>
                <a:r>
                  <a:rPr lang="zh-CN" altLang="en-US" sz="1200" baseline="0" dirty="0" smtClean="0">
                    <a:sym typeface="Wingdings"/>
                  </a:rPr>
                  <a:t> </a:t>
                </a:r>
                <a:r>
                  <a:rPr lang="en-US" altLang="zh-CN" sz="1200" baseline="0" dirty="0" smtClean="0">
                    <a:sym typeface="Wingdings"/>
                  </a:rPr>
                  <a:t>one</a:t>
                </a:r>
                <a:r>
                  <a:rPr lang="zh-CN" altLang="en-US" sz="1200" baseline="0" dirty="0" smtClean="0">
                    <a:sym typeface="Wingdings"/>
                  </a:rPr>
                  <a:t> </a:t>
                </a:r>
                <a:r>
                  <a:rPr lang="en-US" altLang="zh-CN" sz="1200" baseline="0" dirty="0" smtClean="0">
                    <a:sym typeface="Wingdings"/>
                  </a:rPr>
                  <a:t>episode</a:t>
                </a:r>
                <a:r>
                  <a:rPr lang="zh-CN" altLang="en-US" sz="1200" baseline="0" dirty="0" smtClean="0">
                    <a:sym typeface="Wingdings"/>
                  </a:rPr>
                  <a:t> </a:t>
                </a:r>
                <a:r>
                  <a:rPr lang="en-US" altLang="zh-CN" sz="1200" baseline="0" dirty="0" smtClean="0">
                    <a:sym typeface="Wingdings"/>
                  </a:rPr>
                  <a:t>is</a:t>
                </a:r>
                <a:r>
                  <a:rPr lang="zh-CN" altLang="en-US" sz="1200" baseline="0" dirty="0" smtClean="0">
                    <a:sym typeface="Wingdings"/>
                  </a:rPr>
                  <a:t> </a:t>
                </a:r>
                <a:r>
                  <a:rPr lang="en-US" altLang="zh-CN" sz="1200" baseline="0" dirty="0" smtClean="0">
                    <a:sym typeface="Wingdings"/>
                  </a:rPr>
                  <a:t>from</a:t>
                </a:r>
                <a:r>
                  <a:rPr lang="zh-CN" altLang="en-US" sz="1200" baseline="0" dirty="0" smtClean="0">
                    <a:sym typeface="Wingdings"/>
                  </a:rPr>
                  <a:t> </a:t>
                </a:r>
                <a:r>
                  <a:rPr lang="en-US" altLang="zh-CN" sz="1200" baseline="0" dirty="0" smtClean="0">
                    <a:sym typeface="Wingdings"/>
                  </a:rPr>
                  <a:t>the</a:t>
                </a:r>
                <a:r>
                  <a:rPr lang="zh-CN" altLang="en-US" sz="1200" baseline="0" dirty="0" smtClean="0">
                    <a:sym typeface="Wingdings"/>
                  </a:rPr>
                  <a:t> </a:t>
                </a:r>
                <a:r>
                  <a:rPr lang="en-US" altLang="zh-CN" sz="1200" baseline="0" dirty="0" smtClean="0">
                    <a:sym typeface="Wingdings"/>
                  </a:rPr>
                  <a:t>beginning</a:t>
                </a:r>
                <a:r>
                  <a:rPr lang="zh-CN" altLang="en-US" sz="1200" baseline="0" dirty="0" smtClean="0">
                    <a:sym typeface="Wingdings"/>
                  </a:rPr>
                  <a:t> </a:t>
                </a:r>
                <a:r>
                  <a:rPr lang="en-US" altLang="zh-CN" sz="1200" baseline="0" dirty="0" smtClean="0">
                    <a:sym typeface="Wingdings"/>
                  </a:rPr>
                  <a:t>of</a:t>
                </a:r>
                <a:r>
                  <a:rPr lang="zh-CN" altLang="en-US" sz="1200" baseline="0" dirty="0" smtClean="0">
                    <a:sym typeface="Wingdings"/>
                  </a:rPr>
                  <a:t> </a:t>
                </a:r>
                <a:r>
                  <a:rPr lang="en-US" altLang="zh-CN" sz="1200" baseline="0" dirty="0" smtClean="0">
                    <a:sym typeface="Wingdings"/>
                  </a:rPr>
                  <a:t>the</a:t>
                </a:r>
                <a:r>
                  <a:rPr lang="zh-CN" altLang="en-US" sz="1200" baseline="0" dirty="0" smtClean="0">
                    <a:sym typeface="Wingdings"/>
                  </a:rPr>
                  <a:t> </a:t>
                </a:r>
                <a:r>
                  <a:rPr lang="en-US" altLang="zh-CN" sz="1200" baseline="0" dirty="0" smtClean="0">
                    <a:sym typeface="Wingdings"/>
                  </a:rPr>
                  <a:t>game</a:t>
                </a:r>
                <a:r>
                  <a:rPr lang="zh-CN" altLang="en-US" sz="1200" baseline="0" dirty="0" smtClean="0">
                    <a:sym typeface="Wingdings"/>
                  </a:rPr>
                  <a:t> </a:t>
                </a:r>
                <a:r>
                  <a:rPr lang="en-US" altLang="zh-CN" sz="1200" baseline="0" dirty="0" smtClean="0">
                    <a:sym typeface="Wingdings"/>
                  </a:rPr>
                  <a:t>to</a:t>
                </a:r>
                <a:r>
                  <a:rPr lang="zh-CN" altLang="en-US" sz="1200" baseline="0" dirty="0" smtClean="0">
                    <a:sym typeface="Wingdings"/>
                  </a:rPr>
                  <a:t> </a:t>
                </a:r>
                <a:r>
                  <a:rPr lang="en-US" altLang="zh-CN" sz="1200" baseline="0" dirty="0" smtClean="0">
                    <a:sym typeface="Wingdings"/>
                  </a:rPr>
                  <a:t>Mario</a:t>
                </a:r>
                <a:r>
                  <a:rPr lang="zh-CN" altLang="en-US" sz="1200" baseline="0" dirty="0" smtClean="0">
                    <a:sym typeface="Wingdings"/>
                  </a:rPr>
                  <a:t> </a:t>
                </a:r>
                <a:r>
                  <a:rPr lang="en-US" altLang="zh-CN" sz="1200" baseline="0" dirty="0" smtClean="0">
                    <a:sym typeface="Wingdings"/>
                  </a:rPr>
                  <a:t>wins</a:t>
                </a:r>
                <a:r>
                  <a:rPr lang="zh-CN" altLang="en-US" sz="1200" baseline="0" dirty="0" smtClean="0">
                    <a:sym typeface="Wingdings"/>
                  </a:rPr>
                  <a:t> </a:t>
                </a:r>
                <a:r>
                  <a:rPr lang="en-US" altLang="zh-CN" sz="1200" baseline="0" dirty="0" smtClean="0">
                    <a:sym typeface="Wingdings"/>
                  </a:rPr>
                  <a:t>or</a:t>
                </a:r>
                <a:r>
                  <a:rPr lang="zh-CN" altLang="en-US" sz="1200" baseline="0" dirty="0" smtClean="0">
                    <a:sym typeface="Wingdings"/>
                  </a:rPr>
                  <a:t> </a:t>
                </a:r>
                <a:r>
                  <a:rPr lang="en-US" altLang="zh-CN" sz="1200" baseline="0" dirty="0" smtClean="0">
                    <a:sym typeface="Wingdings"/>
                  </a:rPr>
                  <a:t>dies.</a:t>
                </a:r>
              </a:p>
              <a:p>
                <a:endParaRPr lang="en-US" altLang="zh-CN" sz="1200" baseline="0" dirty="0" smtClean="0">
                  <a:sym typeface="Wingdings"/>
                </a:endParaRPr>
              </a:p>
              <a:p>
                <a:endParaRPr lang="en-US" altLang="zh-CN" sz="1200" baseline="0" dirty="0" smtClean="0">
                  <a:sym typeface="Wingdings"/>
                </a:endParaRPr>
              </a:p>
              <a:p>
                <a:endParaRPr lang="en-US" altLang="zh-CN" sz="1200" dirty="0" smtClean="0"/>
              </a:p>
              <a:p>
                <a:endParaRPr lang="en-US" altLang="zh-CN" sz="1200" dirty="0" smtClean="0"/>
              </a:p>
              <a:p>
                <a:r>
                  <a:rPr lang="zh-CN" altLang="en-US" sz="1200" dirty="0" smtClean="0"/>
                  <a:t>这样我们就得到了游戏的一个</a:t>
                </a:r>
                <a:r>
                  <a:rPr lang="en-US" altLang="zh-CN" sz="1200" dirty="0" smtClean="0">
                    <a:sym typeface="Wingdings"/>
                  </a:rPr>
                  <a:t>trajectory</a:t>
                </a:r>
                <a:r>
                  <a:rPr lang="zh-CN" altLang="en-US" sz="1200" dirty="0" smtClean="0"/>
                  <a:t>轨迹。</a:t>
                </a:r>
                <a:endParaRPr lang="en-US" altLang="zh-CN" sz="1200" dirty="0" smtClean="0"/>
              </a:p>
              <a:p>
                <a:r>
                  <a:rPr lang="zh-CN" altLang="en-US" sz="1200" baseline="0" dirty="0" smtClean="0"/>
                  <a:t>这个轨迹是每一步的状态、动作、奖励。</a:t>
                </a:r>
                <a:endParaRPr lang="en-US" altLang="zh-CN" sz="1200" baseline="0" dirty="0" smtClean="0"/>
              </a:p>
              <a:p>
                <a:r>
                  <a:rPr lang="zh-CN" altLang="en-US" sz="1200" baseline="0" dirty="0" smtClean="0"/>
                  <a:t>状态</a:t>
                </a:r>
                <a:r>
                  <a:rPr lang="en-US" altLang="zh-CN" sz="1200" baseline="0" dirty="0" smtClean="0"/>
                  <a:t>s_1</a:t>
                </a:r>
                <a:r>
                  <a:rPr lang="zh-CN" altLang="en-US" sz="1200" baseline="0" dirty="0" smtClean="0"/>
                  <a:t>，动作</a:t>
                </a:r>
                <a:r>
                  <a:rPr lang="en-US" altLang="zh-CN" sz="1200" baseline="0" dirty="0" smtClean="0"/>
                  <a:t>a_1</a:t>
                </a:r>
                <a:r>
                  <a:rPr lang="zh-CN" altLang="en-US" sz="1200" baseline="0" dirty="0" smtClean="0"/>
                  <a:t>，奖励</a:t>
                </a:r>
                <a:r>
                  <a:rPr lang="en-US" altLang="zh-CN" sz="1200" baseline="0" dirty="0" smtClean="0"/>
                  <a:t>r_1</a:t>
                </a:r>
                <a:r>
                  <a:rPr lang="zh-CN" altLang="en-US" sz="1200" baseline="0" dirty="0" smtClean="0"/>
                  <a:t>；</a:t>
                </a:r>
                <a:endParaRPr lang="en-US" altLang="zh-CN" sz="1200" baseline="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200" baseline="0" dirty="0" smtClean="0"/>
                  <a:t>然后是 状态</a:t>
                </a:r>
                <a:r>
                  <a:rPr lang="en-US" altLang="zh-CN" sz="1200" baseline="0" dirty="0" smtClean="0"/>
                  <a:t>s_2</a:t>
                </a:r>
                <a:r>
                  <a:rPr lang="zh-CN" altLang="en-US" sz="1200" baseline="0" dirty="0" smtClean="0"/>
                  <a:t>，动作</a:t>
                </a:r>
                <a:r>
                  <a:rPr lang="en-US" altLang="zh-CN" sz="1200" baseline="0" dirty="0" smtClean="0"/>
                  <a:t>a_2</a:t>
                </a:r>
                <a:r>
                  <a:rPr lang="zh-CN" altLang="en-US" sz="1200" baseline="0" dirty="0" smtClean="0"/>
                  <a:t>，奖励</a:t>
                </a:r>
                <a:r>
                  <a:rPr lang="en-US" altLang="zh-CN" sz="1200" baseline="0" dirty="0" smtClean="0"/>
                  <a:t>r_2</a:t>
                </a:r>
                <a:r>
                  <a:rPr lang="zh-CN" altLang="en-US" sz="1200" baseline="0" dirty="0" smtClean="0"/>
                  <a:t>；</a:t>
                </a:r>
                <a:endParaRPr lang="en-US" altLang="zh-CN" sz="1200" baseline="0" dirty="0" smtClean="0"/>
              </a:p>
              <a:p>
                <a:r>
                  <a:rPr lang="zh-CN" altLang="en-US" sz="1200" baseline="0" dirty="0" smtClean="0"/>
                  <a:t>一直到结束。</a:t>
                </a:r>
                <a:endParaRPr lang="en-US" altLang="zh-CN" sz="1200" baseline="0" dirty="0" smtClean="0"/>
              </a:p>
              <a:p>
                <a:r>
                  <a:rPr lang="zh-CN" altLang="en-US" sz="1200" baseline="0" dirty="0" smtClean="0"/>
                  <a:t>假如一共玩了</a:t>
                </a:r>
                <a:r>
                  <a:rPr lang="en-US" altLang="zh-CN" sz="1200" baseline="0" dirty="0" smtClean="0"/>
                  <a:t>T</a:t>
                </a:r>
                <a:r>
                  <a:rPr lang="zh-CN" altLang="en-US" sz="1200" baseline="0" dirty="0" smtClean="0"/>
                  <a:t>步后  游戏结束。</a:t>
                </a:r>
                <a:endParaRPr lang="en-US" altLang="zh-CN" sz="1200" baseline="0" dirty="0" smtClean="0"/>
              </a:p>
              <a:p>
                <a:r>
                  <a:rPr lang="zh-CN" altLang="en-US" sz="1200" baseline="0" dirty="0" smtClean="0"/>
                  <a:t>最后的一组就是    状态</a:t>
                </a:r>
                <a:r>
                  <a:rPr lang="en-US" altLang="zh-CN" sz="1200" baseline="0" dirty="0" err="1" smtClean="0"/>
                  <a:t>s_T</a:t>
                </a:r>
                <a:r>
                  <a:rPr lang="zh-CN" altLang="en-US" sz="1200" baseline="0" dirty="0" smtClean="0"/>
                  <a:t>，动作</a:t>
                </a:r>
                <a:r>
                  <a:rPr lang="en-US" altLang="zh-CN" sz="1200" baseline="0" dirty="0" err="1" smtClean="0"/>
                  <a:t>a_T</a:t>
                </a:r>
                <a:r>
                  <a:rPr lang="zh-CN" altLang="en-US" sz="1200" baseline="0" dirty="0" smtClean="0"/>
                  <a:t>，奖励</a:t>
                </a:r>
                <a:r>
                  <a:rPr lang="en-US" altLang="zh-CN" sz="1200" baseline="0" dirty="0" err="1" smtClean="0"/>
                  <a:t>r_T</a:t>
                </a:r>
                <a:r>
                  <a:rPr lang="zh-CN" altLang="en-US" sz="1200" baseline="0" dirty="0" smtClean="0"/>
                  <a:t>。</a:t>
                </a:r>
                <a:endParaRPr lang="en-US" altLang="zh-CN" sz="1200" baseline="0" dirty="0" smtClean="0"/>
              </a:p>
              <a:p>
                <a:endParaRPr lang="en-US" altLang="zh-CN" sz="1200" baseline="0" dirty="0" smtClean="0"/>
              </a:p>
              <a:p>
                <a:endParaRPr lang="en-US" altLang="zh-CN" sz="1200" baseline="0" dirty="0" smtClean="0"/>
              </a:p>
              <a:p>
                <a:endParaRPr lang="en-US" altLang="zh-CN" sz="1200" baseline="0" dirty="0" smtClean="0"/>
              </a:p>
              <a:p>
                <a:endParaRPr lang="en-US" altLang="zh-CN" sz="1200" baseline="0" dirty="0" smtClean="0"/>
              </a:p>
              <a:p>
                <a:endParaRPr lang="en-US" altLang="zh-CN" sz="1200" baseline="0" dirty="0" smtClean="0"/>
              </a:p>
              <a:p>
                <a:endParaRPr lang="en-US" altLang="zh-CN" sz="1200" baseline="0" dirty="0" smtClean="0"/>
              </a:p>
              <a:p>
                <a:endParaRPr lang="en-US" altLang="zh-CN" sz="1200" baseline="0" dirty="0" smtClean="0"/>
              </a:p>
              <a:p>
                <a:endParaRPr lang="en-US" altLang="zh-CN" sz="1200" baseline="0" dirty="0" smtClean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200" dirty="0" smtClean="0"/>
                  <a:t>In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this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way,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we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obtain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a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trajectory.</a:t>
                </a:r>
              </a:p>
              <a:p>
                <a:r>
                  <a:rPr lang="en-US" altLang="zh-CN" sz="1200" dirty="0" smtClean="0"/>
                  <a:t>It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contains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all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the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states,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actions,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and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rewards.</a:t>
                </a:r>
              </a:p>
              <a:p>
                <a:r>
                  <a:rPr lang="en-US" altLang="zh-CN" sz="1200" baseline="0" dirty="0" smtClean="0"/>
                  <a:t>It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is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="0" i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  <a:sym typeface="Wingdings"/>
                  </a:rPr>
                  <a:t>𝑠</a:t>
                </a:r>
                <a:r>
                  <a:rPr lang="en-US" altLang="zh-CN" sz="1200" b="0" i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  <a:sym typeface="Wingdings"/>
                  </a:rPr>
                  <a:t>_1</a:t>
                </a:r>
                <a:r>
                  <a:rPr lang="en-US" altLang="zh-CN" sz="1200" i="0">
                    <a:latin typeface="Cambria Math" charset="0"/>
                    <a:sym typeface="Wingdings"/>
                  </a:rPr>
                  <a:t>, </a:t>
                </a:r>
                <a:r>
                  <a:rPr lang="en-US" altLang="zh-CN" sz="1200" i="0">
                    <a:solidFill>
                      <a:srgbClr val="FF0000"/>
                    </a:solidFill>
                    <a:latin typeface="Cambria Math" charset="0"/>
                    <a:sym typeface="Wingdings"/>
                  </a:rPr>
                  <a:t>𝑎_</a:t>
                </a:r>
                <a:r>
                  <a:rPr lang="en-US" altLang="zh-CN" sz="1200" b="0" i="0" smtClean="0">
                    <a:solidFill>
                      <a:srgbClr val="FF0000"/>
                    </a:solidFill>
                    <a:latin typeface="Cambria Math" charset="0"/>
                    <a:sym typeface="Wingdings"/>
                  </a:rPr>
                  <a:t>1</a:t>
                </a:r>
                <a:r>
                  <a:rPr lang="en-US" altLang="zh-CN" sz="1200" i="0">
                    <a:latin typeface="Cambria Math" charset="0"/>
                    <a:sym typeface="Wingdings"/>
                  </a:rPr>
                  <a:t>, </a:t>
                </a:r>
                <a:r>
                  <a:rPr lang="en-US" altLang="zh-CN" sz="1200" i="0">
                    <a:solidFill>
                      <a:srgbClr val="0070C0"/>
                    </a:solidFill>
                    <a:latin typeface="Cambria Math" charset="0"/>
                    <a:sym typeface="Wingdings"/>
                  </a:rPr>
                  <a:t>𝑟_</a:t>
                </a:r>
                <a:r>
                  <a:rPr lang="en-US" altLang="zh-CN" sz="1200" b="0" i="0" smtClean="0">
                    <a:solidFill>
                      <a:srgbClr val="0070C0"/>
                    </a:solidFill>
                    <a:latin typeface="Cambria Math" charset="0"/>
                    <a:sym typeface="Wingdings"/>
                  </a:rPr>
                  <a:t>1</a:t>
                </a:r>
                <a:r>
                  <a:rPr lang="en-US" altLang="zh-CN" sz="1200" i="0">
                    <a:latin typeface="Cambria Math" charset="0"/>
                    <a:sym typeface="Wingdings"/>
                  </a:rPr>
                  <a:t>,</a:t>
                </a:r>
                <a:r>
                  <a:rPr lang="en-US" altLang="zh-CN" sz="1200" dirty="0">
                    <a:solidFill>
                      <a:schemeClr val="accent6">
                        <a:lumMod val="75000"/>
                      </a:schemeClr>
                    </a:solidFill>
                    <a:sym typeface="Wingdings"/>
                  </a:rPr>
                  <a:t> </a:t>
                </a:r>
                <a:r>
                  <a:rPr lang="en-US" altLang="zh-CN" sz="1200" b="0" i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  <a:sym typeface="Wingdings"/>
                  </a:rPr>
                  <a:t>𝑠_</a:t>
                </a:r>
                <a:r>
                  <a:rPr lang="en-US" altLang="zh-CN" sz="1200" b="0" i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  <a:sym typeface="Wingdings"/>
                  </a:rPr>
                  <a:t>2</a:t>
                </a:r>
                <a:r>
                  <a:rPr lang="en-US" altLang="zh-CN" sz="1200" i="0">
                    <a:latin typeface="Cambria Math" charset="0"/>
                    <a:sym typeface="Wingdings"/>
                  </a:rPr>
                  <a:t>, </a:t>
                </a:r>
                <a:r>
                  <a:rPr lang="en-US" altLang="zh-CN" sz="1200" i="0">
                    <a:solidFill>
                      <a:srgbClr val="FF0000"/>
                    </a:solidFill>
                    <a:latin typeface="Cambria Math" charset="0"/>
                    <a:sym typeface="Wingdings"/>
                  </a:rPr>
                  <a:t>𝑎_</a:t>
                </a:r>
                <a:r>
                  <a:rPr lang="en-US" altLang="zh-CN" sz="1200" b="0" i="0" smtClean="0">
                    <a:solidFill>
                      <a:srgbClr val="FF0000"/>
                    </a:solidFill>
                    <a:latin typeface="Cambria Math" charset="0"/>
                    <a:sym typeface="Wingdings"/>
                  </a:rPr>
                  <a:t>2</a:t>
                </a:r>
                <a:r>
                  <a:rPr lang="en-US" altLang="zh-CN" sz="1200" i="0">
                    <a:latin typeface="Cambria Math" charset="0"/>
                    <a:sym typeface="Wingdings"/>
                  </a:rPr>
                  <a:t>, </a:t>
                </a:r>
                <a:r>
                  <a:rPr lang="en-US" altLang="zh-CN" sz="1200" i="0">
                    <a:solidFill>
                      <a:srgbClr val="0070C0"/>
                    </a:solidFill>
                    <a:latin typeface="Cambria Math" charset="0"/>
                    <a:sym typeface="Wingdings"/>
                  </a:rPr>
                  <a:t>𝑟_</a:t>
                </a:r>
                <a:r>
                  <a:rPr lang="en-US" altLang="zh-CN" sz="1200" b="0" i="0" smtClean="0">
                    <a:solidFill>
                      <a:srgbClr val="0070C0"/>
                    </a:solidFill>
                    <a:latin typeface="Cambria Math" charset="0"/>
                    <a:sym typeface="Wingdings"/>
                  </a:rPr>
                  <a:t>2</a:t>
                </a:r>
                <a:r>
                  <a:rPr lang="en-US" altLang="zh-CN" sz="1200" i="0">
                    <a:latin typeface="Cambria Math" charset="0"/>
                    <a:sym typeface="Wingdings"/>
                  </a:rPr>
                  <a:t>,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to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b="0" i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  <a:sym typeface="Wingdings"/>
                  </a:rPr>
                  <a:t>𝑠</a:t>
                </a:r>
                <a:r>
                  <a:rPr lang="en-US" altLang="zh-CN" sz="1200" b="0" i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  <a:sym typeface="Wingdings"/>
                  </a:rPr>
                  <a:t>_</a:t>
                </a:r>
                <a:r>
                  <a:rPr lang="en-US" altLang="zh-CN" sz="1200" b="0" i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  <a:sym typeface="Wingdings"/>
                  </a:rPr>
                  <a:t>𝑛</a:t>
                </a:r>
                <a:r>
                  <a:rPr lang="en-US" altLang="zh-CN" sz="1200" i="0">
                    <a:latin typeface="Cambria Math" charset="0"/>
                    <a:sym typeface="Wingdings"/>
                  </a:rPr>
                  <a:t>, </a:t>
                </a:r>
                <a:r>
                  <a:rPr lang="en-US" altLang="zh-CN" sz="1200" i="0">
                    <a:solidFill>
                      <a:srgbClr val="FF0000"/>
                    </a:solidFill>
                    <a:latin typeface="Cambria Math" charset="0"/>
                    <a:sym typeface="Wingdings"/>
                  </a:rPr>
                  <a:t>𝑎_</a:t>
                </a:r>
                <a:r>
                  <a:rPr lang="en-US" altLang="zh-CN" sz="1200" b="0" i="0" smtClean="0">
                    <a:solidFill>
                      <a:srgbClr val="FF0000"/>
                    </a:solidFill>
                    <a:latin typeface="Cambria Math" charset="0"/>
                    <a:sym typeface="Wingdings"/>
                  </a:rPr>
                  <a:t>𝑛</a:t>
                </a:r>
                <a:r>
                  <a:rPr lang="en-US" altLang="zh-CN" sz="1200" i="0">
                    <a:latin typeface="Cambria Math" charset="0"/>
                    <a:sym typeface="Wingdings"/>
                  </a:rPr>
                  <a:t>, </a:t>
                </a:r>
                <a:r>
                  <a:rPr lang="en-US" altLang="zh-CN" sz="1200" i="0">
                    <a:solidFill>
                      <a:srgbClr val="0070C0"/>
                    </a:solidFill>
                    <a:latin typeface="Cambria Math" charset="0"/>
                    <a:sym typeface="Wingdings"/>
                  </a:rPr>
                  <a:t>𝑟_</a:t>
                </a:r>
                <a:r>
                  <a:rPr lang="en-US" altLang="zh-CN" sz="1200" b="0" i="0" smtClean="0">
                    <a:solidFill>
                      <a:srgbClr val="0070C0"/>
                    </a:solidFill>
                    <a:latin typeface="Cambria Math" charset="0"/>
                    <a:sym typeface="Wingdings"/>
                  </a:rPr>
                  <a:t>𝑛</a:t>
                </a:r>
                <a:r>
                  <a:rPr lang="en-US" altLang="zh-CN" sz="1200" b="0" i="0" smtClean="0">
                    <a:latin typeface="Cambria Math" charset="0"/>
                    <a:sym typeface="Wingdings"/>
                  </a:rPr>
                  <a:t>.</a:t>
                </a:r>
                <a:r>
                  <a:rPr lang="en-US" altLang="zh-CN" sz="1200" i="0">
                    <a:latin typeface="Cambria Math" charset="0"/>
                    <a:sym typeface="Wingdings"/>
                  </a:rPr>
                  <a:t> </a:t>
                </a:r>
                <a:endParaRPr lang="en-US" altLang="zh-CN" sz="12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200" dirty="0" smtClean="0"/>
                  <a:t>n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is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the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length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of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the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episode;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different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episodes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can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have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different</a:t>
                </a:r>
                <a:r>
                  <a:rPr lang="zh-CN" altLang="en-US" sz="1200" baseline="0" dirty="0" smtClean="0"/>
                  <a:t> </a:t>
                </a:r>
                <a:r>
                  <a:rPr lang="en-US" altLang="zh-CN" sz="1200" baseline="0" dirty="0" smtClean="0"/>
                  <a:t>length.</a:t>
                </a:r>
                <a:endParaRPr lang="en-US" altLang="zh-CN" sz="1200" dirty="0" smtClean="0"/>
              </a:p>
              <a:p>
                <a:r>
                  <a:rPr lang="en-US" altLang="zh-CN" sz="1200" dirty="0" smtClean="0"/>
                  <a:t>===============================</a:t>
                </a:r>
              </a:p>
              <a:p>
                <a:r>
                  <a:rPr lang="en-US" altLang="zh-CN" dirty="0" smtClean="0">
                    <a:sym typeface="Wingdings"/>
                  </a:rPr>
                  <a:t>One</a:t>
                </a:r>
                <a:r>
                  <a:rPr lang="zh-CN" altLang="en-US" dirty="0" smtClean="0">
                    <a:sym typeface="Wingdings"/>
                  </a:rPr>
                  <a:t> </a:t>
                </a:r>
                <a:r>
                  <a:rPr lang="en-US" altLang="zh-CN" dirty="0" smtClean="0">
                    <a:sym typeface="Wingdings"/>
                  </a:rPr>
                  <a:t>episode</a:t>
                </a:r>
                <a:r>
                  <a:rPr lang="zh-CN" altLang="en-US" dirty="0" smtClean="0">
                    <a:sym typeface="Wingdings"/>
                  </a:rPr>
                  <a:t> </a:t>
                </a:r>
                <a:r>
                  <a:rPr lang="en-US" altLang="zh-CN" dirty="0" smtClean="0">
                    <a:sym typeface="Wingdings"/>
                  </a:rPr>
                  <a:t>is</a:t>
                </a:r>
                <a:r>
                  <a:rPr lang="zh-CN" altLang="en-US" dirty="0" smtClean="0">
                    <a:sym typeface="Wingdings"/>
                  </a:rPr>
                  <a:t> </a:t>
                </a:r>
                <a:r>
                  <a:rPr lang="en-US" altLang="zh-CN" dirty="0" smtClean="0">
                    <a:sym typeface="Wingdings"/>
                  </a:rPr>
                  <a:t>from</a:t>
                </a:r>
                <a:r>
                  <a:rPr lang="zh-CN" altLang="en-US" dirty="0" smtClean="0">
                    <a:sym typeface="Wingdings"/>
                  </a:rPr>
                  <a:t> </a:t>
                </a:r>
                <a:r>
                  <a:rPr lang="en-US" altLang="zh-CN" dirty="0" smtClean="0">
                    <a:sym typeface="Wingdings"/>
                  </a:rPr>
                  <a:t>the</a:t>
                </a:r>
                <a:r>
                  <a:rPr lang="zh-CN" altLang="en-US" dirty="0" smtClean="0">
                    <a:sym typeface="Wingdings"/>
                  </a:rPr>
                  <a:t> </a:t>
                </a:r>
                <a:r>
                  <a:rPr lang="en-US" altLang="zh-CN" dirty="0" smtClean="0">
                    <a:sym typeface="Wingdings"/>
                  </a:rPr>
                  <a:t>the</a:t>
                </a:r>
                <a:r>
                  <a:rPr lang="zh-CN" altLang="en-US" dirty="0" smtClean="0">
                    <a:sym typeface="Wingdings"/>
                  </a:rPr>
                  <a:t> </a:t>
                </a:r>
                <a:r>
                  <a:rPr lang="en-US" altLang="zh-CN" dirty="0" smtClean="0">
                    <a:sym typeface="Wingdings"/>
                  </a:rPr>
                  <a:t>beginning</a:t>
                </a:r>
                <a:r>
                  <a:rPr lang="zh-CN" altLang="en-US" dirty="0" smtClean="0">
                    <a:sym typeface="Wingdings"/>
                  </a:rPr>
                  <a:t> </a:t>
                </a:r>
                <a:r>
                  <a:rPr lang="en-US" altLang="zh-CN" dirty="0" smtClean="0">
                    <a:sym typeface="Wingdings"/>
                  </a:rPr>
                  <a:t>to</a:t>
                </a:r>
                <a:r>
                  <a:rPr lang="zh-CN" altLang="en-US" dirty="0" smtClean="0">
                    <a:sym typeface="Wingdings"/>
                  </a:rPr>
                  <a:t> </a:t>
                </a:r>
                <a:r>
                  <a:rPr lang="en-US" altLang="zh-CN" dirty="0" smtClean="0">
                    <a:sym typeface="Wingdings"/>
                  </a:rPr>
                  <a:t>the</a:t>
                </a:r>
                <a:r>
                  <a:rPr lang="zh-CN" altLang="en-US" dirty="0" smtClean="0">
                    <a:sym typeface="Wingdings"/>
                  </a:rPr>
                  <a:t> </a:t>
                </a:r>
                <a:r>
                  <a:rPr lang="en-US" altLang="zh-CN" dirty="0" smtClean="0">
                    <a:sym typeface="Wingdings"/>
                  </a:rPr>
                  <a:t>end.</a:t>
                </a:r>
              </a:p>
              <a:p>
                <a:r>
                  <a:rPr lang="en-US" altLang="zh-CN" sz="1200" dirty="0" smtClean="0">
                    <a:sym typeface="Wingdings"/>
                  </a:rPr>
                  <a:t>In</a:t>
                </a:r>
                <a:r>
                  <a:rPr lang="zh-CN" altLang="en-US" sz="1200" baseline="0" dirty="0" smtClean="0">
                    <a:sym typeface="Wingdings"/>
                  </a:rPr>
                  <a:t> </a:t>
                </a:r>
                <a:r>
                  <a:rPr lang="en-US" altLang="zh-CN" sz="1200" baseline="0" dirty="0" smtClean="0">
                    <a:sym typeface="Wingdings"/>
                  </a:rPr>
                  <a:t>the</a:t>
                </a:r>
                <a:r>
                  <a:rPr lang="zh-CN" altLang="en-US" sz="1200" baseline="0" dirty="0" smtClean="0">
                    <a:sym typeface="Wingdings"/>
                  </a:rPr>
                  <a:t> </a:t>
                </a:r>
                <a:r>
                  <a:rPr lang="en-US" altLang="zh-CN" sz="1200" baseline="0" dirty="0" smtClean="0">
                    <a:sym typeface="Wingdings"/>
                  </a:rPr>
                  <a:t>Super</a:t>
                </a:r>
                <a:r>
                  <a:rPr lang="zh-CN" altLang="en-US" sz="1200" baseline="0" dirty="0" smtClean="0">
                    <a:sym typeface="Wingdings"/>
                  </a:rPr>
                  <a:t> </a:t>
                </a:r>
                <a:r>
                  <a:rPr lang="en-US" altLang="zh-CN" sz="1200" baseline="0" dirty="0" smtClean="0">
                    <a:sym typeface="Wingdings"/>
                  </a:rPr>
                  <a:t>Mario</a:t>
                </a:r>
                <a:r>
                  <a:rPr lang="zh-CN" altLang="en-US" sz="1200" baseline="0" dirty="0" smtClean="0">
                    <a:sym typeface="Wingdings"/>
                  </a:rPr>
                  <a:t> </a:t>
                </a:r>
                <a:r>
                  <a:rPr lang="en-US" altLang="zh-CN" sz="1200" baseline="0" dirty="0" smtClean="0">
                    <a:sym typeface="Wingdings"/>
                  </a:rPr>
                  <a:t>game,</a:t>
                </a:r>
                <a:r>
                  <a:rPr lang="zh-CN" altLang="en-US" sz="1200" baseline="0" dirty="0" smtClean="0">
                    <a:sym typeface="Wingdings"/>
                  </a:rPr>
                  <a:t> </a:t>
                </a:r>
                <a:r>
                  <a:rPr lang="en-US" altLang="zh-CN" sz="1200" baseline="0" dirty="0" smtClean="0">
                    <a:sym typeface="Wingdings"/>
                  </a:rPr>
                  <a:t>one</a:t>
                </a:r>
                <a:r>
                  <a:rPr lang="zh-CN" altLang="en-US" sz="1200" baseline="0" dirty="0" smtClean="0">
                    <a:sym typeface="Wingdings"/>
                  </a:rPr>
                  <a:t> </a:t>
                </a:r>
                <a:r>
                  <a:rPr lang="en-US" altLang="zh-CN" sz="1200" baseline="0" dirty="0" smtClean="0">
                    <a:sym typeface="Wingdings"/>
                  </a:rPr>
                  <a:t>episode</a:t>
                </a:r>
                <a:r>
                  <a:rPr lang="zh-CN" altLang="en-US" sz="1200" baseline="0" dirty="0" smtClean="0">
                    <a:sym typeface="Wingdings"/>
                  </a:rPr>
                  <a:t> </a:t>
                </a:r>
                <a:r>
                  <a:rPr lang="en-US" altLang="zh-CN" sz="1200" baseline="0" dirty="0" smtClean="0">
                    <a:sym typeface="Wingdings"/>
                  </a:rPr>
                  <a:t>is</a:t>
                </a:r>
                <a:r>
                  <a:rPr lang="zh-CN" altLang="en-US" sz="1200" baseline="0" dirty="0" smtClean="0">
                    <a:sym typeface="Wingdings"/>
                  </a:rPr>
                  <a:t> </a:t>
                </a:r>
                <a:r>
                  <a:rPr lang="en-US" altLang="zh-CN" sz="1200" baseline="0" dirty="0" smtClean="0">
                    <a:sym typeface="Wingdings"/>
                  </a:rPr>
                  <a:t>from</a:t>
                </a:r>
                <a:r>
                  <a:rPr lang="zh-CN" altLang="en-US" sz="1200" baseline="0" dirty="0" smtClean="0">
                    <a:sym typeface="Wingdings"/>
                  </a:rPr>
                  <a:t> </a:t>
                </a:r>
                <a:r>
                  <a:rPr lang="en-US" altLang="zh-CN" sz="1200" baseline="0" dirty="0" smtClean="0">
                    <a:sym typeface="Wingdings"/>
                  </a:rPr>
                  <a:t>the</a:t>
                </a:r>
                <a:r>
                  <a:rPr lang="zh-CN" altLang="en-US" sz="1200" baseline="0" dirty="0" smtClean="0">
                    <a:sym typeface="Wingdings"/>
                  </a:rPr>
                  <a:t> </a:t>
                </a:r>
                <a:r>
                  <a:rPr lang="en-US" altLang="zh-CN" sz="1200" baseline="0" dirty="0" smtClean="0">
                    <a:sym typeface="Wingdings"/>
                  </a:rPr>
                  <a:t>beginning</a:t>
                </a:r>
                <a:r>
                  <a:rPr lang="zh-CN" altLang="en-US" sz="1200" baseline="0" dirty="0" smtClean="0">
                    <a:sym typeface="Wingdings"/>
                  </a:rPr>
                  <a:t> </a:t>
                </a:r>
                <a:r>
                  <a:rPr lang="en-US" altLang="zh-CN" sz="1200" baseline="0" dirty="0" smtClean="0">
                    <a:sym typeface="Wingdings"/>
                  </a:rPr>
                  <a:t>of</a:t>
                </a:r>
                <a:r>
                  <a:rPr lang="zh-CN" altLang="en-US" sz="1200" baseline="0" dirty="0" smtClean="0">
                    <a:sym typeface="Wingdings"/>
                  </a:rPr>
                  <a:t> </a:t>
                </a:r>
                <a:r>
                  <a:rPr lang="en-US" altLang="zh-CN" sz="1200" baseline="0" dirty="0" smtClean="0">
                    <a:sym typeface="Wingdings"/>
                  </a:rPr>
                  <a:t>the</a:t>
                </a:r>
                <a:r>
                  <a:rPr lang="zh-CN" altLang="en-US" sz="1200" baseline="0" dirty="0" smtClean="0">
                    <a:sym typeface="Wingdings"/>
                  </a:rPr>
                  <a:t> </a:t>
                </a:r>
                <a:r>
                  <a:rPr lang="en-US" altLang="zh-CN" sz="1200" baseline="0" dirty="0" smtClean="0">
                    <a:sym typeface="Wingdings"/>
                  </a:rPr>
                  <a:t>game</a:t>
                </a:r>
                <a:r>
                  <a:rPr lang="zh-CN" altLang="en-US" sz="1200" baseline="0" dirty="0" smtClean="0">
                    <a:sym typeface="Wingdings"/>
                  </a:rPr>
                  <a:t> </a:t>
                </a:r>
                <a:r>
                  <a:rPr lang="en-US" altLang="zh-CN" sz="1200" baseline="0" dirty="0" smtClean="0">
                    <a:sym typeface="Wingdings"/>
                  </a:rPr>
                  <a:t>to</a:t>
                </a:r>
                <a:r>
                  <a:rPr lang="zh-CN" altLang="en-US" sz="1200" baseline="0" dirty="0" smtClean="0">
                    <a:sym typeface="Wingdings"/>
                  </a:rPr>
                  <a:t> </a:t>
                </a:r>
                <a:r>
                  <a:rPr lang="en-US" altLang="zh-CN" sz="1200" baseline="0" dirty="0" smtClean="0">
                    <a:sym typeface="Wingdings"/>
                  </a:rPr>
                  <a:t>Mario</a:t>
                </a:r>
                <a:r>
                  <a:rPr lang="zh-CN" altLang="en-US" sz="1200" baseline="0" dirty="0" smtClean="0">
                    <a:sym typeface="Wingdings"/>
                  </a:rPr>
                  <a:t> </a:t>
                </a:r>
                <a:r>
                  <a:rPr lang="en-US" altLang="zh-CN" sz="1200" baseline="0" dirty="0" smtClean="0">
                    <a:sym typeface="Wingdings"/>
                  </a:rPr>
                  <a:t>wins</a:t>
                </a:r>
                <a:r>
                  <a:rPr lang="zh-CN" altLang="en-US" sz="1200" baseline="0" dirty="0" smtClean="0">
                    <a:sym typeface="Wingdings"/>
                  </a:rPr>
                  <a:t> </a:t>
                </a:r>
                <a:r>
                  <a:rPr lang="en-US" altLang="zh-CN" sz="1200" baseline="0" dirty="0" smtClean="0">
                    <a:sym typeface="Wingdings"/>
                  </a:rPr>
                  <a:t>or</a:t>
                </a:r>
                <a:r>
                  <a:rPr lang="zh-CN" altLang="en-US" sz="1200" baseline="0" dirty="0" smtClean="0">
                    <a:sym typeface="Wingdings"/>
                  </a:rPr>
                  <a:t> </a:t>
                </a:r>
                <a:r>
                  <a:rPr lang="en-US" altLang="zh-CN" sz="1200" baseline="0" dirty="0" smtClean="0">
                    <a:sym typeface="Wingdings"/>
                  </a:rPr>
                  <a:t>dies.</a:t>
                </a:r>
              </a:p>
              <a:p>
                <a:endParaRPr lang="en-US" altLang="zh-CN" sz="1200" baseline="0" dirty="0" smtClean="0">
                  <a:sym typeface="Wingdings"/>
                </a:endParaRPr>
              </a:p>
              <a:p>
                <a:endParaRPr lang="en-US" altLang="zh-CN" sz="1200" baseline="0" dirty="0" smtClean="0">
                  <a:sym typeface="Wingdings"/>
                </a:endParaRPr>
              </a:p>
              <a:p>
                <a:endParaRPr lang="en-US" altLang="zh-CN" sz="1200" dirty="0" smtClean="0"/>
              </a:p>
              <a:p>
                <a:endParaRPr lang="en-US" altLang="zh-CN" sz="1200" dirty="0" smtClean="0"/>
              </a:p>
              <a:p>
                <a:r>
                  <a:rPr lang="zh-CN" altLang="en-US" sz="1200" dirty="0" smtClean="0"/>
                  <a:t>这样我们就得到了游戏的一个</a:t>
                </a:r>
                <a:r>
                  <a:rPr lang="en-US" altLang="zh-CN" sz="1200" dirty="0" smtClean="0">
                    <a:sym typeface="Wingdings"/>
                  </a:rPr>
                  <a:t>trajectory</a:t>
                </a:r>
                <a:r>
                  <a:rPr lang="zh-CN" altLang="en-US" sz="1200" dirty="0" smtClean="0"/>
                  <a:t>轨迹。</a:t>
                </a:r>
                <a:endParaRPr lang="en-US" altLang="zh-CN" sz="1200" dirty="0" smtClean="0"/>
              </a:p>
              <a:p>
                <a:r>
                  <a:rPr lang="zh-CN" altLang="en-US" sz="1200" baseline="0" dirty="0" smtClean="0"/>
                  <a:t>这个轨迹是每一步的状态、动作、奖励。</a:t>
                </a:r>
                <a:endParaRPr lang="en-US" altLang="zh-CN" sz="1200" baseline="0" dirty="0" smtClean="0"/>
              </a:p>
              <a:p>
                <a:r>
                  <a:rPr lang="zh-CN" altLang="en-US" sz="1200" baseline="0" dirty="0" smtClean="0"/>
                  <a:t>状态</a:t>
                </a:r>
                <a:r>
                  <a:rPr lang="en-US" altLang="zh-CN" sz="1200" baseline="0" dirty="0" smtClean="0"/>
                  <a:t>s_1</a:t>
                </a:r>
                <a:r>
                  <a:rPr lang="zh-CN" altLang="en-US" sz="1200" baseline="0" dirty="0" smtClean="0"/>
                  <a:t>，动作</a:t>
                </a:r>
                <a:r>
                  <a:rPr lang="en-US" altLang="zh-CN" sz="1200" baseline="0" dirty="0" smtClean="0"/>
                  <a:t>a_1</a:t>
                </a:r>
                <a:r>
                  <a:rPr lang="zh-CN" altLang="en-US" sz="1200" baseline="0" dirty="0" smtClean="0"/>
                  <a:t>，奖励</a:t>
                </a:r>
                <a:r>
                  <a:rPr lang="en-US" altLang="zh-CN" sz="1200" baseline="0" dirty="0" smtClean="0"/>
                  <a:t>r_1</a:t>
                </a:r>
                <a:r>
                  <a:rPr lang="zh-CN" altLang="en-US" sz="1200" baseline="0" dirty="0" smtClean="0"/>
                  <a:t>；</a:t>
                </a:r>
                <a:endParaRPr lang="en-US" altLang="zh-CN" sz="1200" baseline="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200" baseline="0" dirty="0" smtClean="0"/>
                  <a:t>然后是 状态</a:t>
                </a:r>
                <a:r>
                  <a:rPr lang="en-US" altLang="zh-CN" sz="1200" baseline="0" dirty="0" smtClean="0"/>
                  <a:t>s_2</a:t>
                </a:r>
                <a:r>
                  <a:rPr lang="zh-CN" altLang="en-US" sz="1200" baseline="0" dirty="0" smtClean="0"/>
                  <a:t>，动作</a:t>
                </a:r>
                <a:r>
                  <a:rPr lang="en-US" altLang="zh-CN" sz="1200" baseline="0" dirty="0" smtClean="0"/>
                  <a:t>a_2</a:t>
                </a:r>
                <a:r>
                  <a:rPr lang="zh-CN" altLang="en-US" sz="1200" baseline="0" dirty="0" smtClean="0"/>
                  <a:t>，奖励</a:t>
                </a:r>
                <a:r>
                  <a:rPr lang="en-US" altLang="zh-CN" sz="1200" baseline="0" dirty="0" smtClean="0"/>
                  <a:t>r_2</a:t>
                </a:r>
                <a:r>
                  <a:rPr lang="zh-CN" altLang="en-US" sz="1200" baseline="0" dirty="0" smtClean="0"/>
                  <a:t>；</a:t>
                </a:r>
                <a:endParaRPr lang="en-US" altLang="zh-CN" sz="1200" baseline="0" dirty="0" smtClean="0"/>
              </a:p>
              <a:p>
                <a:r>
                  <a:rPr lang="zh-CN" altLang="en-US" sz="1200" baseline="0" dirty="0" smtClean="0"/>
                  <a:t>一直到结束。</a:t>
                </a:r>
                <a:endParaRPr lang="en-US" altLang="zh-CN" sz="1200" baseline="0" dirty="0" smtClean="0"/>
              </a:p>
              <a:p>
                <a:r>
                  <a:rPr lang="zh-CN" altLang="en-US" sz="1200" baseline="0" dirty="0" smtClean="0"/>
                  <a:t>假如一共玩了</a:t>
                </a:r>
                <a:r>
                  <a:rPr lang="en-US" altLang="zh-CN" sz="1200" baseline="0" dirty="0" smtClean="0"/>
                  <a:t>T</a:t>
                </a:r>
                <a:r>
                  <a:rPr lang="zh-CN" altLang="en-US" sz="1200" baseline="0" dirty="0" smtClean="0"/>
                  <a:t>步后  游戏结束。</a:t>
                </a:r>
                <a:endParaRPr lang="en-US" altLang="zh-CN" sz="1200" baseline="0" dirty="0" smtClean="0"/>
              </a:p>
              <a:p>
                <a:r>
                  <a:rPr lang="zh-CN" altLang="en-US" sz="1200" baseline="0" dirty="0" smtClean="0"/>
                  <a:t>最后的一组就是    状态</a:t>
                </a:r>
                <a:r>
                  <a:rPr lang="en-US" altLang="zh-CN" sz="1200" baseline="0" dirty="0" err="1" smtClean="0"/>
                  <a:t>s_T</a:t>
                </a:r>
                <a:r>
                  <a:rPr lang="zh-CN" altLang="en-US" sz="1200" baseline="0" dirty="0" smtClean="0"/>
                  <a:t>，动作</a:t>
                </a:r>
                <a:r>
                  <a:rPr lang="en-US" altLang="zh-CN" sz="1200" baseline="0" dirty="0" err="1" smtClean="0"/>
                  <a:t>a_T</a:t>
                </a:r>
                <a:r>
                  <a:rPr lang="zh-CN" altLang="en-US" sz="1200" baseline="0" dirty="0" smtClean="0"/>
                  <a:t>，奖励</a:t>
                </a:r>
                <a:r>
                  <a:rPr lang="en-US" altLang="zh-CN" sz="1200" baseline="0" dirty="0" err="1" smtClean="0"/>
                  <a:t>r_T</a:t>
                </a:r>
                <a:r>
                  <a:rPr lang="zh-CN" altLang="en-US" sz="1200" baseline="0" dirty="0" smtClean="0"/>
                  <a:t>。</a:t>
                </a:r>
                <a:endParaRPr lang="en-US" altLang="zh-CN" sz="1200" baseline="0" dirty="0" smtClean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59203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aseline="0" dirty="0" smtClean="0"/>
              <a:t>Reinforcement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learning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typically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means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finding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a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good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policy.</a:t>
            </a:r>
          </a:p>
          <a:p>
            <a:r>
              <a:rPr lang="en-US" altLang="zh-CN" sz="1200" baseline="0" dirty="0" smtClean="0"/>
              <a:t>With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the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policy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at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hand,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we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can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use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it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to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control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Mario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and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automatically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play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the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game.</a:t>
            </a:r>
          </a:p>
          <a:p>
            <a:r>
              <a:rPr lang="en-US" altLang="zh-CN" sz="1200" baseline="0" dirty="0" smtClean="0"/>
              <a:t>But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what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is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a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good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policy?</a:t>
            </a:r>
          </a:p>
          <a:p>
            <a:r>
              <a:rPr lang="en-US" altLang="zh-CN" sz="1200" baseline="0" dirty="0" smtClean="0"/>
              <a:t>===========================</a:t>
            </a:r>
          </a:p>
          <a:p>
            <a:r>
              <a:rPr lang="en-US" altLang="zh-CN" sz="1200" baseline="0" dirty="0" smtClean="0"/>
              <a:t>A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good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policy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means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it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can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control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Mario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to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collect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as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many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rewards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as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possible.</a:t>
            </a:r>
          </a:p>
          <a:p>
            <a:r>
              <a:rPr lang="en-US" altLang="zh-CN" dirty="0" smtClean="0">
                <a:sym typeface="Wingdings"/>
              </a:rPr>
              <a:t>A</a:t>
            </a:r>
            <a:r>
              <a:rPr lang="zh-CN" altLang="en-US" dirty="0" smtClean="0">
                <a:sym typeface="Wingdings"/>
              </a:rPr>
              <a:t> </a:t>
            </a:r>
            <a:r>
              <a:rPr lang="en-US" altLang="zh-CN" dirty="0" smtClean="0">
                <a:sym typeface="Wingdings"/>
              </a:rPr>
              <a:t>good</a:t>
            </a:r>
            <a:r>
              <a:rPr lang="zh-CN" altLang="en-US" dirty="0" smtClean="0">
                <a:sym typeface="Wingdings"/>
              </a:rPr>
              <a:t> </a:t>
            </a:r>
            <a:r>
              <a:rPr lang="en-US" altLang="zh-CN" dirty="0" smtClean="0">
                <a:sym typeface="Wingdings"/>
              </a:rPr>
              <a:t>policy</a:t>
            </a:r>
            <a:r>
              <a:rPr lang="zh-CN" altLang="en-US" dirty="0" smtClean="0">
                <a:sym typeface="Wingdings"/>
              </a:rPr>
              <a:t> </a:t>
            </a:r>
            <a:r>
              <a:rPr lang="en-US" altLang="zh-CN" dirty="0" smtClean="0">
                <a:sym typeface="Wingdings"/>
              </a:rPr>
              <a:t>leads</a:t>
            </a:r>
            <a:r>
              <a:rPr lang="zh-CN" altLang="en-US" dirty="0" smtClean="0">
                <a:sym typeface="Wingdings"/>
              </a:rPr>
              <a:t> </a:t>
            </a:r>
            <a:r>
              <a:rPr lang="en-US" altLang="zh-CN" dirty="0" smtClean="0">
                <a:sym typeface="Wingdings"/>
              </a:rPr>
              <a:t>to</a:t>
            </a:r>
            <a:r>
              <a:rPr lang="zh-CN" altLang="en-US" dirty="0" smtClean="0">
                <a:sym typeface="Wingdings"/>
              </a:rPr>
              <a:t> </a:t>
            </a:r>
            <a:r>
              <a:rPr lang="en-US" altLang="zh-CN" dirty="0" smtClean="0">
                <a:sym typeface="Wingdings"/>
              </a:rPr>
              <a:t>a</a:t>
            </a:r>
            <a:r>
              <a:rPr lang="zh-CN" altLang="en-US" dirty="0" smtClean="0">
                <a:sym typeface="Wingdings"/>
              </a:rPr>
              <a:t> </a:t>
            </a:r>
            <a:r>
              <a:rPr lang="en-US" altLang="zh-CN" dirty="0" smtClean="0">
                <a:sym typeface="Wingdings"/>
              </a:rPr>
              <a:t>big</a:t>
            </a:r>
            <a:r>
              <a:rPr lang="zh-CN" altLang="en-US" dirty="0" smtClean="0">
                <a:sym typeface="Wingdings"/>
              </a:rPr>
              <a:t> </a:t>
            </a:r>
            <a:r>
              <a:rPr lang="en-US" altLang="zh-CN" dirty="0" smtClean="0">
                <a:sym typeface="Wingdings"/>
              </a:rPr>
              <a:t>cumulative</a:t>
            </a:r>
            <a:r>
              <a:rPr lang="zh-CN" altLang="en-US" dirty="0" smtClean="0">
                <a:sym typeface="Wingdings"/>
              </a:rPr>
              <a:t> </a:t>
            </a:r>
            <a:r>
              <a:rPr lang="en-US" altLang="zh-CN" dirty="0" smtClean="0">
                <a:sym typeface="Wingdings"/>
              </a:rPr>
              <a:t>reward,</a:t>
            </a:r>
            <a:r>
              <a:rPr lang="zh-CN" altLang="en-US" dirty="0" smtClean="0">
                <a:sym typeface="Wingdings"/>
              </a:rPr>
              <a:t> </a:t>
            </a:r>
            <a:r>
              <a:rPr lang="en-US" altLang="zh-CN" dirty="0" smtClean="0">
                <a:sym typeface="Wingdings"/>
              </a:rPr>
              <a:t>namely</a:t>
            </a:r>
            <a:r>
              <a:rPr lang="zh-CN" altLang="en-US" baseline="0" dirty="0" smtClean="0">
                <a:sym typeface="Wingdings"/>
              </a:rPr>
              <a:t> </a:t>
            </a:r>
            <a:r>
              <a:rPr lang="en-US" altLang="zh-CN" baseline="0" dirty="0" smtClean="0">
                <a:sym typeface="Wingdings"/>
              </a:rPr>
              <a:t>the</a:t>
            </a:r>
            <a:r>
              <a:rPr lang="zh-CN" altLang="en-US" baseline="0" dirty="0" smtClean="0">
                <a:sym typeface="Wingdings"/>
              </a:rPr>
              <a:t> </a:t>
            </a:r>
            <a:r>
              <a:rPr lang="en-US" altLang="zh-CN" baseline="0" dirty="0" smtClean="0">
                <a:sym typeface="Wingdings"/>
              </a:rPr>
              <a:t>sum</a:t>
            </a:r>
            <a:r>
              <a:rPr lang="zh-CN" altLang="en-US" baseline="0" dirty="0" smtClean="0">
                <a:sym typeface="Wingdings"/>
              </a:rPr>
              <a:t> </a:t>
            </a:r>
            <a:r>
              <a:rPr lang="en-US" altLang="zh-CN" baseline="0" dirty="0" smtClean="0">
                <a:sym typeface="Wingdings"/>
              </a:rPr>
              <a:t>of</a:t>
            </a:r>
            <a:r>
              <a:rPr lang="zh-CN" altLang="en-US" baseline="0" dirty="0" smtClean="0">
                <a:sym typeface="Wingdings"/>
              </a:rPr>
              <a:t> </a:t>
            </a:r>
            <a:r>
              <a:rPr lang="en-US" altLang="zh-CN" baseline="0" dirty="0" smtClean="0">
                <a:sym typeface="Wingdings"/>
              </a:rPr>
              <a:t>rewards.</a:t>
            </a:r>
          </a:p>
          <a:p>
            <a:r>
              <a:rPr lang="en-US" altLang="zh-CN" sz="1200" baseline="0" dirty="0" smtClean="0">
                <a:sym typeface="Wingdings"/>
              </a:rPr>
              <a:t>In</a:t>
            </a:r>
            <a:r>
              <a:rPr lang="zh-CN" altLang="en-US" sz="1200" baseline="0" dirty="0" smtClean="0">
                <a:sym typeface="Wingdings"/>
              </a:rPr>
              <a:t> </a:t>
            </a:r>
            <a:r>
              <a:rPr lang="en-US" altLang="zh-CN" sz="1200" baseline="0" dirty="0" smtClean="0">
                <a:sym typeface="Wingdings"/>
              </a:rPr>
              <a:t>the</a:t>
            </a:r>
            <a:r>
              <a:rPr lang="zh-CN" altLang="en-US" sz="1200" baseline="0" dirty="0" smtClean="0">
                <a:sym typeface="Wingdings"/>
              </a:rPr>
              <a:t> </a:t>
            </a:r>
            <a:r>
              <a:rPr lang="en-US" altLang="zh-CN" sz="1200" baseline="0" dirty="0" smtClean="0">
                <a:sym typeface="Wingdings"/>
              </a:rPr>
              <a:t>Super</a:t>
            </a:r>
            <a:r>
              <a:rPr lang="zh-CN" altLang="en-US" sz="1200" baseline="0" dirty="0" smtClean="0">
                <a:sym typeface="Wingdings"/>
              </a:rPr>
              <a:t> </a:t>
            </a:r>
            <a:r>
              <a:rPr lang="en-US" altLang="zh-CN" sz="1200" baseline="0" dirty="0" smtClean="0">
                <a:sym typeface="Wingdings"/>
              </a:rPr>
              <a:t>Mario</a:t>
            </a:r>
            <a:r>
              <a:rPr lang="zh-CN" altLang="en-US" sz="1200" baseline="0" dirty="0" smtClean="0">
                <a:sym typeface="Wingdings"/>
              </a:rPr>
              <a:t> </a:t>
            </a:r>
            <a:r>
              <a:rPr lang="en-US" altLang="zh-CN" sz="1200" baseline="0" dirty="0" smtClean="0">
                <a:sym typeface="Wingdings"/>
              </a:rPr>
              <a:t>game,</a:t>
            </a:r>
            <a:r>
              <a:rPr lang="zh-CN" altLang="en-US" sz="1200" baseline="0" dirty="0" smtClean="0">
                <a:sym typeface="Wingdings"/>
              </a:rPr>
              <a:t> </a:t>
            </a:r>
            <a:r>
              <a:rPr lang="en-US" altLang="zh-CN" sz="1200" baseline="0" dirty="0" smtClean="0">
                <a:sym typeface="Wingdings"/>
              </a:rPr>
              <a:t>we</a:t>
            </a:r>
            <a:r>
              <a:rPr lang="zh-CN" altLang="en-US" sz="1200" baseline="0" dirty="0" smtClean="0">
                <a:sym typeface="Wingdings"/>
              </a:rPr>
              <a:t> </a:t>
            </a:r>
            <a:r>
              <a:rPr lang="en-US" altLang="zh-CN" sz="1200" baseline="0" dirty="0" smtClean="0">
                <a:sym typeface="Wingdings"/>
              </a:rPr>
              <a:t>hope</a:t>
            </a:r>
            <a:r>
              <a:rPr lang="zh-CN" altLang="en-US" sz="1200" baseline="0" dirty="0" smtClean="0">
                <a:sym typeface="Wingdings"/>
              </a:rPr>
              <a:t> </a:t>
            </a:r>
            <a:r>
              <a:rPr lang="en-US" altLang="zh-CN" sz="1200" baseline="0" dirty="0" smtClean="0">
                <a:sym typeface="Wingdings"/>
              </a:rPr>
              <a:t>Mario</a:t>
            </a:r>
            <a:r>
              <a:rPr lang="zh-CN" altLang="en-US" sz="1200" baseline="0" dirty="0" smtClean="0">
                <a:sym typeface="Wingdings"/>
              </a:rPr>
              <a:t> </a:t>
            </a:r>
            <a:r>
              <a:rPr lang="en-US" altLang="zh-CN" sz="1200" baseline="0" dirty="0" smtClean="0">
                <a:sym typeface="Wingdings"/>
              </a:rPr>
              <a:t>can</a:t>
            </a:r>
            <a:r>
              <a:rPr lang="zh-CN" altLang="en-US" sz="1200" baseline="0" dirty="0" smtClean="0">
                <a:sym typeface="Wingdings"/>
              </a:rPr>
              <a:t> </a:t>
            </a:r>
            <a:r>
              <a:rPr lang="en-US" altLang="zh-CN" sz="1200" baseline="0" dirty="0" smtClean="0">
                <a:sym typeface="Wingdings"/>
              </a:rPr>
              <a:t>win</a:t>
            </a:r>
            <a:r>
              <a:rPr lang="zh-CN" altLang="en-US" sz="1200" baseline="0" dirty="0" smtClean="0">
                <a:sym typeface="Wingdings"/>
              </a:rPr>
              <a:t> </a:t>
            </a:r>
            <a:r>
              <a:rPr lang="en-US" altLang="zh-CN" sz="1200" baseline="0" dirty="0" smtClean="0">
                <a:sym typeface="Wingdings"/>
              </a:rPr>
              <a:t>the</a:t>
            </a:r>
            <a:r>
              <a:rPr lang="zh-CN" altLang="en-US" sz="1200" baseline="0" dirty="0" smtClean="0">
                <a:sym typeface="Wingdings"/>
              </a:rPr>
              <a:t> </a:t>
            </a:r>
            <a:r>
              <a:rPr lang="en-US" altLang="zh-CN" sz="1200" baseline="0" dirty="0" smtClean="0">
                <a:sym typeface="Wingdings"/>
              </a:rPr>
              <a:t>game,</a:t>
            </a:r>
            <a:r>
              <a:rPr lang="zh-CN" altLang="en-US" sz="1200" baseline="0" dirty="0" smtClean="0">
                <a:sym typeface="Wingdings"/>
              </a:rPr>
              <a:t> </a:t>
            </a:r>
            <a:r>
              <a:rPr lang="en-US" altLang="zh-CN" sz="1200" baseline="0" dirty="0" smtClean="0">
                <a:sym typeface="Wingdings"/>
              </a:rPr>
              <a:t>and</a:t>
            </a:r>
            <a:r>
              <a:rPr lang="zh-CN" altLang="en-US" sz="1200" baseline="0" dirty="0" smtClean="0">
                <a:sym typeface="Wingdings"/>
              </a:rPr>
              <a:t> </a:t>
            </a:r>
            <a:r>
              <a:rPr lang="en-US" altLang="zh-CN" sz="1200" baseline="0" dirty="0" smtClean="0">
                <a:sym typeface="Wingdings"/>
              </a:rPr>
              <a:t>meanwhile,</a:t>
            </a:r>
            <a:r>
              <a:rPr lang="zh-CN" altLang="en-US" sz="1200" baseline="0" dirty="0" smtClean="0">
                <a:sym typeface="Wingdings"/>
              </a:rPr>
              <a:t> </a:t>
            </a:r>
            <a:r>
              <a:rPr lang="en-US" altLang="zh-CN" sz="1200" baseline="0" dirty="0" smtClean="0">
                <a:sym typeface="Wingdings"/>
              </a:rPr>
              <a:t>collect</a:t>
            </a:r>
            <a:r>
              <a:rPr lang="zh-CN" altLang="en-US" sz="1200" baseline="0" dirty="0" smtClean="0">
                <a:sym typeface="Wingdings"/>
              </a:rPr>
              <a:t> </a:t>
            </a:r>
            <a:r>
              <a:rPr lang="en-US" altLang="zh-CN" sz="1200" baseline="0" dirty="0" smtClean="0">
                <a:sym typeface="Wingdings"/>
              </a:rPr>
              <a:t>as</a:t>
            </a:r>
            <a:r>
              <a:rPr lang="zh-CN" altLang="en-US" sz="1200" baseline="0" dirty="0" smtClean="0">
                <a:sym typeface="Wingdings"/>
              </a:rPr>
              <a:t> </a:t>
            </a:r>
            <a:r>
              <a:rPr lang="en-US" altLang="zh-CN" sz="1200" baseline="0" dirty="0" smtClean="0">
                <a:sym typeface="Wingdings"/>
              </a:rPr>
              <a:t>many</a:t>
            </a:r>
            <a:r>
              <a:rPr lang="zh-CN" altLang="en-US" sz="1200" baseline="0" dirty="0" smtClean="0">
                <a:sym typeface="Wingdings"/>
              </a:rPr>
              <a:t> </a:t>
            </a:r>
            <a:r>
              <a:rPr lang="en-US" altLang="zh-CN" sz="1200" baseline="0" dirty="0" smtClean="0">
                <a:sym typeface="Wingdings"/>
              </a:rPr>
              <a:t>coins</a:t>
            </a:r>
            <a:r>
              <a:rPr lang="zh-CN" altLang="en-US" sz="1200" baseline="0" dirty="0" smtClean="0">
                <a:sym typeface="Wingdings"/>
              </a:rPr>
              <a:t> </a:t>
            </a:r>
            <a:r>
              <a:rPr lang="en-US" altLang="zh-CN" sz="1200" baseline="0" dirty="0" smtClean="0">
                <a:sym typeface="Wingdings"/>
              </a:rPr>
              <a:t>as</a:t>
            </a:r>
            <a:r>
              <a:rPr lang="zh-CN" altLang="en-US" sz="1200" baseline="0" dirty="0" smtClean="0">
                <a:sym typeface="Wingdings"/>
              </a:rPr>
              <a:t> </a:t>
            </a:r>
            <a:r>
              <a:rPr lang="en-US" altLang="zh-CN" sz="1200" baseline="0" dirty="0" smtClean="0">
                <a:sym typeface="Wingdings"/>
              </a:rPr>
              <a:t>possible.</a:t>
            </a:r>
          </a:p>
          <a:p>
            <a:r>
              <a:rPr lang="en-US" altLang="zh-CN" sz="1200" baseline="0" dirty="0" smtClean="0">
                <a:sym typeface="Wingdings"/>
              </a:rPr>
              <a:t>This</a:t>
            </a:r>
            <a:r>
              <a:rPr lang="zh-CN" altLang="en-US" sz="1200" baseline="0" dirty="0" smtClean="0">
                <a:sym typeface="Wingdings"/>
              </a:rPr>
              <a:t> </a:t>
            </a:r>
            <a:r>
              <a:rPr lang="en-US" altLang="zh-CN" sz="1200" baseline="0" dirty="0" smtClean="0">
                <a:sym typeface="Wingdings"/>
              </a:rPr>
              <a:t>is</a:t>
            </a:r>
            <a:r>
              <a:rPr lang="zh-CN" altLang="en-US" sz="1200" baseline="0" dirty="0" smtClean="0">
                <a:sym typeface="Wingdings"/>
              </a:rPr>
              <a:t> </a:t>
            </a:r>
            <a:r>
              <a:rPr lang="en-US" altLang="zh-CN" sz="1200" baseline="0" dirty="0" smtClean="0">
                <a:sym typeface="Wingdings"/>
              </a:rPr>
              <a:t>equivalent</a:t>
            </a:r>
            <a:r>
              <a:rPr lang="zh-CN" altLang="en-US" sz="1200" baseline="0" dirty="0" smtClean="0">
                <a:sym typeface="Wingdings"/>
              </a:rPr>
              <a:t> </a:t>
            </a:r>
            <a:r>
              <a:rPr lang="en-US" altLang="zh-CN" sz="1200" baseline="0" dirty="0" smtClean="0">
                <a:sym typeface="Wingdings"/>
              </a:rPr>
              <a:t>to</a:t>
            </a:r>
            <a:r>
              <a:rPr lang="zh-CN" altLang="en-US" sz="1200" baseline="0" dirty="0" smtClean="0">
                <a:sym typeface="Wingdings"/>
              </a:rPr>
              <a:t> </a:t>
            </a:r>
            <a:r>
              <a:rPr lang="en-US" altLang="zh-CN" sz="1200" baseline="0" dirty="0" smtClean="0">
                <a:sym typeface="Wingdings"/>
              </a:rPr>
              <a:t>maximizing</a:t>
            </a:r>
            <a:r>
              <a:rPr lang="zh-CN" altLang="en-US" sz="1200" baseline="0" dirty="0" smtClean="0">
                <a:sym typeface="Wingdings"/>
              </a:rPr>
              <a:t> </a:t>
            </a:r>
            <a:r>
              <a:rPr lang="en-US" altLang="zh-CN" sz="1200" baseline="0" dirty="0" smtClean="0">
                <a:sym typeface="Wingdings"/>
              </a:rPr>
              <a:t>the</a:t>
            </a:r>
            <a:r>
              <a:rPr lang="zh-CN" altLang="en-US" sz="1200" baseline="0" dirty="0" smtClean="0">
                <a:sym typeface="Wingdings"/>
              </a:rPr>
              <a:t> </a:t>
            </a:r>
            <a:r>
              <a:rPr lang="en-US" altLang="zh-CN" sz="1200" baseline="0" dirty="0" smtClean="0">
                <a:sym typeface="Wingdings"/>
              </a:rPr>
              <a:t>cumulative</a:t>
            </a:r>
            <a:r>
              <a:rPr lang="zh-CN" altLang="en-US" sz="1200" baseline="0" dirty="0" smtClean="0">
                <a:sym typeface="Wingdings"/>
              </a:rPr>
              <a:t> </a:t>
            </a:r>
            <a:r>
              <a:rPr lang="en-US" altLang="zh-CN" sz="1200" baseline="0" dirty="0" smtClean="0">
                <a:sym typeface="Wingdings"/>
              </a:rPr>
              <a:t>reward.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aseline="0" dirty="0" smtClean="0"/>
              <a:t>===========================</a:t>
            </a:r>
          </a:p>
          <a:p>
            <a:r>
              <a:rPr lang="en-US" altLang="zh-CN" sz="1200" baseline="0" dirty="0" smtClean="0"/>
              <a:t>Reinforcement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learning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uses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the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rewards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to</a:t>
            </a:r>
            <a:r>
              <a:rPr lang="zh-CN" altLang="en-US" sz="1200" baseline="0" dirty="0" smtClean="0"/>
              <a:t> </a:t>
            </a:r>
            <a:r>
              <a:rPr lang="en-US" altLang="zh-CN" dirty="0" smtClean="0">
                <a:sym typeface="Wingdings"/>
              </a:rPr>
              <a:t>guide</a:t>
            </a:r>
            <a:r>
              <a:rPr lang="zh-CN" altLang="en-US" dirty="0" smtClean="0">
                <a:sym typeface="Wingdings"/>
              </a:rPr>
              <a:t> </a:t>
            </a:r>
            <a:r>
              <a:rPr lang="en-US" altLang="zh-CN" dirty="0" smtClean="0">
                <a:sym typeface="Wingdings"/>
              </a:rPr>
              <a:t>the</a:t>
            </a:r>
            <a:r>
              <a:rPr lang="zh-CN" altLang="en-US" dirty="0" smtClean="0">
                <a:sym typeface="Wingdings"/>
              </a:rPr>
              <a:t> </a:t>
            </a:r>
            <a:r>
              <a:rPr lang="en-US" altLang="zh-CN" dirty="0" smtClean="0">
                <a:sym typeface="Wingdings"/>
              </a:rPr>
              <a:t>learning</a:t>
            </a:r>
            <a:r>
              <a:rPr lang="zh-CN" altLang="en-US" dirty="0" smtClean="0">
                <a:sym typeface="Wingdings"/>
              </a:rPr>
              <a:t> </a:t>
            </a:r>
            <a:r>
              <a:rPr lang="en-US" altLang="zh-CN" dirty="0" smtClean="0">
                <a:sym typeface="Wingdings"/>
              </a:rPr>
              <a:t>of</a:t>
            </a:r>
            <a:r>
              <a:rPr lang="zh-CN" altLang="en-US" dirty="0" smtClean="0">
                <a:sym typeface="Wingdings"/>
              </a:rPr>
              <a:t> </a:t>
            </a:r>
            <a:r>
              <a:rPr lang="en-US" altLang="zh-CN" dirty="0" smtClean="0">
                <a:sym typeface="Wingdings"/>
              </a:rPr>
              <a:t>policy</a:t>
            </a:r>
            <a:r>
              <a:rPr lang="zh-CN" altLang="en-US" dirty="0" smtClean="0">
                <a:sym typeface="Wingdings"/>
              </a:rPr>
              <a:t> </a:t>
            </a:r>
            <a:r>
              <a:rPr lang="en-US" altLang="zh-CN" dirty="0" smtClean="0">
                <a:sym typeface="Wingdings"/>
              </a:rPr>
              <a:t>function</a:t>
            </a:r>
            <a:r>
              <a:rPr lang="en-US" altLang="zh-CN" sz="1200" baseline="0" dirty="0" smtClean="0"/>
              <a:t>.</a:t>
            </a:r>
          </a:p>
          <a:p>
            <a:r>
              <a:rPr lang="en-US" altLang="zh-CN" sz="1200" baseline="0" dirty="0" smtClean="0"/>
              <a:t>Many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algorithms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have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been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developed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for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learning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the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policy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function.</a:t>
            </a:r>
          </a:p>
          <a:p>
            <a:r>
              <a:rPr lang="en-US" altLang="zh-CN" sz="1200" baseline="0" dirty="0" smtClean="0"/>
              <a:t>They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all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use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the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recorded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trajectories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as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training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samples.</a:t>
            </a:r>
          </a:p>
          <a:p>
            <a:r>
              <a:rPr lang="en-US" altLang="zh-CN" sz="1200" baseline="0" dirty="0" smtClean="0"/>
              <a:t>This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is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why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we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let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the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agent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interact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with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the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environment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and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record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the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trajectories.</a:t>
            </a:r>
          </a:p>
          <a:p>
            <a:endParaRPr lang="en-US" altLang="zh-CN" sz="1200" baseline="0" dirty="0" smtClean="0"/>
          </a:p>
          <a:p>
            <a:endParaRPr lang="en-US" altLang="zh-CN" sz="1200" baseline="0" dirty="0" smtClean="0"/>
          </a:p>
          <a:p>
            <a:endParaRPr lang="en-US" altLang="zh-CN" sz="1200" baseline="0" dirty="0" smtClean="0"/>
          </a:p>
          <a:p>
            <a:endParaRPr lang="en-US" altLang="zh-CN" sz="1200" baseline="0" dirty="0" smtClean="0"/>
          </a:p>
          <a:p>
            <a:endParaRPr lang="en-US" altLang="zh-CN" sz="1200" baseline="0" dirty="0" smtClean="0"/>
          </a:p>
          <a:p>
            <a:endParaRPr lang="en-US" altLang="zh-CN" sz="1200" baseline="0" dirty="0" smtClean="0"/>
          </a:p>
          <a:p>
            <a:endParaRPr lang="en-US" altLang="zh-CN" sz="1200" baseline="0" dirty="0" smtClean="0"/>
          </a:p>
          <a:p>
            <a:endParaRPr lang="en-US" altLang="zh-CN" sz="1200" baseline="0" dirty="0" smtClean="0"/>
          </a:p>
          <a:p>
            <a:endParaRPr lang="en-US" altLang="zh-CN" sz="1200" baseline="0" dirty="0" smtClean="0"/>
          </a:p>
          <a:p>
            <a:endParaRPr lang="en-US" altLang="zh-CN" sz="1200" baseline="0" dirty="0" smtClean="0"/>
          </a:p>
          <a:p>
            <a:endParaRPr lang="en-US" altLang="zh-CN" sz="1200" baseline="0" dirty="0" smtClean="0"/>
          </a:p>
          <a:p>
            <a:endParaRPr lang="en-US" altLang="zh-CN" sz="1200" baseline="0" dirty="0" smtClean="0"/>
          </a:p>
          <a:p>
            <a:endParaRPr lang="en-US" altLang="zh-CN" sz="1200" baseline="0" dirty="0" smtClean="0"/>
          </a:p>
          <a:p>
            <a:endParaRPr lang="en-US" altLang="zh-CN" sz="1200" baseline="0" dirty="0" smtClean="0"/>
          </a:p>
          <a:p>
            <a:endParaRPr lang="en-US" altLang="zh-CN" sz="1200" baseline="0" dirty="0" smtClean="0"/>
          </a:p>
          <a:p>
            <a:endParaRPr lang="en-US" altLang="zh-CN" sz="1200" baseline="0" dirty="0" smtClean="0"/>
          </a:p>
          <a:p>
            <a:endParaRPr lang="en-US" altLang="zh-CN" sz="1200" baseline="0" dirty="0" smtClean="0"/>
          </a:p>
          <a:p>
            <a:endParaRPr lang="en-US" altLang="zh-CN" sz="1200" baseline="0" dirty="0" smtClean="0"/>
          </a:p>
          <a:p>
            <a:endParaRPr lang="en-US" altLang="zh-CN" sz="1200" baseline="0" dirty="0" smtClean="0"/>
          </a:p>
          <a:p>
            <a:endParaRPr lang="en-US" altLang="zh-CN" sz="1200" baseline="0" dirty="0" smtClean="0"/>
          </a:p>
          <a:p>
            <a:endParaRPr lang="en-US" altLang="zh-CN" sz="1200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78902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600" dirty="0" smtClean="0"/>
              <a:t>I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am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going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to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elaborate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on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rewards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and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returns.</a:t>
            </a:r>
          </a:p>
          <a:p>
            <a:r>
              <a:rPr lang="en-US" altLang="zh-CN" sz="1600" baseline="0" dirty="0" smtClean="0"/>
              <a:t>We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are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going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to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use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concepts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throughout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upcoming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lectures.</a:t>
            </a:r>
          </a:p>
          <a:p>
            <a:r>
              <a:rPr lang="en-US" altLang="zh-CN" sz="1600" baseline="0" dirty="0" smtClean="0"/>
              <a:t>----</a:t>
            </a:r>
          </a:p>
          <a:p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two concepts look similar, and thus beginners can easily get confused.</a:t>
            </a:r>
          </a:p>
          <a:p>
            <a:r>
              <a:rPr lang="en-US" altLang="zh-CN" sz="1600" baseline="0" dirty="0" smtClean="0"/>
              <a:t>I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will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help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you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understand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and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memorize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two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concepts.</a:t>
            </a:r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r>
              <a:rPr lang="zh-CN" altLang="en-US" sz="1600" dirty="0" smtClean="0"/>
              <a:t>接下来我要讲几个很重要的概念：</a:t>
            </a:r>
            <a:r>
              <a:rPr lang="en-US" altLang="zh-CN" sz="1600" dirty="0" smtClean="0"/>
              <a:t>reward</a:t>
            </a:r>
            <a:r>
              <a:rPr lang="zh-CN" altLang="en-US" sz="1600" dirty="0" smtClean="0"/>
              <a:t>、</a:t>
            </a:r>
            <a:r>
              <a:rPr lang="en-US" altLang="zh-CN" sz="1600" dirty="0" smtClean="0"/>
              <a:t>return</a:t>
            </a:r>
            <a:r>
              <a:rPr lang="zh-CN" altLang="en-US" sz="1600" dirty="0" smtClean="0"/>
              <a:t>、还有</a:t>
            </a:r>
            <a:r>
              <a:rPr lang="en-US" altLang="zh-CN" sz="1600" dirty="0" smtClean="0"/>
              <a:t>value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function</a:t>
            </a:r>
            <a:r>
              <a:rPr lang="zh-CN" altLang="en-US" sz="1600" dirty="0" smtClean="0"/>
              <a:t>。</a:t>
            </a:r>
            <a:endParaRPr lang="en-US" altLang="zh-CN" sz="160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dirty="0" smtClean="0"/>
              <a:t>后面的课要反复用这几个概念</a:t>
            </a:r>
            <a:endParaRPr lang="en-US" altLang="zh-CN" sz="1600" dirty="0" smtClean="0"/>
          </a:p>
          <a:p>
            <a:r>
              <a:rPr lang="en-US" altLang="zh-CN" sz="1600" dirty="0" smtClean="0"/>
              <a:t>---</a:t>
            </a:r>
          </a:p>
          <a:p>
            <a:r>
              <a:rPr lang="zh-CN" altLang="en-US" sz="1600" dirty="0" smtClean="0"/>
              <a:t>对于初学者来说，这几个很容易搞混。</a:t>
            </a:r>
            <a:endParaRPr lang="en-US" altLang="zh-CN" sz="1600" dirty="0" smtClean="0"/>
          </a:p>
          <a:p>
            <a:r>
              <a:rPr lang="zh-CN" altLang="en-US" sz="1600" dirty="0" smtClean="0"/>
              <a:t>你必须要理解、然后记住这几个概念，否则后面的课会跟不上。</a:t>
            </a:r>
            <a:endParaRPr lang="en-US" altLang="zh-CN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83388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 smtClean="0"/>
                  <a:t>Return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also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known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dirty="0" smtClean="0"/>
                  <a:t>cumulative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baseline="0" dirty="0" smtClean="0"/>
                  <a:t>future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reward.</a:t>
                </a:r>
              </a:p>
              <a:p>
                <a:r>
                  <a:rPr lang="en-US" altLang="zh-CN" sz="1600" baseline="0" dirty="0" smtClean="0"/>
                  <a:t>==========================</a:t>
                </a:r>
              </a:p>
              <a:p>
                <a:r>
                  <a:rPr lang="en-US" altLang="zh-CN" sz="1600" baseline="0" dirty="0" smtClean="0"/>
                  <a:t>Let</a:t>
                </a:r>
                <a:r>
                  <a:rPr lang="zh-CN" altLang="en-US" sz="1600" baseline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sz="1600" b="0" i="1" smtClean="0"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return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time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/>
                  <a:t>==========================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sz="1600" b="0" i="1" smtClean="0"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sum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all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future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rewards: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from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time</a:t>
                </a:r>
                <a:r>
                  <a:rPr lang="zh-CN" altLang="en-US" sz="1600" baseline="0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rgbClr val="0070C0"/>
                        </a:solidFill>
                        <a:latin typeface="Cambria Math" charset="0"/>
                      </a:rPr>
                      <m:t>𝑡</m:t>
                    </m:r>
                  </m:oMath>
                </a14:m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to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end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game.</a:t>
                </a:r>
              </a:p>
              <a:p>
                <a:r>
                  <a:rPr lang="en-US" altLang="zh-CN" sz="1600" baseline="0" dirty="0" smtClean="0"/>
                  <a:t>--------</a:t>
                </a:r>
              </a:p>
              <a:p>
                <a:r>
                  <a:rPr lang="en-US" altLang="zh-CN" sz="1600" baseline="0" dirty="0" smtClean="0"/>
                  <a:t>In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practice,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discounted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return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more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popular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than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return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defined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here.</a:t>
                </a:r>
              </a:p>
              <a:p>
                <a:r>
                  <a:rPr lang="en-US" altLang="zh-CN" sz="1600" baseline="0" dirty="0" smtClean="0"/>
                  <a:t>I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am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about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introduce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discounted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return.</a:t>
                </a:r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r>
                  <a:rPr lang="en-US" altLang="zh-CN" sz="1600" dirty="0" smtClean="0"/>
                  <a:t>Return</a:t>
                </a:r>
                <a:r>
                  <a:rPr lang="zh-CN" altLang="en-US" sz="1600" dirty="0" smtClean="0"/>
                  <a:t>翻译为回报。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Return</a:t>
                </a:r>
                <a:r>
                  <a:rPr lang="zh-CN" altLang="en-US" sz="1600" dirty="0" smtClean="0"/>
                  <a:t>的另一个名字是</a:t>
                </a:r>
                <a:r>
                  <a:rPr lang="en-US" sz="1600" dirty="0" smtClean="0">
                    <a:solidFill>
                      <a:srgbClr val="C00000"/>
                    </a:solidFill>
                  </a:rPr>
                  <a:t>cumulative </a:t>
                </a:r>
                <a:r>
                  <a:rPr lang="en-US" altLang="zh-CN" sz="1600" baseline="0" dirty="0" smtClean="0"/>
                  <a:t>future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reward</a:t>
                </a:r>
                <a:r>
                  <a:rPr lang="zh-CN" altLang="en-US" sz="1600" baseline="0" dirty="0" smtClean="0"/>
                  <a:t>，未来的累计奖励。</a:t>
                </a:r>
                <a:endParaRPr lang="en-US" altLang="zh-CN" sz="1600" baseline="0" dirty="0" smtClean="0"/>
              </a:p>
              <a:p>
                <a:r>
                  <a:rPr lang="zh-CN" altLang="en-US" sz="1600" baseline="0" dirty="0" smtClean="0"/>
                  <a:t>我们把</a:t>
                </a:r>
                <a:r>
                  <a:rPr lang="en-US" altLang="zh-CN" sz="1600" baseline="0" dirty="0" smtClean="0"/>
                  <a:t>t</a:t>
                </a:r>
                <a:r>
                  <a:rPr lang="zh-CN" altLang="en-US" sz="1600" baseline="0" dirty="0" smtClean="0"/>
                  <a:t>时刻的</a:t>
                </a:r>
                <a:r>
                  <a:rPr lang="en-US" altLang="zh-CN" sz="1600" baseline="0" dirty="0" smtClean="0"/>
                  <a:t>return</a:t>
                </a:r>
                <a:r>
                  <a:rPr lang="zh-CN" altLang="en-US" sz="1600" baseline="0" dirty="0" smtClean="0"/>
                  <a:t>记做</a:t>
                </a:r>
                <a:r>
                  <a:rPr lang="en-US" altLang="zh-CN" sz="1600" baseline="0" dirty="0" err="1" smtClean="0"/>
                  <a:t>U_t</a:t>
                </a:r>
                <a:r>
                  <a:rPr lang="zh-CN" altLang="en-US" sz="1600" baseline="0" dirty="0" smtClean="0"/>
                  <a:t>。</a:t>
                </a:r>
                <a:endParaRPr lang="en-US" altLang="zh-CN" sz="1600" baseline="0" dirty="0" smtClean="0"/>
              </a:p>
              <a:p>
                <a:r>
                  <a:rPr lang="en-US" altLang="zh-CN" sz="1600" baseline="0" dirty="0" smtClean="0"/>
                  <a:t>return</a:t>
                </a:r>
                <a:r>
                  <a:rPr lang="zh-CN" altLang="en-US" sz="1600" baseline="0" dirty="0" smtClean="0"/>
                  <a:t>这这样定义的：把从</a:t>
                </a:r>
                <a:r>
                  <a:rPr lang="en-US" altLang="zh-CN" sz="1600" baseline="0" dirty="0" smtClean="0"/>
                  <a:t>t</a:t>
                </a:r>
                <a:r>
                  <a:rPr lang="zh-CN" altLang="en-US" sz="1600" baseline="0" dirty="0" smtClean="0"/>
                  <a:t>时刻开始的 奖励全都加起来，一直加到游戏结束时的最后一个奖励。</a:t>
                </a:r>
                <a:endParaRPr lang="en-US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 smtClean="0"/>
                  <a:t>Return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also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known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dirty="0" smtClean="0"/>
                  <a:t>cumulated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future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reward.</a:t>
                </a:r>
              </a:p>
              <a:p>
                <a:r>
                  <a:rPr lang="en-US" altLang="zh-CN" sz="1600" baseline="0" dirty="0" smtClean="0"/>
                  <a:t>Let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="0" i="0" smtClean="0">
                    <a:latin typeface="Cambria Math" charset="0"/>
                  </a:rPr>
                  <a:t>𝑈</a:t>
                </a:r>
                <a:r>
                  <a:rPr lang="en-US" altLang="zh-CN" sz="1600" b="0" i="0" smtClean="0">
                    <a:latin typeface="Cambria Math" charset="0"/>
                  </a:rPr>
                  <a:t>_</a:t>
                </a:r>
                <a:r>
                  <a:rPr lang="en-US" sz="1600" b="0" i="0" smtClean="0">
                    <a:latin typeface="Cambria Math" charset="0"/>
                  </a:rPr>
                  <a:t>𝑡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return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time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t.</a:t>
                </a:r>
              </a:p>
              <a:p>
                <a:r>
                  <a:rPr lang="en-US" altLang="zh-CN" sz="1600" b="0" i="0" smtClean="0">
                    <a:latin typeface="Cambria Math" charset="0"/>
                  </a:rPr>
                  <a:t>𝑈</a:t>
                </a:r>
                <a:r>
                  <a:rPr lang="en-US" altLang="zh-CN" sz="1600" b="0" i="0" smtClean="0">
                    <a:latin typeface="Cambria Math" charset="0"/>
                  </a:rPr>
                  <a:t>_</a:t>
                </a:r>
                <a:r>
                  <a:rPr lang="en-US" sz="1600" b="0" i="0" smtClean="0">
                    <a:latin typeface="Cambria Math" charset="0"/>
                  </a:rPr>
                  <a:t>𝑡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sum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all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future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rewards: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from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="0" i="0" smtClean="0">
                    <a:solidFill>
                      <a:srgbClr val="0070C0"/>
                    </a:solidFill>
                    <a:latin typeface="Cambria Math" charset="0"/>
                  </a:rPr>
                  <a:t>𝑅</a:t>
                </a:r>
                <a:r>
                  <a:rPr lang="en-US" altLang="zh-CN" sz="1600" b="0" i="0" smtClean="0">
                    <a:solidFill>
                      <a:srgbClr val="0070C0"/>
                    </a:solidFill>
                    <a:latin typeface="Cambria Math" charset="0"/>
                  </a:rPr>
                  <a:t>_</a:t>
                </a:r>
                <a:r>
                  <a:rPr lang="en-US" sz="1600" b="0" i="0" smtClean="0">
                    <a:solidFill>
                      <a:srgbClr val="0070C0"/>
                    </a:solidFill>
                    <a:latin typeface="Cambria Math" charset="0"/>
                  </a:rPr>
                  <a:t>𝑡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to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reward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end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game.</a:t>
                </a:r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r>
                  <a:rPr lang="en-US" altLang="zh-CN" sz="1600" dirty="0" smtClean="0"/>
                  <a:t>Return</a:t>
                </a:r>
                <a:r>
                  <a:rPr lang="zh-CN" altLang="en-US" sz="1600" dirty="0" smtClean="0"/>
                  <a:t>翻译为回报。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Return</a:t>
                </a:r>
                <a:r>
                  <a:rPr lang="zh-CN" altLang="en-US" sz="1600" dirty="0" smtClean="0"/>
                  <a:t>的另一个名字是</a:t>
                </a:r>
                <a:r>
                  <a:rPr lang="en-US" altLang="zh-CN" sz="1600" dirty="0" smtClean="0"/>
                  <a:t>cumulated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future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reward</a:t>
                </a:r>
                <a:r>
                  <a:rPr lang="zh-CN" altLang="en-US" sz="1600" baseline="0" dirty="0" smtClean="0"/>
                  <a:t>，未来的累计奖励。</a:t>
                </a:r>
                <a:endParaRPr lang="en-US" altLang="zh-CN" sz="1600" baseline="0" dirty="0" smtClean="0"/>
              </a:p>
              <a:p>
                <a:r>
                  <a:rPr lang="zh-CN" altLang="en-US" sz="1600" baseline="0" dirty="0" smtClean="0"/>
                  <a:t>我们把</a:t>
                </a:r>
                <a:r>
                  <a:rPr lang="en-US" altLang="zh-CN" sz="1600" baseline="0" dirty="0" smtClean="0"/>
                  <a:t>t</a:t>
                </a:r>
                <a:r>
                  <a:rPr lang="zh-CN" altLang="en-US" sz="1600" baseline="0" dirty="0" smtClean="0"/>
                  <a:t>时刻的</a:t>
                </a:r>
                <a:r>
                  <a:rPr lang="en-US" altLang="zh-CN" sz="1600" baseline="0" dirty="0" smtClean="0"/>
                  <a:t>return</a:t>
                </a:r>
                <a:r>
                  <a:rPr lang="zh-CN" altLang="en-US" sz="1600" baseline="0" dirty="0" smtClean="0"/>
                  <a:t>记做</a:t>
                </a:r>
                <a:r>
                  <a:rPr lang="en-US" altLang="zh-CN" sz="1600" baseline="0" dirty="0" err="1" smtClean="0"/>
                  <a:t>U_t</a:t>
                </a:r>
                <a:r>
                  <a:rPr lang="zh-CN" altLang="en-US" sz="1600" baseline="0" dirty="0" smtClean="0"/>
                  <a:t>。</a:t>
                </a:r>
                <a:endParaRPr lang="en-US" altLang="zh-CN" sz="1600" baseline="0" dirty="0" smtClean="0"/>
              </a:p>
              <a:p>
                <a:r>
                  <a:rPr lang="en-US" altLang="zh-CN" sz="1600" baseline="0" dirty="0" smtClean="0"/>
                  <a:t>return</a:t>
                </a:r>
                <a:r>
                  <a:rPr lang="zh-CN" altLang="en-US" sz="1600" baseline="0" dirty="0" smtClean="0"/>
                  <a:t>这这样定义的：把从</a:t>
                </a:r>
                <a:r>
                  <a:rPr lang="en-US" altLang="zh-CN" sz="1600" baseline="0" dirty="0" smtClean="0"/>
                  <a:t>t</a:t>
                </a:r>
                <a:r>
                  <a:rPr lang="zh-CN" altLang="en-US" sz="1600" baseline="0" dirty="0" smtClean="0"/>
                  <a:t>时刻开始的 奖励全都加起来，一直加到游戏结束时的最后一个奖励。</a:t>
                </a:r>
                <a:endParaRPr lang="en-US" sz="1600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33504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 smtClean="0"/>
                  <a:t>Think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of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this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question:</a:t>
                </a:r>
                <a:r>
                  <a:rPr lang="zh-CN" altLang="en-US" sz="1600" dirty="0" smtClean="0"/>
                  <a:t> 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Do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you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think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time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t,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rewards</a:t>
                </a:r>
                <a:r>
                  <a:rPr lang="zh-CN" altLang="en-US" sz="16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and</a:t>
                </a:r>
                <a:r>
                  <a:rPr lang="zh-CN" altLang="en-US" sz="16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altLang="zh-CN" sz="1600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are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equally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important?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/>
                  <a:t>==========================</a:t>
                </a:r>
              </a:p>
              <a:p>
                <a:r>
                  <a:rPr lang="en-US" altLang="zh-CN" sz="1600" dirty="0" smtClean="0"/>
                  <a:t>Assume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you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have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two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choices:</a:t>
                </a:r>
              </a:p>
              <a:p>
                <a:r>
                  <a:rPr lang="en-US" altLang="zh-CN" sz="1600" baseline="0" dirty="0" smtClean="0"/>
                  <a:t>First,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give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you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hundred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dollars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right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away.</a:t>
                </a:r>
              </a:p>
              <a:p>
                <a:r>
                  <a:rPr lang="en-US" altLang="zh-CN" sz="1600" baseline="0" dirty="0" smtClean="0"/>
                  <a:t>Second,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will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give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you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hundred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dollars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one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year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later.</a:t>
                </a:r>
              </a:p>
              <a:p>
                <a:r>
                  <a:rPr lang="en-US" altLang="zh-CN" sz="1600" baseline="0" dirty="0" smtClean="0"/>
                  <a:t>Which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one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you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prefer?</a:t>
                </a:r>
              </a:p>
              <a:p>
                <a:r>
                  <a:rPr lang="en-US" altLang="zh-CN" sz="1600" baseline="0" dirty="0" smtClean="0"/>
                  <a:t>----</a:t>
                </a:r>
              </a:p>
              <a:p>
                <a:r>
                  <a:rPr lang="en-US" altLang="zh-CN" sz="1600" baseline="0" dirty="0" smtClean="0"/>
                  <a:t>All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rational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people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will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choose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receive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money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right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away.</a:t>
                </a:r>
              </a:p>
              <a:p>
                <a:r>
                  <a:rPr lang="en-US" altLang="zh-CN" sz="1600" baseline="0" dirty="0" smtClean="0"/>
                  <a:t>Why?</a:t>
                </a:r>
                <a:r>
                  <a:rPr lang="zh-CN" altLang="en-US" sz="1600" baseline="0" dirty="0" smtClean="0"/>
                  <a:t> </a:t>
                </a:r>
                <a:endParaRPr lang="en-US" altLang="zh-CN" sz="1600" baseline="0" dirty="0" smtClean="0"/>
              </a:p>
              <a:p>
                <a:r>
                  <a:rPr lang="en-US" altLang="zh-CN" sz="1600" baseline="0" dirty="0" smtClean="0"/>
                  <a:t>Because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future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full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uncertainty.</a:t>
                </a:r>
              </a:p>
              <a:p>
                <a:r>
                  <a:rPr lang="en-US" altLang="zh-CN" sz="1600" baseline="0" dirty="0" smtClean="0"/>
                  <a:t>You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may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not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able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find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me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one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year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later.</a:t>
                </a:r>
              </a:p>
              <a:p>
                <a:r>
                  <a:rPr lang="en-US" altLang="zh-CN" sz="1600" baseline="0" dirty="0" smtClean="0"/>
                  <a:t>So,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obviously,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100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dollars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today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better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than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100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dollars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one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year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later.</a:t>
                </a:r>
              </a:p>
              <a:p>
                <a:r>
                  <a:rPr lang="en-US" altLang="zh-CN" sz="1600" baseline="0" dirty="0" smtClean="0"/>
                  <a:t>Rewards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future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should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given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lower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weights.</a:t>
                </a:r>
              </a:p>
              <a:p>
                <a:endParaRPr lang="en-US" altLang="zh-CN" sz="1600" baseline="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r>
                  <a:rPr lang="zh-CN" altLang="en-US" sz="1600" dirty="0" smtClean="0"/>
                  <a:t>我问个问题：你们觉得奖励</a:t>
                </a:r>
                <a:r>
                  <a:rPr lang="en-US" altLang="zh-CN" sz="1600" dirty="0" err="1" smtClean="0"/>
                  <a:t>r_t</a:t>
                </a:r>
                <a:r>
                  <a:rPr lang="zh-CN" altLang="en-US" sz="1600" dirty="0" smtClean="0"/>
                  <a:t>和</a:t>
                </a:r>
                <a:r>
                  <a:rPr lang="en-US" altLang="zh-CN" sz="1600" dirty="0" smtClean="0"/>
                  <a:t>r_t+1</a:t>
                </a:r>
                <a:r>
                  <a:rPr lang="zh-CN" altLang="en-US" sz="1600" dirty="0" smtClean="0"/>
                  <a:t>同等重要么？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假如我给你两个选项：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第一， 现在我立刻给你</a:t>
                </a:r>
                <a:r>
                  <a:rPr lang="en-US" altLang="zh-CN" sz="1600" dirty="0" smtClean="0"/>
                  <a:t>100</a:t>
                </a:r>
                <a:r>
                  <a:rPr lang="zh-CN" altLang="en-US" sz="1600" dirty="0" smtClean="0"/>
                  <a:t>块钱。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第二，一年后我给你</a:t>
                </a:r>
                <a:r>
                  <a:rPr lang="en-US" altLang="zh-CN" sz="1600" dirty="0" smtClean="0"/>
                  <a:t>100</a:t>
                </a:r>
                <a:r>
                  <a:rPr lang="zh-CN" altLang="en-US" sz="1600" dirty="0" smtClean="0"/>
                  <a:t>块钱。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你选哪个？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------</a:t>
                </a:r>
              </a:p>
              <a:p>
                <a:r>
                  <a:rPr lang="zh-CN" altLang="en-US" sz="1600" dirty="0" smtClean="0"/>
                  <a:t>理性人应该都会选现在得到</a:t>
                </a:r>
                <a:r>
                  <a:rPr lang="en-US" altLang="zh-CN" sz="1600" dirty="0" smtClean="0"/>
                  <a:t>100</a:t>
                </a:r>
                <a:r>
                  <a:rPr lang="zh-CN" altLang="en-US" sz="1600" dirty="0" smtClean="0"/>
                  <a:t>块钱。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这是因为未来的不确定性很大，即使我现在答应明年给你</a:t>
                </a:r>
                <a:r>
                  <a:rPr lang="en-US" altLang="zh-CN" sz="1600" dirty="0" smtClean="0"/>
                  <a:t>100</a:t>
                </a:r>
                <a:r>
                  <a:rPr lang="zh-CN" altLang="en-US" sz="1600" dirty="0" smtClean="0"/>
                  <a:t>，你也未必能拿到。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大家都明白这个道理，“明年得到</a:t>
                </a:r>
                <a:r>
                  <a:rPr lang="en-US" altLang="zh-CN" sz="1600" dirty="0" smtClean="0"/>
                  <a:t>100</a:t>
                </a:r>
                <a:r>
                  <a:rPr lang="zh-CN" altLang="en-US" sz="1600" dirty="0" smtClean="0"/>
                  <a:t>块钱”不如“现在立刻拿到</a:t>
                </a:r>
                <a:r>
                  <a:rPr lang="en-US" altLang="zh-CN" sz="1600" dirty="0" smtClean="0"/>
                  <a:t>100</a:t>
                </a:r>
                <a:r>
                  <a:rPr lang="zh-CN" altLang="en-US" sz="1600" dirty="0" smtClean="0"/>
                  <a:t>块钱”。</a:t>
                </a:r>
                <a:endParaRPr lang="en-US" altLang="zh-CN" sz="1600" dirty="0" smtClean="0"/>
              </a:p>
              <a:p>
                <a:endParaRPr lang="en-US" altLang="zh-CN" sz="1600" dirty="0" smtClean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 smtClean="0"/>
                  <a:t>Think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of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this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question:</a:t>
                </a:r>
                <a:r>
                  <a:rPr lang="zh-CN" altLang="en-US" sz="1600" dirty="0" smtClean="0"/>
                  <a:t> 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Do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you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think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reward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b="0" i="0" smtClean="0">
                    <a:solidFill>
                      <a:srgbClr val="0070C0"/>
                    </a:solidFill>
                    <a:latin typeface="Cambria Math" charset="0"/>
                  </a:rPr>
                  <a:t>𝑅</a:t>
                </a:r>
                <a:r>
                  <a:rPr lang="en-US" altLang="zh-CN" sz="1600" b="0" i="0" smtClean="0">
                    <a:solidFill>
                      <a:srgbClr val="0070C0"/>
                    </a:solidFill>
                    <a:latin typeface="Cambria Math" charset="0"/>
                  </a:rPr>
                  <a:t>_</a:t>
                </a:r>
                <a:r>
                  <a:rPr lang="en-US" sz="1600" i="0">
                    <a:solidFill>
                      <a:srgbClr val="0070C0"/>
                    </a:solidFill>
                    <a:latin typeface="Cambria Math" charset="0"/>
                  </a:rPr>
                  <a:t>𝑡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and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b="0" i="0" smtClean="0">
                    <a:solidFill>
                      <a:srgbClr val="0070C0"/>
                    </a:solidFill>
                    <a:latin typeface="Cambria Math" charset="0"/>
                  </a:rPr>
                  <a:t>𝑅</a:t>
                </a:r>
                <a:r>
                  <a:rPr lang="en-US" altLang="zh-CN" sz="1600" b="0" i="0" smtClean="0">
                    <a:solidFill>
                      <a:srgbClr val="0070C0"/>
                    </a:solidFill>
                    <a:latin typeface="Cambria Math" charset="0"/>
                  </a:rPr>
                  <a:t>_(</a:t>
                </a:r>
                <a:r>
                  <a:rPr lang="en-US" sz="1600" i="0">
                    <a:solidFill>
                      <a:srgbClr val="0070C0"/>
                    </a:solidFill>
                    <a:latin typeface="Cambria Math" charset="0"/>
                  </a:rPr>
                  <a:t>𝑡</a:t>
                </a:r>
                <a:r>
                  <a:rPr lang="en-US" altLang="zh-CN" sz="1600" b="0" i="0" smtClean="0">
                    <a:solidFill>
                      <a:srgbClr val="0070C0"/>
                    </a:solidFill>
                    <a:latin typeface="Cambria Math" charset="0"/>
                  </a:rPr>
                  <a:t>+1)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are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equally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important?</a:t>
                </a:r>
              </a:p>
              <a:p>
                <a:r>
                  <a:rPr lang="en-US" altLang="zh-CN" sz="1600" dirty="0" smtClean="0"/>
                  <a:t>Assume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you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have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two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choices:</a:t>
                </a:r>
              </a:p>
              <a:p>
                <a:r>
                  <a:rPr lang="en-US" altLang="zh-CN" sz="1600" baseline="0" dirty="0" smtClean="0"/>
                  <a:t>First,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will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give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you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hundred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dollars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right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away.</a:t>
                </a:r>
              </a:p>
              <a:p>
                <a:r>
                  <a:rPr lang="en-US" altLang="zh-CN" sz="1600" baseline="0" dirty="0" smtClean="0"/>
                  <a:t>Second,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will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give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you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hundred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dollars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one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year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later.</a:t>
                </a:r>
              </a:p>
              <a:p>
                <a:r>
                  <a:rPr lang="en-US" altLang="zh-CN" sz="1600" baseline="0" dirty="0" smtClean="0"/>
                  <a:t>Which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one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you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choose?</a:t>
                </a:r>
              </a:p>
              <a:p>
                <a:r>
                  <a:rPr lang="en-US" altLang="zh-CN" sz="1600" baseline="0" dirty="0" smtClean="0"/>
                  <a:t>----</a:t>
                </a:r>
              </a:p>
              <a:p>
                <a:r>
                  <a:rPr lang="en-US" altLang="zh-CN" sz="1600" baseline="0" dirty="0" smtClean="0"/>
                  <a:t>All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rational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people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will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choose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receive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money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right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away.</a:t>
                </a:r>
              </a:p>
              <a:p>
                <a:r>
                  <a:rPr lang="en-US" altLang="zh-CN" sz="1600" baseline="0" dirty="0" smtClean="0"/>
                  <a:t>Why?</a:t>
                </a:r>
                <a:r>
                  <a:rPr lang="zh-CN" altLang="en-US" sz="1600" baseline="0" dirty="0" smtClean="0"/>
                  <a:t> </a:t>
                </a:r>
                <a:endParaRPr lang="en-US" altLang="zh-CN" sz="1600" baseline="0" dirty="0" smtClean="0"/>
              </a:p>
              <a:p>
                <a:r>
                  <a:rPr lang="en-US" altLang="zh-CN" sz="1600" baseline="0" dirty="0" smtClean="0"/>
                  <a:t>Because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future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full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uncertainty.</a:t>
                </a:r>
              </a:p>
              <a:p>
                <a:r>
                  <a:rPr lang="en-US" altLang="zh-CN" sz="1600" baseline="0" dirty="0" smtClean="0"/>
                  <a:t>You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may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not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able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find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me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one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year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later.</a:t>
                </a:r>
              </a:p>
              <a:p>
                <a:r>
                  <a:rPr lang="en-US" altLang="zh-CN" sz="1600" baseline="0" dirty="0" smtClean="0"/>
                  <a:t>So,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obviously,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100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dollars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today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better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than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100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dollars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one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year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later.</a:t>
                </a:r>
              </a:p>
              <a:p>
                <a:r>
                  <a:rPr lang="en-US" altLang="zh-CN" sz="1600" baseline="0" dirty="0" smtClean="0"/>
                  <a:t>Rewards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future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should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given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lower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weights.</a:t>
                </a:r>
              </a:p>
              <a:p>
                <a:r>
                  <a:rPr lang="en-US" altLang="zh-CN" sz="1600" baseline="0" dirty="0" smtClean="0"/>
                  <a:t>----</a:t>
                </a:r>
              </a:p>
              <a:p>
                <a:r>
                  <a:rPr lang="en-US" altLang="zh-CN" sz="1600" baseline="0" dirty="0" smtClean="0"/>
                  <a:t>I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ask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another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question.</a:t>
                </a:r>
              </a:p>
              <a:p>
                <a:r>
                  <a:rPr lang="en-US" altLang="zh-CN" sz="1600" dirty="0" smtClean="0"/>
                  <a:t>Assume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you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have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two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choices:</a:t>
                </a:r>
              </a:p>
              <a:p>
                <a:r>
                  <a:rPr lang="en-US" altLang="zh-CN" sz="1600" baseline="0" dirty="0" smtClean="0"/>
                  <a:t>First,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will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give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you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80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dollars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right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away.</a:t>
                </a:r>
              </a:p>
              <a:p>
                <a:r>
                  <a:rPr lang="en-US" altLang="zh-CN" sz="1600" baseline="0" dirty="0" smtClean="0"/>
                  <a:t>Second,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will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give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you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100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dollars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one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year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later.</a:t>
                </a:r>
              </a:p>
              <a:p>
                <a:r>
                  <a:rPr lang="en-US" altLang="zh-CN" sz="1600" baseline="0" dirty="0" smtClean="0"/>
                  <a:t>Which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one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you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choose?</a:t>
                </a:r>
              </a:p>
              <a:p>
                <a:r>
                  <a:rPr lang="en-US" altLang="zh-CN" sz="1600" baseline="0" dirty="0" smtClean="0"/>
                  <a:t>----</a:t>
                </a:r>
              </a:p>
              <a:p>
                <a:r>
                  <a:rPr lang="en-US" altLang="zh-CN" sz="1600" baseline="0" dirty="0" smtClean="0"/>
                  <a:t>Some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people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may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choose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80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dollars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because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don’t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like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uncertainty.</a:t>
                </a:r>
              </a:p>
              <a:p>
                <a:r>
                  <a:rPr lang="en-US" altLang="zh-CN" sz="1600" baseline="0" dirty="0" smtClean="0"/>
                  <a:t>Some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people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may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choose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wait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year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for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100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dollars.</a:t>
                </a:r>
              </a:p>
              <a:p>
                <a:r>
                  <a:rPr lang="en-US" altLang="zh-CN" sz="1600" baseline="0" dirty="0" smtClean="0"/>
                  <a:t>If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two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choices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equally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popular,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basically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80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dollar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today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equals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100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dollars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one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year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later.</a:t>
                </a:r>
              </a:p>
              <a:p>
                <a:r>
                  <a:rPr lang="en-US" altLang="zh-CN" sz="1600" baseline="0" dirty="0" smtClean="0"/>
                  <a:t>It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means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future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reward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should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have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20%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discount.</a:t>
                </a:r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r>
                  <a:rPr lang="zh-CN" altLang="en-US" sz="1600" dirty="0" smtClean="0"/>
                  <a:t>我</a:t>
                </a:r>
                <a:r>
                  <a:rPr lang="zh-CN" altLang="en-US" sz="1600" dirty="0" smtClean="0"/>
                  <a:t>问个问题：你们觉得奖励</a:t>
                </a:r>
                <a:r>
                  <a:rPr lang="en-US" altLang="zh-CN" sz="1600" dirty="0" err="1" smtClean="0"/>
                  <a:t>r_t</a:t>
                </a:r>
                <a:r>
                  <a:rPr lang="zh-CN" altLang="en-US" sz="1600" dirty="0" smtClean="0"/>
                  <a:t>和</a:t>
                </a:r>
                <a:r>
                  <a:rPr lang="en-US" altLang="zh-CN" sz="1600" dirty="0" smtClean="0"/>
                  <a:t>r_t+1</a:t>
                </a:r>
                <a:r>
                  <a:rPr lang="zh-CN" altLang="en-US" sz="1600" dirty="0" smtClean="0"/>
                  <a:t>同等重要么？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假如我给你两个选项：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第一， 现在我立刻给你</a:t>
                </a:r>
                <a:r>
                  <a:rPr lang="en-US" altLang="zh-CN" sz="1600" dirty="0" smtClean="0"/>
                  <a:t>100</a:t>
                </a:r>
                <a:r>
                  <a:rPr lang="zh-CN" altLang="en-US" sz="1600" dirty="0" smtClean="0"/>
                  <a:t>块钱。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第二，一年后我给你</a:t>
                </a:r>
                <a:r>
                  <a:rPr lang="en-US" altLang="zh-CN" sz="1600" dirty="0" smtClean="0"/>
                  <a:t>100</a:t>
                </a:r>
                <a:r>
                  <a:rPr lang="zh-CN" altLang="en-US" sz="1600" dirty="0" smtClean="0"/>
                  <a:t>块钱。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你选哪个？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------</a:t>
                </a:r>
              </a:p>
              <a:p>
                <a:r>
                  <a:rPr lang="zh-CN" altLang="en-US" sz="1600" dirty="0" smtClean="0"/>
                  <a:t>理性人应该都会选现在得到</a:t>
                </a:r>
                <a:r>
                  <a:rPr lang="en-US" altLang="zh-CN" sz="1600" dirty="0" smtClean="0"/>
                  <a:t>100</a:t>
                </a:r>
                <a:r>
                  <a:rPr lang="zh-CN" altLang="en-US" sz="1600" dirty="0" smtClean="0"/>
                  <a:t>块钱。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这是因为未来的不确定性很大，即使我现在答应明年给你</a:t>
                </a:r>
                <a:r>
                  <a:rPr lang="en-US" altLang="zh-CN" sz="1600" dirty="0" smtClean="0"/>
                  <a:t>100</a:t>
                </a:r>
                <a:r>
                  <a:rPr lang="zh-CN" altLang="en-US" sz="1600" dirty="0" smtClean="0"/>
                  <a:t>，你也未必能拿到。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大家都明白这个道理，“明年得到</a:t>
                </a:r>
                <a:r>
                  <a:rPr lang="en-US" altLang="zh-CN" sz="1600" dirty="0" smtClean="0"/>
                  <a:t>100</a:t>
                </a:r>
                <a:r>
                  <a:rPr lang="zh-CN" altLang="en-US" sz="1600" dirty="0" smtClean="0"/>
                  <a:t>块钱”不如“现在立刻拿到</a:t>
                </a:r>
                <a:r>
                  <a:rPr lang="en-US" altLang="zh-CN" sz="1600" dirty="0" smtClean="0"/>
                  <a:t>100</a:t>
                </a:r>
                <a:r>
                  <a:rPr lang="zh-CN" altLang="en-US" sz="1600" dirty="0" smtClean="0"/>
                  <a:t>块钱”。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--------</a:t>
                </a:r>
              </a:p>
              <a:p>
                <a:r>
                  <a:rPr lang="zh-CN" altLang="en-US" sz="1600" dirty="0" smtClean="0"/>
                  <a:t>要是换一个问题，现在我立刻给你</a:t>
                </a:r>
                <a:r>
                  <a:rPr lang="en-US" altLang="zh-CN" sz="1600" dirty="0" smtClean="0"/>
                  <a:t>80</a:t>
                </a:r>
                <a:r>
                  <a:rPr lang="zh-CN" altLang="en-US" sz="1600" dirty="0" smtClean="0"/>
                  <a:t>块钱，或者是明年我给你</a:t>
                </a:r>
                <a:r>
                  <a:rPr lang="en-US" altLang="zh-CN" sz="1600" dirty="0" smtClean="0"/>
                  <a:t>100</a:t>
                </a:r>
                <a:r>
                  <a:rPr lang="zh-CN" altLang="en-US" sz="1600" dirty="0" smtClean="0"/>
                  <a:t>块钱。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你选哪一个？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或许大家会做不同的选择，有的人愿意拿现在的</a:t>
                </a:r>
                <a:r>
                  <a:rPr lang="en-US" altLang="zh-CN" sz="1600" dirty="0" smtClean="0"/>
                  <a:t>80</a:t>
                </a:r>
                <a:r>
                  <a:rPr lang="zh-CN" altLang="en-US" sz="1600" dirty="0" smtClean="0"/>
                  <a:t>，有的人愿意等一年拿</a:t>
                </a:r>
                <a:r>
                  <a:rPr lang="en-US" altLang="zh-CN" sz="1600" dirty="0" smtClean="0"/>
                  <a:t>100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endParaRPr lang="en-US" altLang="zh-CN" sz="1600" dirty="0" smtClean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13171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baseline="0" dirty="0" smtClean="0"/>
                  <a:t>I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ask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another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question.</a:t>
                </a:r>
              </a:p>
              <a:p>
                <a:r>
                  <a:rPr lang="en-US" altLang="zh-CN" sz="1600" dirty="0" smtClean="0"/>
                  <a:t>Assume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you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have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two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choices:</a:t>
                </a:r>
              </a:p>
              <a:p>
                <a:r>
                  <a:rPr lang="en-US" altLang="zh-CN" sz="1600" baseline="0" dirty="0" smtClean="0"/>
                  <a:t>First,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give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you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80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dollars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right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away.</a:t>
                </a:r>
              </a:p>
              <a:p>
                <a:r>
                  <a:rPr lang="en-US" altLang="zh-CN" sz="1600" baseline="0" dirty="0" smtClean="0"/>
                  <a:t>Second,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will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give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you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100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dollars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one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year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later.</a:t>
                </a:r>
              </a:p>
              <a:p>
                <a:r>
                  <a:rPr lang="en-US" altLang="zh-CN" sz="1600" baseline="0" dirty="0" smtClean="0"/>
                  <a:t>Which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one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you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choose?</a:t>
                </a:r>
              </a:p>
              <a:p>
                <a:r>
                  <a:rPr lang="en-US" altLang="zh-CN" sz="1600" baseline="0" dirty="0" smtClean="0"/>
                  <a:t>----</a:t>
                </a:r>
              </a:p>
              <a:p>
                <a:r>
                  <a:rPr lang="en-US" altLang="zh-CN" sz="1600" baseline="0" dirty="0" smtClean="0"/>
                  <a:t>Some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people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may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choose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80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dollars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because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don’t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like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uncertainty.</a:t>
                </a:r>
              </a:p>
              <a:p>
                <a:r>
                  <a:rPr lang="en-US" altLang="zh-CN" sz="1600" baseline="0" dirty="0" smtClean="0"/>
                  <a:t>Some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people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may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choose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wait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year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for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100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dollars.</a:t>
                </a:r>
              </a:p>
              <a:p>
                <a:r>
                  <a:rPr lang="en-US" altLang="zh-CN" sz="1600" baseline="0" dirty="0" smtClean="0"/>
                  <a:t>If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two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choices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equally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popular,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basically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80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dollars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today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valuable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100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dollars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one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year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later.</a:t>
                </a:r>
              </a:p>
              <a:p>
                <a:r>
                  <a:rPr lang="en-US" altLang="zh-CN" sz="1600" baseline="0" dirty="0" smtClean="0"/>
                  <a:t>It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means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future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reward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should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given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20%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discount.</a:t>
                </a:r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r>
                  <a:rPr lang="zh-CN" altLang="en-US" sz="1600" dirty="0" smtClean="0"/>
                  <a:t>要是换一个问题，现在我立刻给你</a:t>
                </a:r>
                <a:r>
                  <a:rPr lang="en-US" altLang="zh-CN" sz="1600" dirty="0" smtClean="0"/>
                  <a:t>80</a:t>
                </a:r>
                <a:r>
                  <a:rPr lang="zh-CN" altLang="en-US" sz="1600" dirty="0" smtClean="0"/>
                  <a:t>块钱，或者是明年我给你</a:t>
                </a:r>
                <a:r>
                  <a:rPr lang="en-US" altLang="zh-CN" sz="1600" dirty="0" smtClean="0"/>
                  <a:t>100</a:t>
                </a:r>
                <a:r>
                  <a:rPr lang="zh-CN" altLang="en-US" sz="1600" dirty="0" smtClean="0"/>
                  <a:t>块钱。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你选哪一个？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或许大家会做不同的选择，有的人愿意拿现在的</a:t>
                </a:r>
                <a:r>
                  <a:rPr lang="en-US" altLang="zh-CN" sz="1600" dirty="0" smtClean="0"/>
                  <a:t>80</a:t>
                </a:r>
                <a:r>
                  <a:rPr lang="zh-CN" altLang="en-US" sz="1600" dirty="0" smtClean="0"/>
                  <a:t>，有的人愿意等一年拿</a:t>
                </a:r>
                <a:r>
                  <a:rPr lang="en-US" altLang="zh-CN" sz="1600" dirty="0" smtClean="0"/>
                  <a:t>100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endParaRPr lang="en-US" altLang="zh-CN" sz="1600" dirty="0" smtClean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 smtClean="0"/>
                  <a:t>Think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of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this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question:</a:t>
                </a:r>
                <a:r>
                  <a:rPr lang="zh-CN" altLang="en-US" sz="1600" dirty="0" smtClean="0"/>
                  <a:t> 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Do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you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think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reward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b="0" i="0" smtClean="0">
                    <a:solidFill>
                      <a:srgbClr val="0070C0"/>
                    </a:solidFill>
                    <a:latin typeface="Cambria Math" charset="0"/>
                  </a:rPr>
                  <a:t>𝑅</a:t>
                </a:r>
                <a:r>
                  <a:rPr lang="en-US" altLang="zh-CN" sz="1600" b="0" i="0" smtClean="0">
                    <a:solidFill>
                      <a:srgbClr val="0070C0"/>
                    </a:solidFill>
                    <a:latin typeface="Cambria Math" charset="0"/>
                  </a:rPr>
                  <a:t>_</a:t>
                </a:r>
                <a:r>
                  <a:rPr lang="en-US" sz="1600" i="0">
                    <a:solidFill>
                      <a:srgbClr val="0070C0"/>
                    </a:solidFill>
                    <a:latin typeface="Cambria Math" charset="0"/>
                  </a:rPr>
                  <a:t>𝑡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and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b="0" i="0" smtClean="0">
                    <a:solidFill>
                      <a:srgbClr val="0070C0"/>
                    </a:solidFill>
                    <a:latin typeface="Cambria Math" charset="0"/>
                  </a:rPr>
                  <a:t>𝑅</a:t>
                </a:r>
                <a:r>
                  <a:rPr lang="en-US" altLang="zh-CN" sz="1600" b="0" i="0" smtClean="0">
                    <a:solidFill>
                      <a:srgbClr val="0070C0"/>
                    </a:solidFill>
                    <a:latin typeface="Cambria Math" charset="0"/>
                  </a:rPr>
                  <a:t>_(</a:t>
                </a:r>
                <a:r>
                  <a:rPr lang="en-US" sz="1600" i="0">
                    <a:solidFill>
                      <a:srgbClr val="0070C0"/>
                    </a:solidFill>
                    <a:latin typeface="Cambria Math" charset="0"/>
                  </a:rPr>
                  <a:t>𝑡</a:t>
                </a:r>
                <a:r>
                  <a:rPr lang="en-US" altLang="zh-CN" sz="1600" b="0" i="0" smtClean="0">
                    <a:solidFill>
                      <a:srgbClr val="0070C0"/>
                    </a:solidFill>
                    <a:latin typeface="Cambria Math" charset="0"/>
                  </a:rPr>
                  <a:t>+1)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are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equally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important?</a:t>
                </a:r>
              </a:p>
              <a:p>
                <a:r>
                  <a:rPr lang="en-US" altLang="zh-CN" sz="1600" dirty="0" smtClean="0"/>
                  <a:t>Assume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you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have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two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choices:</a:t>
                </a:r>
              </a:p>
              <a:p>
                <a:r>
                  <a:rPr lang="en-US" altLang="zh-CN" sz="1600" baseline="0" dirty="0" smtClean="0"/>
                  <a:t>First,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will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give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you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hundred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dollars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right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away.</a:t>
                </a:r>
              </a:p>
              <a:p>
                <a:r>
                  <a:rPr lang="en-US" altLang="zh-CN" sz="1600" baseline="0" dirty="0" smtClean="0"/>
                  <a:t>Second,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will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give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you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hundred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dollars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one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year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later.</a:t>
                </a:r>
              </a:p>
              <a:p>
                <a:r>
                  <a:rPr lang="en-US" altLang="zh-CN" sz="1600" baseline="0" dirty="0" smtClean="0"/>
                  <a:t>Which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one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you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choose?</a:t>
                </a:r>
              </a:p>
              <a:p>
                <a:r>
                  <a:rPr lang="en-US" altLang="zh-CN" sz="1600" baseline="0" dirty="0" smtClean="0"/>
                  <a:t>----</a:t>
                </a:r>
              </a:p>
              <a:p>
                <a:r>
                  <a:rPr lang="en-US" altLang="zh-CN" sz="1600" baseline="0" dirty="0" smtClean="0"/>
                  <a:t>All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rational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people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will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choose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receive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money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right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away.</a:t>
                </a:r>
              </a:p>
              <a:p>
                <a:r>
                  <a:rPr lang="en-US" altLang="zh-CN" sz="1600" baseline="0" dirty="0" smtClean="0"/>
                  <a:t>Why?</a:t>
                </a:r>
                <a:r>
                  <a:rPr lang="zh-CN" altLang="en-US" sz="1600" baseline="0" dirty="0" smtClean="0"/>
                  <a:t> </a:t>
                </a:r>
                <a:endParaRPr lang="en-US" altLang="zh-CN" sz="1600" baseline="0" dirty="0" smtClean="0"/>
              </a:p>
              <a:p>
                <a:r>
                  <a:rPr lang="en-US" altLang="zh-CN" sz="1600" baseline="0" dirty="0" smtClean="0"/>
                  <a:t>Because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future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full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uncertainty.</a:t>
                </a:r>
              </a:p>
              <a:p>
                <a:r>
                  <a:rPr lang="en-US" altLang="zh-CN" sz="1600" baseline="0" dirty="0" smtClean="0"/>
                  <a:t>You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may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not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able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find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me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one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year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later.</a:t>
                </a:r>
              </a:p>
              <a:p>
                <a:r>
                  <a:rPr lang="en-US" altLang="zh-CN" sz="1600" baseline="0" dirty="0" smtClean="0"/>
                  <a:t>So,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obviously,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100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dollars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today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better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than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100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dollars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one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year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later.</a:t>
                </a:r>
              </a:p>
              <a:p>
                <a:r>
                  <a:rPr lang="en-US" altLang="zh-CN" sz="1600" baseline="0" dirty="0" smtClean="0"/>
                  <a:t>Rewards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future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should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given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lower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weights.</a:t>
                </a:r>
              </a:p>
              <a:p>
                <a:r>
                  <a:rPr lang="en-US" altLang="zh-CN" sz="1600" baseline="0" dirty="0" smtClean="0"/>
                  <a:t>----</a:t>
                </a:r>
              </a:p>
              <a:p>
                <a:r>
                  <a:rPr lang="en-US" altLang="zh-CN" sz="1600" baseline="0" dirty="0" smtClean="0"/>
                  <a:t>I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ask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another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question.</a:t>
                </a:r>
              </a:p>
              <a:p>
                <a:r>
                  <a:rPr lang="en-US" altLang="zh-CN" sz="1600" dirty="0" smtClean="0"/>
                  <a:t>Assume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you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have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two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choices:</a:t>
                </a:r>
              </a:p>
              <a:p>
                <a:r>
                  <a:rPr lang="en-US" altLang="zh-CN" sz="1600" baseline="0" dirty="0" smtClean="0"/>
                  <a:t>First,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will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give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you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80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dollars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right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away.</a:t>
                </a:r>
              </a:p>
              <a:p>
                <a:r>
                  <a:rPr lang="en-US" altLang="zh-CN" sz="1600" baseline="0" dirty="0" smtClean="0"/>
                  <a:t>Second,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will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give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you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100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dollars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one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year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later.</a:t>
                </a:r>
              </a:p>
              <a:p>
                <a:r>
                  <a:rPr lang="en-US" altLang="zh-CN" sz="1600" baseline="0" dirty="0" smtClean="0"/>
                  <a:t>Which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one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you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choose?</a:t>
                </a:r>
              </a:p>
              <a:p>
                <a:r>
                  <a:rPr lang="en-US" altLang="zh-CN" sz="1600" baseline="0" dirty="0" smtClean="0"/>
                  <a:t>----</a:t>
                </a:r>
              </a:p>
              <a:p>
                <a:r>
                  <a:rPr lang="en-US" altLang="zh-CN" sz="1600" baseline="0" dirty="0" smtClean="0"/>
                  <a:t>Some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people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may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choose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80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dollars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because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don’t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like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uncertainty.</a:t>
                </a:r>
              </a:p>
              <a:p>
                <a:r>
                  <a:rPr lang="en-US" altLang="zh-CN" sz="1600" baseline="0" dirty="0" smtClean="0"/>
                  <a:t>Some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people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may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choose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wait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year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for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100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dollars.</a:t>
                </a:r>
              </a:p>
              <a:p>
                <a:r>
                  <a:rPr lang="en-US" altLang="zh-CN" sz="1600" baseline="0" dirty="0" smtClean="0"/>
                  <a:t>If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two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choices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equally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popular,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basically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80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dollar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today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equals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100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dollars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one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year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later.</a:t>
                </a:r>
              </a:p>
              <a:p>
                <a:r>
                  <a:rPr lang="en-US" altLang="zh-CN" sz="1600" baseline="0" dirty="0" smtClean="0"/>
                  <a:t>It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means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future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reward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should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have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20%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discount.</a:t>
                </a:r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r>
                  <a:rPr lang="zh-CN" altLang="en-US" sz="1600" dirty="0" smtClean="0"/>
                  <a:t>我</a:t>
                </a:r>
                <a:r>
                  <a:rPr lang="zh-CN" altLang="en-US" sz="1600" dirty="0" smtClean="0"/>
                  <a:t>问个问题：你们觉得奖励</a:t>
                </a:r>
                <a:r>
                  <a:rPr lang="en-US" altLang="zh-CN" sz="1600" dirty="0" err="1" smtClean="0"/>
                  <a:t>r_t</a:t>
                </a:r>
                <a:r>
                  <a:rPr lang="zh-CN" altLang="en-US" sz="1600" dirty="0" smtClean="0"/>
                  <a:t>和</a:t>
                </a:r>
                <a:r>
                  <a:rPr lang="en-US" altLang="zh-CN" sz="1600" dirty="0" smtClean="0"/>
                  <a:t>r_t+1</a:t>
                </a:r>
                <a:r>
                  <a:rPr lang="zh-CN" altLang="en-US" sz="1600" dirty="0" smtClean="0"/>
                  <a:t>同等重要么？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假如我给你两个选项：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第一， 现在我立刻给你</a:t>
                </a:r>
                <a:r>
                  <a:rPr lang="en-US" altLang="zh-CN" sz="1600" dirty="0" smtClean="0"/>
                  <a:t>100</a:t>
                </a:r>
                <a:r>
                  <a:rPr lang="zh-CN" altLang="en-US" sz="1600" dirty="0" smtClean="0"/>
                  <a:t>块钱。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第二，一年后我给你</a:t>
                </a:r>
                <a:r>
                  <a:rPr lang="en-US" altLang="zh-CN" sz="1600" dirty="0" smtClean="0"/>
                  <a:t>100</a:t>
                </a:r>
                <a:r>
                  <a:rPr lang="zh-CN" altLang="en-US" sz="1600" dirty="0" smtClean="0"/>
                  <a:t>块钱。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你选哪个？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------</a:t>
                </a:r>
              </a:p>
              <a:p>
                <a:r>
                  <a:rPr lang="zh-CN" altLang="en-US" sz="1600" dirty="0" smtClean="0"/>
                  <a:t>理性人应该都会选现在得到</a:t>
                </a:r>
                <a:r>
                  <a:rPr lang="en-US" altLang="zh-CN" sz="1600" dirty="0" smtClean="0"/>
                  <a:t>100</a:t>
                </a:r>
                <a:r>
                  <a:rPr lang="zh-CN" altLang="en-US" sz="1600" dirty="0" smtClean="0"/>
                  <a:t>块钱。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这是因为未来的不确定性很大，即使我现在答应明年给你</a:t>
                </a:r>
                <a:r>
                  <a:rPr lang="en-US" altLang="zh-CN" sz="1600" dirty="0" smtClean="0"/>
                  <a:t>100</a:t>
                </a:r>
                <a:r>
                  <a:rPr lang="zh-CN" altLang="en-US" sz="1600" dirty="0" smtClean="0"/>
                  <a:t>，你也未必能拿到。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大家都明白这个道理，“明年得到</a:t>
                </a:r>
                <a:r>
                  <a:rPr lang="en-US" altLang="zh-CN" sz="1600" dirty="0" smtClean="0"/>
                  <a:t>100</a:t>
                </a:r>
                <a:r>
                  <a:rPr lang="zh-CN" altLang="en-US" sz="1600" dirty="0" smtClean="0"/>
                  <a:t>块钱”不如“现在立刻拿到</a:t>
                </a:r>
                <a:r>
                  <a:rPr lang="en-US" altLang="zh-CN" sz="1600" dirty="0" smtClean="0"/>
                  <a:t>100</a:t>
                </a:r>
                <a:r>
                  <a:rPr lang="zh-CN" altLang="en-US" sz="1600" dirty="0" smtClean="0"/>
                  <a:t>块钱”。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--------</a:t>
                </a:r>
              </a:p>
              <a:p>
                <a:r>
                  <a:rPr lang="zh-CN" altLang="en-US" sz="1600" dirty="0" smtClean="0"/>
                  <a:t>要是换一个问题，现在我立刻给你</a:t>
                </a:r>
                <a:r>
                  <a:rPr lang="en-US" altLang="zh-CN" sz="1600" dirty="0" smtClean="0"/>
                  <a:t>80</a:t>
                </a:r>
                <a:r>
                  <a:rPr lang="zh-CN" altLang="en-US" sz="1600" dirty="0" smtClean="0"/>
                  <a:t>块钱，或者是明年我给你</a:t>
                </a:r>
                <a:r>
                  <a:rPr lang="en-US" altLang="zh-CN" sz="1600" dirty="0" smtClean="0"/>
                  <a:t>100</a:t>
                </a:r>
                <a:r>
                  <a:rPr lang="zh-CN" altLang="en-US" sz="1600" dirty="0" smtClean="0"/>
                  <a:t>块钱。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你选哪一个？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或许大家会做不同的选择，有的人愿意拿现在的</a:t>
                </a:r>
                <a:r>
                  <a:rPr lang="en-US" altLang="zh-CN" sz="1600" dirty="0" smtClean="0"/>
                  <a:t>80</a:t>
                </a:r>
                <a:r>
                  <a:rPr lang="zh-CN" altLang="en-US" sz="1600" dirty="0" smtClean="0"/>
                  <a:t>，有的人愿意等一年拿</a:t>
                </a:r>
                <a:r>
                  <a:rPr lang="en-US" altLang="zh-CN" sz="1600" dirty="0" smtClean="0"/>
                  <a:t>100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endParaRPr lang="en-US" altLang="zh-CN" sz="1600" dirty="0" smtClean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16192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/>
                  <a:t>We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concluded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that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</a:t>
                </a:r>
                <a:r>
                  <a:rPr lang="en-US" altLang="zh-CN" sz="1600" dirty="0" smtClean="0"/>
                  <a:t>uture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reward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is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less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valuable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than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present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reward.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/>
                  <a:t>So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I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should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give</a:t>
                </a:r>
                <a:r>
                  <a:rPr lang="zh-CN" altLang="en-US" sz="1600" baseline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sz="16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less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weight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than</a:t>
                </a:r>
                <a:r>
                  <a:rPr lang="zh-CN" altLang="en-US" sz="16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1600" dirty="0" smtClean="0"/>
                  <a:t>.</a:t>
                </a:r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r>
                  <a:rPr lang="zh-CN" altLang="en-US" sz="1600" dirty="0" smtClean="0"/>
                  <a:t>所以呢，未来的奖励</a:t>
                </a:r>
                <a:r>
                  <a:rPr lang="en-US" altLang="zh-CN" sz="1600" dirty="0" smtClean="0"/>
                  <a:t>100</a:t>
                </a:r>
                <a:r>
                  <a:rPr lang="zh-CN" altLang="en-US" sz="1600" dirty="0" smtClean="0"/>
                  <a:t>块钱不如现在的</a:t>
                </a:r>
                <a:r>
                  <a:rPr lang="en-US" altLang="zh-CN" sz="1600" dirty="0" smtClean="0"/>
                  <a:t>100</a:t>
                </a:r>
                <a:r>
                  <a:rPr lang="zh-CN" altLang="en-US" sz="1600" dirty="0" smtClean="0"/>
                  <a:t>好，未来的</a:t>
                </a:r>
                <a:r>
                  <a:rPr lang="en-US" altLang="zh-CN" sz="1600" dirty="0" smtClean="0"/>
                  <a:t>100</a:t>
                </a:r>
                <a:r>
                  <a:rPr lang="zh-CN" altLang="en-US" sz="1600" dirty="0" smtClean="0"/>
                  <a:t>恐怕就值现在的</a:t>
                </a:r>
                <a:r>
                  <a:rPr lang="en-US" altLang="zh-CN" sz="1600" dirty="0" smtClean="0"/>
                  <a:t>80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因此，我该给未来的奖励打个折扣，比如打八折。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未来的奖励</a:t>
                </a:r>
                <a:r>
                  <a:rPr lang="en-US" altLang="zh-CN" sz="1600" dirty="0" smtClean="0"/>
                  <a:t>r_{t+1}</a:t>
                </a:r>
                <a:r>
                  <a:rPr lang="zh-CN" altLang="en-US" sz="1600" dirty="0" smtClean="0"/>
                  <a:t>的权重    要比   </a:t>
                </a:r>
                <a:r>
                  <a:rPr lang="en-US" altLang="zh-CN" sz="1600" dirty="0" err="1" smtClean="0"/>
                  <a:t>r_t</a:t>
                </a:r>
                <a:r>
                  <a:rPr lang="zh-CN" altLang="en-US" sz="1600" dirty="0" smtClean="0"/>
                  <a:t>的权重低才行。</a:t>
                </a:r>
                <a:endParaRPr lang="en-US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/>
                  <a:t>We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concluded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that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</a:t>
                </a:r>
                <a:r>
                  <a:rPr lang="en-US" altLang="zh-CN" sz="1600" dirty="0" smtClean="0"/>
                  <a:t>uture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reward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is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less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valuable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than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present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reward.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/>
                  <a:t>So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I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should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give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="0" i="0" smtClean="0">
                    <a:solidFill>
                      <a:srgbClr val="0070C0"/>
                    </a:solidFill>
                    <a:latin typeface="Cambria Math" charset="0"/>
                  </a:rPr>
                  <a:t>𝑅</a:t>
                </a:r>
                <a:r>
                  <a:rPr lang="en-US" altLang="zh-CN" sz="1600" b="0" i="0" smtClean="0">
                    <a:solidFill>
                      <a:srgbClr val="0070C0"/>
                    </a:solidFill>
                    <a:latin typeface="Cambria Math" charset="0"/>
                  </a:rPr>
                  <a:t>_(</a:t>
                </a:r>
                <a:r>
                  <a:rPr lang="en-US" sz="1600" i="0">
                    <a:solidFill>
                      <a:srgbClr val="0070C0"/>
                    </a:solidFill>
                    <a:latin typeface="Cambria Math" charset="0"/>
                  </a:rPr>
                  <a:t>𝑡+1</a:t>
                </a:r>
                <a:r>
                  <a:rPr lang="en-US" sz="1600" i="0" smtClean="0">
                    <a:solidFill>
                      <a:srgbClr val="0070C0"/>
                    </a:solidFill>
                    <a:latin typeface="Cambria Math" charset="0"/>
                  </a:rPr>
                  <a:t>)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less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weight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than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b="0" i="0" smtClean="0">
                    <a:solidFill>
                      <a:srgbClr val="0070C0"/>
                    </a:solidFill>
                    <a:latin typeface="Cambria Math" charset="0"/>
                  </a:rPr>
                  <a:t>𝑅</a:t>
                </a:r>
                <a:r>
                  <a:rPr lang="en-US" altLang="zh-CN" sz="1600" b="0" i="0" smtClean="0">
                    <a:solidFill>
                      <a:srgbClr val="0070C0"/>
                    </a:solidFill>
                    <a:latin typeface="Cambria Math" charset="0"/>
                  </a:rPr>
                  <a:t>_</a:t>
                </a:r>
                <a:r>
                  <a:rPr lang="en-US" sz="1600" i="0">
                    <a:solidFill>
                      <a:srgbClr val="0070C0"/>
                    </a:solidFill>
                    <a:latin typeface="Cambria Math" charset="0"/>
                  </a:rPr>
                  <a:t>𝑡</a:t>
                </a:r>
                <a:r>
                  <a:rPr lang="en-US" altLang="zh-CN" sz="1600" dirty="0" smtClean="0"/>
                  <a:t>.</a:t>
                </a:r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r>
                  <a:rPr lang="zh-CN" altLang="en-US" sz="1600" dirty="0" smtClean="0"/>
                  <a:t>所以</a:t>
                </a:r>
                <a:r>
                  <a:rPr lang="zh-CN" altLang="en-US" sz="1600" dirty="0" smtClean="0"/>
                  <a:t>呢，未来的奖励</a:t>
                </a:r>
                <a:r>
                  <a:rPr lang="en-US" altLang="zh-CN" sz="1600" dirty="0" smtClean="0"/>
                  <a:t>100</a:t>
                </a:r>
                <a:r>
                  <a:rPr lang="zh-CN" altLang="en-US" sz="1600" dirty="0" smtClean="0"/>
                  <a:t>块钱不如现在的</a:t>
                </a:r>
                <a:r>
                  <a:rPr lang="en-US" altLang="zh-CN" sz="1600" dirty="0" smtClean="0"/>
                  <a:t>100</a:t>
                </a:r>
                <a:r>
                  <a:rPr lang="zh-CN" altLang="en-US" sz="1600" dirty="0" smtClean="0"/>
                  <a:t>好，未来的</a:t>
                </a:r>
                <a:r>
                  <a:rPr lang="en-US" altLang="zh-CN" sz="1600" dirty="0" smtClean="0"/>
                  <a:t>100</a:t>
                </a:r>
                <a:r>
                  <a:rPr lang="zh-CN" altLang="en-US" sz="1600" dirty="0" smtClean="0"/>
                  <a:t>恐怕就值现在的</a:t>
                </a:r>
                <a:r>
                  <a:rPr lang="en-US" altLang="zh-CN" sz="1600" dirty="0" smtClean="0"/>
                  <a:t>80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因此，我该给未来的奖励打个折扣，比如打八折。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未来的奖励</a:t>
                </a:r>
                <a:r>
                  <a:rPr lang="en-US" altLang="zh-CN" sz="1600" dirty="0" smtClean="0"/>
                  <a:t>r_{t+1}</a:t>
                </a:r>
                <a:r>
                  <a:rPr lang="zh-CN" altLang="en-US" sz="1600" dirty="0" smtClean="0"/>
                  <a:t>的权重    要比   </a:t>
                </a:r>
                <a:r>
                  <a:rPr lang="en-US" altLang="zh-CN" sz="1600" dirty="0" err="1" smtClean="0"/>
                  <a:t>r_t</a:t>
                </a:r>
                <a:r>
                  <a:rPr lang="zh-CN" altLang="en-US" sz="1600" dirty="0" smtClean="0"/>
                  <a:t>的权重低才行。</a:t>
                </a:r>
                <a:endParaRPr lang="en-US" sz="1600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17908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baseline="0" dirty="0" smtClean="0"/>
                  <a:t>Since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future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rewards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less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important,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future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rewards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should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discounted.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/>
                  <a:t>==========================</a:t>
                </a:r>
              </a:p>
              <a:p>
                <a:r>
                  <a:rPr lang="en-US" altLang="zh-CN" sz="1600" baseline="0" dirty="0" smtClean="0"/>
                  <a:t>Let</a:t>
                </a:r>
                <a:r>
                  <a:rPr lang="zh-CN" altLang="en-US" sz="1600" baseline="0" dirty="0" smtClean="0"/>
                  <a:t> </a:t>
                </a:r>
                <a14:m>
                  <m:oMath xmlns:m="http://schemas.openxmlformats.org/officeDocument/2006/math">
                    <m:r>
                      <a:rPr lang="en-US" sz="1600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𝛾</m:t>
                    </m:r>
                  </m:oMath>
                </a14:m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sz="1600" dirty="0" smtClean="0"/>
                  <a:t>discount </a:t>
                </a:r>
                <a:r>
                  <a:rPr lang="en-US" altLang="zh-CN" sz="1600" dirty="0" smtClean="0"/>
                  <a:t>factor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;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it’s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between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0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and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1.</a:t>
                </a:r>
              </a:p>
              <a:p>
                <a:r>
                  <a:rPr lang="en-US" altLang="zh-CN" sz="1600" baseline="0" dirty="0" smtClean="0"/>
                  <a:t>If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you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believe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future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reward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equally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important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current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reward,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you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set</a:t>
                </a:r>
                <a:r>
                  <a:rPr lang="zh-CN" altLang="en-US" sz="1600" baseline="0" dirty="0" smtClean="0"/>
                  <a:t> </a:t>
                </a:r>
                <a14:m>
                  <m:oMath xmlns:m="http://schemas.openxmlformats.org/officeDocument/2006/math">
                    <m:r>
                      <a:rPr lang="en-US" sz="1600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𝛾</m:t>
                    </m:r>
                  </m:oMath>
                </a14:m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one.</a:t>
                </a:r>
              </a:p>
              <a:p>
                <a:r>
                  <a:rPr lang="en-US" altLang="zh-CN" sz="1600" baseline="0" dirty="0" smtClean="0"/>
                  <a:t>If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future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reward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not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important,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then</a:t>
                </a:r>
                <a:r>
                  <a:rPr lang="zh-CN" altLang="en-US" sz="1600" baseline="0" dirty="0" smtClean="0"/>
                  <a:t> </a:t>
                </a:r>
                <a14:m>
                  <m:oMath xmlns:m="http://schemas.openxmlformats.org/officeDocument/2006/math">
                    <m:r>
                      <a:rPr lang="en-US" sz="1600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𝛾</m:t>
                    </m:r>
                  </m:oMath>
                </a14:m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set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small.</a:t>
                </a:r>
              </a:p>
              <a:p>
                <a14:m>
                  <m:oMath xmlns:m="http://schemas.openxmlformats.org/officeDocument/2006/math">
                    <m:r>
                      <a:rPr lang="en-US" sz="1600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𝛾</m:t>
                    </m:r>
                  </m:oMath>
                </a14:m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hyper-parameter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that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should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tuned.</a:t>
                </a:r>
              </a:p>
              <a:p>
                <a:r>
                  <a:rPr lang="en-US" altLang="zh-CN" sz="1600" baseline="0" dirty="0" smtClean="0"/>
                  <a:t>==========================</a:t>
                </a:r>
              </a:p>
              <a:p>
                <a:r>
                  <a:rPr lang="en-US" altLang="zh-CN" sz="1600" baseline="0" dirty="0" smtClean="0"/>
                  <a:t>With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discount,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return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becomes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discounted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return,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also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known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as</a:t>
                </a:r>
                <a:r>
                  <a:rPr lang="zh-CN" altLang="en-US" sz="1600" baseline="0" dirty="0" smtClean="0"/>
                  <a:t> </a:t>
                </a:r>
                <a:r>
                  <a:rPr lang="en-US" sz="1600" dirty="0" smtClean="0"/>
                  <a:t>cumulative</a:t>
                </a:r>
                <a:r>
                  <a:rPr lang="en-US" sz="1600" dirty="0" smtClean="0">
                    <a:solidFill>
                      <a:srgbClr val="C00000"/>
                    </a:solidFill>
                  </a:rPr>
                  <a:t> discounted </a:t>
                </a:r>
                <a:r>
                  <a:rPr lang="en-US" sz="1600" dirty="0" smtClean="0"/>
                  <a:t>future reward</a:t>
                </a:r>
                <a:r>
                  <a:rPr lang="en-US" altLang="zh-CN" sz="1600" dirty="0" smtClean="0"/>
                  <a:t>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/>
                  <a:t>==========================</a:t>
                </a:r>
              </a:p>
              <a:p>
                <a:r>
                  <a:rPr lang="en-US" altLang="zh-CN" sz="1600" baseline="0" dirty="0" smtClean="0"/>
                  <a:t>Denote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also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by</a:t>
                </a:r>
                <a:r>
                  <a:rPr lang="zh-CN" altLang="en-US" sz="1600" baseline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1600" baseline="0" dirty="0" smtClean="0"/>
                  <a:t>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/>
                  <a:t>==========================</a:t>
                </a:r>
              </a:p>
              <a:p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current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reward</a:t>
                </a:r>
                <a:r>
                  <a:rPr lang="zh-CN" altLang="en-US" sz="1600" baseline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not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discounted.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/>
                  <a:t>==========================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sz="16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discounted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by</a:t>
                </a:r>
                <a:r>
                  <a:rPr lang="zh-CN" altLang="en-US" sz="1600" baseline="0" dirty="0" smtClean="0"/>
                  <a:t> </a:t>
                </a:r>
                <a14:m>
                  <m:oMath xmlns:m="http://schemas.openxmlformats.org/officeDocument/2006/math">
                    <m:r>
                      <a:rPr lang="en-US" sz="1600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𝛾</m:t>
                    </m:r>
                  </m:oMath>
                </a14:m>
                <a:r>
                  <a:rPr lang="en-US" altLang="zh-CN" sz="1600" baseline="0" dirty="0" smtClean="0"/>
                  <a:t>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/>
                  <a:t>==========================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sz="16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+2</m:t>
                        </m:r>
                      </m:sub>
                    </m:sSub>
                  </m:oMath>
                </a14:m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discounted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by</a:t>
                </a:r>
                <a:r>
                  <a:rPr lang="zh-CN" altLang="en-US" sz="1600" baseline="0" dirty="0" smtClean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sz="160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𝛾</m:t>
                        </m:r>
                      </m:e>
                      <m:sup>
                        <m:r>
                          <a:rPr lang="en-US" altLang="zh-CN" sz="1600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600" baseline="0" dirty="0" smtClean="0"/>
                  <a:t>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/>
                  <a:t>And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on.</a:t>
                </a:r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r>
                  <a:rPr lang="zh-CN" altLang="en-US" sz="1600" dirty="0" smtClean="0"/>
                  <a:t>由于未来的奖励没现在的奖励值钱，所以强化学习中普遍使用</a:t>
                </a:r>
                <a:r>
                  <a:rPr lang="en-US" altLang="zh-CN" sz="1600" dirty="0" smtClean="0"/>
                  <a:t>discounted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return</a:t>
                </a:r>
                <a:r>
                  <a:rPr lang="zh-CN" altLang="en-US" sz="1600" dirty="0" smtClean="0"/>
                  <a:t>折扣回报。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把折扣率记做</a:t>
                </a:r>
                <a:r>
                  <a:rPr lang="en-US" altLang="zh-CN" sz="1600" dirty="0" smtClean="0"/>
                  <a:t>gamma</a:t>
                </a:r>
                <a:r>
                  <a:rPr lang="zh-CN" altLang="en-US" sz="1600" dirty="0" smtClean="0"/>
                  <a:t>，这个值要介于</a:t>
                </a:r>
                <a:r>
                  <a:rPr lang="en-US" altLang="zh-CN" sz="1600" dirty="0" smtClean="0"/>
                  <a:t>0</a:t>
                </a:r>
                <a:r>
                  <a:rPr lang="zh-CN" altLang="en-US" sz="1600" dirty="0" smtClean="0"/>
                  <a:t>和</a:t>
                </a:r>
                <a:r>
                  <a:rPr lang="en-US" altLang="zh-CN" sz="1600" dirty="0" smtClean="0"/>
                  <a:t>1</a:t>
                </a:r>
                <a:r>
                  <a:rPr lang="zh-CN" altLang="en-US" sz="1600" dirty="0" smtClean="0"/>
                  <a:t>之间。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如果未来和现在的权重一样，</a:t>
                </a:r>
                <a:r>
                  <a:rPr lang="en-US" altLang="zh-CN" sz="1600" dirty="0" smtClean="0"/>
                  <a:t>gamma</a:t>
                </a:r>
                <a:r>
                  <a:rPr lang="zh-CN" altLang="en-US" sz="1600" dirty="0" smtClean="0"/>
                  <a:t>就等于</a:t>
                </a:r>
                <a:r>
                  <a:rPr lang="en-US" altLang="zh-CN" sz="1600" dirty="0" smtClean="0"/>
                  <a:t>1.</a:t>
                </a:r>
              </a:p>
              <a:p>
                <a:r>
                  <a:rPr lang="zh-CN" altLang="en-US" sz="1600" dirty="0" smtClean="0"/>
                  <a:t>要是未来的奖励不重要，</a:t>
                </a:r>
                <a:r>
                  <a:rPr lang="en-US" altLang="zh-CN" sz="1600" dirty="0" smtClean="0"/>
                  <a:t>gamma</a:t>
                </a:r>
                <a:r>
                  <a:rPr lang="zh-CN" altLang="en-US" sz="1600" dirty="0" smtClean="0"/>
                  <a:t>就比较小。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------</a:t>
                </a:r>
              </a:p>
              <a:p>
                <a:r>
                  <a:rPr lang="zh-CN" altLang="en-US" sz="1600" dirty="0" smtClean="0"/>
                  <a:t>这是</a:t>
                </a:r>
                <a:r>
                  <a:rPr lang="en-US" altLang="zh-CN" sz="1600" dirty="0" smtClean="0"/>
                  <a:t>discounted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return</a:t>
                </a:r>
                <a:r>
                  <a:rPr lang="zh-CN" altLang="en-US" sz="1600" dirty="0" smtClean="0"/>
                  <a:t>折扣回报  的定义。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当前的奖励</a:t>
                </a:r>
                <a:r>
                  <a:rPr lang="en-US" altLang="zh-CN" sz="1600" dirty="0" err="1" smtClean="0"/>
                  <a:t>R_t</a:t>
                </a:r>
                <a:r>
                  <a:rPr lang="zh-CN" altLang="en-US" sz="1600" dirty="0" smtClean="0"/>
                  <a:t>没有折扣；下一时刻的折扣率</a:t>
                </a:r>
                <a:r>
                  <a:rPr lang="en-US" altLang="zh-CN" sz="1600" dirty="0" smtClean="0"/>
                  <a:t>gamma</a:t>
                </a:r>
                <a:r>
                  <a:rPr lang="zh-CN" altLang="en-US" sz="1600" dirty="0" smtClean="0"/>
                  <a:t>，</a:t>
                </a:r>
                <a:r>
                  <a:rPr lang="en-US" altLang="zh-CN" sz="1600" dirty="0" smtClean="0"/>
                  <a:t>t+2</a:t>
                </a:r>
                <a:r>
                  <a:rPr lang="zh-CN" altLang="en-US" sz="1600" dirty="0" smtClean="0"/>
                  <a:t>时刻折扣是</a:t>
                </a:r>
                <a:r>
                  <a:rPr lang="en-US" altLang="zh-CN" sz="1600" dirty="0" smtClean="0"/>
                  <a:t>gamma</a:t>
                </a:r>
                <a:r>
                  <a:rPr lang="zh-CN" altLang="en-US" sz="1600" dirty="0" smtClean="0"/>
                  <a:t>平法，</a:t>
                </a:r>
                <a:r>
                  <a:rPr lang="en-US" altLang="zh-CN" sz="1600" dirty="0" smtClean="0"/>
                  <a:t>t+3</a:t>
                </a:r>
                <a:r>
                  <a:rPr lang="zh-CN" altLang="en-US" sz="1600" dirty="0" smtClean="0"/>
                  <a:t>时刻折扣是</a:t>
                </a:r>
                <a:r>
                  <a:rPr lang="en-US" altLang="zh-CN" sz="1600" dirty="0" smtClean="0"/>
                  <a:t>gamma</a:t>
                </a:r>
                <a:r>
                  <a:rPr lang="zh-CN" altLang="en-US" sz="1600" dirty="0" smtClean="0"/>
                  <a:t>立法，以此类推。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------</a:t>
                </a:r>
              </a:p>
              <a:p>
                <a:r>
                  <a:rPr lang="zh-CN" altLang="en-US" sz="1600" dirty="0" smtClean="0"/>
                  <a:t>折扣率是个超参数，需要我们自己调。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折扣率的设置会对强化学习的效果有一定影响。</a:t>
                </a:r>
                <a:endParaRPr lang="en-US" altLang="zh-CN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baseline="0" dirty="0" smtClean="0"/>
                  <a:t>Since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future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reward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less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important,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give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them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discount.</a:t>
                </a:r>
              </a:p>
              <a:p>
                <a:r>
                  <a:rPr lang="en-US" altLang="zh-CN" sz="1600" baseline="0" dirty="0" smtClean="0"/>
                  <a:t>Let</a:t>
                </a:r>
                <a:r>
                  <a:rPr lang="zh-CN" altLang="en-US" sz="1600" baseline="0" dirty="0" smtClean="0"/>
                  <a:t> </a:t>
                </a:r>
                <a:r>
                  <a:rPr lang="en-US" sz="1600" i="0" smtClean="0">
                    <a:solidFill>
                      <a:srgbClr val="C00000"/>
                    </a:solidFill>
                    <a:latin typeface="Cambria Math" charset="0"/>
                  </a:rPr>
                  <a:t>𝛾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sz="1600" dirty="0" smtClean="0"/>
                  <a:t>discount rate</a:t>
                </a:r>
                <a:r>
                  <a:rPr lang="en-US" altLang="zh-CN" sz="1600" dirty="0" smtClean="0"/>
                  <a:t>;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it’s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between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0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and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1.</a:t>
                </a:r>
              </a:p>
              <a:p>
                <a:r>
                  <a:rPr lang="en-US" altLang="zh-CN" sz="1600" baseline="0" dirty="0" smtClean="0"/>
                  <a:t>If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you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believe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future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reward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equally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important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current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reward,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then</a:t>
                </a:r>
                <a:r>
                  <a:rPr lang="zh-CN" altLang="en-US" sz="1600" baseline="0" dirty="0" smtClean="0"/>
                  <a:t> </a:t>
                </a:r>
                <a:r>
                  <a:rPr lang="en-US" sz="1600" i="0" smtClean="0">
                    <a:solidFill>
                      <a:srgbClr val="C00000"/>
                    </a:solidFill>
                    <a:latin typeface="Cambria Math" charset="0"/>
                  </a:rPr>
                  <a:t>𝛾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set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one.</a:t>
                </a:r>
              </a:p>
              <a:p>
                <a:r>
                  <a:rPr lang="en-US" altLang="zh-CN" sz="1600" baseline="0" dirty="0" smtClean="0"/>
                  <a:t>If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future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reward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not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important,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then</a:t>
                </a:r>
                <a:r>
                  <a:rPr lang="zh-CN" altLang="en-US" sz="1600" baseline="0" dirty="0" smtClean="0"/>
                  <a:t> </a:t>
                </a:r>
                <a:r>
                  <a:rPr lang="en-US" sz="1600" i="0" smtClean="0">
                    <a:solidFill>
                      <a:srgbClr val="C00000"/>
                    </a:solidFill>
                    <a:latin typeface="Cambria Math" charset="0"/>
                  </a:rPr>
                  <a:t>𝛾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set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small.</a:t>
                </a:r>
              </a:p>
              <a:p>
                <a:r>
                  <a:rPr lang="en-US" sz="1600" i="0" smtClean="0">
                    <a:solidFill>
                      <a:srgbClr val="C00000"/>
                    </a:solidFill>
                    <a:latin typeface="Cambria Math" charset="0"/>
                  </a:rPr>
                  <a:t>𝛾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hyper-parameter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that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should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tuned.</a:t>
                </a:r>
              </a:p>
              <a:p>
                <a:r>
                  <a:rPr lang="en-US" altLang="zh-CN" sz="1600" baseline="0" dirty="0" smtClean="0"/>
                  <a:t>-----</a:t>
                </a:r>
              </a:p>
              <a:p>
                <a:r>
                  <a:rPr lang="en-US" altLang="zh-CN" sz="1600" baseline="0" dirty="0" smtClean="0"/>
                  <a:t>With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discount,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return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becomes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discounted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return,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also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known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as</a:t>
                </a:r>
                <a:r>
                  <a:rPr lang="zh-CN" altLang="en-US" sz="1600" baseline="0" dirty="0" smtClean="0"/>
                  <a:t> </a:t>
                </a:r>
                <a:r>
                  <a:rPr lang="en-US" sz="1600" dirty="0" smtClean="0"/>
                  <a:t>cumulative</a:t>
                </a:r>
                <a:r>
                  <a:rPr lang="en-US" sz="1600" dirty="0" smtClean="0">
                    <a:solidFill>
                      <a:srgbClr val="C00000"/>
                    </a:solidFill>
                  </a:rPr>
                  <a:t> discounted </a:t>
                </a:r>
                <a:r>
                  <a:rPr lang="en-US" sz="1600" dirty="0" smtClean="0"/>
                  <a:t>future reward</a:t>
                </a:r>
                <a:r>
                  <a:rPr lang="en-US" altLang="zh-CN" sz="1600" dirty="0" smtClean="0"/>
                  <a:t>.</a:t>
                </a:r>
              </a:p>
              <a:p>
                <a:r>
                  <a:rPr lang="en-US" altLang="zh-CN" sz="1600" baseline="0" dirty="0" smtClean="0"/>
                  <a:t>Also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denote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="0" i="0" smtClean="0">
                    <a:latin typeface="Cambria Math" charset="0"/>
                  </a:rPr>
                  <a:t>𝑈</a:t>
                </a:r>
                <a:r>
                  <a:rPr lang="en-US" altLang="zh-CN" sz="1600" b="0" i="0" smtClean="0">
                    <a:latin typeface="Cambria Math" charset="0"/>
                  </a:rPr>
                  <a:t>_</a:t>
                </a:r>
                <a:r>
                  <a:rPr lang="en-US" sz="1600" i="0">
                    <a:latin typeface="Cambria Math" charset="0"/>
                  </a:rPr>
                  <a:t>𝑡</a:t>
                </a:r>
                <a:r>
                  <a:rPr lang="en-US" altLang="zh-CN" sz="1600" baseline="0" dirty="0" smtClean="0"/>
                  <a:t>.</a:t>
                </a:r>
              </a:p>
              <a:p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current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reward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="0" i="0" smtClean="0">
                    <a:solidFill>
                      <a:srgbClr val="0070C0"/>
                    </a:solidFill>
                    <a:latin typeface="Cambria Math" charset="0"/>
                  </a:rPr>
                  <a:t>𝑅</a:t>
                </a:r>
                <a:r>
                  <a:rPr lang="en-US" altLang="zh-CN" sz="1600" b="0" i="0" smtClean="0">
                    <a:solidFill>
                      <a:srgbClr val="0070C0"/>
                    </a:solidFill>
                    <a:latin typeface="Cambria Math" charset="0"/>
                  </a:rPr>
                  <a:t>_</a:t>
                </a:r>
                <a:r>
                  <a:rPr lang="en-US" sz="1600" i="0">
                    <a:solidFill>
                      <a:srgbClr val="0070C0"/>
                    </a:solidFill>
                    <a:latin typeface="Cambria Math" charset="0"/>
                  </a:rPr>
                  <a:t>𝑡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not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discounted.</a:t>
                </a:r>
              </a:p>
              <a:p>
                <a:r>
                  <a:rPr lang="en-US" altLang="zh-CN" sz="1600" b="0" i="0" smtClean="0">
                    <a:solidFill>
                      <a:srgbClr val="0070C0"/>
                    </a:solidFill>
                    <a:latin typeface="Cambria Math" charset="0"/>
                  </a:rPr>
                  <a:t>𝑅</a:t>
                </a:r>
                <a:r>
                  <a:rPr lang="en-US" altLang="zh-CN" sz="1600" b="0" i="0" smtClean="0">
                    <a:solidFill>
                      <a:srgbClr val="0070C0"/>
                    </a:solidFill>
                    <a:latin typeface="Cambria Math" charset="0"/>
                  </a:rPr>
                  <a:t>_(</a:t>
                </a:r>
                <a:r>
                  <a:rPr lang="en-US" sz="1600" i="0">
                    <a:solidFill>
                      <a:srgbClr val="0070C0"/>
                    </a:solidFill>
                    <a:latin typeface="Cambria Math" charset="0"/>
                  </a:rPr>
                  <a:t>𝑡+1</a:t>
                </a:r>
                <a:r>
                  <a:rPr lang="en-US" sz="1600" i="0" smtClean="0">
                    <a:solidFill>
                      <a:srgbClr val="0070C0"/>
                    </a:solidFill>
                    <a:latin typeface="Cambria Math" charset="0"/>
                  </a:rPr>
                  <a:t>)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discounted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by</a:t>
                </a:r>
                <a:r>
                  <a:rPr lang="zh-CN" altLang="en-US" sz="1600" baseline="0" dirty="0" smtClean="0"/>
                  <a:t> </a:t>
                </a:r>
                <a:r>
                  <a:rPr lang="en-US" sz="1600" i="0" smtClean="0">
                    <a:solidFill>
                      <a:srgbClr val="C00000"/>
                    </a:solidFill>
                    <a:latin typeface="Cambria Math" charset="0"/>
                  </a:rPr>
                  <a:t>𝛾</a:t>
                </a:r>
                <a:r>
                  <a:rPr lang="en-US" altLang="zh-CN" sz="1600" baseline="0" dirty="0" smtClean="0"/>
                  <a:t>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="0" i="0" smtClean="0">
                    <a:solidFill>
                      <a:srgbClr val="0070C0"/>
                    </a:solidFill>
                    <a:latin typeface="Cambria Math" charset="0"/>
                  </a:rPr>
                  <a:t>𝑅</a:t>
                </a:r>
                <a:r>
                  <a:rPr lang="en-US" altLang="zh-CN" sz="1600" b="0" i="0" smtClean="0">
                    <a:solidFill>
                      <a:srgbClr val="0070C0"/>
                    </a:solidFill>
                    <a:latin typeface="Cambria Math" charset="0"/>
                  </a:rPr>
                  <a:t>_(</a:t>
                </a:r>
                <a:r>
                  <a:rPr lang="en-US" sz="1600" i="0">
                    <a:solidFill>
                      <a:srgbClr val="0070C0"/>
                    </a:solidFill>
                    <a:latin typeface="Cambria Math" charset="0"/>
                  </a:rPr>
                  <a:t>𝑡+</a:t>
                </a:r>
                <a:r>
                  <a:rPr lang="en-US" altLang="zh-CN" sz="1600" b="0" i="0" smtClean="0">
                    <a:solidFill>
                      <a:srgbClr val="0070C0"/>
                    </a:solidFill>
                    <a:latin typeface="Cambria Math" charset="0"/>
                  </a:rPr>
                  <a:t>2)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discounted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by</a:t>
                </a:r>
                <a:r>
                  <a:rPr lang="zh-CN" altLang="en-US" sz="1600" baseline="0" dirty="0" smtClean="0"/>
                  <a:t> </a:t>
                </a:r>
                <a:r>
                  <a:rPr lang="en-US" sz="1600" i="0" smtClean="0">
                    <a:solidFill>
                      <a:srgbClr val="C00000"/>
                    </a:solidFill>
                    <a:latin typeface="Cambria Math" charset="0"/>
                  </a:rPr>
                  <a:t>𝛾</a:t>
                </a:r>
                <a:r>
                  <a:rPr lang="en-US" altLang="zh-CN" sz="1600" b="0" i="0" smtClean="0">
                    <a:solidFill>
                      <a:srgbClr val="C00000"/>
                    </a:solidFill>
                    <a:latin typeface="Cambria Math" charset="0"/>
                  </a:rPr>
                  <a:t>^2</a:t>
                </a:r>
                <a:r>
                  <a:rPr lang="en-US" altLang="zh-CN" sz="1600" baseline="0" dirty="0" smtClean="0"/>
                  <a:t>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/>
                  <a:t>And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on.</a:t>
                </a:r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r>
                  <a:rPr lang="zh-CN" altLang="en-US" sz="1600" dirty="0" smtClean="0"/>
                  <a:t>由于</a:t>
                </a:r>
                <a:r>
                  <a:rPr lang="zh-CN" altLang="en-US" sz="1600" dirty="0" smtClean="0"/>
                  <a:t>未来的奖励没现在的奖励值钱，所以强化学习中普遍使用</a:t>
                </a:r>
                <a:r>
                  <a:rPr lang="en-US" altLang="zh-CN" sz="1600" dirty="0" smtClean="0"/>
                  <a:t>discounted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return</a:t>
                </a:r>
                <a:r>
                  <a:rPr lang="zh-CN" altLang="en-US" sz="1600" dirty="0" smtClean="0"/>
                  <a:t>折扣回报。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把折扣率记做</a:t>
                </a:r>
                <a:r>
                  <a:rPr lang="en-US" altLang="zh-CN" sz="1600" dirty="0" smtClean="0"/>
                  <a:t>gamma</a:t>
                </a:r>
                <a:r>
                  <a:rPr lang="zh-CN" altLang="en-US" sz="1600" dirty="0" smtClean="0"/>
                  <a:t>，这个值要介于</a:t>
                </a:r>
                <a:r>
                  <a:rPr lang="en-US" altLang="zh-CN" sz="1600" dirty="0" smtClean="0"/>
                  <a:t>0</a:t>
                </a:r>
                <a:r>
                  <a:rPr lang="zh-CN" altLang="en-US" sz="1600" dirty="0" smtClean="0"/>
                  <a:t>和</a:t>
                </a:r>
                <a:r>
                  <a:rPr lang="en-US" altLang="zh-CN" sz="1600" dirty="0" smtClean="0"/>
                  <a:t>1</a:t>
                </a:r>
                <a:r>
                  <a:rPr lang="zh-CN" altLang="en-US" sz="1600" dirty="0" smtClean="0"/>
                  <a:t>之间。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如果未来和现在的权重一样，</a:t>
                </a:r>
                <a:r>
                  <a:rPr lang="en-US" altLang="zh-CN" sz="1600" dirty="0" smtClean="0"/>
                  <a:t>gamma</a:t>
                </a:r>
                <a:r>
                  <a:rPr lang="zh-CN" altLang="en-US" sz="1600" dirty="0" smtClean="0"/>
                  <a:t>就等于</a:t>
                </a:r>
                <a:r>
                  <a:rPr lang="en-US" altLang="zh-CN" sz="1600" dirty="0" smtClean="0"/>
                  <a:t>1.</a:t>
                </a:r>
              </a:p>
              <a:p>
                <a:r>
                  <a:rPr lang="zh-CN" altLang="en-US" sz="1600" dirty="0" smtClean="0"/>
                  <a:t>要是未来的奖励不重要，</a:t>
                </a:r>
                <a:r>
                  <a:rPr lang="en-US" altLang="zh-CN" sz="1600" dirty="0" smtClean="0"/>
                  <a:t>gamma</a:t>
                </a:r>
                <a:r>
                  <a:rPr lang="zh-CN" altLang="en-US" sz="1600" dirty="0" smtClean="0"/>
                  <a:t>就比较小。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------</a:t>
                </a:r>
              </a:p>
              <a:p>
                <a:r>
                  <a:rPr lang="zh-CN" altLang="en-US" sz="1600" dirty="0" smtClean="0"/>
                  <a:t>这是</a:t>
                </a:r>
                <a:r>
                  <a:rPr lang="en-US" altLang="zh-CN" sz="1600" dirty="0" smtClean="0"/>
                  <a:t>discounted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return</a:t>
                </a:r>
                <a:r>
                  <a:rPr lang="zh-CN" altLang="en-US" sz="1600" dirty="0" smtClean="0"/>
                  <a:t>折扣回报  的定义。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当前的奖励</a:t>
                </a:r>
                <a:r>
                  <a:rPr lang="en-US" altLang="zh-CN" sz="1600" dirty="0" err="1" smtClean="0"/>
                  <a:t>R_t</a:t>
                </a:r>
                <a:r>
                  <a:rPr lang="zh-CN" altLang="en-US" sz="1600" dirty="0" smtClean="0"/>
                  <a:t>没有折扣；下一时刻的折扣率是</a:t>
                </a:r>
                <a:r>
                  <a:rPr lang="en-US" altLang="zh-CN" sz="1600" dirty="0" smtClean="0"/>
                  <a:t>gamma</a:t>
                </a:r>
                <a:r>
                  <a:rPr lang="zh-CN" altLang="en-US" sz="1600" dirty="0" smtClean="0"/>
                  <a:t>，</a:t>
                </a:r>
                <a:r>
                  <a:rPr lang="en-US" altLang="zh-CN" sz="1600" dirty="0" smtClean="0"/>
                  <a:t>t+2</a:t>
                </a:r>
                <a:r>
                  <a:rPr lang="zh-CN" altLang="en-US" sz="1600" dirty="0" smtClean="0"/>
                  <a:t>时刻折扣率是</a:t>
                </a:r>
                <a:r>
                  <a:rPr lang="en-US" altLang="zh-CN" sz="1600" dirty="0" smtClean="0"/>
                  <a:t>gamma</a:t>
                </a:r>
                <a:r>
                  <a:rPr lang="zh-CN" altLang="en-US" sz="1600" dirty="0" smtClean="0"/>
                  <a:t>平法，</a:t>
                </a:r>
                <a:r>
                  <a:rPr lang="en-US" altLang="zh-CN" sz="1600" dirty="0" smtClean="0"/>
                  <a:t>t+3</a:t>
                </a:r>
                <a:r>
                  <a:rPr lang="zh-CN" altLang="en-US" sz="1600" dirty="0" smtClean="0"/>
                  <a:t>时刻折扣率是</a:t>
                </a:r>
                <a:r>
                  <a:rPr lang="en-US" altLang="zh-CN" sz="1600" dirty="0" smtClean="0"/>
                  <a:t>gamma</a:t>
                </a:r>
                <a:r>
                  <a:rPr lang="zh-CN" altLang="en-US" sz="1600" dirty="0" smtClean="0"/>
                  <a:t>立法，以此类推。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------</a:t>
                </a:r>
              </a:p>
              <a:p>
                <a:r>
                  <a:rPr lang="zh-CN" altLang="en-US" sz="1600" dirty="0" smtClean="0"/>
                  <a:t>折扣率是个超参数，需要我们自己调。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折扣率的设置会对强化学习的效果有一定影响。</a:t>
                </a:r>
                <a:endParaRPr lang="en-US" sz="1600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97692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 smtClean="0"/>
                  <a:t>This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discounted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return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just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defined.</a:t>
                </a:r>
              </a:p>
              <a:p>
                <a:r>
                  <a:rPr lang="en-US" altLang="zh-CN" sz="1600" baseline="0" dirty="0" smtClean="0"/>
                  <a:t>It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weighted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sum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rewards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from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time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end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game.</a:t>
                </a:r>
              </a:p>
              <a:p>
                <a:r>
                  <a:rPr lang="en-US" altLang="zh-CN" sz="1600" dirty="0" smtClean="0"/>
                  <a:t>Suppose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game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ends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time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n.</a:t>
                </a:r>
              </a:p>
              <a:p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discounted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return</a:t>
                </a:r>
                <a:r>
                  <a:rPr lang="zh-CN" altLang="en-US" sz="1600" baseline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weighted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sum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of</a:t>
                </a:r>
                <a:r>
                  <a:rPr lang="zh-CN" altLang="en-US" sz="1600" baseline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to</a:t>
                </a:r>
                <a:r>
                  <a:rPr lang="zh-CN" altLang="en-US" sz="1600" baseline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1600" baseline="0" dirty="0" smtClean="0"/>
                  <a:t>.</a:t>
                </a:r>
              </a:p>
              <a:p>
                <a:endParaRPr lang="en-US" altLang="zh-CN" sz="1600" baseline="0" dirty="0" smtClean="0"/>
              </a:p>
              <a:p>
                <a:endParaRPr lang="en-US" altLang="zh-CN" sz="1600" baseline="0" dirty="0" smtClean="0"/>
              </a:p>
              <a:p>
                <a:endParaRPr lang="en-US" altLang="zh-CN" sz="1600" baseline="0" dirty="0" smtClean="0"/>
              </a:p>
              <a:p>
                <a:endParaRPr lang="en-US" altLang="zh-CN" sz="1600" baseline="0" dirty="0" smtClean="0"/>
              </a:p>
              <a:p>
                <a:endParaRPr lang="en-US" altLang="zh-CN" sz="1600" baseline="0" dirty="0" smtClean="0"/>
              </a:p>
              <a:p>
                <a:endParaRPr lang="en-US" altLang="zh-CN" sz="1600" baseline="0" dirty="0" smtClean="0"/>
              </a:p>
              <a:p>
                <a:endParaRPr lang="en-US" altLang="zh-CN" sz="1600" baseline="0" dirty="0" smtClean="0"/>
              </a:p>
              <a:p>
                <a:endParaRPr lang="en-US" altLang="zh-CN" sz="1600" dirty="0" smtClean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 smtClean="0"/>
                  <a:t>Let’s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study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randomness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in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return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i="0">
                    <a:latin typeface="Cambria Math" charset="0"/>
                  </a:rPr>
                  <a:t>𝑈</a:t>
                </a:r>
                <a:r>
                  <a:rPr lang="en-US" altLang="zh-CN" sz="1600" i="0" smtClean="0">
                    <a:latin typeface="Cambria Math" charset="0"/>
                  </a:rPr>
                  <a:t>_</a:t>
                </a:r>
                <a:r>
                  <a:rPr lang="en-US" sz="1600" i="0">
                    <a:latin typeface="Cambria Math" charset="0"/>
                  </a:rPr>
                  <a:t>𝑡</a:t>
                </a:r>
                <a:r>
                  <a:rPr lang="en-US" altLang="zh-CN" sz="1600" dirty="0" smtClean="0"/>
                  <a:t>.</a:t>
                </a:r>
              </a:p>
              <a:p>
                <a:r>
                  <a:rPr lang="en-US" altLang="zh-CN" sz="1600" dirty="0" smtClean="0"/>
                  <a:t>When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game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ends,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we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can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observe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all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rewards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R,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and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will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represented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lower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case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letters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r.</a:t>
                </a:r>
              </a:p>
              <a:p>
                <a:r>
                  <a:rPr lang="en-US" altLang="zh-CN" sz="1600" baseline="0" dirty="0" smtClean="0"/>
                  <a:t>-----</a:t>
                </a:r>
              </a:p>
              <a:p>
                <a:r>
                  <a:rPr lang="en-US" altLang="zh-CN" sz="1600" baseline="0" dirty="0" smtClean="0"/>
                  <a:t>But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time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step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game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not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end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yet,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not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observe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any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these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rewards.</a:t>
                </a:r>
              </a:p>
              <a:p>
                <a:r>
                  <a:rPr lang="en-US" altLang="zh-CN" sz="1600" baseline="0" dirty="0" smtClean="0"/>
                  <a:t>So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random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variables,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and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denoted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uppercase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letter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R.</a:t>
                </a:r>
              </a:p>
              <a:p>
                <a:r>
                  <a:rPr lang="en-US" altLang="zh-CN" sz="1600" baseline="0" dirty="0" smtClean="0"/>
                  <a:t>======</a:t>
                </a:r>
              </a:p>
              <a:p>
                <a:r>
                  <a:rPr lang="en-US" altLang="zh-CN" sz="1600" baseline="0" dirty="0" smtClean="0"/>
                  <a:t>There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two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sources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randomness:</a:t>
                </a:r>
              </a:p>
              <a:p>
                <a:r>
                  <a:rPr lang="en-US" altLang="zh-CN" sz="1600" baseline="0" dirty="0" smtClean="0"/>
                  <a:t>First,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actions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can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random.</a:t>
                </a:r>
              </a:p>
              <a:p>
                <a:r>
                  <a:rPr lang="en-US" altLang="zh-CN" sz="1600" baseline="0" dirty="0" smtClean="0"/>
                  <a:t>They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randomly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sampled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from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distributed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computed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policy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function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pi.</a:t>
                </a:r>
              </a:p>
              <a:p>
                <a:r>
                  <a:rPr lang="en-US" altLang="zh-CN" sz="1600" baseline="0" dirty="0" smtClean="0"/>
                  <a:t>----</a:t>
                </a:r>
              </a:p>
              <a:p>
                <a:r>
                  <a:rPr lang="en-US" altLang="zh-CN" sz="1600" baseline="0" dirty="0" smtClean="0"/>
                  <a:t>Second,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new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state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can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random.</a:t>
                </a:r>
              </a:p>
              <a:p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new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state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randomly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generated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state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transition.</a:t>
                </a:r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r>
                  <a:rPr lang="zh-CN" altLang="en-US" sz="1600" dirty="0" smtClean="0"/>
                  <a:t>我们</a:t>
                </a:r>
                <a:r>
                  <a:rPr lang="zh-CN" altLang="en-US" sz="1600" dirty="0" smtClean="0"/>
                  <a:t>来看一下</a:t>
                </a:r>
                <a:r>
                  <a:rPr lang="en-US" altLang="zh-CN" sz="1600" dirty="0" smtClean="0"/>
                  <a:t>Return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i="0">
                    <a:latin typeface="Cambria Math" charset="0"/>
                  </a:rPr>
                  <a:t>𝑈</a:t>
                </a:r>
                <a:r>
                  <a:rPr lang="en-US" altLang="zh-CN" sz="1600" i="0" smtClean="0">
                    <a:latin typeface="Cambria Math" charset="0"/>
                  </a:rPr>
                  <a:t>_</a:t>
                </a:r>
                <a:r>
                  <a:rPr lang="en-US" sz="1600" i="0">
                    <a:latin typeface="Cambria Math" charset="0"/>
                  </a:rPr>
                  <a:t>𝑡</a:t>
                </a:r>
                <a:r>
                  <a:rPr lang="zh-CN" altLang="en-US" sz="1600" baseline="0" dirty="0" smtClean="0"/>
                  <a:t>中的随机性。</a:t>
                </a:r>
                <a:endParaRPr lang="en-US" altLang="zh-CN" sz="1600" baseline="0" dirty="0" smtClean="0"/>
              </a:p>
              <a:p>
                <a:r>
                  <a:rPr lang="en-US" altLang="zh-CN" sz="1600" dirty="0" smtClean="0"/>
                  <a:t>-----</a:t>
                </a:r>
              </a:p>
              <a:p>
                <a:r>
                  <a:rPr lang="zh-CN" altLang="en-US" sz="1600" dirty="0" smtClean="0"/>
                  <a:t>假如游戏已经结束，所有的奖励都观测到了，那么奖励都是数值，用小写字母表示。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</a:t>
                </a:r>
              </a:p>
              <a:p>
                <a:r>
                  <a:rPr lang="zh-CN" altLang="en-US" sz="1600" dirty="0" smtClean="0"/>
                  <a:t>如果在</a:t>
                </a:r>
                <a:r>
                  <a:rPr lang="en-US" altLang="zh-CN" sz="1600" dirty="0" smtClean="0"/>
                  <a:t>t</a:t>
                </a:r>
                <a:r>
                  <a:rPr lang="zh-CN" altLang="en-US" sz="1600" dirty="0" smtClean="0"/>
                  <a:t>时刻</a:t>
                </a:r>
                <a:r>
                  <a:rPr lang="zh-CN" altLang="en-US" sz="1600" baseline="0" dirty="0" smtClean="0"/>
                  <a:t>  </a:t>
                </a:r>
                <a:r>
                  <a:rPr lang="zh-CN" altLang="en-US" sz="1600" dirty="0" smtClean="0"/>
                  <a:t>游戏还没结束，这些奖励全都还是随机变量，没有被观测到，我们用大写字母</a:t>
                </a:r>
                <a:r>
                  <a:rPr lang="en-US" altLang="zh-CN" sz="1600" dirty="0" smtClean="0"/>
                  <a:t>R</a:t>
                </a:r>
                <a:r>
                  <a:rPr lang="zh-CN" altLang="en-US" sz="1600" dirty="0" smtClean="0"/>
                  <a:t>来表示奖励。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由于</a:t>
                </a:r>
                <a:r>
                  <a:rPr lang="en-US" altLang="zh-CN" sz="1600" dirty="0" smtClean="0"/>
                  <a:t>return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U</a:t>
                </a:r>
                <a:r>
                  <a:rPr lang="zh-CN" altLang="en-US" sz="1600" dirty="0" smtClean="0"/>
                  <a:t>依赖于奖励</a:t>
                </a:r>
                <a:r>
                  <a:rPr lang="en-US" altLang="zh-CN" sz="1600" dirty="0" smtClean="0"/>
                  <a:t>R</a:t>
                </a:r>
                <a:r>
                  <a:rPr lang="zh-CN" altLang="en-US" sz="1600" dirty="0" smtClean="0"/>
                  <a:t>，所以</a:t>
                </a:r>
                <a:r>
                  <a:rPr lang="en-US" altLang="zh-CN" sz="1600" dirty="0" smtClean="0"/>
                  <a:t>return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U</a:t>
                </a:r>
                <a:r>
                  <a:rPr lang="zh-CN" altLang="en-US" sz="1600" dirty="0" smtClean="0"/>
                  <a:t>也是随机变量，也用大写字母表示。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========</a:t>
                </a:r>
              </a:p>
              <a:p>
                <a:r>
                  <a:rPr lang="zh-CN" altLang="en-US" sz="1600" dirty="0" smtClean="0"/>
                  <a:t>随机性有两个来源：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第一是动作</a:t>
                </a:r>
                <a:r>
                  <a:rPr lang="en-US" altLang="zh-CN" sz="1600" dirty="0" smtClean="0"/>
                  <a:t>a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回忆一下，</a:t>
                </a:r>
                <a:r>
                  <a:rPr lang="en-US" altLang="zh-CN" sz="1600" dirty="0" smtClean="0"/>
                  <a:t>policy</a:t>
                </a:r>
                <a:r>
                  <a:rPr lang="zh-CN" altLang="en-US" sz="1600" dirty="0" smtClean="0"/>
                  <a:t>函数</a:t>
                </a:r>
                <a:r>
                  <a:rPr lang="en-US" altLang="zh-CN" sz="1600" dirty="0" smtClean="0"/>
                  <a:t>pi</a:t>
                </a:r>
                <a:r>
                  <a:rPr lang="zh-CN" altLang="en-US" sz="1600" dirty="0" smtClean="0"/>
                  <a:t>用状态</a:t>
                </a:r>
                <a:r>
                  <a:rPr lang="en-US" altLang="zh-CN" sz="1600" dirty="0" smtClean="0"/>
                  <a:t>s</a:t>
                </a:r>
                <a:r>
                  <a:rPr lang="zh-CN" altLang="en-US" sz="1600" dirty="0" smtClean="0"/>
                  <a:t>作为输入，输出一个概率分布。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动作</a:t>
                </a:r>
                <a:r>
                  <a:rPr lang="en-US" altLang="zh-CN" sz="1600" dirty="0" smtClean="0"/>
                  <a:t>a</a:t>
                </a:r>
                <a:r>
                  <a:rPr lang="zh-CN" altLang="en-US" sz="1600" dirty="0" smtClean="0"/>
                  <a:t>从这个概率分布中随机抽样得到。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------</a:t>
                </a:r>
              </a:p>
              <a:p>
                <a:r>
                  <a:rPr lang="zh-CN" altLang="en-US" sz="1600" dirty="0" smtClean="0"/>
                  <a:t>第二个随机性来源是下一个状态。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给定了当前状态</a:t>
                </a:r>
                <a:r>
                  <a:rPr lang="en-US" altLang="zh-CN" sz="1600" dirty="0" smtClean="0"/>
                  <a:t>s</a:t>
                </a:r>
                <a:r>
                  <a:rPr lang="zh-CN" altLang="en-US" sz="1600" dirty="0" smtClean="0"/>
                  <a:t>和动作</a:t>
                </a:r>
                <a:r>
                  <a:rPr lang="en-US" altLang="zh-CN" sz="1600" dirty="0" smtClean="0"/>
                  <a:t>a</a:t>
                </a:r>
                <a:r>
                  <a:rPr lang="zh-CN" altLang="en-US" sz="1600" dirty="0" smtClean="0"/>
                  <a:t>，下一个状态</a:t>
                </a:r>
                <a:r>
                  <a:rPr lang="en-US" altLang="zh-CN" sz="1600" dirty="0" smtClean="0"/>
                  <a:t>s’</a:t>
                </a:r>
                <a:r>
                  <a:rPr lang="zh-CN" altLang="en-US" sz="1600" dirty="0" smtClean="0"/>
                  <a:t>是随机的。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这个状态转移函数</a:t>
                </a:r>
                <a:r>
                  <a:rPr lang="en-US" altLang="zh-CN" sz="1600" dirty="0" smtClean="0"/>
                  <a:t>p</a:t>
                </a:r>
                <a:r>
                  <a:rPr lang="zh-CN" altLang="en-US" sz="1600" dirty="0" smtClean="0"/>
                  <a:t>输出概率分布，环境从这个概率分布中随机抽样得到新的状态</a:t>
                </a:r>
                <a:r>
                  <a:rPr lang="en-US" altLang="zh-CN" sz="1600" dirty="0" smtClean="0"/>
                  <a:t>s’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6748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 smtClean="0"/>
                  <a:t>Let’s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study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randomness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in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return</a:t>
                </a:r>
                <a:r>
                  <a:rPr lang="zh-CN" altLang="en-US" sz="16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1600" dirty="0" smtClean="0"/>
                  <a:t>.</a:t>
                </a:r>
              </a:p>
              <a:p>
                <a:r>
                  <a:rPr lang="en-US" altLang="zh-CN" sz="1600" dirty="0" smtClean="0"/>
                  <a:t>At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end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of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game,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observe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return.</a:t>
                </a:r>
              </a:p>
              <a:p>
                <a:r>
                  <a:rPr lang="en-US" altLang="zh-CN" sz="1600" baseline="0" dirty="0" smtClean="0"/>
                  <a:t>=============================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charset="0"/>
                          </a:rPr>
                          <m:t>𝑢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observed,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denote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lower-case</a:t>
                </a:r>
                <a:r>
                  <a:rPr lang="zh-CN" altLang="en-US" sz="1600" baseline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charset="0"/>
                          </a:rPr>
                          <m:t>𝑢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1600" baseline="0" dirty="0" smtClean="0"/>
                  <a:t>.</a:t>
                </a:r>
              </a:p>
              <a:p>
                <a:r>
                  <a:rPr lang="en-US" altLang="zh-CN" sz="1600" baseline="0" dirty="0" smtClean="0"/>
                  <a:t>=============================</a:t>
                </a:r>
              </a:p>
              <a:p>
                <a:r>
                  <a:rPr lang="en-US" altLang="zh-CN" sz="1600" baseline="0" dirty="0" smtClean="0"/>
                  <a:t>Upon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finishing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game,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dirty="0" smtClean="0"/>
                  <a:t>observe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all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rewards.</a:t>
                </a:r>
              </a:p>
              <a:p>
                <a:r>
                  <a:rPr lang="en-US" altLang="zh-CN" sz="1600" dirty="0" smtClean="0"/>
                  <a:t>Denote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observations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lower-case</a:t>
                </a:r>
                <a:r>
                  <a:rPr lang="zh-CN" altLang="en-US" sz="1600" baseline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𝑟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to</a:t>
                </a:r>
                <a:r>
                  <a:rPr lang="zh-CN" altLang="en-US" sz="16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𝑟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1600" dirty="0" smtClean="0"/>
                  <a:t>.</a:t>
                </a:r>
              </a:p>
              <a:p>
                <a:r>
                  <a:rPr lang="en-US" altLang="zh-CN" sz="1600" baseline="0" dirty="0" smtClean="0"/>
                  <a:t>=============================</a:t>
                </a:r>
              </a:p>
              <a:p>
                <a:r>
                  <a:rPr lang="en-US" altLang="zh-CN" sz="1600" baseline="0" dirty="0" smtClean="0"/>
                  <a:t>We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can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thereby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compute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return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using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equation.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Taking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weighted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sum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of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observed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rewards,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get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return,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small</a:t>
                </a:r>
                <a:r>
                  <a:rPr lang="zh-CN" altLang="en-US" sz="1600" baseline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charset="0"/>
                          </a:rPr>
                          <m:t>𝑢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1600" baseline="0" dirty="0" smtClean="0"/>
                  <a:t>.</a:t>
                </a:r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r>
                  <a:rPr lang="zh-CN" altLang="en-US" sz="1600" dirty="0" smtClean="0"/>
                  <a:t>我们来看一下</a:t>
                </a:r>
                <a:r>
                  <a:rPr lang="en-US" altLang="zh-CN" sz="1600" dirty="0" smtClean="0"/>
                  <a:t>Return</a:t>
                </a:r>
                <a:r>
                  <a:rPr lang="zh-CN" altLang="en-US" sz="1600" baseline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baseline="0" dirty="0" smtClean="0"/>
                  <a:t>中的随机性。</a:t>
                </a:r>
                <a:endParaRPr lang="en-US" altLang="zh-CN" sz="1600" baseline="0" dirty="0" smtClean="0"/>
              </a:p>
              <a:p>
                <a:r>
                  <a:rPr lang="en-US" altLang="zh-CN" sz="1600" dirty="0" smtClean="0"/>
                  <a:t>-----</a:t>
                </a:r>
              </a:p>
              <a:p>
                <a:r>
                  <a:rPr lang="zh-CN" altLang="en-US" sz="1600" dirty="0" smtClean="0"/>
                  <a:t>假如游戏已经结束，所有的奖励都观测到了，那么奖励都是数值，用小写字母表示。</a:t>
                </a:r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 smtClean="0"/>
                  <a:t>Let’s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study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randomness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in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return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i="0">
                    <a:latin typeface="Cambria Math" charset="0"/>
                  </a:rPr>
                  <a:t>𝑈</a:t>
                </a:r>
                <a:r>
                  <a:rPr lang="en-US" altLang="zh-CN" sz="1600" i="0" smtClean="0">
                    <a:latin typeface="Cambria Math" charset="0"/>
                  </a:rPr>
                  <a:t>_</a:t>
                </a:r>
                <a:r>
                  <a:rPr lang="en-US" sz="1600" i="0">
                    <a:latin typeface="Cambria Math" charset="0"/>
                  </a:rPr>
                  <a:t>𝑡</a:t>
                </a:r>
                <a:r>
                  <a:rPr lang="en-US" altLang="zh-CN" sz="1600" dirty="0" smtClean="0"/>
                  <a:t>.</a:t>
                </a:r>
              </a:p>
              <a:p>
                <a:r>
                  <a:rPr lang="en-US" altLang="zh-CN" sz="1600" dirty="0" smtClean="0"/>
                  <a:t>When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game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ends,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we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can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observe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all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rewards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R,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and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will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represented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lower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case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letters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r.</a:t>
                </a:r>
              </a:p>
              <a:p>
                <a:r>
                  <a:rPr lang="en-US" altLang="zh-CN" sz="1600" baseline="0" dirty="0" smtClean="0"/>
                  <a:t>-----</a:t>
                </a:r>
              </a:p>
              <a:p>
                <a:r>
                  <a:rPr lang="en-US" altLang="zh-CN" sz="1600" baseline="0" dirty="0" smtClean="0"/>
                  <a:t>But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time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step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game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not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end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yet,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not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observe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any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these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rewards.</a:t>
                </a:r>
              </a:p>
              <a:p>
                <a:r>
                  <a:rPr lang="en-US" altLang="zh-CN" sz="1600" baseline="0" dirty="0" smtClean="0"/>
                  <a:t>So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random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variables,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and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denoted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uppercase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letter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R.</a:t>
                </a:r>
              </a:p>
              <a:p>
                <a:r>
                  <a:rPr lang="en-US" altLang="zh-CN" sz="1600" baseline="0" dirty="0" smtClean="0"/>
                  <a:t>======</a:t>
                </a:r>
              </a:p>
              <a:p>
                <a:r>
                  <a:rPr lang="en-US" altLang="zh-CN" sz="1600" baseline="0" dirty="0" smtClean="0"/>
                  <a:t>There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two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sources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randomness:</a:t>
                </a:r>
              </a:p>
              <a:p>
                <a:r>
                  <a:rPr lang="en-US" altLang="zh-CN" sz="1600" baseline="0" dirty="0" smtClean="0"/>
                  <a:t>First,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actions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can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random.</a:t>
                </a:r>
              </a:p>
              <a:p>
                <a:r>
                  <a:rPr lang="en-US" altLang="zh-CN" sz="1600" baseline="0" dirty="0" smtClean="0"/>
                  <a:t>They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randomly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sampled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from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distributed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computed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policy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function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pi.</a:t>
                </a:r>
              </a:p>
              <a:p>
                <a:r>
                  <a:rPr lang="en-US" altLang="zh-CN" sz="1600" baseline="0" dirty="0" smtClean="0"/>
                  <a:t>----</a:t>
                </a:r>
              </a:p>
              <a:p>
                <a:r>
                  <a:rPr lang="en-US" altLang="zh-CN" sz="1600" baseline="0" dirty="0" smtClean="0"/>
                  <a:t>Second,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new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state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can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random.</a:t>
                </a:r>
              </a:p>
              <a:p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new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state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randomly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generated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state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transition.</a:t>
                </a:r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r>
                  <a:rPr lang="zh-CN" altLang="en-US" sz="1600" dirty="0" smtClean="0"/>
                  <a:t>我们</a:t>
                </a:r>
                <a:r>
                  <a:rPr lang="zh-CN" altLang="en-US" sz="1600" dirty="0" smtClean="0"/>
                  <a:t>来看一下</a:t>
                </a:r>
                <a:r>
                  <a:rPr lang="en-US" altLang="zh-CN" sz="1600" dirty="0" smtClean="0"/>
                  <a:t>Return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i="0">
                    <a:latin typeface="Cambria Math" charset="0"/>
                  </a:rPr>
                  <a:t>𝑈</a:t>
                </a:r>
                <a:r>
                  <a:rPr lang="en-US" altLang="zh-CN" sz="1600" i="0" smtClean="0">
                    <a:latin typeface="Cambria Math" charset="0"/>
                  </a:rPr>
                  <a:t>_</a:t>
                </a:r>
                <a:r>
                  <a:rPr lang="en-US" sz="1600" i="0">
                    <a:latin typeface="Cambria Math" charset="0"/>
                  </a:rPr>
                  <a:t>𝑡</a:t>
                </a:r>
                <a:r>
                  <a:rPr lang="zh-CN" altLang="en-US" sz="1600" baseline="0" dirty="0" smtClean="0"/>
                  <a:t>中的随机性。</a:t>
                </a:r>
                <a:endParaRPr lang="en-US" altLang="zh-CN" sz="1600" baseline="0" dirty="0" smtClean="0"/>
              </a:p>
              <a:p>
                <a:r>
                  <a:rPr lang="en-US" altLang="zh-CN" sz="1600" dirty="0" smtClean="0"/>
                  <a:t>-----</a:t>
                </a:r>
              </a:p>
              <a:p>
                <a:r>
                  <a:rPr lang="zh-CN" altLang="en-US" sz="1600" dirty="0" smtClean="0"/>
                  <a:t>假如游戏已经结束，所有的奖励都观测到了，那么奖励都是数值，用小写字母表示。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</a:t>
                </a:r>
              </a:p>
              <a:p>
                <a:r>
                  <a:rPr lang="zh-CN" altLang="en-US" sz="1600" dirty="0" smtClean="0"/>
                  <a:t>如果在</a:t>
                </a:r>
                <a:r>
                  <a:rPr lang="en-US" altLang="zh-CN" sz="1600" dirty="0" smtClean="0"/>
                  <a:t>t</a:t>
                </a:r>
                <a:r>
                  <a:rPr lang="zh-CN" altLang="en-US" sz="1600" dirty="0" smtClean="0"/>
                  <a:t>时刻</a:t>
                </a:r>
                <a:r>
                  <a:rPr lang="zh-CN" altLang="en-US" sz="1600" baseline="0" dirty="0" smtClean="0"/>
                  <a:t>  </a:t>
                </a:r>
                <a:r>
                  <a:rPr lang="zh-CN" altLang="en-US" sz="1600" dirty="0" smtClean="0"/>
                  <a:t>游戏还没结束，这些奖励全都还是随机变量，没有被观测到，我们用大写字母</a:t>
                </a:r>
                <a:r>
                  <a:rPr lang="en-US" altLang="zh-CN" sz="1600" dirty="0" smtClean="0"/>
                  <a:t>R</a:t>
                </a:r>
                <a:r>
                  <a:rPr lang="zh-CN" altLang="en-US" sz="1600" dirty="0" smtClean="0"/>
                  <a:t>来表示奖励。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由于</a:t>
                </a:r>
                <a:r>
                  <a:rPr lang="en-US" altLang="zh-CN" sz="1600" dirty="0" smtClean="0"/>
                  <a:t>return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U</a:t>
                </a:r>
                <a:r>
                  <a:rPr lang="zh-CN" altLang="en-US" sz="1600" dirty="0" smtClean="0"/>
                  <a:t>依赖于奖励</a:t>
                </a:r>
                <a:r>
                  <a:rPr lang="en-US" altLang="zh-CN" sz="1600" dirty="0" smtClean="0"/>
                  <a:t>R</a:t>
                </a:r>
                <a:r>
                  <a:rPr lang="zh-CN" altLang="en-US" sz="1600" dirty="0" smtClean="0"/>
                  <a:t>，所以</a:t>
                </a:r>
                <a:r>
                  <a:rPr lang="en-US" altLang="zh-CN" sz="1600" dirty="0" smtClean="0"/>
                  <a:t>return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U</a:t>
                </a:r>
                <a:r>
                  <a:rPr lang="zh-CN" altLang="en-US" sz="1600" dirty="0" smtClean="0"/>
                  <a:t>也是随机变量，也用大写字母表示。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========</a:t>
                </a:r>
              </a:p>
              <a:p>
                <a:r>
                  <a:rPr lang="zh-CN" altLang="en-US" sz="1600" dirty="0" smtClean="0"/>
                  <a:t>随机性有两个来源：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第一是动作</a:t>
                </a:r>
                <a:r>
                  <a:rPr lang="en-US" altLang="zh-CN" sz="1600" dirty="0" smtClean="0"/>
                  <a:t>a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回忆一下，</a:t>
                </a:r>
                <a:r>
                  <a:rPr lang="en-US" altLang="zh-CN" sz="1600" dirty="0" smtClean="0"/>
                  <a:t>policy</a:t>
                </a:r>
                <a:r>
                  <a:rPr lang="zh-CN" altLang="en-US" sz="1600" dirty="0" smtClean="0"/>
                  <a:t>函数</a:t>
                </a:r>
                <a:r>
                  <a:rPr lang="en-US" altLang="zh-CN" sz="1600" dirty="0" smtClean="0"/>
                  <a:t>pi</a:t>
                </a:r>
                <a:r>
                  <a:rPr lang="zh-CN" altLang="en-US" sz="1600" dirty="0" smtClean="0"/>
                  <a:t>用状态</a:t>
                </a:r>
                <a:r>
                  <a:rPr lang="en-US" altLang="zh-CN" sz="1600" dirty="0" smtClean="0"/>
                  <a:t>s</a:t>
                </a:r>
                <a:r>
                  <a:rPr lang="zh-CN" altLang="en-US" sz="1600" dirty="0" smtClean="0"/>
                  <a:t>作为输入，输出一个概率分布。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动作</a:t>
                </a:r>
                <a:r>
                  <a:rPr lang="en-US" altLang="zh-CN" sz="1600" dirty="0" smtClean="0"/>
                  <a:t>a</a:t>
                </a:r>
                <a:r>
                  <a:rPr lang="zh-CN" altLang="en-US" sz="1600" dirty="0" smtClean="0"/>
                  <a:t>从这个概率分布中随机抽样得到。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------</a:t>
                </a:r>
              </a:p>
              <a:p>
                <a:r>
                  <a:rPr lang="zh-CN" altLang="en-US" sz="1600" dirty="0" smtClean="0"/>
                  <a:t>第二个随机性来源是下一个状态。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给定了当前状态</a:t>
                </a:r>
                <a:r>
                  <a:rPr lang="en-US" altLang="zh-CN" sz="1600" dirty="0" smtClean="0"/>
                  <a:t>s</a:t>
                </a:r>
                <a:r>
                  <a:rPr lang="zh-CN" altLang="en-US" sz="1600" dirty="0" smtClean="0"/>
                  <a:t>和动作</a:t>
                </a:r>
                <a:r>
                  <a:rPr lang="en-US" altLang="zh-CN" sz="1600" dirty="0" smtClean="0"/>
                  <a:t>a</a:t>
                </a:r>
                <a:r>
                  <a:rPr lang="zh-CN" altLang="en-US" sz="1600" dirty="0" smtClean="0"/>
                  <a:t>，下一个状态</a:t>
                </a:r>
                <a:r>
                  <a:rPr lang="en-US" altLang="zh-CN" sz="1600" dirty="0" smtClean="0"/>
                  <a:t>s’</a:t>
                </a:r>
                <a:r>
                  <a:rPr lang="zh-CN" altLang="en-US" sz="1600" dirty="0" smtClean="0"/>
                  <a:t>是随机的。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这个状态转移函数</a:t>
                </a:r>
                <a:r>
                  <a:rPr lang="en-US" altLang="zh-CN" sz="1600" dirty="0" smtClean="0"/>
                  <a:t>p</a:t>
                </a:r>
                <a:r>
                  <a:rPr lang="zh-CN" altLang="en-US" sz="1600" dirty="0" smtClean="0"/>
                  <a:t>输出概率分布，环境从这个概率分布中随机抽样得到新的状态</a:t>
                </a:r>
                <a:r>
                  <a:rPr lang="en-US" altLang="zh-CN" sz="1600" dirty="0" smtClean="0"/>
                  <a:t>s’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66385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baseline="0" dirty="0" smtClean="0"/>
                  <a:t>At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time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game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has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not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ended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yet,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have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not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observed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rewards.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/>
                  <a:t>========================================</a:t>
                </a:r>
              </a:p>
              <a:p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rewards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random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variables;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denote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them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upper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case</a:t>
                </a:r>
                <a:r>
                  <a:rPr lang="zh-CN" altLang="en-US" sz="1600" baseline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en-US" altLang="zh-CN" sz="1600" b="0" i="1" smtClean="0">
                        <a:solidFill>
                          <a:srgbClr val="0070C0"/>
                        </a:solidFill>
                        <a:latin typeface="Cambria Math" charset="0"/>
                      </a:rPr>
                      <m:t>,</m:t>
                    </m:r>
                    <m:r>
                      <a:rPr lang="zh-CN" altLang="en-US" sz="1600" b="0" i="1" smtClean="0">
                        <a:solidFill>
                          <a:srgbClr val="0070C0"/>
                        </a:solidFill>
                        <a:latin typeface="Cambria Math" charset="0"/>
                      </a:rPr>
                      <m:t> </m:t>
                    </m:r>
                    <m:r>
                      <a:rPr lang="en-US" altLang="zh-CN" sz="1600" b="0" i="1" smtClean="0">
                        <a:solidFill>
                          <a:srgbClr val="0070C0"/>
                        </a:solidFill>
                        <a:latin typeface="Cambria Math" charset="0"/>
                      </a:rPr>
                      <m:t>⋯,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1600" baseline="0" dirty="0" smtClean="0"/>
                  <a:t>.</a:t>
                </a:r>
              </a:p>
              <a:p>
                <a:r>
                  <a:rPr lang="en-US" altLang="zh-CN" sz="1600" baseline="0" dirty="0" smtClean="0"/>
                  <a:t>========================================</a:t>
                </a:r>
              </a:p>
              <a:p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return,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big</a:t>
                </a:r>
                <a:r>
                  <a:rPr lang="zh-CN" altLang="en-US" sz="1600" baseline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is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sum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of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rewards;</a:t>
                </a:r>
              </a:p>
              <a:p>
                <a:r>
                  <a:rPr lang="en-US" altLang="zh-CN" sz="160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rewards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random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variables,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so</a:t>
                </a:r>
                <a:r>
                  <a:rPr lang="zh-CN" altLang="en-US" sz="16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is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also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>
                    <a:solidFill>
                      <a:srgbClr val="C00000"/>
                    </a:solidFill>
                  </a:rPr>
                  <a:t>random</a:t>
                </a:r>
                <a:r>
                  <a:rPr lang="zh-CN" altLang="en-US" sz="1600" dirty="0" smtClean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rgbClr val="C00000"/>
                    </a:solidFill>
                  </a:rPr>
                  <a:t>variable</a:t>
                </a:r>
                <a:r>
                  <a:rPr lang="en-US" altLang="zh-CN" sz="1600" baseline="0" dirty="0" smtClean="0"/>
                  <a:t>.</a:t>
                </a:r>
              </a:p>
              <a:p>
                <a:r>
                  <a:rPr lang="en-US" altLang="zh-CN" sz="1600" baseline="0" dirty="0" smtClean="0"/>
                  <a:t>Denoted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return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upper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case</a:t>
                </a:r>
                <a:r>
                  <a:rPr lang="zh-CN" altLang="en-US" sz="1600" baseline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1600" baseline="0" dirty="0" smtClean="0"/>
                  <a:t>.</a:t>
                </a:r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 smtClean="0"/>
                  <a:t>Let’s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study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randomness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in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return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i="0">
                    <a:latin typeface="Cambria Math" charset="0"/>
                  </a:rPr>
                  <a:t>𝑈</a:t>
                </a:r>
                <a:r>
                  <a:rPr lang="en-US" altLang="zh-CN" sz="1600" i="0" smtClean="0">
                    <a:latin typeface="Cambria Math" charset="0"/>
                  </a:rPr>
                  <a:t>_</a:t>
                </a:r>
                <a:r>
                  <a:rPr lang="en-US" sz="1600" i="0">
                    <a:latin typeface="Cambria Math" charset="0"/>
                  </a:rPr>
                  <a:t>𝑡</a:t>
                </a:r>
                <a:r>
                  <a:rPr lang="en-US" altLang="zh-CN" sz="1600" dirty="0" smtClean="0"/>
                  <a:t>.</a:t>
                </a:r>
              </a:p>
              <a:p>
                <a:r>
                  <a:rPr lang="en-US" altLang="zh-CN" sz="1600" dirty="0" smtClean="0"/>
                  <a:t>When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game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ends,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we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can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observe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all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rewards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R,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and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will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represented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lower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case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letters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r.</a:t>
                </a:r>
              </a:p>
              <a:p>
                <a:r>
                  <a:rPr lang="en-US" altLang="zh-CN" sz="1600" baseline="0" dirty="0" smtClean="0"/>
                  <a:t>-----</a:t>
                </a:r>
              </a:p>
              <a:p>
                <a:r>
                  <a:rPr lang="en-US" altLang="zh-CN" sz="1600" baseline="0" dirty="0" smtClean="0"/>
                  <a:t>But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time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step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game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not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end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yet,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not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observe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any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these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rewards.</a:t>
                </a:r>
              </a:p>
              <a:p>
                <a:r>
                  <a:rPr lang="en-US" altLang="zh-CN" sz="1600" baseline="0" dirty="0" smtClean="0"/>
                  <a:t>So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random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variables,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and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denoted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uppercase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letter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R.</a:t>
                </a:r>
              </a:p>
              <a:p>
                <a:r>
                  <a:rPr lang="en-US" altLang="zh-CN" sz="1600" baseline="0" dirty="0" smtClean="0"/>
                  <a:t>======</a:t>
                </a:r>
              </a:p>
              <a:p>
                <a:r>
                  <a:rPr lang="en-US" altLang="zh-CN" sz="1600" baseline="0" dirty="0" smtClean="0"/>
                  <a:t>There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two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sources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randomness:</a:t>
                </a:r>
              </a:p>
              <a:p>
                <a:r>
                  <a:rPr lang="en-US" altLang="zh-CN" sz="1600" baseline="0" dirty="0" smtClean="0"/>
                  <a:t>First,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actions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can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random.</a:t>
                </a:r>
              </a:p>
              <a:p>
                <a:r>
                  <a:rPr lang="en-US" altLang="zh-CN" sz="1600" baseline="0" dirty="0" smtClean="0"/>
                  <a:t>They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randomly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sampled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from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distributed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computed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policy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function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pi.</a:t>
                </a:r>
              </a:p>
              <a:p>
                <a:r>
                  <a:rPr lang="en-US" altLang="zh-CN" sz="1600" baseline="0" dirty="0" smtClean="0"/>
                  <a:t>----</a:t>
                </a:r>
              </a:p>
              <a:p>
                <a:r>
                  <a:rPr lang="en-US" altLang="zh-CN" sz="1600" baseline="0" dirty="0" smtClean="0"/>
                  <a:t>Second,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new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state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can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random.</a:t>
                </a:r>
              </a:p>
              <a:p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new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state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randomly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generated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state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transition.</a:t>
                </a:r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r>
                  <a:rPr lang="zh-CN" altLang="en-US" sz="1600" dirty="0" smtClean="0"/>
                  <a:t>我们</a:t>
                </a:r>
                <a:r>
                  <a:rPr lang="zh-CN" altLang="en-US" sz="1600" dirty="0" smtClean="0"/>
                  <a:t>来看一下</a:t>
                </a:r>
                <a:r>
                  <a:rPr lang="en-US" altLang="zh-CN" sz="1600" dirty="0" smtClean="0"/>
                  <a:t>Return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i="0">
                    <a:latin typeface="Cambria Math" charset="0"/>
                  </a:rPr>
                  <a:t>𝑈</a:t>
                </a:r>
                <a:r>
                  <a:rPr lang="en-US" altLang="zh-CN" sz="1600" i="0" smtClean="0">
                    <a:latin typeface="Cambria Math" charset="0"/>
                  </a:rPr>
                  <a:t>_</a:t>
                </a:r>
                <a:r>
                  <a:rPr lang="en-US" sz="1600" i="0">
                    <a:latin typeface="Cambria Math" charset="0"/>
                  </a:rPr>
                  <a:t>𝑡</a:t>
                </a:r>
                <a:r>
                  <a:rPr lang="zh-CN" altLang="en-US" sz="1600" baseline="0" dirty="0" smtClean="0"/>
                  <a:t>中的随机性。</a:t>
                </a:r>
                <a:endParaRPr lang="en-US" altLang="zh-CN" sz="1600" baseline="0" dirty="0" smtClean="0"/>
              </a:p>
              <a:p>
                <a:r>
                  <a:rPr lang="en-US" altLang="zh-CN" sz="1600" dirty="0" smtClean="0"/>
                  <a:t>-----</a:t>
                </a:r>
              </a:p>
              <a:p>
                <a:r>
                  <a:rPr lang="zh-CN" altLang="en-US" sz="1600" dirty="0" smtClean="0"/>
                  <a:t>假如游戏已经结束，所有的奖励都观测到了，那么奖励都是数值，用小写字母表示。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</a:t>
                </a:r>
              </a:p>
              <a:p>
                <a:r>
                  <a:rPr lang="zh-CN" altLang="en-US" sz="1600" dirty="0" smtClean="0"/>
                  <a:t>如果在</a:t>
                </a:r>
                <a:r>
                  <a:rPr lang="en-US" altLang="zh-CN" sz="1600" dirty="0" smtClean="0"/>
                  <a:t>t</a:t>
                </a:r>
                <a:r>
                  <a:rPr lang="zh-CN" altLang="en-US" sz="1600" dirty="0" smtClean="0"/>
                  <a:t>时刻</a:t>
                </a:r>
                <a:r>
                  <a:rPr lang="zh-CN" altLang="en-US" sz="1600" baseline="0" dirty="0" smtClean="0"/>
                  <a:t>  </a:t>
                </a:r>
                <a:r>
                  <a:rPr lang="zh-CN" altLang="en-US" sz="1600" dirty="0" smtClean="0"/>
                  <a:t>游戏还没结束，这些奖励全都还是随机变量，没有被观测到，我们用大写字母</a:t>
                </a:r>
                <a:r>
                  <a:rPr lang="en-US" altLang="zh-CN" sz="1600" dirty="0" smtClean="0"/>
                  <a:t>R</a:t>
                </a:r>
                <a:r>
                  <a:rPr lang="zh-CN" altLang="en-US" sz="1600" dirty="0" smtClean="0"/>
                  <a:t>来表示奖励。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由于</a:t>
                </a:r>
                <a:r>
                  <a:rPr lang="en-US" altLang="zh-CN" sz="1600" dirty="0" smtClean="0"/>
                  <a:t>return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U</a:t>
                </a:r>
                <a:r>
                  <a:rPr lang="zh-CN" altLang="en-US" sz="1600" dirty="0" smtClean="0"/>
                  <a:t>依赖于奖励</a:t>
                </a:r>
                <a:r>
                  <a:rPr lang="en-US" altLang="zh-CN" sz="1600" dirty="0" smtClean="0"/>
                  <a:t>R</a:t>
                </a:r>
                <a:r>
                  <a:rPr lang="zh-CN" altLang="en-US" sz="1600" dirty="0" smtClean="0"/>
                  <a:t>，所以</a:t>
                </a:r>
                <a:r>
                  <a:rPr lang="en-US" altLang="zh-CN" sz="1600" dirty="0" smtClean="0"/>
                  <a:t>return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U</a:t>
                </a:r>
                <a:r>
                  <a:rPr lang="zh-CN" altLang="en-US" sz="1600" dirty="0" smtClean="0"/>
                  <a:t>也是随机变量，也用大写字母表示。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========</a:t>
                </a:r>
              </a:p>
              <a:p>
                <a:r>
                  <a:rPr lang="zh-CN" altLang="en-US" sz="1600" dirty="0" smtClean="0"/>
                  <a:t>随机性有两个来源：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第一是动作</a:t>
                </a:r>
                <a:r>
                  <a:rPr lang="en-US" altLang="zh-CN" sz="1600" dirty="0" smtClean="0"/>
                  <a:t>a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回忆一下，</a:t>
                </a:r>
                <a:r>
                  <a:rPr lang="en-US" altLang="zh-CN" sz="1600" dirty="0" smtClean="0"/>
                  <a:t>policy</a:t>
                </a:r>
                <a:r>
                  <a:rPr lang="zh-CN" altLang="en-US" sz="1600" dirty="0" smtClean="0"/>
                  <a:t>函数</a:t>
                </a:r>
                <a:r>
                  <a:rPr lang="en-US" altLang="zh-CN" sz="1600" dirty="0" smtClean="0"/>
                  <a:t>pi</a:t>
                </a:r>
                <a:r>
                  <a:rPr lang="zh-CN" altLang="en-US" sz="1600" dirty="0" smtClean="0"/>
                  <a:t>用状态</a:t>
                </a:r>
                <a:r>
                  <a:rPr lang="en-US" altLang="zh-CN" sz="1600" dirty="0" smtClean="0"/>
                  <a:t>s</a:t>
                </a:r>
                <a:r>
                  <a:rPr lang="zh-CN" altLang="en-US" sz="1600" dirty="0" smtClean="0"/>
                  <a:t>作为输入，输出一个概率分布。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动作</a:t>
                </a:r>
                <a:r>
                  <a:rPr lang="en-US" altLang="zh-CN" sz="1600" dirty="0" smtClean="0"/>
                  <a:t>a</a:t>
                </a:r>
                <a:r>
                  <a:rPr lang="zh-CN" altLang="en-US" sz="1600" dirty="0" smtClean="0"/>
                  <a:t>从这个概率分布中随机抽样得到。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------</a:t>
                </a:r>
              </a:p>
              <a:p>
                <a:r>
                  <a:rPr lang="zh-CN" altLang="en-US" sz="1600" dirty="0" smtClean="0"/>
                  <a:t>第二个随机性来源是下一个状态。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给定了当前状态</a:t>
                </a:r>
                <a:r>
                  <a:rPr lang="en-US" altLang="zh-CN" sz="1600" dirty="0" smtClean="0"/>
                  <a:t>s</a:t>
                </a:r>
                <a:r>
                  <a:rPr lang="zh-CN" altLang="en-US" sz="1600" dirty="0" smtClean="0"/>
                  <a:t>和动作</a:t>
                </a:r>
                <a:r>
                  <a:rPr lang="en-US" altLang="zh-CN" sz="1600" dirty="0" smtClean="0"/>
                  <a:t>a</a:t>
                </a:r>
                <a:r>
                  <a:rPr lang="zh-CN" altLang="en-US" sz="1600" dirty="0" smtClean="0"/>
                  <a:t>，下一个状态</a:t>
                </a:r>
                <a:r>
                  <a:rPr lang="en-US" altLang="zh-CN" sz="1600" dirty="0" smtClean="0"/>
                  <a:t>s’</a:t>
                </a:r>
                <a:r>
                  <a:rPr lang="zh-CN" altLang="en-US" sz="1600" dirty="0" smtClean="0"/>
                  <a:t>是随机的。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这个状态转移函数</a:t>
                </a:r>
                <a:r>
                  <a:rPr lang="en-US" altLang="zh-CN" sz="1600" dirty="0" smtClean="0"/>
                  <a:t>p</a:t>
                </a:r>
                <a:r>
                  <a:rPr lang="zh-CN" altLang="en-US" sz="1600" dirty="0" smtClean="0"/>
                  <a:t>输出概率分布，环境从这个概率分布中随机抽样得到新的状态</a:t>
                </a:r>
                <a:r>
                  <a:rPr lang="en-US" altLang="zh-CN" sz="1600" dirty="0" smtClean="0"/>
                  <a:t>s’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14637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baseline="0" dirty="0" smtClean="0"/>
                  <a:t>Let’s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analyze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sources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randomness.</a:t>
                </a:r>
              </a:p>
              <a:p>
                <a:r>
                  <a:rPr lang="en-US" altLang="zh-CN" sz="1600" baseline="0" dirty="0" smtClean="0"/>
                  <a:t>Reward</a:t>
                </a:r>
                <a:r>
                  <a:rPr lang="zh-CN" altLang="en-US" sz="1600" baseline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depends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on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state</a:t>
                </a:r>
                <a:r>
                  <a:rPr lang="zh-CN" altLang="en-US" sz="16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𝑆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and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action</a:t>
                </a:r>
                <a:r>
                  <a:rPr lang="zh-CN" altLang="en-US" sz="16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600" dirty="0" smtClean="0"/>
                  <a:t>.</a:t>
                </a:r>
                <a:endParaRPr lang="en-US" altLang="zh-CN" sz="1600" baseline="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/>
                  <a:t>=====================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/>
                  <a:t>States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can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random.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next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state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sampled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from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state-transition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function.</a:t>
                </a:r>
                <a:endParaRPr lang="en-US" altLang="zh-CN" sz="1600" dirty="0" smtClean="0"/>
              </a:p>
              <a:p>
                <a:r>
                  <a:rPr lang="en-US" altLang="zh-CN" sz="1600" baseline="0" dirty="0" smtClean="0"/>
                  <a:t>=====================</a:t>
                </a:r>
              </a:p>
              <a:p>
                <a:r>
                  <a:rPr lang="en-US" altLang="zh-CN" sz="1600" baseline="0" dirty="0" smtClean="0"/>
                  <a:t>Actions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can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random.</a:t>
                </a:r>
              </a:p>
              <a:p>
                <a:r>
                  <a:rPr lang="en-US" altLang="zh-CN" sz="1600" baseline="0" dirty="0" smtClean="0"/>
                  <a:t>Action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randomly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sampled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from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policy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function.</a:t>
                </a:r>
              </a:p>
              <a:p>
                <a:r>
                  <a:rPr lang="en-US" altLang="zh-CN" sz="1600" baseline="0" dirty="0" smtClean="0"/>
                  <a:t>=====================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/>
                  <a:t>If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either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of</a:t>
                </a:r>
                <a:r>
                  <a:rPr lang="zh-CN" altLang="en-US" sz="1600" baseline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𝑆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and</a:t>
                </a:r>
                <a:r>
                  <a:rPr lang="zh-CN" altLang="en-US" sz="16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is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random,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reward</a:t>
                </a:r>
                <a:r>
                  <a:rPr lang="zh-CN" altLang="en-US" sz="16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is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random.</a:t>
                </a:r>
                <a:endParaRPr lang="en-US" altLang="zh-CN" sz="1600" baseline="0" dirty="0" smtClean="0"/>
              </a:p>
              <a:p>
                <a:endParaRPr lang="en-US" altLang="zh-CN" sz="1600" baseline="0" dirty="0" smtClean="0"/>
              </a:p>
              <a:p>
                <a:endParaRPr lang="en-US" altLang="zh-CN" sz="1600" baseline="0" dirty="0" smtClean="0"/>
              </a:p>
              <a:p>
                <a:endParaRPr lang="en-US" altLang="zh-CN" sz="1600" baseline="0" dirty="0" smtClean="0"/>
              </a:p>
              <a:p>
                <a:endParaRPr lang="en-US" altLang="zh-CN" sz="1600" baseline="0" dirty="0" smtClean="0"/>
              </a:p>
              <a:p>
                <a:endParaRPr lang="en-US" altLang="zh-CN" sz="1600" baseline="0" dirty="0" smtClean="0"/>
              </a:p>
              <a:p>
                <a:r>
                  <a:rPr lang="zh-CN" altLang="en-US" sz="1600" dirty="0" smtClean="0"/>
                  <a:t>随机性有两个来源：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第一是动作</a:t>
                </a:r>
                <a:r>
                  <a:rPr lang="en-US" altLang="zh-CN" sz="1600" dirty="0" smtClean="0"/>
                  <a:t>a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回忆一下，</a:t>
                </a:r>
                <a:r>
                  <a:rPr lang="en-US" altLang="zh-CN" sz="1600" dirty="0" smtClean="0"/>
                  <a:t>policy</a:t>
                </a:r>
                <a:r>
                  <a:rPr lang="zh-CN" altLang="en-US" sz="1600" dirty="0" smtClean="0"/>
                  <a:t>函数</a:t>
                </a:r>
                <a:r>
                  <a:rPr lang="en-US" altLang="zh-CN" sz="1600" dirty="0" smtClean="0"/>
                  <a:t>pi</a:t>
                </a:r>
                <a:r>
                  <a:rPr lang="zh-CN" altLang="en-US" sz="1600" dirty="0" smtClean="0"/>
                  <a:t>用状态</a:t>
                </a:r>
                <a:r>
                  <a:rPr lang="en-US" altLang="zh-CN" sz="1600" dirty="0" smtClean="0"/>
                  <a:t>s</a:t>
                </a:r>
                <a:r>
                  <a:rPr lang="zh-CN" altLang="en-US" sz="1600" dirty="0" smtClean="0"/>
                  <a:t>作为输入，输出一个概率分布。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动作</a:t>
                </a:r>
                <a:r>
                  <a:rPr lang="en-US" altLang="zh-CN" sz="1600" dirty="0" smtClean="0"/>
                  <a:t>a</a:t>
                </a:r>
                <a:r>
                  <a:rPr lang="zh-CN" altLang="en-US" sz="1600" dirty="0" smtClean="0"/>
                  <a:t>从这个概率分布中随机抽样得到。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------</a:t>
                </a:r>
              </a:p>
              <a:p>
                <a:r>
                  <a:rPr lang="zh-CN" altLang="en-US" sz="1600" dirty="0" smtClean="0"/>
                  <a:t>第二个随机性来源是下一个状态。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给定了当前状态</a:t>
                </a:r>
                <a:r>
                  <a:rPr lang="en-US" altLang="zh-CN" sz="1600" dirty="0" smtClean="0"/>
                  <a:t>s</a:t>
                </a:r>
                <a:r>
                  <a:rPr lang="zh-CN" altLang="en-US" sz="1600" dirty="0" smtClean="0"/>
                  <a:t>和动作</a:t>
                </a:r>
                <a:r>
                  <a:rPr lang="en-US" altLang="zh-CN" sz="1600" dirty="0" smtClean="0"/>
                  <a:t>a</a:t>
                </a:r>
                <a:r>
                  <a:rPr lang="zh-CN" altLang="en-US" sz="1600" dirty="0" smtClean="0"/>
                  <a:t>，下一个状态</a:t>
                </a:r>
                <a:r>
                  <a:rPr lang="en-US" altLang="zh-CN" sz="1600" dirty="0" smtClean="0"/>
                  <a:t>s’</a:t>
                </a:r>
                <a:r>
                  <a:rPr lang="zh-CN" altLang="en-US" sz="1600" dirty="0" smtClean="0"/>
                  <a:t>是随机的。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这个状态转移函数</a:t>
                </a:r>
                <a:r>
                  <a:rPr lang="en-US" altLang="zh-CN" sz="1600" dirty="0" smtClean="0"/>
                  <a:t>p</a:t>
                </a:r>
                <a:r>
                  <a:rPr lang="zh-CN" altLang="en-US" sz="1600" dirty="0" smtClean="0"/>
                  <a:t>输出概率分布，环境从这个概率分布中随机抽样得到新的状态</a:t>
                </a:r>
                <a:r>
                  <a:rPr lang="en-US" altLang="zh-CN" sz="1600" dirty="0" smtClean="0"/>
                  <a:t>s’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 smtClean="0"/>
                  <a:t>Let’s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study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randomness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in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return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i="0">
                    <a:latin typeface="Cambria Math" charset="0"/>
                  </a:rPr>
                  <a:t>𝑈</a:t>
                </a:r>
                <a:r>
                  <a:rPr lang="en-US" altLang="zh-CN" sz="1600" i="0" smtClean="0">
                    <a:latin typeface="Cambria Math" charset="0"/>
                  </a:rPr>
                  <a:t>_</a:t>
                </a:r>
                <a:r>
                  <a:rPr lang="en-US" sz="1600" i="0">
                    <a:latin typeface="Cambria Math" charset="0"/>
                  </a:rPr>
                  <a:t>𝑡</a:t>
                </a:r>
                <a:r>
                  <a:rPr lang="en-US" altLang="zh-CN" sz="1600" dirty="0" smtClean="0"/>
                  <a:t>.</a:t>
                </a:r>
              </a:p>
              <a:p>
                <a:r>
                  <a:rPr lang="en-US" altLang="zh-CN" sz="1600" dirty="0" smtClean="0"/>
                  <a:t>When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game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ends,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we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can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observe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all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rewards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R,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and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will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represented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lower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case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letters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r.</a:t>
                </a:r>
              </a:p>
              <a:p>
                <a:r>
                  <a:rPr lang="en-US" altLang="zh-CN" sz="1600" baseline="0" dirty="0" smtClean="0"/>
                  <a:t>-----</a:t>
                </a:r>
              </a:p>
              <a:p>
                <a:r>
                  <a:rPr lang="en-US" altLang="zh-CN" sz="1600" baseline="0" dirty="0" smtClean="0"/>
                  <a:t>But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time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step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game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not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end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yet,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not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observe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any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these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rewards.</a:t>
                </a:r>
              </a:p>
              <a:p>
                <a:r>
                  <a:rPr lang="en-US" altLang="zh-CN" sz="1600" baseline="0" dirty="0" smtClean="0"/>
                  <a:t>So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random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variables,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and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denoted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uppercase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letter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R.</a:t>
                </a:r>
              </a:p>
              <a:p>
                <a:r>
                  <a:rPr lang="en-US" altLang="zh-CN" sz="1600" baseline="0" dirty="0" smtClean="0"/>
                  <a:t>======</a:t>
                </a:r>
              </a:p>
              <a:p>
                <a:r>
                  <a:rPr lang="en-US" altLang="zh-CN" sz="1600" baseline="0" dirty="0" smtClean="0"/>
                  <a:t>There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two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sources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randomness:</a:t>
                </a:r>
              </a:p>
              <a:p>
                <a:r>
                  <a:rPr lang="en-US" altLang="zh-CN" sz="1600" baseline="0" dirty="0" smtClean="0"/>
                  <a:t>First,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actions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can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random.</a:t>
                </a:r>
              </a:p>
              <a:p>
                <a:r>
                  <a:rPr lang="en-US" altLang="zh-CN" sz="1600" baseline="0" dirty="0" smtClean="0"/>
                  <a:t>They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randomly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sampled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from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distributed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computed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policy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function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pi.</a:t>
                </a:r>
              </a:p>
              <a:p>
                <a:r>
                  <a:rPr lang="en-US" altLang="zh-CN" sz="1600" baseline="0" dirty="0" smtClean="0"/>
                  <a:t>----</a:t>
                </a:r>
              </a:p>
              <a:p>
                <a:r>
                  <a:rPr lang="en-US" altLang="zh-CN" sz="1600" baseline="0" dirty="0" smtClean="0"/>
                  <a:t>Second,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new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state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can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random.</a:t>
                </a:r>
              </a:p>
              <a:p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new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state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randomly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generated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state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transition.</a:t>
                </a:r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r>
                  <a:rPr lang="zh-CN" altLang="en-US" sz="1600" dirty="0" smtClean="0"/>
                  <a:t>我们</a:t>
                </a:r>
                <a:r>
                  <a:rPr lang="zh-CN" altLang="en-US" sz="1600" dirty="0" smtClean="0"/>
                  <a:t>来看一下</a:t>
                </a:r>
                <a:r>
                  <a:rPr lang="en-US" altLang="zh-CN" sz="1600" dirty="0" smtClean="0"/>
                  <a:t>Return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i="0">
                    <a:latin typeface="Cambria Math" charset="0"/>
                  </a:rPr>
                  <a:t>𝑈</a:t>
                </a:r>
                <a:r>
                  <a:rPr lang="en-US" altLang="zh-CN" sz="1600" i="0" smtClean="0">
                    <a:latin typeface="Cambria Math" charset="0"/>
                  </a:rPr>
                  <a:t>_</a:t>
                </a:r>
                <a:r>
                  <a:rPr lang="en-US" sz="1600" i="0">
                    <a:latin typeface="Cambria Math" charset="0"/>
                  </a:rPr>
                  <a:t>𝑡</a:t>
                </a:r>
                <a:r>
                  <a:rPr lang="zh-CN" altLang="en-US" sz="1600" baseline="0" dirty="0" smtClean="0"/>
                  <a:t>中的随机性。</a:t>
                </a:r>
                <a:endParaRPr lang="en-US" altLang="zh-CN" sz="1600" baseline="0" dirty="0" smtClean="0"/>
              </a:p>
              <a:p>
                <a:r>
                  <a:rPr lang="en-US" altLang="zh-CN" sz="1600" dirty="0" smtClean="0"/>
                  <a:t>-----</a:t>
                </a:r>
              </a:p>
              <a:p>
                <a:r>
                  <a:rPr lang="zh-CN" altLang="en-US" sz="1600" dirty="0" smtClean="0"/>
                  <a:t>假如游戏已经结束，所有的奖励都观测到了，那么奖励都是数值，用小写字母表示。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</a:t>
                </a:r>
              </a:p>
              <a:p>
                <a:r>
                  <a:rPr lang="zh-CN" altLang="en-US" sz="1600" dirty="0" smtClean="0"/>
                  <a:t>如果在</a:t>
                </a:r>
                <a:r>
                  <a:rPr lang="en-US" altLang="zh-CN" sz="1600" dirty="0" smtClean="0"/>
                  <a:t>t</a:t>
                </a:r>
                <a:r>
                  <a:rPr lang="zh-CN" altLang="en-US" sz="1600" dirty="0" smtClean="0"/>
                  <a:t>时刻</a:t>
                </a:r>
                <a:r>
                  <a:rPr lang="zh-CN" altLang="en-US" sz="1600" baseline="0" dirty="0" smtClean="0"/>
                  <a:t>  </a:t>
                </a:r>
                <a:r>
                  <a:rPr lang="zh-CN" altLang="en-US" sz="1600" dirty="0" smtClean="0"/>
                  <a:t>游戏还没结束，这些奖励全都还是随机变量，没有被观测到，我们用大写字母</a:t>
                </a:r>
                <a:r>
                  <a:rPr lang="en-US" altLang="zh-CN" sz="1600" dirty="0" smtClean="0"/>
                  <a:t>R</a:t>
                </a:r>
                <a:r>
                  <a:rPr lang="zh-CN" altLang="en-US" sz="1600" dirty="0" smtClean="0"/>
                  <a:t>来表示奖励。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由于</a:t>
                </a:r>
                <a:r>
                  <a:rPr lang="en-US" altLang="zh-CN" sz="1600" dirty="0" smtClean="0"/>
                  <a:t>return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U</a:t>
                </a:r>
                <a:r>
                  <a:rPr lang="zh-CN" altLang="en-US" sz="1600" dirty="0" smtClean="0"/>
                  <a:t>依赖于奖励</a:t>
                </a:r>
                <a:r>
                  <a:rPr lang="en-US" altLang="zh-CN" sz="1600" dirty="0" smtClean="0"/>
                  <a:t>R</a:t>
                </a:r>
                <a:r>
                  <a:rPr lang="zh-CN" altLang="en-US" sz="1600" dirty="0" smtClean="0"/>
                  <a:t>，所以</a:t>
                </a:r>
                <a:r>
                  <a:rPr lang="en-US" altLang="zh-CN" sz="1600" dirty="0" smtClean="0"/>
                  <a:t>return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U</a:t>
                </a:r>
                <a:r>
                  <a:rPr lang="zh-CN" altLang="en-US" sz="1600" dirty="0" smtClean="0"/>
                  <a:t>也是随机变量，也用大写字母表示。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========</a:t>
                </a:r>
              </a:p>
              <a:p>
                <a:r>
                  <a:rPr lang="zh-CN" altLang="en-US" sz="1600" dirty="0" smtClean="0"/>
                  <a:t>随机性有两个来源：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第一是动作</a:t>
                </a:r>
                <a:r>
                  <a:rPr lang="en-US" altLang="zh-CN" sz="1600" dirty="0" smtClean="0"/>
                  <a:t>a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回忆一下，</a:t>
                </a:r>
                <a:r>
                  <a:rPr lang="en-US" altLang="zh-CN" sz="1600" dirty="0" smtClean="0"/>
                  <a:t>policy</a:t>
                </a:r>
                <a:r>
                  <a:rPr lang="zh-CN" altLang="en-US" sz="1600" dirty="0" smtClean="0"/>
                  <a:t>函数</a:t>
                </a:r>
                <a:r>
                  <a:rPr lang="en-US" altLang="zh-CN" sz="1600" dirty="0" smtClean="0"/>
                  <a:t>pi</a:t>
                </a:r>
                <a:r>
                  <a:rPr lang="zh-CN" altLang="en-US" sz="1600" dirty="0" smtClean="0"/>
                  <a:t>用状态</a:t>
                </a:r>
                <a:r>
                  <a:rPr lang="en-US" altLang="zh-CN" sz="1600" dirty="0" smtClean="0"/>
                  <a:t>s</a:t>
                </a:r>
                <a:r>
                  <a:rPr lang="zh-CN" altLang="en-US" sz="1600" dirty="0" smtClean="0"/>
                  <a:t>作为输入，输出一个概率分布。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动作</a:t>
                </a:r>
                <a:r>
                  <a:rPr lang="en-US" altLang="zh-CN" sz="1600" dirty="0" smtClean="0"/>
                  <a:t>a</a:t>
                </a:r>
                <a:r>
                  <a:rPr lang="zh-CN" altLang="en-US" sz="1600" dirty="0" smtClean="0"/>
                  <a:t>从这个概率分布中随机抽样得到。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------</a:t>
                </a:r>
              </a:p>
              <a:p>
                <a:r>
                  <a:rPr lang="zh-CN" altLang="en-US" sz="1600" dirty="0" smtClean="0"/>
                  <a:t>第二个随机性来源是下一个状态。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给定了当前状态</a:t>
                </a:r>
                <a:r>
                  <a:rPr lang="en-US" altLang="zh-CN" sz="1600" dirty="0" smtClean="0"/>
                  <a:t>s</a:t>
                </a:r>
                <a:r>
                  <a:rPr lang="zh-CN" altLang="en-US" sz="1600" dirty="0" smtClean="0"/>
                  <a:t>和动作</a:t>
                </a:r>
                <a:r>
                  <a:rPr lang="en-US" altLang="zh-CN" sz="1600" dirty="0" smtClean="0"/>
                  <a:t>a</a:t>
                </a:r>
                <a:r>
                  <a:rPr lang="zh-CN" altLang="en-US" sz="1600" dirty="0" smtClean="0"/>
                  <a:t>，下一个状态</a:t>
                </a:r>
                <a:r>
                  <a:rPr lang="en-US" altLang="zh-CN" sz="1600" dirty="0" smtClean="0"/>
                  <a:t>s’</a:t>
                </a:r>
                <a:r>
                  <a:rPr lang="zh-CN" altLang="en-US" sz="1600" dirty="0" smtClean="0"/>
                  <a:t>是随机的。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这个状态转移函数</a:t>
                </a:r>
                <a:r>
                  <a:rPr lang="en-US" altLang="zh-CN" sz="1600" dirty="0" smtClean="0"/>
                  <a:t>p</a:t>
                </a:r>
                <a:r>
                  <a:rPr lang="zh-CN" altLang="en-US" sz="1600" dirty="0" smtClean="0"/>
                  <a:t>输出概率分布，环境从这个概率分布中随机抽样得到新的状态</a:t>
                </a:r>
                <a:r>
                  <a:rPr lang="en-US" altLang="zh-CN" sz="1600" dirty="0" smtClean="0"/>
                  <a:t>s’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47358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We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discussed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that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reward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depends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on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state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𝑆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and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action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600" dirty="0" smtClean="0">
                    <a:solidFill>
                      <a:schemeClr val="tx1"/>
                    </a:solidFill>
                  </a:rPr>
                  <a:t>.</a:t>
                </a:r>
                <a:endParaRPr lang="en-US" altLang="zh-CN" sz="1600" baseline="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=====================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As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the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weighted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sum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of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rewards,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return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depends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on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to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.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=====================</a:t>
                </a:r>
              </a:p>
              <a:p>
                <a:pPr marL="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Therefore,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depends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on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all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the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states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and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actions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from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time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t,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including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𝑆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en-US" altLang="zh-CN" sz="1600" b="0" i="0" smtClean="0">
                        <a:solidFill>
                          <a:schemeClr val="tx1"/>
                        </a:solidFill>
                        <a:latin typeface="Cambria Math" charset="0"/>
                      </a:rPr>
                      <m:t>,</m:t>
                    </m:r>
                    <m:r>
                      <a:rPr lang="zh-CN" altLang="en-US" sz="1600" b="0" i="0" smtClean="0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,</m:t>
                    </m:r>
                    <m:r>
                      <a:rPr lang="zh-CN" altLang="en-US" sz="16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  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𝑆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+1</m:t>
                        </m:r>
                      </m:sub>
                    </m:sSub>
                    <m:r>
                      <a:rPr lang="en-US" altLang="zh-CN" sz="1600">
                        <a:solidFill>
                          <a:schemeClr val="tx1"/>
                        </a:solidFill>
                        <a:latin typeface="Cambria Math" charset="0"/>
                      </a:rPr>
                      <m:t>,</m:t>
                    </m:r>
                    <m:r>
                      <a:rPr lang="zh-CN" altLang="en-US" sz="1600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+1</m:t>
                        </m:r>
                      </m:sub>
                    </m:sSub>
                    <m:r>
                      <a:rPr lang="en-US" altLang="zh-CN" sz="1600" i="1">
                        <a:solidFill>
                          <a:schemeClr val="tx1"/>
                        </a:solidFill>
                        <a:latin typeface="Cambria Math" charset="0"/>
                      </a:rPr>
                      <m:t>,</m:t>
                    </m:r>
                    <m:r>
                      <a:rPr lang="zh-CN" altLang="en-US" sz="16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  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⋯,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𝑆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𝑛</m:t>
                        </m:r>
                      </m:sub>
                    </m:sSub>
                    <m:r>
                      <a:rPr lang="en-US" altLang="zh-CN" sz="1600">
                        <a:solidFill>
                          <a:schemeClr val="tx1"/>
                        </a:solidFill>
                        <a:latin typeface="Cambria Math" charset="0"/>
                      </a:rPr>
                      <m:t>,</m:t>
                    </m:r>
                    <m:r>
                      <a:rPr lang="zh-CN" altLang="en-US" sz="1600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1600" dirty="0" smtClean="0">
                    <a:solidFill>
                      <a:schemeClr val="tx1"/>
                    </a:solidFill>
                  </a:rPr>
                  <a:t>.</a:t>
                </a:r>
              </a:p>
              <a:p>
                <a:pPr marL="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chemeClr val="tx1"/>
                    </a:solidFill>
                  </a:rPr>
                  <a:t>If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any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of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the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states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and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actions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is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random,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then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return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is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random.</a:t>
                </a:r>
              </a:p>
              <a:p>
                <a:endParaRPr lang="en-US" altLang="zh-CN" sz="1600" baseline="0" dirty="0" smtClean="0">
                  <a:solidFill>
                    <a:schemeClr val="tx1"/>
                  </a:solidFill>
                </a:endParaRPr>
              </a:p>
              <a:p>
                <a:endParaRPr lang="en-US" altLang="zh-CN" sz="1600" baseline="0" dirty="0" smtClean="0"/>
              </a:p>
              <a:p>
                <a:endParaRPr lang="en-US" altLang="zh-CN" sz="1600" baseline="0" dirty="0" smtClean="0"/>
              </a:p>
              <a:p>
                <a:endParaRPr lang="en-US" altLang="zh-CN" sz="1600" baseline="0" dirty="0" smtClean="0"/>
              </a:p>
              <a:p>
                <a:endParaRPr lang="en-US" altLang="zh-CN" sz="1600" baseline="0" dirty="0" smtClean="0"/>
              </a:p>
              <a:p>
                <a:endParaRPr lang="en-US" altLang="zh-CN" sz="1600" baseline="0" dirty="0" smtClean="0"/>
              </a:p>
              <a:p>
                <a:endParaRPr lang="en-US" altLang="zh-CN" sz="1600" baseline="0" dirty="0" smtClean="0"/>
              </a:p>
              <a:p>
                <a:endParaRPr lang="en-US" altLang="zh-CN" sz="1600" baseline="0" dirty="0" smtClean="0"/>
              </a:p>
              <a:p>
                <a:endParaRPr lang="en-US" altLang="zh-CN" sz="1600" baseline="0" dirty="0" smtClean="0"/>
              </a:p>
              <a:p>
                <a:endParaRPr lang="en-US" altLang="zh-CN" sz="1600" baseline="0" dirty="0" smtClean="0"/>
              </a:p>
              <a:p>
                <a:endParaRPr lang="en-US" altLang="zh-CN" sz="1600" baseline="0" dirty="0" smtClean="0"/>
              </a:p>
              <a:p>
                <a:endParaRPr lang="en-US" altLang="zh-CN" sz="1600" baseline="0" dirty="0" smtClean="0"/>
              </a:p>
              <a:p>
                <a:endParaRPr lang="en-US" altLang="zh-CN" sz="1600" baseline="0" dirty="0" smtClean="0"/>
              </a:p>
              <a:p>
                <a:endParaRPr lang="en-US" altLang="zh-CN" sz="1600" baseline="0" dirty="0" smtClean="0"/>
              </a:p>
              <a:p>
                <a:endParaRPr lang="en-US" altLang="zh-CN" sz="1600" baseline="0" dirty="0" smtClean="0"/>
              </a:p>
              <a:p>
                <a:endParaRPr lang="en-US" altLang="zh-CN" sz="1600" baseline="0" dirty="0" smtClean="0"/>
              </a:p>
              <a:p>
                <a:endParaRPr lang="en-US" altLang="zh-CN" sz="1600" baseline="0" dirty="0" smtClean="0"/>
              </a:p>
              <a:p>
                <a:endParaRPr lang="en-US" altLang="zh-CN" sz="1600" baseline="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baseline="0" dirty="0" smtClean="0"/>
              </a:p>
              <a:p>
                <a:endParaRPr lang="en-US" altLang="zh-CN" sz="1600" baseline="0" dirty="0" smtClean="0"/>
              </a:p>
              <a:p>
                <a:endParaRPr lang="en-US" altLang="zh-CN" sz="1600" baseline="0" dirty="0" smtClean="0"/>
              </a:p>
              <a:p>
                <a:endParaRPr lang="en-US" altLang="zh-CN" sz="1600" baseline="0" dirty="0" smtClean="0"/>
              </a:p>
              <a:p>
                <a:endParaRPr lang="en-US" altLang="zh-CN" sz="1600" baseline="0" dirty="0" smtClean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 smtClean="0"/>
                  <a:t>Let’s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study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randomness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in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return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i="0">
                    <a:latin typeface="Cambria Math" charset="0"/>
                  </a:rPr>
                  <a:t>𝑈</a:t>
                </a:r>
                <a:r>
                  <a:rPr lang="en-US" altLang="zh-CN" sz="1600" i="0" smtClean="0">
                    <a:latin typeface="Cambria Math" charset="0"/>
                  </a:rPr>
                  <a:t>_</a:t>
                </a:r>
                <a:r>
                  <a:rPr lang="en-US" sz="1600" i="0">
                    <a:latin typeface="Cambria Math" charset="0"/>
                  </a:rPr>
                  <a:t>𝑡</a:t>
                </a:r>
                <a:r>
                  <a:rPr lang="en-US" altLang="zh-CN" sz="1600" dirty="0" smtClean="0"/>
                  <a:t>.</a:t>
                </a:r>
              </a:p>
              <a:p>
                <a:r>
                  <a:rPr lang="en-US" altLang="zh-CN" sz="1600" dirty="0" smtClean="0"/>
                  <a:t>When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game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ends,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we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can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observe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all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rewards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R,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and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will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represented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lower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case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letters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r.</a:t>
                </a:r>
              </a:p>
              <a:p>
                <a:r>
                  <a:rPr lang="en-US" altLang="zh-CN" sz="1600" baseline="0" dirty="0" smtClean="0"/>
                  <a:t>-----</a:t>
                </a:r>
              </a:p>
              <a:p>
                <a:r>
                  <a:rPr lang="en-US" altLang="zh-CN" sz="1600" baseline="0" dirty="0" smtClean="0"/>
                  <a:t>But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time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step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game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not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end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yet,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not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observe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any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these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rewards.</a:t>
                </a:r>
              </a:p>
              <a:p>
                <a:r>
                  <a:rPr lang="en-US" altLang="zh-CN" sz="1600" baseline="0" dirty="0" smtClean="0"/>
                  <a:t>So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random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variables,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and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denoted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uppercase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letter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R.</a:t>
                </a:r>
              </a:p>
              <a:p>
                <a:r>
                  <a:rPr lang="en-US" altLang="zh-CN" sz="1600" baseline="0" dirty="0" smtClean="0"/>
                  <a:t>======</a:t>
                </a:r>
              </a:p>
              <a:p>
                <a:r>
                  <a:rPr lang="en-US" altLang="zh-CN" sz="1600" baseline="0" dirty="0" smtClean="0"/>
                  <a:t>There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two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sources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randomness:</a:t>
                </a:r>
              </a:p>
              <a:p>
                <a:r>
                  <a:rPr lang="en-US" altLang="zh-CN" sz="1600" baseline="0" dirty="0" smtClean="0"/>
                  <a:t>First,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actions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can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random.</a:t>
                </a:r>
              </a:p>
              <a:p>
                <a:r>
                  <a:rPr lang="en-US" altLang="zh-CN" sz="1600" baseline="0" dirty="0" smtClean="0"/>
                  <a:t>They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randomly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sampled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from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distributed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computed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policy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function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pi.</a:t>
                </a:r>
              </a:p>
              <a:p>
                <a:r>
                  <a:rPr lang="en-US" altLang="zh-CN" sz="1600" baseline="0" dirty="0" smtClean="0"/>
                  <a:t>----</a:t>
                </a:r>
              </a:p>
              <a:p>
                <a:r>
                  <a:rPr lang="en-US" altLang="zh-CN" sz="1600" baseline="0" dirty="0" smtClean="0"/>
                  <a:t>Second,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new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state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can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random.</a:t>
                </a:r>
              </a:p>
              <a:p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new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state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randomly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generated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state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transition.</a:t>
                </a:r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r>
                  <a:rPr lang="zh-CN" altLang="en-US" sz="1600" dirty="0" smtClean="0"/>
                  <a:t>我们</a:t>
                </a:r>
                <a:r>
                  <a:rPr lang="zh-CN" altLang="en-US" sz="1600" dirty="0" smtClean="0"/>
                  <a:t>来看一下</a:t>
                </a:r>
                <a:r>
                  <a:rPr lang="en-US" altLang="zh-CN" sz="1600" dirty="0" smtClean="0"/>
                  <a:t>Return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i="0">
                    <a:latin typeface="Cambria Math" charset="0"/>
                  </a:rPr>
                  <a:t>𝑈</a:t>
                </a:r>
                <a:r>
                  <a:rPr lang="en-US" altLang="zh-CN" sz="1600" i="0" smtClean="0">
                    <a:latin typeface="Cambria Math" charset="0"/>
                  </a:rPr>
                  <a:t>_</a:t>
                </a:r>
                <a:r>
                  <a:rPr lang="en-US" sz="1600" i="0">
                    <a:latin typeface="Cambria Math" charset="0"/>
                  </a:rPr>
                  <a:t>𝑡</a:t>
                </a:r>
                <a:r>
                  <a:rPr lang="zh-CN" altLang="en-US" sz="1600" baseline="0" dirty="0" smtClean="0"/>
                  <a:t>中的随机性。</a:t>
                </a:r>
                <a:endParaRPr lang="en-US" altLang="zh-CN" sz="1600" baseline="0" dirty="0" smtClean="0"/>
              </a:p>
              <a:p>
                <a:r>
                  <a:rPr lang="en-US" altLang="zh-CN" sz="1600" dirty="0" smtClean="0"/>
                  <a:t>-----</a:t>
                </a:r>
              </a:p>
              <a:p>
                <a:r>
                  <a:rPr lang="zh-CN" altLang="en-US" sz="1600" dirty="0" smtClean="0"/>
                  <a:t>假如游戏已经结束，所有的奖励都观测到了，那么奖励都是数值，用小写字母表示。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</a:t>
                </a:r>
              </a:p>
              <a:p>
                <a:r>
                  <a:rPr lang="zh-CN" altLang="en-US" sz="1600" dirty="0" smtClean="0"/>
                  <a:t>如果在</a:t>
                </a:r>
                <a:r>
                  <a:rPr lang="en-US" altLang="zh-CN" sz="1600" dirty="0" smtClean="0"/>
                  <a:t>t</a:t>
                </a:r>
                <a:r>
                  <a:rPr lang="zh-CN" altLang="en-US" sz="1600" dirty="0" smtClean="0"/>
                  <a:t>时刻</a:t>
                </a:r>
                <a:r>
                  <a:rPr lang="zh-CN" altLang="en-US" sz="1600" baseline="0" dirty="0" smtClean="0"/>
                  <a:t>  </a:t>
                </a:r>
                <a:r>
                  <a:rPr lang="zh-CN" altLang="en-US" sz="1600" dirty="0" smtClean="0"/>
                  <a:t>游戏还没结束，这些奖励全都还是随机变量，没有被观测到，我们用大写字母</a:t>
                </a:r>
                <a:r>
                  <a:rPr lang="en-US" altLang="zh-CN" sz="1600" dirty="0" smtClean="0"/>
                  <a:t>R</a:t>
                </a:r>
                <a:r>
                  <a:rPr lang="zh-CN" altLang="en-US" sz="1600" dirty="0" smtClean="0"/>
                  <a:t>来表示奖励。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由于</a:t>
                </a:r>
                <a:r>
                  <a:rPr lang="en-US" altLang="zh-CN" sz="1600" dirty="0" smtClean="0"/>
                  <a:t>return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U</a:t>
                </a:r>
                <a:r>
                  <a:rPr lang="zh-CN" altLang="en-US" sz="1600" dirty="0" smtClean="0"/>
                  <a:t>依赖于奖励</a:t>
                </a:r>
                <a:r>
                  <a:rPr lang="en-US" altLang="zh-CN" sz="1600" dirty="0" smtClean="0"/>
                  <a:t>R</a:t>
                </a:r>
                <a:r>
                  <a:rPr lang="zh-CN" altLang="en-US" sz="1600" dirty="0" smtClean="0"/>
                  <a:t>，所以</a:t>
                </a:r>
                <a:r>
                  <a:rPr lang="en-US" altLang="zh-CN" sz="1600" dirty="0" smtClean="0"/>
                  <a:t>return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U</a:t>
                </a:r>
                <a:r>
                  <a:rPr lang="zh-CN" altLang="en-US" sz="1600" dirty="0" smtClean="0"/>
                  <a:t>也是随机变量，也用大写字母表示。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========</a:t>
                </a:r>
              </a:p>
              <a:p>
                <a:r>
                  <a:rPr lang="zh-CN" altLang="en-US" sz="1600" dirty="0" smtClean="0"/>
                  <a:t>随机性有两个来源：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第一是动作</a:t>
                </a:r>
                <a:r>
                  <a:rPr lang="en-US" altLang="zh-CN" sz="1600" dirty="0" smtClean="0"/>
                  <a:t>a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回忆一下，</a:t>
                </a:r>
                <a:r>
                  <a:rPr lang="en-US" altLang="zh-CN" sz="1600" dirty="0" smtClean="0"/>
                  <a:t>policy</a:t>
                </a:r>
                <a:r>
                  <a:rPr lang="zh-CN" altLang="en-US" sz="1600" dirty="0" smtClean="0"/>
                  <a:t>函数</a:t>
                </a:r>
                <a:r>
                  <a:rPr lang="en-US" altLang="zh-CN" sz="1600" dirty="0" smtClean="0"/>
                  <a:t>pi</a:t>
                </a:r>
                <a:r>
                  <a:rPr lang="zh-CN" altLang="en-US" sz="1600" dirty="0" smtClean="0"/>
                  <a:t>用状态</a:t>
                </a:r>
                <a:r>
                  <a:rPr lang="en-US" altLang="zh-CN" sz="1600" dirty="0" smtClean="0"/>
                  <a:t>s</a:t>
                </a:r>
                <a:r>
                  <a:rPr lang="zh-CN" altLang="en-US" sz="1600" dirty="0" smtClean="0"/>
                  <a:t>作为输入，输出一个概率分布。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动作</a:t>
                </a:r>
                <a:r>
                  <a:rPr lang="en-US" altLang="zh-CN" sz="1600" dirty="0" smtClean="0"/>
                  <a:t>a</a:t>
                </a:r>
                <a:r>
                  <a:rPr lang="zh-CN" altLang="en-US" sz="1600" dirty="0" smtClean="0"/>
                  <a:t>从这个概率分布中随机抽样得到。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------</a:t>
                </a:r>
              </a:p>
              <a:p>
                <a:r>
                  <a:rPr lang="zh-CN" altLang="en-US" sz="1600" dirty="0" smtClean="0"/>
                  <a:t>第二个随机性来源是下一个状态。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给定了当前状态</a:t>
                </a:r>
                <a:r>
                  <a:rPr lang="en-US" altLang="zh-CN" sz="1600" dirty="0" smtClean="0"/>
                  <a:t>s</a:t>
                </a:r>
                <a:r>
                  <a:rPr lang="zh-CN" altLang="en-US" sz="1600" dirty="0" smtClean="0"/>
                  <a:t>和动作</a:t>
                </a:r>
                <a:r>
                  <a:rPr lang="en-US" altLang="zh-CN" sz="1600" dirty="0" smtClean="0"/>
                  <a:t>a</a:t>
                </a:r>
                <a:r>
                  <a:rPr lang="zh-CN" altLang="en-US" sz="1600" dirty="0" smtClean="0"/>
                  <a:t>，下一个状态</a:t>
                </a:r>
                <a:r>
                  <a:rPr lang="en-US" altLang="zh-CN" sz="1600" dirty="0" smtClean="0"/>
                  <a:t>s’</a:t>
                </a:r>
                <a:r>
                  <a:rPr lang="zh-CN" altLang="en-US" sz="1600" dirty="0" smtClean="0"/>
                  <a:t>是随机的。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这个状态转移函数</a:t>
                </a:r>
                <a:r>
                  <a:rPr lang="en-US" altLang="zh-CN" sz="1600" dirty="0" smtClean="0"/>
                  <a:t>p</a:t>
                </a:r>
                <a:r>
                  <a:rPr lang="zh-CN" altLang="en-US" sz="1600" dirty="0" smtClean="0"/>
                  <a:t>输出概率分布，环境从这个概率分布中随机抽样得到新的状态</a:t>
                </a:r>
                <a:r>
                  <a:rPr lang="en-US" altLang="zh-CN" sz="1600" dirty="0" smtClean="0"/>
                  <a:t>s’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844320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600" dirty="0" smtClean="0">
                <a:solidFill>
                  <a:schemeClr val="tx1"/>
                </a:solidFill>
              </a:rPr>
              <a:t>Here</a:t>
            </a:r>
            <a:r>
              <a:rPr lang="zh-CN" altLang="en-US" sz="1600" dirty="0" smtClean="0">
                <a:solidFill>
                  <a:schemeClr val="tx1"/>
                </a:solidFill>
              </a:rPr>
              <a:t> </a:t>
            </a:r>
            <a:r>
              <a:rPr lang="en-US" altLang="zh-CN" sz="1600" dirty="0" smtClean="0">
                <a:solidFill>
                  <a:schemeClr val="tx1"/>
                </a:solidFill>
              </a:rPr>
              <a:t>I</a:t>
            </a:r>
            <a:r>
              <a:rPr lang="zh-CN" altLang="en-US" sz="1600" baseline="0" dirty="0" smtClean="0">
                <a:solidFill>
                  <a:schemeClr val="tx1"/>
                </a:solidFill>
              </a:rPr>
              <a:t> </a:t>
            </a:r>
            <a:r>
              <a:rPr lang="en-US" altLang="zh-CN" sz="1600" dirty="0" smtClean="0">
                <a:solidFill>
                  <a:schemeClr val="tx1"/>
                </a:solidFill>
              </a:rPr>
              <a:t>illustrate</a:t>
            </a:r>
            <a:r>
              <a:rPr lang="zh-CN" altLang="en-US" sz="1600" dirty="0" smtClean="0">
                <a:solidFill>
                  <a:schemeClr val="tx1"/>
                </a:solidFill>
              </a:rPr>
              <a:t> </a:t>
            </a:r>
            <a:r>
              <a:rPr lang="en-US" altLang="zh-CN" sz="1600" dirty="0" smtClean="0">
                <a:solidFill>
                  <a:schemeClr val="tx1"/>
                </a:solidFill>
              </a:rPr>
              <a:t>the</a:t>
            </a:r>
            <a:r>
              <a:rPr lang="zh-CN" altLang="en-US" sz="1600" dirty="0" smtClean="0">
                <a:solidFill>
                  <a:schemeClr val="tx1"/>
                </a:solidFill>
              </a:rPr>
              <a:t> </a:t>
            </a:r>
            <a:r>
              <a:rPr lang="en-US" altLang="zh-CN" sz="1600" dirty="0" smtClean="0">
                <a:solidFill>
                  <a:schemeClr val="tx1"/>
                </a:solidFill>
              </a:rPr>
              <a:t>randomness</a:t>
            </a:r>
            <a:r>
              <a:rPr lang="zh-CN" altLang="en-US" sz="1600" dirty="0" smtClean="0">
                <a:solidFill>
                  <a:schemeClr val="tx1"/>
                </a:solidFill>
              </a:rPr>
              <a:t> </a:t>
            </a:r>
            <a:r>
              <a:rPr lang="en-US" altLang="zh-CN" sz="1600" dirty="0" smtClean="0">
                <a:solidFill>
                  <a:schemeClr val="tx1"/>
                </a:solidFill>
              </a:rPr>
              <a:t>in</a:t>
            </a:r>
            <a:r>
              <a:rPr lang="zh-CN" altLang="en-US" sz="1600" dirty="0" smtClean="0">
                <a:solidFill>
                  <a:schemeClr val="tx1"/>
                </a:solidFill>
              </a:rPr>
              <a:t> </a:t>
            </a:r>
            <a:r>
              <a:rPr lang="en-US" altLang="zh-CN" sz="1600" dirty="0" smtClean="0">
                <a:solidFill>
                  <a:schemeClr val="tx1"/>
                </a:solidFill>
              </a:rPr>
              <a:t>the</a:t>
            </a:r>
            <a:r>
              <a:rPr lang="zh-CN" altLang="en-US" sz="1600" dirty="0" smtClean="0">
                <a:solidFill>
                  <a:schemeClr val="tx1"/>
                </a:solidFill>
              </a:rPr>
              <a:t> </a:t>
            </a:r>
            <a:r>
              <a:rPr lang="en-US" altLang="zh-CN" sz="1600" dirty="0" smtClean="0">
                <a:solidFill>
                  <a:schemeClr val="tx1"/>
                </a:solidFill>
              </a:rPr>
              <a:t>rewards</a:t>
            </a:r>
            <a:r>
              <a:rPr lang="zh-CN" altLang="en-US" sz="1600" baseline="0" dirty="0" smtClean="0">
                <a:solidFill>
                  <a:schemeClr val="tx1"/>
                </a:solidFill>
              </a:rPr>
              <a:t> </a:t>
            </a:r>
            <a:r>
              <a:rPr lang="en-US" altLang="zh-CN" sz="1600" baseline="0" dirty="0" smtClean="0">
                <a:solidFill>
                  <a:schemeClr val="tx1"/>
                </a:solidFill>
              </a:rPr>
              <a:t>and</a:t>
            </a:r>
            <a:r>
              <a:rPr lang="zh-CN" altLang="en-US" sz="1600" baseline="0" dirty="0" smtClean="0">
                <a:solidFill>
                  <a:schemeClr val="tx1"/>
                </a:solidFill>
              </a:rPr>
              <a:t> </a:t>
            </a:r>
            <a:r>
              <a:rPr lang="en-US" altLang="zh-CN" sz="1600" baseline="0" dirty="0" smtClean="0">
                <a:solidFill>
                  <a:schemeClr val="tx1"/>
                </a:solidFill>
              </a:rPr>
              <a:t>returns.</a:t>
            </a:r>
          </a:p>
          <a:p>
            <a:r>
              <a:rPr lang="en-US" altLang="zh-CN" sz="1600" baseline="0" dirty="0" smtClean="0">
                <a:solidFill>
                  <a:schemeClr val="tx1"/>
                </a:solidFill>
              </a:rPr>
              <a:t>The</a:t>
            </a:r>
            <a:r>
              <a:rPr lang="zh-CN" altLang="en-US" sz="1600" baseline="0" dirty="0" smtClean="0">
                <a:solidFill>
                  <a:schemeClr val="tx1"/>
                </a:solidFill>
              </a:rPr>
              <a:t> </a:t>
            </a:r>
            <a:r>
              <a:rPr lang="en-US" altLang="zh-CN" sz="1600" baseline="0" dirty="0" smtClean="0">
                <a:solidFill>
                  <a:schemeClr val="tx1"/>
                </a:solidFill>
              </a:rPr>
              <a:t>axis</a:t>
            </a:r>
            <a:r>
              <a:rPr lang="zh-CN" altLang="en-US" sz="1600" baseline="0" dirty="0" smtClean="0">
                <a:solidFill>
                  <a:schemeClr val="tx1"/>
                </a:solidFill>
              </a:rPr>
              <a:t> </a:t>
            </a:r>
            <a:r>
              <a:rPr lang="en-US" altLang="zh-CN" sz="1600" baseline="0" dirty="0" smtClean="0">
                <a:solidFill>
                  <a:schemeClr val="tx1"/>
                </a:solidFill>
              </a:rPr>
              <a:t>is</a:t>
            </a:r>
            <a:r>
              <a:rPr lang="zh-CN" altLang="en-US" sz="1600" baseline="0" dirty="0" smtClean="0">
                <a:solidFill>
                  <a:schemeClr val="tx1"/>
                </a:solidFill>
              </a:rPr>
              <a:t> </a:t>
            </a:r>
            <a:r>
              <a:rPr lang="en-US" altLang="zh-CN" sz="1600" baseline="0" dirty="0" smtClean="0">
                <a:solidFill>
                  <a:schemeClr val="tx1"/>
                </a:solidFill>
              </a:rPr>
              <a:t>the</a:t>
            </a:r>
            <a:r>
              <a:rPr lang="zh-CN" altLang="en-US" sz="1600" baseline="0" dirty="0" smtClean="0">
                <a:solidFill>
                  <a:schemeClr val="tx1"/>
                </a:solidFill>
              </a:rPr>
              <a:t> </a:t>
            </a:r>
            <a:r>
              <a:rPr lang="en-US" altLang="zh-CN" sz="1600" baseline="0" dirty="0" smtClean="0">
                <a:solidFill>
                  <a:schemeClr val="tx1"/>
                </a:solidFill>
              </a:rPr>
              <a:t>time.</a:t>
            </a:r>
          </a:p>
          <a:p>
            <a:r>
              <a:rPr lang="en-US" altLang="zh-CN" sz="1600" baseline="0" dirty="0" smtClean="0">
                <a:solidFill>
                  <a:schemeClr val="tx1"/>
                </a:solidFill>
              </a:rPr>
              <a:t>=================================</a:t>
            </a:r>
          </a:p>
          <a:p>
            <a:r>
              <a:rPr lang="en-US" altLang="zh-CN" sz="1600" baseline="0" dirty="0" smtClean="0">
                <a:solidFill>
                  <a:schemeClr val="tx1"/>
                </a:solidFill>
              </a:rPr>
              <a:t>This</a:t>
            </a:r>
            <a:r>
              <a:rPr lang="zh-CN" altLang="en-US" sz="1600" baseline="0" dirty="0" smtClean="0">
                <a:solidFill>
                  <a:schemeClr val="tx1"/>
                </a:solidFill>
              </a:rPr>
              <a:t> </a:t>
            </a:r>
            <a:r>
              <a:rPr lang="en-US" altLang="zh-CN" sz="1600" baseline="0" dirty="0" smtClean="0">
                <a:solidFill>
                  <a:schemeClr val="tx1"/>
                </a:solidFill>
              </a:rPr>
              <a:t>is</a:t>
            </a:r>
            <a:r>
              <a:rPr lang="zh-CN" altLang="en-US" sz="1600" baseline="0" dirty="0" smtClean="0">
                <a:solidFill>
                  <a:schemeClr val="tx1"/>
                </a:solidFill>
              </a:rPr>
              <a:t> </a:t>
            </a:r>
            <a:r>
              <a:rPr lang="en-US" altLang="zh-CN" sz="1600" baseline="0" dirty="0" smtClean="0">
                <a:solidFill>
                  <a:schemeClr val="tx1"/>
                </a:solidFill>
              </a:rPr>
              <a:t>time</a:t>
            </a:r>
            <a:r>
              <a:rPr lang="zh-CN" altLang="en-US" sz="1600" baseline="0" dirty="0" smtClean="0">
                <a:solidFill>
                  <a:schemeClr val="tx1"/>
                </a:solidFill>
              </a:rPr>
              <a:t> </a:t>
            </a:r>
            <a:r>
              <a:rPr lang="en-US" altLang="zh-CN" sz="1600" baseline="0" dirty="0" smtClean="0">
                <a:solidFill>
                  <a:schemeClr val="tx1"/>
                </a:solidFill>
              </a:rPr>
              <a:t>t.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aseline="0" dirty="0" smtClean="0">
                <a:solidFill>
                  <a:schemeClr val="tx1"/>
                </a:solidFill>
              </a:rPr>
              <a:t>=================================</a:t>
            </a:r>
          </a:p>
          <a:p>
            <a:r>
              <a:rPr lang="en-US" altLang="zh-CN" sz="1600" dirty="0" smtClean="0">
                <a:solidFill>
                  <a:schemeClr val="tx1"/>
                </a:solidFill>
              </a:rPr>
              <a:t>This</a:t>
            </a:r>
            <a:r>
              <a:rPr lang="zh-CN" altLang="en-US" sz="1600" dirty="0" smtClean="0">
                <a:solidFill>
                  <a:schemeClr val="tx1"/>
                </a:solidFill>
              </a:rPr>
              <a:t> </a:t>
            </a:r>
            <a:r>
              <a:rPr lang="en-US" altLang="zh-CN" sz="1600" dirty="0" smtClean="0">
                <a:solidFill>
                  <a:schemeClr val="tx1"/>
                </a:solidFill>
              </a:rPr>
              <a:t>is</a:t>
            </a:r>
            <a:r>
              <a:rPr lang="zh-CN" altLang="en-US" sz="1600" dirty="0" smtClean="0">
                <a:solidFill>
                  <a:schemeClr val="tx1"/>
                </a:solidFill>
              </a:rPr>
              <a:t> </a:t>
            </a:r>
            <a:r>
              <a:rPr lang="en-US" altLang="zh-CN" sz="1600" dirty="0" smtClean="0">
                <a:solidFill>
                  <a:schemeClr val="tx1"/>
                </a:solidFill>
              </a:rPr>
              <a:t>the</a:t>
            </a:r>
            <a:r>
              <a:rPr lang="zh-CN" altLang="en-US" sz="1600" baseline="0" dirty="0" smtClean="0">
                <a:solidFill>
                  <a:schemeClr val="tx1"/>
                </a:solidFill>
              </a:rPr>
              <a:t> </a:t>
            </a:r>
            <a:r>
              <a:rPr lang="en-US" altLang="zh-CN" sz="1600" baseline="0" dirty="0" smtClean="0">
                <a:solidFill>
                  <a:schemeClr val="tx1"/>
                </a:solidFill>
              </a:rPr>
              <a:t>end</a:t>
            </a:r>
            <a:r>
              <a:rPr lang="zh-CN" altLang="en-US" sz="1600" baseline="0" dirty="0" smtClean="0">
                <a:solidFill>
                  <a:schemeClr val="tx1"/>
                </a:solidFill>
              </a:rPr>
              <a:t> </a:t>
            </a:r>
            <a:r>
              <a:rPr lang="en-US" altLang="zh-CN" sz="1600" baseline="0" dirty="0" smtClean="0">
                <a:solidFill>
                  <a:schemeClr val="tx1"/>
                </a:solidFill>
              </a:rPr>
              <a:t>of</a:t>
            </a:r>
            <a:r>
              <a:rPr lang="zh-CN" altLang="en-US" sz="1600" baseline="0" dirty="0" smtClean="0">
                <a:solidFill>
                  <a:schemeClr val="tx1"/>
                </a:solidFill>
              </a:rPr>
              <a:t> </a:t>
            </a:r>
            <a:r>
              <a:rPr lang="en-US" altLang="zh-CN" sz="1600" baseline="0" dirty="0" smtClean="0">
                <a:solidFill>
                  <a:schemeClr val="tx1"/>
                </a:solidFill>
              </a:rPr>
              <a:t>the</a:t>
            </a:r>
            <a:r>
              <a:rPr lang="zh-CN" altLang="en-US" sz="1600" baseline="0" dirty="0" smtClean="0">
                <a:solidFill>
                  <a:schemeClr val="tx1"/>
                </a:solidFill>
              </a:rPr>
              <a:t> </a:t>
            </a:r>
            <a:r>
              <a:rPr lang="en-US" altLang="zh-CN" sz="1600" baseline="0" dirty="0" smtClean="0">
                <a:solidFill>
                  <a:schemeClr val="tx1"/>
                </a:solidFill>
              </a:rPr>
              <a:t>game.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600" baseline="0" dirty="0" smtClean="0">
              <a:solidFill>
                <a:schemeClr val="tx1"/>
              </a:solidFill>
            </a:endParaRPr>
          </a:p>
          <a:p>
            <a:endParaRPr lang="en-US" altLang="zh-CN" sz="1600" dirty="0" smtClean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36052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Suppose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we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are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currently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at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time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t.</a:t>
                </a:r>
              </a:p>
              <a:p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=================================</a:t>
                </a:r>
              </a:p>
              <a:p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At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time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t,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we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have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not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yet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observed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rewards,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to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to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are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unknown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random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variables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and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denoted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by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uppercase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letters.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=================================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is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the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sum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of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to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1600" dirty="0" smtClean="0">
                    <a:solidFill>
                      <a:schemeClr val="tx1"/>
                    </a:solidFill>
                  </a:rPr>
                  <a:t>.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Thus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is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an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unknown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random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variable.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baseline="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baseline="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baseline="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baseline="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baseline="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baseline="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baseline="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baseline="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baseline="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baseline="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baseline="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baseline="0" dirty="0" smtClean="0"/>
                  <a:t>Suppose</a:t>
                </a:r>
                <a:r>
                  <a:rPr lang="zh-CN" altLang="en-US" baseline="0" dirty="0" smtClean="0"/>
                  <a:t> </a:t>
                </a:r>
                <a:r>
                  <a:rPr lang="en-US" altLang="zh-CN" baseline="0" dirty="0" smtClean="0"/>
                  <a:t>we</a:t>
                </a:r>
                <a:r>
                  <a:rPr lang="zh-CN" altLang="en-US" baseline="0" dirty="0" smtClean="0"/>
                  <a:t> </a:t>
                </a:r>
                <a:r>
                  <a:rPr lang="en-US" altLang="zh-CN" baseline="0" dirty="0" smtClean="0"/>
                  <a:t>are</a:t>
                </a:r>
                <a:r>
                  <a:rPr lang="zh-CN" altLang="en-US" baseline="0" dirty="0" smtClean="0"/>
                  <a:t> </a:t>
                </a:r>
                <a:r>
                  <a:rPr lang="en-US" altLang="zh-CN" baseline="0" dirty="0" smtClean="0"/>
                  <a:t>currently</a:t>
                </a:r>
                <a:r>
                  <a:rPr lang="zh-CN" altLang="en-US" baseline="0" dirty="0" smtClean="0"/>
                  <a:t> </a:t>
                </a:r>
                <a:r>
                  <a:rPr lang="en-US" altLang="zh-CN" baseline="0" dirty="0" smtClean="0"/>
                  <a:t>at</a:t>
                </a:r>
                <a:r>
                  <a:rPr lang="zh-CN" altLang="en-US" baseline="0" dirty="0" smtClean="0"/>
                  <a:t> </a:t>
                </a:r>
                <a:r>
                  <a:rPr lang="en-US" altLang="zh-CN" baseline="0" dirty="0" smtClean="0"/>
                  <a:t>time</a:t>
                </a:r>
                <a:r>
                  <a:rPr lang="zh-CN" altLang="en-US" baseline="0" dirty="0" smtClean="0"/>
                  <a:t> </a:t>
                </a:r>
                <a:r>
                  <a:rPr lang="en-US" altLang="zh-CN" baseline="0" dirty="0" smtClean="0"/>
                  <a:t>t.</a:t>
                </a:r>
              </a:p>
              <a:p>
                <a:r>
                  <a:rPr lang="en-US" altLang="zh-CN" baseline="0" dirty="0" smtClean="0"/>
                  <a:t>=================================</a:t>
                </a:r>
              </a:p>
              <a:p>
                <a:r>
                  <a:rPr lang="en-US" altLang="zh-CN" baseline="0" dirty="0" smtClean="0"/>
                  <a:t>At</a:t>
                </a:r>
                <a:r>
                  <a:rPr lang="zh-CN" altLang="en-US" baseline="0" dirty="0" smtClean="0"/>
                  <a:t> </a:t>
                </a:r>
                <a:r>
                  <a:rPr lang="en-US" altLang="zh-CN" baseline="0" dirty="0" smtClean="0"/>
                  <a:t>time</a:t>
                </a:r>
                <a:r>
                  <a:rPr lang="zh-CN" altLang="en-US" baseline="0" dirty="0" smtClean="0"/>
                  <a:t> </a:t>
                </a:r>
                <a:r>
                  <a:rPr lang="en-US" altLang="zh-CN" baseline="0" dirty="0" smtClean="0"/>
                  <a:t>t,</a:t>
                </a:r>
                <a:r>
                  <a:rPr lang="zh-CN" altLang="en-US" baseline="0" dirty="0" smtClean="0"/>
                  <a:t> </a:t>
                </a:r>
                <a:r>
                  <a:rPr lang="en-US" altLang="zh-CN" baseline="0" dirty="0" smtClean="0"/>
                  <a:t>we</a:t>
                </a:r>
                <a:r>
                  <a:rPr lang="zh-CN" altLang="en-US" baseline="0" dirty="0" smtClean="0"/>
                  <a:t> </a:t>
                </a:r>
                <a:r>
                  <a:rPr lang="en-US" altLang="zh-CN" baseline="0" dirty="0" smtClean="0"/>
                  <a:t>have</a:t>
                </a:r>
                <a:r>
                  <a:rPr lang="zh-CN" altLang="en-US" baseline="0" dirty="0" smtClean="0"/>
                  <a:t> </a:t>
                </a:r>
                <a:r>
                  <a:rPr lang="en-US" altLang="zh-CN" baseline="0" dirty="0" smtClean="0"/>
                  <a:t>not</a:t>
                </a:r>
                <a:r>
                  <a:rPr lang="zh-CN" altLang="en-US" baseline="0" dirty="0" smtClean="0"/>
                  <a:t> </a:t>
                </a:r>
                <a:r>
                  <a:rPr lang="en-US" altLang="zh-CN" baseline="0" dirty="0" smtClean="0"/>
                  <a:t>yet</a:t>
                </a:r>
                <a:r>
                  <a:rPr lang="zh-CN" altLang="en-US" baseline="0" dirty="0" smtClean="0"/>
                  <a:t> </a:t>
                </a:r>
                <a:r>
                  <a:rPr lang="en-US" altLang="zh-CN" baseline="0" dirty="0" smtClean="0"/>
                  <a:t>observed</a:t>
                </a:r>
                <a:r>
                  <a:rPr lang="zh-CN" altLang="en-US" baseline="0" dirty="0" smtClean="0"/>
                  <a:t> </a:t>
                </a:r>
                <a:r>
                  <a:rPr lang="en-US" altLang="zh-CN" baseline="0" dirty="0" smtClean="0"/>
                  <a:t>rewards,</a:t>
                </a:r>
                <a:r>
                  <a:rPr lang="zh-CN" altLang="en-US" baseline="0" dirty="0" smtClean="0"/>
                  <a:t> </a:t>
                </a:r>
                <a:r>
                  <a:rPr lang="en-US" altLang="zh-CN" sz="1200" b="0" i="0" smtClean="0">
                    <a:solidFill>
                      <a:schemeClr val="accent5"/>
                    </a:solidFill>
                    <a:latin typeface="Cambria Math" charset="0"/>
                  </a:rPr>
                  <a:t>𝑅</a:t>
                </a:r>
                <a:r>
                  <a:rPr lang="en-US" altLang="zh-CN" sz="1200" b="0" i="0" smtClean="0">
                    <a:solidFill>
                      <a:schemeClr val="accent5"/>
                    </a:solidFill>
                    <a:latin typeface="Cambria Math" charset="0"/>
                  </a:rPr>
                  <a:t>_</a:t>
                </a:r>
                <a:r>
                  <a:rPr lang="en-US" altLang="zh-CN" sz="1200" b="0" i="0" smtClean="0">
                    <a:solidFill>
                      <a:schemeClr val="accent5"/>
                    </a:solidFill>
                    <a:latin typeface="Cambria Math" charset="0"/>
                  </a:rPr>
                  <a:t>𝑡</a:t>
                </a:r>
                <a:r>
                  <a:rPr lang="zh-CN" altLang="en-US" baseline="0" dirty="0" smtClean="0"/>
                  <a:t> </a:t>
                </a:r>
                <a:r>
                  <a:rPr lang="en-US" altLang="zh-CN" baseline="0" dirty="0" smtClean="0"/>
                  <a:t>to</a:t>
                </a:r>
                <a:r>
                  <a:rPr lang="zh-CN" altLang="en-US" baseline="0" dirty="0" smtClean="0"/>
                  <a:t> </a:t>
                </a:r>
                <a:r>
                  <a:rPr lang="en-US" altLang="zh-CN" sz="1200" b="0" i="0" smtClean="0">
                    <a:solidFill>
                      <a:schemeClr val="accent5"/>
                    </a:solidFill>
                    <a:latin typeface="Cambria Math" charset="0"/>
                  </a:rPr>
                  <a:t>𝑅_𝑛</a:t>
                </a:r>
                <a:r>
                  <a:rPr lang="en-US" altLang="zh-CN" baseline="0" dirty="0" smtClean="0"/>
                  <a:t>.</a:t>
                </a:r>
              </a:p>
              <a:p>
                <a:r>
                  <a:rPr lang="en-US" altLang="zh-CN" sz="1200" b="0" i="0" smtClean="0">
                    <a:solidFill>
                      <a:schemeClr val="accent5"/>
                    </a:solidFill>
                    <a:latin typeface="Cambria Math" charset="0"/>
                  </a:rPr>
                  <a:t>𝑅</a:t>
                </a:r>
                <a:r>
                  <a:rPr lang="en-US" altLang="zh-CN" sz="1200" b="0" i="0" smtClean="0">
                    <a:solidFill>
                      <a:schemeClr val="accent5"/>
                    </a:solidFill>
                    <a:latin typeface="Cambria Math" charset="0"/>
                  </a:rPr>
                  <a:t>_</a:t>
                </a:r>
                <a:r>
                  <a:rPr lang="en-US" altLang="zh-CN" sz="1200" b="0" i="0" smtClean="0">
                    <a:solidFill>
                      <a:schemeClr val="accent5"/>
                    </a:solidFill>
                    <a:latin typeface="Cambria Math" charset="0"/>
                  </a:rPr>
                  <a:t>𝑡</a:t>
                </a:r>
                <a:r>
                  <a:rPr lang="zh-CN" altLang="en-US" baseline="0" dirty="0" smtClean="0"/>
                  <a:t> </a:t>
                </a:r>
                <a:r>
                  <a:rPr lang="en-US" altLang="zh-CN" baseline="0" dirty="0" smtClean="0"/>
                  <a:t>to</a:t>
                </a:r>
                <a:r>
                  <a:rPr lang="zh-CN" altLang="en-US" baseline="0" dirty="0" smtClean="0"/>
                  <a:t> </a:t>
                </a:r>
                <a:r>
                  <a:rPr lang="en-US" altLang="zh-CN" sz="1200" b="0" i="0" smtClean="0">
                    <a:solidFill>
                      <a:schemeClr val="accent5"/>
                    </a:solidFill>
                    <a:latin typeface="Cambria Math" charset="0"/>
                  </a:rPr>
                  <a:t>𝑅_𝑛</a:t>
                </a:r>
                <a:r>
                  <a:rPr lang="zh-CN" altLang="en-US" baseline="0" dirty="0" smtClean="0"/>
                  <a:t> </a:t>
                </a:r>
                <a:r>
                  <a:rPr lang="en-US" altLang="zh-CN" baseline="0" dirty="0" smtClean="0"/>
                  <a:t>are</a:t>
                </a:r>
                <a:r>
                  <a:rPr lang="zh-CN" altLang="en-US" baseline="0" dirty="0" smtClean="0"/>
                  <a:t> </a:t>
                </a:r>
                <a:r>
                  <a:rPr lang="en-US" altLang="zh-CN" baseline="0" dirty="0" smtClean="0"/>
                  <a:t>unknown</a:t>
                </a:r>
                <a:r>
                  <a:rPr lang="zh-CN" altLang="en-US" baseline="0" dirty="0" smtClean="0"/>
                  <a:t> </a:t>
                </a:r>
                <a:r>
                  <a:rPr lang="en-US" altLang="zh-CN" baseline="0" dirty="0" smtClean="0"/>
                  <a:t>random</a:t>
                </a:r>
                <a:r>
                  <a:rPr lang="zh-CN" altLang="en-US" baseline="0" dirty="0" smtClean="0"/>
                  <a:t> </a:t>
                </a:r>
                <a:r>
                  <a:rPr lang="en-US" altLang="zh-CN" baseline="0" dirty="0" smtClean="0"/>
                  <a:t>variables</a:t>
                </a:r>
                <a:r>
                  <a:rPr lang="zh-CN" altLang="en-US" baseline="0" dirty="0" smtClean="0"/>
                  <a:t> </a:t>
                </a:r>
                <a:r>
                  <a:rPr lang="en-US" altLang="zh-CN" baseline="0" dirty="0" smtClean="0"/>
                  <a:t>and</a:t>
                </a:r>
                <a:r>
                  <a:rPr lang="zh-CN" altLang="en-US" baseline="0" dirty="0" smtClean="0"/>
                  <a:t> </a:t>
                </a:r>
                <a:r>
                  <a:rPr lang="en-US" altLang="zh-CN" baseline="0" dirty="0" smtClean="0"/>
                  <a:t>denoted</a:t>
                </a:r>
                <a:r>
                  <a:rPr lang="zh-CN" altLang="en-US" baseline="0" dirty="0" smtClean="0"/>
                  <a:t> </a:t>
                </a:r>
                <a:r>
                  <a:rPr lang="en-US" altLang="zh-CN" baseline="0" dirty="0" smtClean="0"/>
                  <a:t>by</a:t>
                </a:r>
                <a:r>
                  <a:rPr lang="zh-CN" altLang="en-US" baseline="0" dirty="0" smtClean="0"/>
                  <a:t> </a:t>
                </a:r>
                <a:r>
                  <a:rPr lang="en-US" altLang="zh-CN" baseline="0" dirty="0" smtClean="0"/>
                  <a:t>uppercase</a:t>
                </a:r>
                <a:r>
                  <a:rPr lang="zh-CN" altLang="en-US" baseline="0" dirty="0" smtClean="0"/>
                  <a:t> </a:t>
                </a:r>
                <a:r>
                  <a:rPr lang="en-US" altLang="zh-CN" baseline="0" dirty="0" smtClean="0"/>
                  <a:t>letters.</a:t>
                </a:r>
                <a:endParaRPr lang="en-US" altLang="zh-CN" baseline="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baseline="0" dirty="0" smtClean="0"/>
                  <a:t>=================================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200" b="0" i="0" smtClean="0">
                    <a:latin typeface="Cambria Math" charset="0"/>
                  </a:rPr>
                  <a:t>𝑈</a:t>
                </a:r>
                <a:r>
                  <a:rPr lang="en-US" altLang="zh-CN" sz="1200" b="0" i="0" smtClean="0">
                    <a:latin typeface="Cambria Math" charset="0"/>
                  </a:rPr>
                  <a:t>_</a:t>
                </a:r>
                <a:r>
                  <a:rPr lang="en-US" altLang="zh-CN" sz="1200" b="0" i="0" smtClean="0">
                    <a:latin typeface="Cambria Math" charset="0"/>
                  </a:rPr>
                  <a:t>𝑡</a:t>
                </a:r>
                <a:r>
                  <a:rPr lang="zh-CN" altLang="en-US" baseline="0" dirty="0" smtClean="0"/>
                  <a:t> </a:t>
                </a:r>
                <a:r>
                  <a:rPr lang="en-US" altLang="zh-CN" baseline="0" dirty="0" smtClean="0"/>
                  <a:t>is</a:t>
                </a:r>
                <a:r>
                  <a:rPr lang="zh-CN" altLang="en-US" baseline="0" dirty="0" smtClean="0"/>
                  <a:t> </a:t>
                </a:r>
                <a:r>
                  <a:rPr lang="en-US" altLang="zh-CN" baseline="0" dirty="0" smtClean="0"/>
                  <a:t>the</a:t>
                </a:r>
                <a:r>
                  <a:rPr lang="zh-CN" altLang="en-US" baseline="0" dirty="0" smtClean="0"/>
                  <a:t> </a:t>
                </a:r>
                <a:r>
                  <a:rPr lang="en-US" altLang="zh-CN" baseline="0" dirty="0" smtClean="0"/>
                  <a:t>sum</a:t>
                </a:r>
                <a:r>
                  <a:rPr lang="zh-CN" altLang="en-US" baseline="0" dirty="0" smtClean="0"/>
                  <a:t> </a:t>
                </a:r>
                <a:r>
                  <a:rPr lang="en-US" altLang="zh-CN" baseline="0" dirty="0" smtClean="0"/>
                  <a:t>of</a:t>
                </a:r>
                <a:r>
                  <a:rPr lang="zh-CN" altLang="en-US" baseline="0" dirty="0" smtClean="0"/>
                  <a:t> </a:t>
                </a:r>
                <a:r>
                  <a:rPr lang="en-US" altLang="zh-CN" sz="1200" b="0" i="0" smtClean="0">
                    <a:solidFill>
                      <a:schemeClr val="accent5"/>
                    </a:solidFill>
                    <a:latin typeface="Cambria Math" charset="0"/>
                  </a:rPr>
                  <a:t>𝑅</a:t>
                </a:r>
                <a:r>
                  <a:rPr lang="en-US" altLang="zh-CN" sz="1200" b="0" i="0" smtClean="0">
                    <a:solidFill>
                      <a:schemeClr val="accent5"/>
                    </a:solidFill>
                    <a:latin typeface="Cambria Math" charset="0"/>
                  </a:rPr>
                  <a:t>_</a:t>
                </a:r>
                <a:r>
                  <a:rPr lang="en-US" altLang="zh-CN" sz="1200" b="0" i="0" smtClean="0">
                    <a:solidFill>
                      <a:schemeClr val="accent5"/>
                    </a:solidFill>
                    <a:latin typeface="Cambria Math" charset="0"/>
                  </a:rPr>
                  <a:t>𝑡</a:t>
                </a:r>
                <a:r>
                  <a:rPr lang="zh-CN" altLang="en-US" baseline="0" dirty="0" smtClean="0"/>
                  <a:t> </a:t>
                </a:r>
                <a:r>
                  <a:rPr lang="en-US" altLang="zh-CN" baseline="0" dirty="0" smtClean="0"/>
                  <a:t>to</a:t>
                </a:r>
                <a:r>
                  <a:rPr lang="zh-CN" altLang="en-US" baseline="0" dirty="0" smtClean="0"/>
                  <a:t> </a:t>
                </a:r>
                <a:r>
                  <a:rPr lang="en-US" altLang="zh-CN" sz="1200" b="0" i="0" smtClean="0">
                    <a:solidFill>
                      <a:schemeClr val="accent5"/>
                    </a:solidFill>
                    <a:latin typeface="Cambria Math" charset="0"/>
                  </a:rPr>
                  <a:t>𝑅_𝑛</a:t>
                </a:r>
                <a:r>
                  <a:rPr lang="en-US" altLang="zh-CN" dirty="0" smtClean="0"/>
                  <a:t>.</a:t>
                </a:r>
                <a:r>
                  <a:rPr lang="zh-CN" altLang="en-US" dirty="0" smtClean="0"/>
                  <a:t> </a:t>
                </a:r>
                <a:endParaRPr lang="en-US" altLang="zh-CN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dirty="0" smtClean="0"/>
                  <a:t>Thus</a:t>
                </a:r>
                <a:r>
                  <a:rPr lang="zh-CN" altLang="en-US" dirty="0" smtClean="0"/>
                  <a:t> </a:t>
                </a:r>
                <a:r>
                  <a:rPr lang="en-US" altLang="zh-CN" sz="1200" b="0" i="0" smtClean="0">
                    <a:latin typeface="Cambria Math" charset="0"/>
                  </a:rPr>
                  <a:t>𝑈</a:t>
                </a:r>
                <a:r>
                  <a:rPr lang="en-US" altLang="zh-CN" sz="1200" b="0" i="0" smtClean="0">
                    <a:latin typeface="Cambria Math" charset="0"/>
                  </a:rPr>
                  <a:t>_</a:t>
                </a:r>
                <a:r>
                  <a:rPr lang="en-US" altLang="zh-CN" sz="1200" b="0" i="0" smtClean="0">
                    <a:latin typeface="Cambria Math" charset="0"/>
                  </a:rPr>
                  <a:t>𝑡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is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an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unknown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random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variable.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200" baseline="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200" baseline="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200" baseline="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200" baseline="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200" baseline="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200" baseline="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200" baseline="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200" baseline="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200" baseline="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200" baseline="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baseline="0" dirty="0" smtClean="0"/>
              </a:p>
              <a:p>
                <a:endParaRPr lang="en-US" altLang="zh-CN" dirty="0" smtClean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95342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Suppose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the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game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has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ended.</a:t>
                </a:r>
              </a:p>
              <a:p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=================================</a:t>
                </a:r>
              </a:p>
              <a:p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At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this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time,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we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have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observed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all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the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rewards.</a:t>
                </a:r>
              </a:p>
              <a:p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We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therefore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denote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the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rewards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by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lowercase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letters.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=================================</a:t>
                </a:r>
              </a:p>
              <a:p>
                <a:r>
                  <a:rPr lang="en-US" altLang="zh-CN" sz="1600" dirty="0" smtClean="0">
                    <a:solidFill>
                      <a:schemeClr val="tx1"/>
                    </a:solidFill>
                  </a:rPr>
                  <a:t>As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the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sum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of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the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observed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rewards,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the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return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𝑢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is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an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observed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value.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𝑢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is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just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a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number;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it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does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not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have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randomness.</a:t>
                </a: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baseline="0" dirty="0" smtClean="0"/>
                  <a:t>Suppose</a:t>
                </a:r>
                <a:r>
                  <a:rPr lang="zh-CN" altLang="en-US" baseline="0" dirty="0" smtClean="0"/>
                  <a:t> </a:t>
                </a:r>
                <a:r>
                  <a:rPr lang="en-US" altLang="zh-CN" baseline="0" dirty="0" smtClean="0"/>
                  <a:t>the</a:t>
                </a:r>
                <a:r>
                  <a:rPr lang="zh-CN" altLang="en-US" baseline="0" dirty="0" smtClean="0"/>
                  <a:t> </a:t>
                </a:r>
                <a:r>
                  <a:rPr lang="en-US" altLang="zh-CN" baseline="0" dirty="0" smtClean="0"/>
                  <a:t>game</a:t>
                </a:r>
                <a:r>
                  <a:rPr lang="zh-CN" altLang="en-US" baseline="0" dirty="0" smtClean="0"/>
                  <a:t> </a:t>
                </a:r>
                <a:r>
                  <a:rPr lang="en-US" altLang="zh-CN" baseline="0" dirty="0" smtClean="0"/>
                  <a:t>has</a:t>
                </a:r>
                <a:r>
                  <a:rPr lang="zh-CN" altLang="en-US" baseline="0" dirty="0" smtClean="0"/>
                  <a:t> </a:t>
                </a:r>
                <a:r>
                  <a:rPr lang="en-US" altLang="zh-CN" baseline="0" dirty="0" smtClean="0"/>
                  <a:t>ended.</a:t>
                </a:r>
                <a:endParaRPr lang="en-US" altLang="zh-CN" baseline="0" dirty="0" smtClean="0"/>
              </a:p>
              <a:p>
                <a:r>
                  <a:rPr lang="en-US" altLang="zh-CN" baseline="0" dirty="0" smtClean="0"/>
                  <a:t>=================================</a:t>
                </a:r>
              </a:p>
              <a:p>
                <a:r>
                  <a:rPr lang="en-US" altLang="zh-CN" baseline="0" dirty="0" smtClean="0"/>
                  <a:t>At</a:t>
                </a:r>
                <a:r>
                  <a:rPr lang="zh-CN" altLang="en-US" baseline="0" dirty="0" smtClean="0"/>
                  <a:t> </a:t>
                </a:r>
                <a:r>
                  <a:rPr lang="en-US" altLang="zh-CN" baseline="0" dirty="0" smtClean="0"/>
                  <a:t>this</a:t>
                </a:r>
                <a:r>
                  <a:rPr lang="zh-CN" altLang="en-US" baseline="0" dirty="0" smtClean="0"/>
                  <a:t> </a:t>
                </a:r>
                <a:r>
                  <a:rPr lang="en-US" altLang="zh-CN" baseline="0" dirty="0" smtClean="0"/>
                  <a:t>time,</a:t>
                </a:r>
                <a:r>
                  <a:rPr lang="zh-CN" altLang="en-US" baseline="0" dirty="0" smtClean="0"/>
                  <a:t> </a:t>
                </a:r>
                <a:r>
                  <a:rPr lang="en-US" altLang="zh-CN" baseline="0" dirty="0" smtClean="0"/>
                  <a:t>we</a:t>
                </a:r>
                <a:r>
                  <a:rPr lang="zh-CN" altLang="en-US" baseline="0" dirty="0" smtClean="0"/>
                  <a:t> </a:t>
                </a:r>
                <a:r>
                  <a:rPr lang="en-US" altLang="zh-CN" baseline="0" dirty="0" smtClean="0"/>
                  <a:t>have</a:t>
                </a:r>
                <a:r>
                  <a:rPr lang="zh-CN" altLang="en-US" baseline="0" dirty="0" smtClean="0"/>
                  <a:t> </a:t>
                </a:r>
                <a:r>
                  <a:rPr lang="en-US" altLang="zh-CN" baseline="0" dirty="0" smtClean="0"/>
                  <a:t>observed</a:t>
                </a:r>
                <a:r>
                  <a:rPr lang="zh-CN" altLang="en-US" baseline="0" dirty="0" smtClean="0"/>
                  <a:t> </a:t>
                </a:r>
                <a:r>
                  <a:rPr lang="en-US" altLang="zh-CN" baseline="0" dirty="0" smtClean="0"/>
                  <a:t>all</a:t>
                </a:r>
                <a:r>
                  <a:rPr lang="zh-CN" altLang="en-US" baseline="0" dirty="0" smtClean="0"/>
                  <a:t> </a:t>
                </a:r>
                <a:r>
                  <a:rPr lang="en-US" altLang="zh-CN" baseline="0" dirty="0" smtClean="0"/>
                  <a:t>the</a:t>
                </a:r>
                <a:r>
                  <a:rPr lang="zh-CN" altLang="en-US" baseline="0" dirty="0" smtClean="0"/>
                  <a:t> </a:t>
                </a:r>
                <a:r>
                  <a:rPr lang="en-US" altLang="zh-CN" baseline="0" dirty="0" smtClean="0"/>
                  <a:t>rewards.</a:t>
                </a:r>
              </a:p>
              <a:p>
                <a:r>
                  <a:rPr lang="en-US" altLang="zh-CN" baseline="0" dirty="0" smtClean="0"/>
                  <a:t>We</a:t>
                </a:r>
                <a:r>
                  <a:rPr lang="zh-CN" altLang="en-US" baseline="0" dirty="0" smtClean="0"/>
                  <a:t> </a:t>
                </a:r>
                <a:r>
                  <a:rPr lang="en-US" altLang="zh-CN" baseline="0" dirty="0" smtClean="0"/>
                  <a:t>therefore</a:t>
                </a:r>
                <a:r>
                  <a:rPr lang="zh-CN" altLang="en-US" baseline="0" dirty="0" smtClean="0"/>
                  <a:t> </a:t>
                </a:r>
                <a:r>
                  <a:rPr lang="en-US" altLang="zh-CN" baseline="0" dirty="0" smtClean="0"/>
                  <a:t>denote</a:t>
                </a:r>
                <a:r>
                  <a:rPr lang="zh-CN" altLang="en-US" baseline="0" dirty="0" smtClean="0"/>
                  <a:t> </a:t>
                </a:r>
                <a:r>
                  <a:rPr lang="en-US" altLang="zh-CN" baseline="0" dirty="0" smtClean="0"/>
                  <a:t>the</a:t>
                </a:r>
                <a:r>
                  <a:rPr lang="zh-CN" altLang="en-US" baseline="0" dirty="0" smtClean="0"/>
                  <a:t> </a:t>
                </a:r>
                <a:r>
                  <a:rPr lang="en-US" altLang="zh-CN" baseline="0" dirty="0" smtClean="0"/>
                  <a:t>rewards</a:t>
                </a:r>
                <a:r>
                  <a:rPr lang="zh-CN" altLang="en-US" baseline="0" dirty="0" smtClean="0"/>
                  <a:t> </a:t>
                </a:r>
                <a:r>
                  <a:rPr lang="en-US" altLang="zh-CN" baseline="0" dirty="0" smtClean="0"/>
                  <a:t>by</a:t>
                </a:r>
                <a:r>
                  <a:rPr lang="zh-CN" altLang="en-US" baseline="0" dirty="0" smtClean="0"/>
                  <a:t> </a:t>
                </a:r>
                <a:r>
                  <a:rPr lang="en-US" altLang="zh-CN" baseline="0" dirty="0" smtClean="0"/>
                  <a:t>lowercase</a:t>
                </a:r>
                <a:r>
                  <a:rPr lang="zh-CN" altLang="en-US" baseline="0" dirty="0" smtClean="0"/>
                  <a:t> </a:t>
                </a:r>
                <a:r>
                  <a:rPr lang="en-US" altLang="zh-CN" baseline="0" dirty="0" smtClean="0"/>
                  <a:t>letters.</a:t>
                </a:r>
                <a:endParaRPr lang="en-US" altLang="zh-CN" baseline="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baseline="0" dirty="0" smtClean="0"/>
                  <a:t>=================================</a:t>
                </a:r>
                <a:endParaRPr lang="en-US" altLang="zh-CN" baseline="0" dirty="0" smtClean="0"/>
              </a:p>
              <a:p>
                <a:r>
                  <a:rPr lang="en-US" altLang="zh-CN" dirty="0" smtClean="0"/>
                  <a:t>As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the</a:t>
                </a:r>
                <a:r>
                  <a:rPr lang="zh-CN" altLang="en-US" baseline="0" dirty="0" smtClean="0"/>
                  <a:t> </a:t>
                </a:r>
                <a:r>
                  <a:rPr lang="en-US" altLang="zh-CN" baseline="0" dirty="0" smtClean="0"/>
                  <a:t>sum</a:t>
                </a:r>
                <a:r>
                  <a:rPr lang="zh-CN" altLang="en-US" baseline="0" dirty="0" smtClean="0"/>
                  <a:t> </a:t>
                </a:r>
                <a:r>
                  <a:rPr lang="en-US" altLang="zh-CN" baseline="0" dirty="0" smtClean="0"/>
                  <a:t>of</a:t>
                </a:r>
                <a:r>
                  <a:rPr lang="zh-CN" altLang="en-US" baseline="0" dirty="0" smtClean="0"/>
                  <a:t> </a:t>
                </a:r>
                <a:r>
                  <a:rPr lang="en-US" altLang="zh-CN" baseline="0" dirty="0" smtClean="0"/>
                  <a:t>the</a:t>
                </a:r>
                <a:r>
                  <a:rPr lang="zh-CN" altLang="en-US" baseline="0" dirty="0" smtClean="0"/>
                  <a:t> </a:t>
                </a:r>
                <a:r>
                  <a:rPr lang="en-US" altLang="zh-CN" baseline="0" dirty="0" smtClean="0"/>
                  <a:t>observed</a:t>
                </a:r>
                <a:r>
                  <a:rPr lang="zh-CN" altLang="en-US" baseline="0" dirty="0" smtClean="0"/>
                  <a:t> </a:t>
                </a:r>
                <a:r>
                  <a:rPr lang="en-US" altLang="zh-CN" baseline="0" dirty="0" smtClean="0"/>
                  <a:t>rewards,</a:t>
                </a:r>
                <a:r>
                  <a:rPr lang="zh-CN" altLang="en-US" baseline="0" dirty="0" smtClean="0"/>
                  <a:t> </a:t>
                </a:r>
                <a:r>
                  <a:rPr lang="en-US" altLang="zh-CN" dirty="0" smtClean="0"/>
                  <a:t>the</a:t>
                </a:r>
                <a:r>
                  <a:rPr lang="zh-CN" altLang="en-US" baseline="0" dirty="0" smtClean="0"/>
                  <a:t> </a:t>
                </a:r>
                <a:r>
                  <a:rPr lang="en-US" altLang="zh-CN" baseline="0" dirty="0" smtClean="0"/>
                  <a:t>return</a:t>
                </a:r>
                <a:r>
                  <a:rPr lang="zh-CN" altLang="en-US" baseline="0" dirty="0" smtClean="0"/>
                  <a:t> </a:t>
                </a:r>
                <a:r>
                  <a:rPr lang="en-US" altLang="zh-CN" sz="1200" b="0" i="0" smtClean="0">
                    <a:latin typeface="Cambria Math" charset="0"/>
                  </a:rPr>
                  <a:t>𝑢_</a:t>
                </a:r>
                <a:r>
                  <a:rPr lang="en-US" altLang="zh-CN" sz="1200" b="0" i="0" smtClean="0">
                    <a:latin typeface="Cambria Math" charset="0"/>
                  </a:rPr>
                  <a:t>𝑡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is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an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observed</a:t>
                </a:r>
                <a:r>
                  <a:rPr lang="zh-CN" altLang="en-US" sz="1200" dirty="0" smtClean="0"/>
                  <a:t> </a:t>
                </a:r>
                <a:r>
                  <a:rPr lang="en-US" altLang="zh-CN" sz="1200" dirty="0" smtClean="0"/>
                  <a:t>value.</a:t>
                </a:r>
              </a:p>
              <a:p>
                <a:r>
                  <a:rPr lang="en-US" altLang="zh-CN" sz="1200" b="0" i="0" smtClean="0">
                    <a:latin typeface="Cambria Math" charset="0"/>
                  </a:rPr>
                  <a:t>𝑢</a:t>
                </a:r>
                <a:r>
                  <a:rPr lang="en-US" altLang="zh-CN" sz="1200" b="0" i="0" smtClean="0">
                    <a:latin typeface="Cambria Math" charset="0"/>
                  </a:rPr>
                  <a:t>_</a:t>
                </a:r>
                <a:r>
                  <a:rPr lang="en-US" altLang="zh-CN" sz="1200" b="0" i="0" smtClean="0">
                    <a:latin typeface="Cambria Math" charset="0"/>
                  </a:rPr>
                  <a:t>𝑡</a:t>
                </a:r>
                <a:r>
                  <a:rPr lang="zh-CN" altLang="en-US" baseline="0" dirty="0" smtClean="0"/>
                  <a:t> </a:t>
                </a:r>
                <a:r>
                  <a:rPr lang="en-US" altLang="zh-CN" baseline="0" dirty="0" smtClean="0"/>
                  <a:t>is</a:t>
                </a:r>
                <a:r>
                  <a:rPr lang="zh-CN" altLang="en-US" baseline="0" dirty="0" smtClean="0"/>
                  <a:t> </a:t>
                </a:r>
                <a:r>
                  <a:rPr lang="en-US" altLang="zh-CN" baseline="0" dirty="0" smtClean="0"/>
                  <a:t>just</a:t>
                </a:r>
                <a:r>
                  <a:rPr lang="zh-CN" altLang="en-US" baseline="0" dirty="0" smtClean="0"/>
                  <a:t> </a:t>
                </a:r>
                <a:r>
                  <a:rPr lang="en-US" altLang="zh-CN" baseline="0" dirty="0" smtClean="0"/>
                  <a:t>a</a:t>
                </a:r>
                <a:r>
                  <a:rPr lang="zh-CN" altLang="en-US" baseline="0" dirty="0" smtClean="0"/>
                  <a:t> </a:t>
                </a:r>
                <a:r>
                  <a:rPr lang="en-US" altLang="zh-CN" baseline="0" dirty="0" smtClean="0"/>
                  <a:t>number;</a:t>
                </a:r>
                <a:r>
                  <a:rPr lang="zh-CN" altLang="en-US" baseline="0" dirty="0" smtClean="0"/>
                  <a:t> </a:t>
                </a:r>
                <a:r>
                  <a:rPr lang="en-US" altLang="zh-CN" baseline="0" dirty="0" smtClean="0"/>
                  <a:t>it</a:t>
                </a:r>
                <a:r>
                  <a:rPr lang="zh-CN" altLang="en-US" baseline="0" dirty="0" smtClean="0"/>
                  <a:t> </a:t>
                </a:r>
                <a:r>
                  <a:rPr lang="en-US" altLang="zh-CN" baseline="0" dirty="0" smtClean="0"/>
                  <a:t>does</a:t>
                </a:r>
                <a:r>
                  <a:rPr lang="zh-CN" altLang="en-US" baseline="0" dirty="0" smtClean="0"/>
                  <a:t> </a:t>
                </a:r>
                <a:r>
                  <a:rPr lang="en-US" altLang="zh-CN" baseline="0" dirty="0" smtClean="0"/>
                  <a:t>not</a:t>
                </a:r>
                <a:r>
                  <a:rPr lang="zh-CN" altLang="en-US" baseline="0" dirty="0" smtClean="0"/>
                  <a:t> </a:t>
                </a:r>
                <a:r>
                  <a:rPr lang="en-US" altLang="zh-CN" baseline="0" dirty="0" smtClean="0"/>
                  <a:t>have</a:t>
                </a:r>
                <a:r>
                  <a:rPr lang="zh-CN" altLang="en-US" baseline="0" dirty="0" smtClean="0"/>
                  <a:t> </a:t>
                </a:r>
                <a:r>
                  <a:rPr lang="en-US" altLang="zh-CN" baseline="0" dirty="0" smtClean="0"/>
                  <a:t>randomness.</a:t>
                </a:r>
                <a:endParaRPr lang="en-US" altLang="zh-CN" baseline="0" dirty="0" smtClean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92628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600" dirty="0" smtClean="0"/>
              <a:t>You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have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learned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reward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and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return.</a:t>
            </a:r>
          </a:p>
          <a:p>
            <a:r>
              <a:rPr lang="en-US" altLang="zh-CN" sz="1600" dirty="0" smtClean="0"/>
              <a:t>The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next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concept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is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value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functions.</a:t>
            </a:r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r>
              <a:rPr lang="zh-CN" altLang="en-US" sz="1600" dirty="0" smtClean="0"/>
              <a:t>刚才我讲了</a:t>
            </a:r>
            <a:r>
              <a:rPr lang="en-US" altLang="zh-CN" sz="1600" dirty="0" smtClean="0"/>
              <a:t>reward</a:t>
            </a:r>
            <a:r>
              <a:rPr lang="zh-CN" altLang="en-US" sz="1600" dirty="0" smtClean="0"/>
              <a:t>奖励  和 </a:t>
            </a:r>
            <a:r>
              <a:rPr lang="en-US" altLang="zh-CN" sz="1600" dirty="0" smtClean="0"/>
              <a:t>return</a:t>
            </a:r>
            <a:r>
              <a:rPr lang="zh-CN" altLang="en-US" sz="1600" dirty="0" smtClean="0"/>
              <a:t> 回报。</a:t>
            </a:r>
            <a:endParaRPr lang="en-US" altLang="zh-CN" sz="1600" dirty="0" smtClean="0"/>
          </a:p>
          <a:p>
            <a:r>
              <a:rPr lang="zh-CN" altLang="en-US" sz="1600" dirty="0" smtClean="0"/>
              <a:t>接下来讲</a:t>
            </a:r>
            <a:r>
              <a:rPr lang="en-US" altLang="zh-CN" sz="1600" dirty="0" smtClean="0"/>
              <a:t>value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functions</a:t>
            </a:r>
            <a:r>
              <a:rPr lang="zh-CN" altLang="en-US" sz="1600" dirty="0" smtClean="0"/>
              <a:t>价值函数，比前面更复杂一些。</a:t>
            </a:r>
            <a:endParaRPr lang="en-US" altLang="zh-CN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502730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 smtClean="0">
                    <a:solidFill>
                      <a:schemeClr val="tx1"/>
                    </a:solidFill>
                  </a:rPr>
                  <a:t>We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have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defined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discounted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return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and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denoted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it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by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1600" dirty="0" smtClean="0">
                    <a:solidFill>
                      <a:schemeClr val="tx1"/>
                    </a:solidFill>
                  </a:rPr>
                  <a:t>.</a:t>
                </a:r>
              </a:p>
              <a:p>
                <a:r>
                  <a:rPr lang="en-US" altLang="zh-CN" sz="1600" dirty="0" smtClean="0">
                    <a:solidFill>
                      <a:schemeClr val="tx1"/>
                    </a:solidFill>
                  </a:rPr>
                  <a:t>It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is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the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weighted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sum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of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all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the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rewards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in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the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future.</a:t>
                </a:r>
              </a:p>
              <a:p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-------</a:t>
                </a:r>
              </a:p>
              <a:p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Why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do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we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need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to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define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the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return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1600" dirty="0" smtClean="0">
                    <a:solidFill>
                      <a:schemeClr val="tx1"/>
                    </a:solidFill>
                  </a:rPr>
                  <a:t>?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is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the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weighted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sum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of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all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the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future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rewards.</a:t>
                </a:r>
              </a:p>
              <a:p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The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agent’s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goal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is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to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make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as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big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as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possible.</a:t>
                </a:r>
              </a:p>
              <a:p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Mario’s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goal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is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to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collect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coins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while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avoiding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enemies.</a:t>
                </a:r>
              </a:p>
              <a:p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-----</a:t>
                </a:r>
              </a:p>
              <a:p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Assume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I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knew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1600" dirty="0" smtClean="0">
                    <a:solidFill>
                      <a:schemeClr val="tx1"/>
                    </a:solidFill>
                  </a:rPr>
                  <a:t>.</a:t>
                </a:r>
              </a:p>
              <a:p>
                <a:r>
                  <a:rPr lang="en-US" altLang="zh-CN" sz="1600" dirty="0" smtClean="0">
                    <a:solidFill>
                      <a:schemeClr val="tx1"/>
                    </a:solidFill>
                  </a:rPr>
                  <a:t>Then,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I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would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know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whether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Mario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is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close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to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win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or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lose.</a:t>
                </a:r>
              </a:p>
              <a:p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Unfortunately,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at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time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t,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the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return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is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a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random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variable;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we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don’t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know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its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value.</a:t>
                </a:r>
              </a:p>
              <a:p>
                <a:r>
                  <a:rPr lang="en-US" altLang="zh-CN" sz="1600" dirty="0" smtClean="0">
                    <a:solidFill>
                      <a:schemeClr val="tx1"/>
                    </a:solidFill>
                  </a:rPr>
                  <a:t>Just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like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before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tossing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a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coin,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I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don’t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know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whether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the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outcome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will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be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head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or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tail.</a:t>
                </a:r>
              </a:p>
              <a:p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-----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We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don’t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know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,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then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how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can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we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use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to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evaluate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the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current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situation?</a:t>
                </a: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我们刚刚定义了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discounted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return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，大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，是未来的奖励的总和。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当然要打个折扣。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越久远的未来，折扣越大，权重越低。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1600" dirty="0" smtClean="0">
                    <a:solidFill>
                      <a:schemeClr val="tx1"/>
                    </a:solidFill>
                  </a:rPr>
                  <a:t>----------</a:t>
                </a: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为啥我们要定义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return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？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当然非常有用了。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是未来获得的奖励总和，所以呢，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agent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的目标就是让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尽量大，越大越好。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除此之外，假如知道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，我就知道这局游戏是快要赢了还是快要输了。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1600" dirty="0" smtClean="0">
                    <a:solidFill>
                      <a:schemeClr val="tx1"/>
                    </a:solidFill>
                  </a:rPr>
                  <a:t>---------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>
                    <a:solidFill>
                      <a:schemeClr val="tx1"/>
                    </a:solidFill>
                  </a:rPr>
                  <a:t>我逗你玩的。其实不是这么回事。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只是个随机变量。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>
                    <a:solidFill>
                      <a:schemeClr val="tx1"/>
                    </a:solidFill>
                  </a:rPr>
                  <a:t>在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时刻你并不知道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是多少。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>
                    <a:solidFill>
                      <a:schemeClr val="tx1"/>
                    </a:solidFill>
                  </a:rPr>
                  <a:t>打个比方，你抛硬币，正面记做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1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，反面记做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0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；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>
                    <a:solidFill>
                      <a:schemeClr val="tx1"/>
                    </a:solidFill>
                  </a:rPr>
                  <a:t>在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时刻，你还没把硬币抛出去，你并不知道你会得到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1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还是得到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0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 smtClean="0"/>
                  <a:t>We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have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defined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discounted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return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and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denote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it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by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i="0">
                    <a:latin typeface="Cambria Math" charset="0"/>
                  </a:rPr>
                  <a:t>𝑈</a:t>
                </a:r>
                <a:r>
                  <a:rPr lang="en-US" altLang="zh-CN" sz="1600" i="0" smtClean="0">
                    <a:latin typeface="Cambria Math" charset="0"/>
                  </a:rPr>
                  <a:t>_</a:t>
                </a:r>
                <a:r>
                  <a:rPr lang="en-US" sz="1600" i="0">
                    <a:latin typeface="Cambria Math" charset="0"/>
                  </a:rPr>
                  <a:t>𝑡</a:t>
                </a:r>
                <a:r>
                  <a:rPr lang="en-US" altLang="zh-CN" sz="1600" dirty="0" smtClean="0"/>
                  <a:t>.</a:t>
                </a:r>
              </a:p>
              <a:p>
                <a:r>
                  <a:rPr lang="en-US" altLang="zh-CN" sz="1600" dirty="0" smtClean="0"/>
                  <a:t>It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is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weighted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sum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all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rewards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future.</a:t>
                </a:r>
              </a:p>
              <a:p>
                <a:r>
                  <a:rPr lang="en-US" altLang="zh-CN" sz="1600" baseline="0" dirty="0" smtClean="0"/>
                  <a:t>-------</a:t>
                </a:r>
              </a:p>
              <a:p>
                <a:r>
                  <a:rPr lang="en-US" altLang="zh-CN" sz="1600" baseline="0" dirty="0" smtClean="0"/>
                  <a:t>Why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need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define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i="0">
                    <a:latin typeface="Cambria Math" charset="0"/>
                  </a:rPr>
                  <a:t>𝑈</a:t>
                </a:r>
                <a:r>
                  <a:rPr lang="en-US" altLang="zh-CN" sz="1600" i="0" smtClean="0">
                    <a:latin typeface="Cambria Math" charset="0"/>
                  </a:rPr>
                  <a:t>_</a:t>
                </a:r>
                <a:r>
                  <a:rPr lang="en-US" sz="1600" i="0">
                    <a:latin typeface="Cambria Math" charset="0"/>
                  </a:rPr>
                  <a:t>𝑡</a:t>
                </a:r>
                <a:r>
                  <a:rPr lang="en-US" altLang="zh-CN" sz="1600" dirty="0" smtClean="0"/>
                  <a:t>?</a:t>
                </a:r>
              </a:p>
              <a:p>
                <a:r>
                  <a:rPr lang="en-US" altLang="zh-CN" sz="1600" i="0">
                    <a:latin typeface="Cambria Math" charset="0"/>
                  </a:rPr>
                  <a:t>𝑈</a:t>
                </a:r>
                <a:r>
                  <a:rPr lang="en-US" altLang="zh-CN" sz="1600" i="0" smtClean="0">
                    <a:latin typeface="Cambria Math" charset="0"/>
                  </a:rPr>
                  <a:t>_</a:t>
                </a:r>
                <a:r>
                  <a:rPr lang="en-US" sz="1600" i="0">
                    <a:latin typeface="Cambria Math" charset="0"/>
                  </a:rPr>
                  <a:t>𝑡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is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weighted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sum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all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future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rewards.</a:t>
                </a:r>
              </a:p>
              <a:p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agent’s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goal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make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i="0">
                    <a:latin typeface="Cambria Math" charset="0"/>
                  </a:rPr>
                  <a:t>𝑈</a:t>
                </a:r>
                <a:r>
                  <a:rPr lang="en-US" altLang="zh-CN" sz="1600" i="0" smtClean="0">
                    <a:latin typeface="Cambria Math" charset="0"/>
                  </a:rPr>
                  <a:t>_</a:t>
                </a:r>
                <a:r>
                  <a:rPr lang="en-US" sz="1600" i="0">
                    <a:latin typeface="Cambria Math" charset="0"/>
                  </a:rPr>
                  <a:t>𝑡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big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possible.</a:t>
                </a:r>
              </a:p>
              <a:p>
                <a:r>
                  <a:rPr lang="en-US" altLang="zh-CN" sz="1600" baseline="0" dirty="0" smtClean="0"/>
                  <a:t>Mario’s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goal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collect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coins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while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avoiding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enemies.</a:t>
                </a:r>
              </a:p>
              <a:p>
                <a:r>
                  <a:rPr lang="en-US" altLang="zh-CN" sz="1600" baseline="0" dirty="0" smtClean="0"/>
                  <a:t>-----</a:t>
                </a:r>
              </a:p>
              <a:p>
                <a:r>
                  <a:rPr lang="en-US" altLang="zh-CN" sz="1600" baseline="0" dirty="0" smtClean="0"/>
                  <a:t>Assume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knew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i="0">
                    <a:latin typeface="Cambria Math" charset="0"/>
                  </a:rPr>
                  <a:t>𝑈</a:t>
                </a:r>
                <a:r>
                  <a:rPr lang="en-US" altLang="zh-CN" sz="1600" i="0" smtClean="0">
                    <a:latin typeface="Cambria Math" charset="0"/>
                  </a:rPr>
                  <a:t>_</a:t>
                </a:r>
                <a:r>
                  <a:rPr lang="en-US" sz="1600" i="0">
                    <a:latin typeface="Cambria Math" charset="0"/>
                  </a:rPr>
                  <a:t>𝑡</a:t>
                </a:r>
                <a:r>
                  <a:rPr lang="en-US" altLang="zh-CN" sz="1600" dirty="0" smtClean="0"/>
                  <a:t>.</a:t>
                </a:r>
              </a:p>
              <a:p>
                <a:r>
                  <a:rPr lang="en-US" altLang="zh-CN" sz="1600" dirty="0" smtClean="0"/>
                  <a:t>Then,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I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will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know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whether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Mario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close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win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lose.</a:t>
                </a:r>
              </a:p>
              <a:p>
                <a:r>
                  <a:rPr lang="en-US" altLang="zh-CN" sz="1600" baseline="0" dirty="0" smtClean="0"/>
                  <a:t>Unfortunately,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time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return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i="0">
                    <a:latin typeface="Cambria Math" charset="0"/>
                  </a:rPr>
                  <a:t>𝑈</a:t>
                </a:r>
                <a:r>
                  <a:rPr lang="en-US" altLang="zh-CN" sz="1600" i="0" smtClean="0">
                    <a:latin typeface="Cambria Math" charset="0"/>
                  </a:rPr>
                  <a:t>_</a:t>
                </a:r>
                <a:r>
                  <a:rPr lang="en-US" sz="1600" i="0">
                    <a:latin typeface="Cambria Math" charset="0"/>
                  </a:rPr>
                  <a:t>𝑡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is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unknown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and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random.</a:t>
                </a:r>
              </a:p>
              <a:p>
                <a:r>
                  <a:rPr lang="en-US" altLang="zh-CN" sz="1600" dirty="0" smtClean="0"/>
                  <a:t>Just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like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before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tossing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coin,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I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don’t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know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whether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outcome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head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tail.</a:t>
                </a:r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r>
                  <a:rPr lang="zh-CN" altLang="en-US" sz="1600" dirty="0" smtClean="0"/>
                  <a:t>我们</a:t>
                </a:r>
                <a:r>
                  <a:rPr lang="zh-CN" altLang="en-US" sz="1600" dirty="0" smtClean="0"/>
                  <a:t>刚刚定义了</a:t>
                </a:r>
                <a:r>
                  <a:rPr lang="en-US" altLang="zh-CN" sz="1600" dirty="0" smtClean="0"/>
                  <a:t>discounted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return</a:t>
                </a:r>
                <a:r>
                  <a:rPr lang="zh-CN" altLang="en-US" sz="1600" dirty="0" smtClean="0"/>
                  <a:t>，大</a:t>
                </a:r>
                <a:r>
                  <a:rPr lang="en-US" altLang="zh-CN" sz="1600" i="0">
                    <a:latin typeface="Cambria Math" charset="0"/>
                  </a:rPr>
                  <a:t>𝑈</a:t>
                </a:r>
                <a:r>
                  <a:rPr lang="en-US" altLang="zh-CN" sz="1600" i="0" smtClean="0">
                    <a:latin typeface="Cambria Math" charset="0"/>
                  </a:rPr>
                  <a:t>_</a:t>
                </a:r>
                <a:r>
                  <a:rPr lang="en-US" sz="1600" i="0">
                    <a:latin typeface="Cambria Math" charset="0"/>
                  </a:rPr>
                  <a:t>𝑡</a:t>
                </a:r>
                <a:r>
                  <a:rPr lang="zh-CN" altLang="en-US" sz="1600" dirty="0" smtClean="0"/>
                  <a:t>，是未来的奖励的总和。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当然要打个折扣。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越久远的未来，折扣越大，权重越低。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----------</a:t>
                </a:r>
              </a:p>
              <a:p>
                <a:r>
                  <a:rPr lang="zh-CN" altLang="en-US" sz="1600" dirty="0" smtClean="0"/>
                  <a:t>为啥我们要定义</a:t>
                </a:r>
                <a:r>
                  <a:rPr lang="en-US" altLang="zh-CN" sz="1600" dirty="0" smtClean="0"/>
                  <a:t>return</a:t>
                </a:r>
                <a:r>
                  <a:rPr lang="zh-CN" altLang="en-US" sz="1600" dirty="0" smtClean="0"/>
                  <a:t>，</a:t>
                </a:r>
                <a:r>
                  <a:rPr lang="en-US" altLang="zh-CN" sz="1600" i="0">
                    <a:latin typeface="Cambria Math" charset="0"/>
                  </a:rPr>
                  <a:t>𝑈</a:t>
                </a:r>
                <a:r>
                  <a:rPr lang="en-US" altLang="zh-CN" sz="1600" i="0" smtClean="0">
                    <a:latin typeface="Cambria Math" charset="0"/>
                  </a:rPr>
                  <a:t>_</a:t>
                </a:r>
                <a:r>
                  <a:rPr lang="en-US" sz="1600" i="0">
                    <a:latin typeface="Cambria Math" charset="0"/>
                  </a:rPr>
                  <a:t>𝑡</a:t>
                </a:r>
                <a:r>
                  <a:rPr lang="zh-CN" altLang="en-US" sz="1600" dirty="0" smtClean="0"/>
                  <a:t>？</a:t>
                </a:r>
                <a:endParaRPr lang="en-US" altLang="zh-CN" sz="1600" dirty="0" smtClean="0"/>
              </a:p>
              <a:p>
                <a:r>
                  <a:rPr lang="en-US" altLang="zh-CN" sz="1600" i="0">
                    <a:latin typeface="Cambria Math" charset="0"/>
                  </a:rPr>
                  <a:t>𝑈</a:t>
                </a:r>
                <a:r>
                  <a:rPr lang="en-US" altLang="zh-CN" sz="1600" i="0" smtClean="0">
                    <a:latin typeface="Cambria Math" charset="0"/>
                  </a:rPr>
                  <a:t>_</a:t>
                </a:r>
                <a:r>
                  <a:rPr lang="en-US" sz="1600" i="0">
                    <a:latin typeface="Cambria Math" charset="0"/>
                  </a:rPr>
                  <a:t>𝑡</a:t>
                </a:r>
                <a:r>
                  <a:rPr lang="zh-CN" altLang="en-US" sz="1600" dirty="0" smtClean="0"/>
                  <a:t>当然非常有用了。</a:t>
                </a:r>
                <a:endParaRPr lang="en-US" altLang="zh-CN" sz="1600" dirty="0" smtClean="0"/>
              </a:p>
              <a:p>
                <a:r>
                  <a:rPr lang="en-US" altLang="zh-CN" sz="1600" i="0">
                    <a:latin typeface="Cambria Math" charset="0"/>
                  </a:rPr>
                  <a:t>𝑈</a:t>
                </a:r>
                <a:r>
                  <a:rPr lang="en-US" altLang="zh-CN" sz="1600" i="0" smtClean="0">
                    <a:latin typeface="Cambria Math" charset="0"/>
                  </a:rPr>
                  <a:t>_</a:t>
                </a:r>
                <a:r>
                  <a:rPr lang="en-US" sz="1600" i="0">
                    <a:latin typeface="Cambria Math" charset="0"/>
                  </a:rPr>
                  <a:t>𝑡</a:t>
                </a:r>
                <a:r>
                  <a:rPr lang="zh-CN" altLang="en-US" sz="1600" dirty="0" smtClean="0"/>
                  <a:t>是未来获得的奖励总和，所以呢，</a:t>
                </a:r>
                <a:r>
                  <a:rPr lang="en-US" altLang="zh-CN" sz="1600" dirty="0" smtClean="0"/>
                  <a:t>agent</a:t>
                </a:r>
                <a:r>
                  <a:rPr lang="zh-CN" altLang="en-US" sz="1600" dirty="0" smtClean="0"/>
                  <a:t>的目标就是让</a:t>
                </a:r>
                <a:r>
                  <a:rPr lang="en-US" altLang="zh-CN" sz="1600" i="0">
                    <a:latin typeface="Cambria Math" charset="0"/>
                  </a:rPr>
                  <a:t>𝑈</a:t>
                </a:r>
                <a:r>
                  <a:rPr lang="en-US" altLang="zh-CN" sz="1600" i="0" smtClean="0">
                    <a:latin typeface="Cambria Math" charset="0"/>
                  </a:rPr>
                  <a:t>_</a:t>
                </a:r>
                <a:r>
                  <a:rPr lang="en-US" sz="1600" i="0">
                    <a:latin typeface="Cambria Math" charset="0"/>
                  </a:rPr>
                  <a:t>𝑡</a:t>
                </a:r>
                <a:r>
                  <a:rPr lang="zh-CN" altLang="en-US" sz="1600" dirty="0" smtClean="0"/>
                  <a:t>尽量大，越大越好。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除此之外，假如知道</a:t>
                </a:r>
                <a:r>
                  <a:rPr lang="en-US" altLang="zh-CN" sz="1600" i="0">
                    <a:latin typeface="Cambria Math" charset="0"/>
                  </a:rPr>
                  <a:t>𝑈</a:t>
                </a:r>
                <a:r>
                  <a:rPr lang="en-US" altLang="zh-CN" sz="1600" i="0" smtClean="0">
                    <a:latin typeface="Cambria Math" charset="0"/>
                  </a:rPr>
                  <a:t>_</a:t>
                </a:r>
                <a:r>
                  <a:rPr lang="en-US" sz="1600" i="0">
                    <a:latin typeface="Cambria Math" charset="0"/>
                  </a:rPr>
                  <a:t>𝑡</a:t>
                </a:r>
                <a:r>
                  <a:rPr lang="zh-CN" altLang="en-US" sz="1600" dirty="0" smtClean="0"/>
                  <a:t>，我就知道这局游戏是快要赢了还是快要输了。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---------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/>
                  <a:t>我逗你玩的。其实不是这么回事。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i="0">
                    <a:latin typeface="Cambria Math" charset="0"/>
                  </a:rPr>
                  <a:t>𝑈</a:t>
                </a:r>
                <a:r>
                  <a:rPr lang="en-US" altLang="zh-CN" sz="1600" i="0" smtClean="0">
                    <a:latin typeface="Cambria Math" charset="0"/>
                  </a:rPr>
                  <a:t>_</a:t>
                </a:r>
                <a:r>
                  <a:rPr lang="en-US" sz="1600" i="0">
                    <a:latin typeface="Cambria Math" charset="0"/>
                  </a:rPr>
                  <a:t>𝑡</a:t>
                </a:r>
                <a:r>
                  <a:rPr lang="zh-CN" altLang="en-US" sz="1600" dirty="0" smtClean="0"/>
                  <a:t>只是个随机变量。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/>
                  <a:t>在 </a:t>
                </a:r>
                <a:r>
                  <a:rPr lang="en-US" altLang="zh-CN" sz="1600" dirty="0" smtClean="0"/>
                  <a:t>t</a:t>
                </a:r>
                <a:r>
                  <a:rPr lang="zh-CN" altLang="en-US" sz="1600" dirty="0" smtClean="0"/>
                  <a:t> 时刻你并不知道</a:t>
                </a:r>
                <a:r>
                  <a:rPr lang="en-US" altLang="zh-CN" sz="1600" i="0">
                    <a:latin typeface="Cambria Math" charset="0"/>
                  </a:rPr>
                  <a:t>𝑈</a:t>
                </a:r>
                <a:r>
                  <a:rPr lang="en-US" altLang="zh-CN" sz="1600" i="0" smtClean="0">
                    <a:latin typeface="Cambria Math" charset="0"/>
                  </a:rPr>
                  <a:t>_</a:t>
                </a:r>
                <a:r>
                  <a:rPr lang="en-US" sz="1600" i="0">
                    <a:latin typeface="Cambria Math" charset="0"/>
                  </a:rPr>
                  <a:t>𝑡</a:t>
                </a:r>
                <a:r>
                  <a:rPr lang="zh-CN" altLang="en-US" sz="1600" dirty="0" smtClean="0"/>
                  <a:t>是多少。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/>
                  <a:t>打个比方，你抛硬币，正面记做</a:t>
                </a:r>
                <a:r>
                  <a:rPr lang="en-US" altLang="zh-CN" sz="1600" dirty="0" smtClean="0"/>
                  <a:t>1</a:t>
                </a:r>
                <a:r>
                  <a:rPr lang="zh-CN" altLang="en-US" sz="1600" dirty="0" smtClean="0"/>
                  <a:t>，反面记做</a:t>
                </a:r>
                <a:r>
                  <a:rPr lang="en-US" altLang="zh-CN" sz="1600" dirty="0" smtClean="0"/>
                  <a:t>0</a:t>
                </a:r>
                <a:r>
                  <a:rPr lang="zh-CN" altLang="en-US" sz="1600" dirty="0" smtClean="0"/>
                  <a:t>；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/>
                  <a:t>在</a:t>
                </a:r>
                <a:r>
                  <a:rPr lang="en-US" altLang="zh-CN" sz="1600" dirty="0" smtClean="0"/>
                  <a:t>t</a:t>
                </a:r>
                <a:r>
                  <a:rPr lang="zh-CN" altLang="en-US" sz="1600" dirty="0" smtClean="0"/>
                  <a:t>时刻，你还没把硬币抛出去，你并不知道你会得到</a:t>
                </a:r>
                <a:r>
                  <a:rPr lang="en-US" altLang="zh-CN" sz="1600" dirty="0" smtClean="0"/>
                  <a:t>1</a:t>
                </a:r>
                <a:r>
                  <a:rPr lang="zh-CN" altLang="en-US" sz="1600" dirty="0" smtClean="0"/>
                  <a:t>还是得到</a:t>
                </a:r>
                <a:r>
                  <a:rPr lang="en-US" altLang="zh-CN" sz="1600" dirty="0" smtClean="0"/>
                  <a:t>0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endParaRPr lang="en-US" sz="1600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0789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The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solution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is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to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take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the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expectation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of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By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integrating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out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the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randomness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in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,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we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will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obtain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a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real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number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that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reflects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how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good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the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current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situation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is.</a:t>
                </a:r>
              </a:p>
              <a:p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========================</a:t>
                </a:r>
              </a:p>
              <a:p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Denote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the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obtained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real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number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by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 of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600" i="1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1600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is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called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the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action-value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function.</a:t>
                </a:r>
                <a:endParaRPr lang="en-US" sz="1600" i="0" baseline="0" dirty="0" smtClean="0">
                  <a:solidFill>
                    <a:schemeClr val="tx1"/>
                  </a:solidFill>
                  <a:latin typeface="+mn-lt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depends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on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the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current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state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and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the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current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action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zh-CN" altLang="en-US" sz="1600" i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dirty="0" smtClean="0">
                    <a:solidFill>
                      <a:schemeClr val="tx1"/>
                    </a:solidFill>
                    <a:latin typeface="+mn-lt"/>
                  </a:rPr>
                  <a:t>reflects</a:t>
                </a:r>
                <a:r>
                  <a:rPr lang="zh-CN" altLang="en-US" sz="1600" i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dirty="0" smtClean="0">
                    <a:solidFill>
                      <a:schemeClr val="tx1"/>
                    </a:solidFill>
                    <a:latin typeface="+mn-lt"/>
                  </a:rPr>
                  <a:t>how</a:t>
                </a:r>
                <a:r>
                  <a:rPr lang="zh-CN" altLang="en-US" sz="1600" i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dirty="0" smtClean="0">
                    <a:solidFill>
                      <a:schemeClr val="tx1"/>
                    </a:solidFill>
                    <a:latin typeface="+mn-lt"/>
                  </a:rPr>
                  <a:t>good</a:t>
                </a:r>
                <a:r>
                  <a:rPr lang="zh-CN" altLang="en-US" sz="1600" i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dirty="0" smtClean="0">
                    <a:solidFill>
                      <a:schemeClr val="tx1"/>
                    </a:solidFill>
                    <a:latin typeface="+mn-lt"/>
                  </a:rPr>
                  <a:t>the</a:t>
                </a:r>
                <a:r>
                  <a:rPr lang="zh-CN" altLang="en-US" sz="1600" i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dirty="0" smtClean="0">
                    <a:solidFill>
                      <a:schemeClr val="tx1"/>
                    </a:solidFill>
                    <a:latin typeface="+mn-lt"/>
                  </a:rPr>
                  <a:t>current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situation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is;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tells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us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whether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Mario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is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close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to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winning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or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losing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the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game.</a:t>
                </a:r>
                <a:endParaRPr lang="en-US" sz="1600" i="0" dirty="0" smtClean="0">
                  <a:solidFill>
                    <a:schemeClr val="tx1"/>
                  </a:solidFill>
                  <a:latin typeface="+mn-lt"/>
                </a:endParaRPr>
              </a:p>
              <a:p>
                <a:endParaRPr lang="en-US" altLang="zh-CN" sz="1600" i="0" baseline="0" dirty="0" smtClean="0">
                  <a:solidFill>
                    <a:schemeClr val="tx1"/>
                  </a:solidFill>
                  <a:latin typeface="+mn-lt"/>
                </a:endParaRPr>
              </a:p>
              <a:p>
                <a:endParaRPr lang="en-US" altLang="zh-CN" sz="1600" i="0" baseline="0" dirty="0" smtClean="0">
                  <a:solidFill>
                    <a:schemeClr val="tx1"/>
                  </a:solidFill>
                  <a:latin typeface="+mn-lt"/>
                </a:endParaRPr>
              </a:p>
              <a:p>
                <a:endParaRPr lang="en-US" altLang="zh-CN" sz="1600" i="0" baseline="0" dirty="0" smtClean="0">
                  <a:solidFill>
                    <a:schemeClr val="tx1"/>
                  </a:solidFill>
                  <a:latin typeface="+mn-lt"/>
                </a:endParaRPr>
              </a:p>
              <a:p>
                <a:endParaRPr lang="en-US" altLang="zh-CN" sz="1600" i="0" baseline="0" dirty="0" smtClean="0">
                  <a:solidFill>
                    <a:schemeClr val="tx1"/>
                  </a:solidFill>
                  <a:latin typeface="+mn-lt"/>
                </a:endParaRPr>
              </a:p>
              <a:p>
                <a:endParaRPr lang="en-US" altLang="zh-CN" sz="1600" i="0" baseline="0" dirty="0" smtClean="0">
                  <a:solidFill>
                    <a:schemeClr val="tx1"/>
                  </a:solidFill>
                  <a:latin typeface="+mn-lt"/>
                </a:endParaRPr>
              </a:p>
              <a:p>
                <a:endParaRPr lang="en-US" altLang="zh-CN" sz="1600" i="0" baseline="0" dirty="0" smtClean="0">
                  <a:solidFill>
                    <a:schemeClr val="tx1"/>
                  </a:solidFill>
                  <a:latin typeface="+mn-lt"/>
                </a:endParaRPr>
              </a:p>
              <a:p>
                <a:endParaRPr lang="en-US" altLang="zh-CN" sz="1600" i="0" baseline="0" dirty="0" smtClean="0">
                  <a:solidFill>
                    <a:schemeClr val="tx1"/>
                  </a:solidFill>
                  <a:latin typeface="+mn-lt"/>
                </a:endParaRPr>
              </a:p>
              <a:p>
                <a:endParaRPr lang="en-US" altLang="zh-CN" sz="1600" i="0" baseline="0" dirty="0" smtClean="0">
                  <a:solidFill>
                    <a:schemeClr val="tx1"/>
                  </a:solidFill>
                  <a:latin typeface="+mn-lt"/>
                </a:endParaRPr>
              </a:p>
              <a:p>
                <a:endParaRPr lang="en-US" altLang="zh-CN" sz="1600" i="0" baseline="0" dirty="0" smtClean="0">
                  <a:solidFill>
                    <a:schemeClr val="tx1"/>
                  </a:solidFill>
                  <a:latin typeface="+mn-lt"/>
                </a:endParaRPr>
              </a:p>
              <a:p>
                <a:endParaRPr lang="en-US" altLang="zh-CN" sz="1600" i="0" baseline="0" dirty="0" smtClean="0">
                  <a:solidFill>
                    <a:schemeClr val="tx1"/>
                  </a:solidFill>
                  <a:latin typeface="+mn-lt"/>
                </a:endParaRPr>
              </a:p>
              <a:p>
                <a:endParaRPr lang="en-US" altLang="zh-CN" sz="1600" i="0" baseline="0" dirty="0" smtClean="0">
                  <a:solidFill>
                    <a:schemeClr val="tx1"/>
                  </a:solidFill>
                  <a:latin typeface="+mn-lt"/>
                </a:endParaRPr>
              </a:p>
              <a:p>
                <a:endParaRPr lang="en-US" altLang="zh-CN" sz="1600" i="0" baseline="0" dirty="0" smtClean="0">
                  <a:solidFill>
                    <a:schemeClr val="tx1"/>
                  </a:solidFill>
                  <a:latin typeface="+mn-lt"/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dirty="0" err="1" smtClean="0"/>
                  <a:t>U_t</a:t>
                </a:r>
                <a:r>
                  <a:rPr lang="zh-CN" altLang="en-US" dirty="0" smtClean="0"/>
                  <a:t>是个随机变量，在</a:t>
                </a:r>
                <a:r>
                  <a:rPr lang="en-US" altLang="zh-CN" dirty="0" smtClean="0"/>
                  <a:t>t</a:t>
                </a:r>
                <a:r>
                  <a:rPr lang="zh-CN" altLang="en-US" dirty="0" smtClean="0"/>
                  <a:t>时刻我不知道</a:t>
                </a:r>
                <a:r>
                  <a:rPr lang="en-US" altLang="zh-CN" dirty="0" err="1" smtClean="0"/>
                  <a:t>U_t</a:t>
                </a:r>
                <a:r>
                  <a:rPr lang="zh-CN" altLang="en-US" dirty="0" smtClean="0"/>
                  <a:t>是什么。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那该怎么样评估当前的形势呢？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我们可以对</a:t>
                </a:r>
                <a:r>
                  <a:rPr lang="en-US" altLang="zh-CN" dirty="0" err="1" smtClean="0"/>
                  <a:t>U_t</a:t>
                </a:r>
                <a:r>
                  <a:rPr lang="zh-CN" altLang="en-US" dirty="0" smtClean="0"/>
                  <a:t>求期望，把里面的随机性都用积分给积掉，得到的就是个实数。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</a:t>
                </a:r>
              </a:p>
              <a:p>
                <a:r>
                  <a:rPr lang="zh-CN" altLang="en-US" dirty="0" smtClean="0"/>
                  <a:t>打个比方，虽然抛硬币之前你不知道会得到什么，但是你知道正反面各有一半的概率。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如果正面记做</a:t>
                </a:r>
                <a:r>
                  <a:rPr lang="en-US" altLang="zh-CN" dirty="0" smtClean="0"/>
                  <a:t>1</a:t>
                </a:r>
                <a:r>
                  <a:rPr lang="zh-CN" altLang="en-US" dirty="0" smtClean="0"/>
                  <a:t>，背面记做</a:t>
                </a:r>
                <a:r>
                  <a:rPr lang="en-US" altLang="zh-CN" dirty="0" smtClean="0"/>
                  <a:t>0</a:t>
                </a:r>
                <a:r>
                  <a:rPr lang="zh-CN" altLang="en-US" dirty="0" smtClean="0"/>
                  <a:t>，得到的期望就是</a:t>
                </a:r>
                <a:r>
                  <a:rPr lang="en-US" altLang="zh-CN" dirty="0" smtClean="0"/>
                  <a:t>0.5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同样的道理，对随机变量</a:t>
                </a:r>
                <a:r>
                  <a:rPr lang="en-US" altLang="zh-CN" dirty="0" err="1" smtClean="0"/>
                  <a:t>U_t</a:t>
                </a:r>
                <a:r>
                  <a:rPr lang="zh-CN" altLang="en-US" dirty="0" smtClean="0"/>
                  <a:t>求期望，就可以得到一个数，记做是</a:t>
                </a:r>
                <a:r>
                  <a:rPr lang="en-US" altLang="zh-CN" dirty="0" smtClean="0"/>
                  <a:t>Q_{\pi}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-------</a:t>
                </a:r>
              </a:p>
              <a:p>
                <a:r>
                  <a:rPr lang="zh-CN" altLang="en-US" dirty="0" smtClean="0"/>
                  <a:t>这个期望是怎么求的呢？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把</a:t>
                </a:r>
                <a:r>
                  <a:rPr lang="en-US" altLang="zh-CN" dirty="0" smtClean="0"/>
                  <a:t>U_T</a:t>
                </a:r>
                <a:r>
                  <a:rPr lang="zh-CN" altLang="en-US" dirty="0" smtClean="0"/>
                  <a:t>当初未来所有的动作</a:t>
                </a:r>
                <a:r>
                  <a:rPr lang="en-US" altLang="zh-CN" dirty="0" smtClean="0"/>
                  <a:t>a</a:t>
                </a:r>
                <a:r>
                  <a:rPr lang="zh-CN" altLang="en-US" dirty="0" smtClean="0"/>
                  <a:t>和所有状态</a:t>
                </a:r>
                <a:r>
                  <a:rPr lang="en-US" altLang="zh-CN" dirty="0" smtClean="0"/>
                  <a:t>s</a:t>
                </a:r>
                <a:r>
                  <a:rPr lang="zh-CN" altLang="en-US" dirty="0" smtClean="0"/>
                  <a:t>的一个函数。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未来的动作</a:t>
                </a:r>
                <a:r>
                  <a:rPr lang="en-US" altLang="zh-CN" dirty="0" smtClean="0"/>
                  <a:t>a</a:t>
                </a:r>
                <a:r>
                  <a:rPr lang="zh-CN" altLang="en-US" dirty="0" smtClean="0"/>
                  <a:t>和状态</a:t>
                </a:r>
                <a:r>
                  <a:rPr lang="en-US" altLang="zh-CN" dirty="0" smtClean="0"/>
                  <a:t>s</a:t>
                </a:r>
                <a:r>
                  <a:rPr lang="zh-CN" altLang="en-US" dirty="0" smtClean="0"/>
                  <a:t>都有随机性。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动作是根据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altLang="zh-CN" dirty="0" smtClean="0"/>
                  <a:t>pi</a:t>
                </a:r>
                <a:r>
                  <a:rPr lang="zh-CN" altLang="en-US" dirty="0" smtClean="0"/>
                  <a:t>随机抽样的；状态是根据状态转移函数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随机抽样的。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-------</a:t>
                </a:r>
              </a:p>
              <a:p>
                <a:r>
                  <a:rPr lang="zh-CN" altLang="en-US" dirty="0" smtClean="0"/>
                  <a:t>期望就是对这些随机变量求的，把这些随机变量都用积分</a:t>
                </a:r>
                <a:r>
                  <a:rPr lang="zh-CN" altLang="en-US" baseline="0" dirty="0" smtClean="0"/>
                  <a:t> 积掉。</a:t>
                </a:r>
                <a:endParaRPr lang="en-US" altLang="zh-CN" baseline="0" dirty="0" smtClean="0"/>
              </a:p>
              <a:p>
                <a:r>
                  <a:rPr lang="zh-CN" altLang="en-US" baseline="0" dirty="0" smtClean="0"/>
                  <a:t>除了</a:t>
                </a:r>
                <a:r>
                  <a:rPr lang="en-US" altLang="zh-CN" baseline="0" dirty="0" err="1" smtClean="0"/>
                  <a:t>s_t</a:t>
                </a:r>
                <a:r>
                  <a:rPr lang="zh-CN" altLang="en-US" baseline="0" dirty="0" smtClean="0"/>
                  <a:t>和</a:t>
                </a:r>
                <a:r>
                  <a:rPr lang="en-US" altLang="zh-CN" baseline="0" dirty="0" err="1" smtClean="0"/>
                  <a:t>a_t</a:t>
                </a:r>
                <a:r>
                  <a:rPr lang="zh-CN" altLang="en-US" baseline="0" dirty="0" smtClean="0"/>
                  <a:t>，其余的随机变量都被积掉了。</a:t>
                </a:r>
                <a:endParaRPr lang="en-US" altLang="zh-CN" baseline="0" dirty="0" smtClean="0"/>
              </a:p>
              <a:p>
                <a:r>
                  <a:rPr lang="zh-CN" altLang="en-US" baseline="0" dirty="0" smtClean="0"/>
                  <a:t>被积掉的随机变量是</a:t>
                </a:r>
                <a:r>
                  <a:rPr lang="en-US" altLang="zh-CN" sz="1200" i="0">
                    <a:solidFill>
                      <a:srgbClr val="FF0000"/>
                    </a:solidFill>
                    <a:latin typeface="Cambria Math" charset="0"/>
                  </a:rPr>
                  <a:t>𝑎</a:t>
                </a:r>
                <a:r>
                  <a:rPr lang="en-US" altLang="zh-CN" sz="1200" i="0" smtClean="0">
                    <a:solidFill>
                      <a:srgbClr val="FF0000"/>
                    </a:solidFill>
                    <a:latin typeface="Cambria Math" charset="0"/>
                  </a:rPr>
                  <a:t>_(</a:t>
                </a:r>
                <a:r>
                  <a:rPr lang="en-US" altLang="zh-CN" sz="1200" i="0">
                    <a:solidFill>
                      <a:srgbClr val="FF0000"/>
                    </a:solidFill>
                    <a:latin typeface="Cambria Math" charset="0"/>
                  </a:rPr>
                  <a:t>𝑡+1</a:t>
                </a:r>
                <a:r>
                  <a:rPr lang="en-US" altLang="zh-CN" sz="1200" i="0" smtClean="0">
                    <a:solidFill>
                      <a:srgbClr val="FF0000"/>
                    </a:solidFill>
                    <a:latin typeface="Cambria Math" charset="0"/>
                  </a:rPr>
                  <a:t>)</a:t>
                </a:r>
                <a:r>
                  <a:rPr lang="en-US" altLang="zh-CN" sz="1200" i="0">
                    <a:latin typeface="Cambria Math" charset="0"/>
                  </a:rPr>
                  <a:t>,</a:t>
                </a:r>
                <a:r>
                  <a:rPr lang="zh-CN" altLang="en-US" sz="1200" i="0">
                    <a:latin typeface="Cambria Math" charset="0"/>
                  </a:rPr>
                  <a:t> </a:t>
                </a:r>
                <a:r>
                  <a:rPr lang="en-US" altLang="zh-CN" sz="1200" i="0">
                    <a:solidFill>
                      <a:srgbClr val="FF0000"/>
                    </a:solidFill>
                    <a:latin typeface="Cambria Math" charset="0"/>
                  </a:rPr>
                  <a:t>𝑎_(𝑡+2)</a:t>
                </a:r>
                <a:r>
                  <a:rPr lang="en-US" altLang="zh-CN" sz="1200" i="0">
                    <a:latin typeface="Cambria Math" charset="0"/>
                  </a:rPr>
                  <a:t>,</a:t>
                </a:r>
                <a:r>
                  <a:rPr lang="zh-CN" altLang="en-US" sz="1200" i="0">
                    <a:latin typeface="Cambria Math" charset="0"/>
                  </a:rPr>
                  <a:t> </a:t>
                </a:r>
                <a:r>
                  <a:rPr lang="en-US" altLang="zh-CN" sz="1200" i="0">
                    <a:solidFill>
                      <a:srgbClr val="FF0000"/>
                    </a:solidFill>
                    <a:latin typeface="Cambria Math" charset="0"/>
                  </a:rPr>
                  <a:t>𝑎_(𝑡+3)</a:t>
                </a:r>
                <a:r>
                  <a:rPr lang="zh-CN" altLang="en-US" dirty="0" smtClean="0"/>
                  <a:t>等动作、以及</a:t>
                </a:r>
                <a:r>
                  <a:rPr lang="en-US" altLang="zh-CN" sz="1200" i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𝑠</a:t>
                </a:r>
                <a:r>
                  <a:rPr lang="en-US" altLang="zh-CN" sz="1200" i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_(</a:t>
                </a:r>
                <a:r>
                  <a:rPr lang="en-US" altLang="zh-CN" sz="1200" i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𝑡+1</a:t>
                </a:r>
                <a:r>
                  <a:rPr lang="en-US" altLang="zh-CN" sz="1200" i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)</a:t>
                </a:r>
                <a:r>
                  <a:rPr lang="en-US" altLang="zh-CN" sz="1200" i="0">
                    <a:latin typeface="Cambria Math" charset="0"/>
                  </a:rPr>
                  <a:t>,</a:t>
                </a:r>
                <a:r>
                  <a:rPr lang="zh-CN" altLang="en-US" sz="1200" i="0">
                    <a:latin typeface="Cambria Math" charset="0"/>
                  </a:rPr>
                  <a:t> </a:t>
                </a:r>
                <a:r>
                  <a:rPr lang="en-US" altLang="zh-CN" sz="1200" i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𝑠_(𝑡+2)</a:t>
                </a:r>
                <a:r>
                  <a:rPr lang="en-US" altLang="zh-CN" sz="1200" i="0">
                    <a:latin typeface="Cambria Math" charset="0"/>
                  </a:rPr>
                  <a:t>,</a:t>
                </a:r>
                <a:r>
                  <a:rPr lang="zh-CN" altLang="en-US" sz="1200" i="0">
                    <a:latin typeface="Cambria Math" charset="0"/>
                  </a:rPr>
                  <a:t> </a:t>
                </a:r>
                <a:r>
                  <a:rPr lang="en-US" altLang="zh-CN" sz="1200" i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𝑠_(𝑡+3)</a:t>
                </a:r>
                <a:r>
                  <a:rPr lang="zh-CN" altLang="en-US" dirty="0" smtClean="0"/>
                  <a:t>等状态。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------------------------------------</a:t>
                </a:r>
              </a:p>
              <a:p>
                <a:r>
                  <a:rPr lang="zh-CN" altLang="en-US" dirty="0" smtClean="0"/>
                  <a:t>积分得到的函数</a:t>
                </a:r>
                <a:r>
                  <a:rPr lang="en-US" i="0">
                    <a:latin typeface="Cambria Math" charset="0"/>
                  </a:rPr>
                  <a:t>𝑄</a:t>
                </a:r>
                <a:r>
                  <a:rPr lang="en-US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被称为</a:t>
                </a:r>
                <a:r>
                  <a:rPr lang="en-US" altLang="zh-CN" dirty="0" smtClean="0"/>
                  <a:t>action-value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function</a:t>
                </a:r>
                <a:r>
                  <a:rPr lang="zh-CN" altLang="en-US" dirty="0" smtClean="0"/>
                  <a:t>，动作价值函数。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函数</a:t>
                </a:r>
                <a:r>
                  <a:rPr lang="en-US" i="0">
                    <a:latin typeface="Cambria Math" charset="0"/>
                  </a:rPr>
                  <a:t>𝑄</a:t>
                </a:r>
                <a:r>
                  <a:rPr lang="en-US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跟当前状态</a:t>
                </a:r>
                <a:r>
                  <a:rPr lang="en-US" altLang="zh-CN" dirty="0" err="1" smtClean="0"/>
                  <a:t>s_t</a:t>
                </a:r>
                <a:r>
                  <a:rPr lang="zh-CN" altLang="en-US" dirty="0" smtClean="0"/>
                  <a:t>、动作</a:t>
                </a:r>
                <a:r>
                  <a:rPr lang="en-US" altLang="zh-CN" dirty="0" err="1" smtClean="0"/>
                  <a:t>a_t</a:t>
                </a:r>
                <a:r>
                  <a:rPr lang="zh-CN" altLang="en-US" dirty="0" smtClean="0"/>
                  <a:t>有关。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为什么呢？因为这两个变量没有被积分积掉；他们后面的状态和动作都被积掉了。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</a:t>
                </a:r>
              </a:p>
              <a:p>
                <a:r>
                  <a:rPr lang="zh-CN" altLang="en-US" dirty="0" smtClean="0"/>
                  <a:t>函数</a:t>
                </a:r>
                <a:r>
                  <a:rPr lang="en-US" i="0">
                    <a:latin typeface="Cambria Math" charset="0"/>
                  </a:rPr>
                  <a:t>𝑄</a:t>
                </a:r>
                <a:r>
                  <a:rPr lang="en-US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还跟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altLang="zh-CN" dirty="0" smtClean="0"/>
                  <a:t>pi</a:t>
                </a:r>
                <a:r>
                  <a:rPr lang="zh-CN" altLang="en-US" dirty="0" smtClean="0"/>
                  <a:t>有关。为什么呢？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因为积分的时候会用到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如果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altLang="zh-CN" dirty="0" smtClean="0"/>
                  <a:t>pi</a:t>
                </a:r>
                <a:r>
                  <a:rPr lang="zh-CN" altLang="en-US" dirty="0" smtClean="0"/>
                  <a:t>不一样，积分得到的</a:t>
                </a:r>
                <a:r>
                  <a:rPr lang="zh-CN" altLang="en-US" dirty="0" smtClean="0"/>
                  <a:t>函数</a:t>
                </a:r>
                <a:r>
                  <a:rPr lang="en-US" i="0">
                    <a:latin typeface="Cambria Math" charset="0"/>
                  </a:rPr>
                  <a:t>𝑄</a:t>
                </a:r>
                <a:r>
                  <a:rPr lang="en-US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就不一样。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--------------------------------</a:t>
                </a:r>
              </a:p>
              <a:p>
                <a:r>
                  <a:rPr lang="zh-CN" altLang="en-US" dirty="0" smtClean="0"/>
                  <a:t>动作价值函数</a:t>
                </a:r>
                <a:r>
                  <a:rPr lang="en-US" altLang="zh-CN" dirty="0" smtClean="0"/>
                  <a:t>action-value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function</a:t>
                </a:r>
                <a:r>
                  <a:rPr lang="zh-CN" altLang="en-US" dirty="0" smtClean="0"/>
                  <a:t>有什么直观意义呢？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函数</a:t>
                </a:r>
                <a:r>
                  <a:rPr lang="en-US" i="0">
                    <a:latin typeface="Cambria Math" charset="0"/>
                  </a:rPr>
                  <a:t>𝑄</a:t>
                </a:r>
                <a:r>
                  <a:rPr lang="en-US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告诉我们，如果用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altLang="zh-CN" dirty="0" smtClean="0"/>
                  <a:t>pi</a:t>
                </a:r>
                <a:r>
                  <a:rPr lang="zh-CN" altLang="en-US" dirty="0" smtClean="0"/>
                  <a:t>，那么在</a:t>
                </a:r>
                <a:r>
                  <a:rPr lang="en-US" altLang="zh-CN" dirty="0" err="1" smtClean="0"/>
                  <a:t>s_t</a:t>
                </a:r>
                <a:r>
                  <a:rPr lang="zh-CN" altLang="en-US" dirty="0" smtClean="0"/>
                  <a:t>这个状态下，做动作</a:t>
                </a:r>
                <a:r>
                  <a:rPr lang="en-US" altLang="zh-CN" dirty="0" err="1" smtClean="0"/>
                  <a:t>a_t</a:t>
                </a:r>
                <a:r>
                  <a:rPr lang="zh-CN" altLang="en-US" dirty="0" smtClean="0"/>
                  <a:t>是好还是坏。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比如说，如果用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函数来操纵超级玛丽做出了一系列动作，那么</a:t>
                </a:r>
                <a:r>
                  <a:rPr lang="zh-CN" altLang="en-US" dirty="0" smtClean="0"/>
                  <a:t>函数</a:t>
                </a:r>
                <a:r>
                  <a:rPr lang="en-US" i="0">
                    <a:latin typeface="Cambria Math" charset="0"/>
                  </a:rPr>
                  <a:t>𝑄</a:t>
                </a:r>
                <a:r>
                  <a:rPr lang="en-US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就可以告诉我们这个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函数玩游戏的水平是高还是低。</a:t>
                </a:r>
                <a:endParaRPr lang="en-US" altLang="zh-CN" dirty="0" smtClean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68346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The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expectation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of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return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eliminates the randomness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in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.</a:t>
                </a:r>
              </a:p>
              <a:p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========================</a:t>
                </a:r>
              </a:p>
              <a:p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The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randomness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in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is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from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all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the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states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and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actions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since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time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t.</a:t>
                </a:r>
              </a:p>
              <a:p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At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time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t,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endParaRPr lang="en-US" altLang="zh-CN" sz="1600" i="0" baseline="0" dirty="0" smtClean="0">
                  <a:solidFill>
                    <a:schemeClr val="tx1"/>
                  </a:solidFill>
                  <a:latin typeface="+mn-lt"/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========================</a:t>
                </a:r>
              </a:p>
              <a:p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the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states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from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𝑆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to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𝑆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are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unknown,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endParaRPr lang="en-US" altLang="zh-CN" sz="1600" i="0" baseline="0" dirty="0" smtClean="0">
                  <a:solidFill>
                    <a:schemeClr val="tx1"/>
                  </a:solidFill>
                  <a:latin typeface="+mn-lt"/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========================</a:t>
                </a:r>
              </a:p>
              <a:p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and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the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actions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from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to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are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also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unknown.</a:t>
                </a:r>
              </a:p>
              <a:p>
                <a:endParaRPr lang="en-US" altLang="zh-CN" sz="1600" i="0" baseline="0" dirty="0" smtClean="0">
                  <a:solidFill>
                    <a:schemeClr val="tx1"/>
                  </a:solidFill>
                  <a:latin typeface="+mn-lt"/>
                </a:endParaRPr>
              </a:p>
              <a:p>
                <a:endParaRPr lang="en-US" altLang="zh-CN" sz="1600" i="0" baseline="0" dirty="0" smtClean="0">
                  <a:solidFill>
                    <a:schemeClr val="tx1"/>
                  </a:solidFill>
                  <a:latin typeface="+mn-lt"/>
                </a:endParaRPr>
              </a:p>
              <a:p>
                <a:endParaRPr lang="en-US" altLang="zh-CN" sz="1600" i="0" baseline="0" dirty="0" smtClean="0">
                  <a:solidFill>
                    <a:schemeClr val="tx1"/>
                  </a:solidFill>
                  <a:latin typeface="+mn-lt"/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dirty="0" err="1" smtClean="0"/>
                  <a:t>U_t</a:t>
                </a:r>
                <a:r>
                  <a:rPr lang="zh-CN" altLang="en-US" dirty="0" smtClean="0"/>
                  <a:t>是个随机变量，在</a:t>
                </a:r>
                <a:r>
                  <a:rPr lang="en-US" altLang="zh-CN" dirty="0" smtClean="0"/>
                  <a:t>t</a:t>
                </a:r>
                <a:r>
                  <a:rPr lang="zh-CN" altLang="en-US" dirty="0" smtClean="0"/>
                  <a:t>时刻我不知道</a:t>
                </a:r>
                <a:r>
                  <a:rPr lang="en-US" altLang="zh-CN" dirty="0" err="1" smtClean="0"/>
                  <a:t>U_t</a:t>
                </a:r>
                <a:r>
                  <a:rPr lang="zh-CN" altLang="en-US" dirty="0" smtClean="0"/>
                  <a:t>是什么。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那该怎么样评估当前的形势呢？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我们可以对</a:t>
                </a:r>
                <a:r>
                  <a:rPr lang="en-US" altLang="zh-CN" dirty="0" err="1" smtClean="0"/>
                  <a:t>U_t</a:t>
                </a:r>
                <a:r>
                  <a:rPr lang="zh-CN" altLang="en-US" dirty="0" smtClean="0"/>
                  <a:t>求期望，把里面的随机性都用积分给积掉，得到的就是个实数。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</a:t>
                </a:r>
              </a:p>
              <a:p>
                <a:r>
                  <a:rPr lang="zh-CN" altLang="en-US" dirty="0" smtClean="0"/>
                  <a:t>打个比方，虽然抛硬币之前你不知道会得到什么，但是你知道正反面各有一半的概率。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如果正面记做</a:t>
                </a:r>
                <a:r>
                  <a:rPr lang="en-US" altLang="zh-CN" dirty="0" smtClean="0"/>
                  <a:t>1</a:t>
                </a:r>
                <a:r>
                  <a:rPr lang="zh-CN" altLang="en-US" dirty="0" smtClean="0"/>
                  <a:t>，背面记做</a:t>
                </a:r>
                <a:r>
                  <a:rPr lang="en-US" altLang="zh-CN" dirty="0" smtClean="0"/>
                  <a:t>0</a:t>
                </a:r>
                <a:r>
                  <a:rPr lang="zh-CN" altLang="en-US" dirty="0" smtClean="0"/>
                  <a:t>，得到的期望就是</a:t>
                </a:r>
                <a:r>
                  <a:rPr lang="en-US" altLang="zh-CN" dirty="0" smtClean="0"/>
                  <a:t>0.5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同样的道理，对随机变量</a:t>
                </a:r>
                <a:r>
                  <a:rPr lang="en-US" altLang="zh-CN" dirty="0" err="1" smtClean="0"/>
                  <a:t>U_t</a:t>
                </a:r>
                <a:r>
                  <a:rPr lang="zh-CN" altLang="en-US" dirty="0" smtClean="0"/>
                  <a:t>求期望，就可以得到一个数，记做是</a:t>
                </a:r>
                <a:r>
                  <a:rPr lang="en-US" altLang="zh-CN" dirty="0" smtClean="0"/>
                  <a:t>Q_{\pi}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-------</a:t>
                </a:r>
              </a:p>
              <a:p>
                <a:r>
                  <a:rPr lang="zh-CN" altLang="en-US" dirty="0" smtClean="0"/>
                  <a:t>这个期望是怎么求的呢？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把</a:t>
                </a:r>
                <a:r>
                  <a:rPr lang="en-US" altLang="zh-CN" dirty="0" smtClean="0"/>
                  <a:t>U_T</a:t>
                </a:r>
                <a:r>
                  <a:rPr lang="zh-CN" altLang="en-US" dirty="0" smtClean="0"/>
                  <a:t>当初未来所有的动作</a:t>
                </a:r>
                <a:r>
                  <a:rPr lang="en-US" altLang="zh-CN" dirty="0" smtClean="0"/>
                  <a:t>a</a:t>
                </a:r>
                <a:r>
                  <a:rPr lang="zh-CN" altLang="en-US" dirty="0" smtClean="0"/>
                  <a:t>和所有状态</a:t>
                </a:r>
                <a:r>
                  <a:rPr lang="en-US" altLang="zh-CN" dirty="0" smtClean="0"/>
                  <a:t>s</a:t>
                </a:r>
                <a:r>
                  <a:rPr lang="zh-CN" altLang="en-US" dirty="0" smtClean="0"/>
                  <a:t>的一个函数。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未来的动作</a:t>
                </a:r>
                <a:r>
                  <a:rPr lang="en-US" altLang="zh-CN" dirty="0" smtClean="0"/>
                  <a:t>a</a:t>
                </a:r>
                <a:r>
                  <a:rPr lang="zh-CN" altLang="en-US" dirty="0" smtClean="0"/>
                  <a:t>和状态</a:t>
                </a:r>
                <a:r>
                  <a:rPr lang="en-US" altLang="zh-CN" dirty="0" smtClean="0"/>
                  <a:t>s</a:t>
                </a:r>
                <a:r>
                  <a:rPr lang="zh-CN" altLang="en-US" dirty="0" smtClean="0"/>
                  <a:t>都有随机性。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动作是根据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altLang="zh-CN" dirty="0" smtClean="0"/>
                  <a:t>pi</a:t>
                </a:r>
                <a:r>
                  <a:rPr lang="zh-CN" altLang="en-US" dirty="0" smtClean="0"/>
                  <a:t>随机抽样的；状态是根据状态转移函数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随机抽样的。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-------</a:t>
                </a:r>
              </a:p>
              <a:p>
                <a:r>
                  <a:rPr lang="zh-CN" altLang="en-US" dirty="0" smtClean="0"/>
                  <a:t>期望就是对这些随机变量求的，把这些随机变量都用积分</a:t>
                </a:r>
                <a:r>
                  <a:rPr lang="zh-CN" altLang="en-US" baseline="0" dirty="0" smtClean="0"/>
                  <a:t> 积掉。</a:t>
                </a:r>
                <a:endParaRPr lang="en-US" altLang="zh-CN" baseline="0" dirty="0" smtClean="0"/>
              </a:p>
              <a:p>
                <a:r>
                  <a:rPr lang="zh-CN" altLang="en-US" baseline="0" dirty="0" smtClean="0"/>
                  <a:t>除了</a:t>
                </a:r>
                <a:r>
                  <a:rPr lang="en-US" altLang="zh-CN" baseline="0" dirty="0" err="1" smtClean="0"/>
                  <a:t>s_t</a:t>
                </a:r>
                <a:r>
                  <a:rPr lang="zh-CN" altLang="en-US" baseline="0" dirty="0" smtClean="0"/>
                  <a:t>和</a:t>
                </a:r>
                <a:r>
                  <a:rPr lang="en-US" altLang="zh-CN" baseline="0" dirty="0" err="1" smtClean="0"/>
                  <a:t>a_t</a:t>
                </a:r>
                <a:r>
                  <a:rPr lang="zh-CN" altLang="en-US" baseline="0" dirty="0" smtClean="0"/>
                  <a:t>，其余的随机变量都被积掉了。</a:t>
                </a:r>
                <a:endParaRPr lang="en-US" altLang="zh-CN" baseline="0" dirty="0" smtClean="0"/>
              </a:p>
              <a:p>
                <a:r>
                  <a:rPr lang="zh-CN" altLang="en-US" baseline="0" dirty="0" smtClean="0"/>
                  <a:t>被积掉的随机变量是</a:t>
                </a:r>
                <a:r>
                  <a:rPr lang="en-US" altLang="zh-CN" sz="1200" i="0">
                    <a:solidFill>
                      <a:srgbClr val="FF0000"/>
                    </a:solidFill>
                    <a:latin typeface="Cambria Math" charset="0"/>
                  </a:rPr>
                  <a:t>𝑎</a:t>
                </a:r>
                <a:r>
                  <a:rPr lang="en-US" altLang="zh-CN" sz="1200" i="0" smtClean="0">
                    <a:solidFill>
                      <a:srgbClr val="FF0000"/>
                    </a:solidFill>
                    <a:latin typeface="Cambria Math" charset="0"/>
                  </a:rPr>
                  <a:t>_(</a:t>
                </a:r>
                <a:r>
                  <a:rPr lang="en-US" altLang="zh-CN" sz="1200" i="0">
                    <a:solidFill>
                      <a:srgbClr val="FF0000"/>
                    </a:solidFill>
                    <a:latin typeface="Cambria Math" charset="0"/>
                  </a:rPr>
                  <a:t>𝑡+1</a:t>
                </a:r>
                <a:r>
                  <a:rPr lang="en-US" altLang="zh-CN" sz="1200" i="0" smtClean="0">
                    <a:solidFill>
                      <a:srgbClr val="FF0000"/>
                    </a:solidFill>
                    <a:latin typeface="Cambria Math" charset="0"/>
                  </a:rPr>
                  <a:t>)</a:t>
                </a:r>
                <a:r>
                  <a:rPr lang="en-US" altLang="zh-CN" sz="1200" i="0">
                    <a:latin typeface="Cambria Math" charset="0"/>
                  </a:rPr>
                  <a:t>,</a:t>
                </a:r>
                <a:r>
                  <a:rPr lang="zh-CN" altLang="en-US" sz="1200" i="0">
                    <a:latin typeface="Cambria Math" charset="0"/>
                  </a:rPr>
                  <a:t> </a:t>
                </a:r>
                <a:r>
                  <a:rPr lang="en-US" altLang="zh-CN" sz="1200" i="0">
                    <a:solidFill>
                      <a:srgbClr val="FF0000"/>
                    </a:solidFill>
                    <a:latin typeface="Cambria Math" charset="0"/>
                  </a:rPr>
                  <a:t>𝑎_(𝑡+2)</a:t>
                </a:r>
                <a:r>
                  <a:rPr lang="en-US" altLang="zh-CN" sz="1200" i="0">
                    <a:latin typeface="Cambria Math" charset="0"/>
                  </a:rPr>
                  <a:t>,</a:t>
                </a:r>
                <a:r>
                  <a:rPr lang="zh-CN" altLang="en-US" sz="1200" i="0">
                    <a:latin typeface="Cambria Math" charset="0"/>
                  </a:rPr>
                  <a:t> </a:t>
                </a:r>
                <a:r>
                  <a:rPr lang="en-US" altLang="zh-CN" sz="1200" i="0">
                    <a:solidFill>
                      <a:srgbClr val="FF0000"/>
                    </a:solidFill>
                    <a:latin typeface="Cambria Math" charset="0"/>
                  </a:rPr>
                  <a:t>𝑎_(𝑡+3)</a:t>
                </a:r>
                <a:r>
                  <a:rPr lang="zh-CN" altLang="en-US" dirty="0" smtClean="0"/>
                  <a:t>等动作、以及</a:t>
                </a:r>
                <a:r>
                  <a:rPr lang="en-US" altLang="zh-CN" sz="1200" i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𝑠</a:t>
                </a:r>
                <a:r>
                  <a:rPr lang="en-US" altLang="zh-CN" sz="1200" i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_(</a:t>
                </a:r>
                <a:r>
                  <a:rPr lang="en-US" altLang="zh-CN" sz="1200" i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𝑡+1</a:t>
                </a:r>
                <a:r>
                  <a:rPr lang="en-US" altLang="zh-CN" sz="1200" i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)</a:t>
                </a:r>
                <a:r>
                  <a:rPr lang="en-US" altLang="zh-CN" sz="1200" i="0">
                    <a:latin typeface="Cambria Math" charset="0"/>
                  </a:rPr>
                  <a:t>,</a:t>
                </a:r>
                <a:r>
                  <a:rPr lang="zh-CN" altLang="en-US" sz="1200" i="0">
                    <a:latin typeface="Cambria Math" charset="0"/>
                  </a:rPr>
                  <a:t> </a:t>
                </a:r>
                <a:r>
                  <a:rPr lang="en-US" altLang="zh-CN" sz="1200" i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𝑠_(𝑡+2)</a:t>
                </a:r>
                <a:r>
                  <a:rPr lang="en-US" altLang="zh-CN" sz="1200" i="0">
                    <a:latin typeface="Cambria Math" charset="0"/>
                  </a:rPr>
                  <a:t>,</a:t>
                </a:r>
                <a:r>
                  <a:rPr lang="zh-CN" altLang="en-US" sz="1200" i="0">
                    <a:latin typeface="Cambria Math" charset="0"/>
                  </a:rPr>
                  <a:t> </a:t>
                </a:r>
                <a:r>
                  <a:rPr lang="en-US" altLang="zh-CN" sz="1200" i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𝑠_(𝑡+3)</a:t>
                </a:r>
                <a:r>
                  <a:rPr lang="zh-CN" altLang="en-US" dirty="0" smtClean="0"/>
                  <a:t>等状态。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------------------------------------</a:t>
                </a:r>
              </a:p>
              <a:p>
                <a:r>
                  <a:rPr lang="zh-CN" altLang="en-US" dirty="0" smtClean="0"/>
                  <a:t>积分得到的函数</a:t>
                </a:r>
                <a:r>
                  <a:rPr lang="en-US" i="0">
                    <a:latin typeface="Cambria Math" charset="0"/>
                  </a:rPr>
                  <a:t>𝑄</a:t>
                </a:r>
                <a:r>
                  <a:rPr lang="en-US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被称为</a:t>
                </a:r>
                <a:r>
                  <a:rPr lang="en-US" altLang="zh-CN" dirty="0" smtClean="0"/>
                  <a:t>action-value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function</a:t>
                </a:r>
                <a:r>
                  <a:rPr lang="zh-CN" altLang="en-US" dirty="0" smtClean="0"/>
                  <a:t>，动作价值函数。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函数</a:t>
                </a:r>
                <a:r>
                  <a:rPr lang="en-US" i="0">
                    <a:latin typeface="Cambria Math" charset="0"/>
                  </a:rPr>
                  <a:t>𝑄</a:t>
                </a:r>
                <a:r>
                  <a:rPr lang="en-US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跟当前状态</a:t>
                </a:r>
                <a:r>
                  <a:rPr lang="en-US" altLang="zh-CN" dirty="0" err="1" smtClean="0"/>
                  <a:t>s_t</a:t>
                </a:r>
                <a:r>
                  <a:rPr lang="zh-CN" altLang="en-US" dirty="0" smtClean="0"/>
                  <a:t>、动作</a:t>
                </a:r>
                <a:r>
                  <a:rPr lang="en-US" altLang="zh-CN" dirty="0" err="1" smtClean="0"/>
                  <a:t>a_t</a:t>
                </a:r>
                <a:r>
                  <a:rPr lang="zh-CN" altLang="en-US" dirty="0" smtClean="0"/>
                  <a:t>有关。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为什么呢？因为这两个变量没有被积分积掉；他们后面的状态和动作都被积掉了。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</a:t>
                </a:r>
              </a:p>
              <a:p>
                <a:r>
                  <a:rPr lang="zh-CN" altLang="en-US" dirty="0" smtClean="0"/>
                  <a:t>函数</a:t>
                </a:r>
                <a:r>
                  <a:rPr lang="en-US" i="0">
                    <a:latin typeface="Cambria Math" charset="0"/>
                  </a:rPr>
                  <a:t>𝑄</a:t>
                </a:r>
                <a:r>
                  <a:rPr lang="en-US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还跟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altLang="zh-CN" dirty="0" smtClean="0"/>
                  <a:t>pi</a:t>
                </a:r>
                <a:r>
                  <a:rPr lang="zh-CN" altLang="en-US" dirty="0" smtClean="0"/>
                  <a:t>有关。为什么呢？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因为积分的时候会用到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如果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altLang="zh-CN" dirty="0" smtClean="0"/>
                  <a:t>pi</a:t>
                </a:r>
                <a:r>
                  <a:rPr lang="zh-CN" altLang="en-US" dirty="0" smtClean="0"/>
                  <a:t>不一样，积分得到的</a:t>
                </a:r>
                <a:r>
                  <a:rPr lang="zh-CN" altLang="en-US" dirty="0" smtClean="0"/>
                  <a:t>函数</a:t>
                </a:r>
                <a:r>
                  <a:rPr lang="en-US" i="0">
                    <a:latin typeface="Cambria Math" charset="0"/>
                  </a:rPr>
                  <a:t>𝑄</a:t>
                </a:r>
                <a:r>
                  <a:rPr lang="en-US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就不一样。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--------------------------------</a:t>
                </a:r>
              </a:p>
              <a:p>
                <a:r>
                  <a:rPr lang="zh-CN" altLang="en-US" dirty="0" smtClean="0"/>
                  <a:t>动作价值函数</a:t>
                </a:r>
                <a:r>
                  <a:rPr lang="en-US" altLang="zh-CN" dirty="0" smtClean="0"/>
                  <a:t>action-value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function</a:t>
                </a:r>
                <a:r>
                  <a:rPr lang="zh-CN" altLang="en-US" dirty="0" smtClean="0"/>
                  <a:t>有什么直观意义呢？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函数</a:t>
                </a:r>
                <a:r>
                  <a:rPr lang="en-US" i="0">
                    <a:latin typeface="Cambria Math" charset="0"/>
                  </a:rPr>
                  <a:t>𝑄</a:t>
                </a:r>
                <a:r>
                  <a:rPr lang="en-US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告诉我们，如果用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altLang="zh-CN" dirty="0" smtClean="0"/>
                  <a:t>pi</a:t>
                </a:r>
                <a:r>
                  <a:rPr lang="zh-CN" altLang="en-US" dirty="0" smtClean="0"/>
                  <a:t>，那么在</a:t>
                </a:r>
                <a:r>
                  <a:rPr lang="en-US" altLang="zh-CN" dirty="0" err="1" smtClean="0"/>
                  <a:t>s_t</a:t>
                </a:r>
                <a:r>
                  <a:rPr lang="zh-CN" altLang="en-US" dirty="0" smtClean="0"/>
                  <a:t>这个状态下，做动作</a:t>
                </a:r>
                <a:r>
                  <a:rPr lang="en-US" altLang="zh-CN" dirty="0" err="1" smtClean="0"/>
                  <a:t>a_t</a:t>
                </a:r>
                <a:r>
                  <a:rPr lang="zh-CN" altLang="en-US" dirty="0" smtClean="0"/>
                  <a:t>是好还是坏。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比如说，如果用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函数来操纵超级玛丽做出了一系列动作，那么</a:t>
                </a:r>
                <a:r>
                  <a:rPr lang="zh-CN" altLang="en-US" dirty="0" smtClean="0"/>
                  <a:t>函数</a:t>
                </a:r>
                <a:r>
                  <a:rPr lang="en-US" i="0">
                    <a:latin typeface="Cambria Math" charset="0"/>
                  </a:rPr>
                  <a:t>𝑄</a:t>
                </a:r>
                <a:r>
                  <a:rPr lang="en-US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就可以告诉我们这个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函数玩游戏的水平是高还是低。</a:t>
                </a:r>
                <a:endParaRPr lang="en-US" altLang="zh-CN" dirty="0" smtClean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192827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 smtClean="0">
                    <a:solidFill>
                      <a:schemeClr val="tx1"/>
                    </a:solidFill>
                  </a:rPr>
                  <a:t>Treat the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current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state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and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the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current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action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as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observed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values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.</a:t>
                </a:r>
              </a:p>
              <a:p>
                <a:r>
                  <a:rPr lang="en-US" altLang="zh-CN" sz="1600" dirty="0" smtClean="0">
                    <a:solidFill>
                      <a:schemeClr val="tx1"/>
                    </a:solidFill>
                  </a:rPr>
                  <a:t>Pretend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that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and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are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not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random.</a:t>
                </a:r>
              </a:p>
              <a:p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The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action-value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function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is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a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conditional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expectation.</a:t>
                </a:r>
              </a:p>
              <a:p>
                <a:r>
                  <a:rPr lang="en-US" altLang="zh-CN" sz="1600" dirty="0" smtClean="0">
                    <a:solidFill>
                      <a:schemeClr val="tx1"/>
                    </a:solidFill>
                  </a:rPr>
                  <a:t>We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take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the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expectation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of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given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the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observed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values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of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𝑆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and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1600" dirty="0" smtClean="0">
                    <a:solidFill>
                      <a:schemeClr val="tx1"/>
                    </a:solidFill>
                  </a:rPr>
                  <a:t>.</a:t>
                </a:r>
              </a:p>
              <a:p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=========================</a:t>
                </a:r>
              </a:p>
              <a:p>
                <a:r>
                  <a:rPr lang="en-US" altLang="zh-CN" sz="1600" dirty="0" smtClean="0">
                    <a:solidFill>
                      <a:schemeClr val="tx1"/>
                    </a:solidFill>
                  </a:rPr>
                  <a:t>Aside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from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and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1600" dirty="0" smtClean="0">
                    <a:solidFill>
                      <a:schemeClr val="tx1"/>
                    </a:solidFill>
                  </a:rPr>
                  <a:t>,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the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return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depends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also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on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endParaRPr lang="en-US" altLang="zh-CN" sz="1600" baseline="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=========================</a:t>
                </a:r>
              </a:p>
              <a:p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states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𝑆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+1</m:t>
                        </m:r>
                      </m:sub>
                    </m:sSub>
                    <m:r>
                      <a:rPr lang="en-US" altLang="zh-CN" sz="1600" i="1">
                        <a:solidFill>
                          <a:schemeClr val="tx1"/>
                        </a:solidFill>
                        <a:latin typeface="Cambria Math" charset="0"/>
                      </a:rPr>
                      <m:t>,</m:t>
                    </m:r>
                    <m:r>
                      <a:rPr lang="zh-CN" altLang="en-US" sz="1600" i="1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  <m:r>
                      <a:rPr lang="en-US" altLang="zh-CN" sz="1600" i="1">
                        <a:solidFill>
                          <a:schemeClr val="tx1"/>
                        </a:solidFill>
                        <a:latin typeface="Cambria Math" charset="0"/>
                      </a:rPr>
                      <m:t>⋯,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𝑆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and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actions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+1</m:t>
                        </m:r>
                      </m:sub>
                    </m:sSub>
                    <m:r>
                      <a:rPr lang="en-US" altLang="zh-CN" sz="1600" i="1">
                        <a:solidFill>
                          <a:schemeClr val="tx1"/>
                        </a:solidFill>
                        <a:latin typeface="Cambria Math" charset="0"/>
                      </a:rPr>
                      <m:t>,</m:t>
                    </m:r>
                    <m:r>
                      <a:rPr lang="zh-CN" altLang="en-US" sz="1600" i="1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  <m:r>
                      <a:rPr lang="en-US" altLang="zh-CN" sz="1600" i="1">
                        <a:solidFill>
                          <a:schemeClr val="tx1"/>
                        </a:solidFill>
                        <a:latin typeface="Cambria Math" charset="0"/>
                      </a:rPr>
                      <m:t>⋯,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1600" dirty="0" smtClean="0">
                    <a:solidFill>
                      <a:schemeClr val="tx1"/>
                    </a:solidFill>
                  </a:rPr>
                  <a:t>.</a:t>
                </a:r>
              </a:p>
              <a:p>
                <a:r>
                  <a:rPr lang="en-US" altLang="zh-CN" sz="1600" dirty="0" smtClean="0">
                    <a:solidFill>
                      <a:schemeClr val="tx1"/>
                    </a:solidFill>
                  </a:rPr>
                  <a:t>Regard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𝑆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+1</m:t>
                        </m:r>
                      </m:sub>
                    </m:sSub>
                    <m:r>
                      <a:rPr lang="en-US" altLang="zh-CN" sz="1600" i="1">
                        <a:solidFill>
                          <a:schemeClr val="tx1"/>
                        </a:solidFill>
                        <a:latin typeface="Cambria Math" charset="0"/>
                      </a:rPr>
                      <m:t>,</m:t>
                    </m:r>
                    <m:r>
                      <a:rPr lang="zh-CN" altLang="en-US" sz="1600" i="1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  <m:r>
                      <a:rPr lang="en-US" altLang="zh-CN" sz="1600" i="1">
                        <a:solidFill>
                          <a:schemeClr val="tx1"/>
                        </a:solidFill>
                        <a:latin typeface="Cambria Math" charset="0"/>
                      </a:rPr>
                      <m:t>⋯,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𝑆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and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+1</m:t>
                        </m:r>
                      </m:sub>
                    </m:sSub>
                    <m:r>
                      <a:rPr lang="en-US" altLang="zh-CN" sz="1600" i="1">
                        <a:solidFill>
                          <a:schemeClr val="tx1"/>
                        </a:solidFill>
                        <a:latin typeface="Cambria Math" charset="0"/>
                      </a:rPr>
                      <m:t>,</m:t>
                    </m:r>
                    <m:r>
                      <a:rPr lang="zh-CN" altLang="en-US" sz="1600" i="1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  <m:r>
                      <a:rPr lang="en-US" altLang="zh-CN" sz="1600" i="1">
                        <a:solidFill>
                          <a:schemeClr val="tx1"/>
                        </a:solidFill>
                        <a:latin typeface="Cambria Math" charset="0"/>
                      </a:rPr>
                      <m:t>⋯,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as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random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variables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to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be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integrated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out.</a:t>
                </a: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dirty="0" err="1" smtClean="0"/>
                  <a:t>U_t</a:t>
                </a:r>
                <a:r>
                  <a:rPr lang="zh-CN" altLang="en-US" dirty="0" smtClean="0"/>
                  <a:t>是个随机变量，在</a:t>
                </a:r>
                <a:r>
                  <a:rPr lang="en-US" altLang="zh-CN" dirty="0" smtClean="0"/>
                  <a:t>t</a:t>
                </a:r>
                <a:r>
                  <a:rPr lang="zh-CN" altLang="en-US" dirty="0" smtClean="0"/>
                  <a:t>时刻我不知道</a:t>
                </a:r>
                <a:r>
                  <a:rPr lang="en-US" altLang="zh-CN" dirty="0" err="1" smtClean="0"/>
                  <a:t>U_t</a:t>
                </a:r>
                <a:r>
                  <a:rPr lang="zh-CN" altLang="en-US" dirty="0" smtClean="0"/>
                  <a:t>是什么。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那该怎么样评估当前的形势呢？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我们可以对</a:t>
                </a:r>
                <a:r>
                  <a:rPr lang="en-US" altLang="zh-CN" dirty="0" err="1" smtClean="0"/>
                  <a:t>U_t</a:t>
                </a:r>
                <a:r>
                  <a:rPr lang="zh-CN" altLang="en-US" dirty="0" smtClean="0"/>
                  <a:t>求期望，把里面的随机性都用积分给积掉，得到的就是个实数。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</a:t>
                </a:r>
              </a:p>
              <a:p>
                <a:r>
                  <a:rPr lang="zh-CN" altLang="en-US" dirty="0" smtClean="0"/>
                  <a:t>打个比方，虽然抛硬币之前你不知道会得到什么，但是你知道正反面各有一半的概率。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如果正面记做</a:t>
                </a:r>
                <a:r>
                  <a:rPr lang="en-US" altLang="zh-CN" dirty="0" smtClean="0"/>
                  <a:t>1</a:t>
                </a:r>
                <a:r>
                  <a:rPr lang="zh-CN" altLang="en-US" dirty="0" smtClean="0"/>
                  <a:t>，背面记做</a:t>
                </a:r>
                <a:r>
                  <a:rPr lang="en-US" altLang="zh-CN" dirty="0" smtClean="0"/>
                  <a:t>0</a:t>
                </a:r>
                <a:r>
                  <a:rPr lang="zh-CN" altLang="en-US" dirty="0" smtClean="0"/>
                  <a:t>，得到的期望就是</a:t>
                </a:r>
                <a:r>
                  <a:rPr lang="en-US" altLang="zh-CN" dirty="0" smtClean="0"/>
                  <a:t>0.5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同样的道理，对随机变量</a:t>
                </a:r>
                <a:r>
                  <a:rPr lang="en-US" altLang="zh-CN" dirty="0" err="1" smtClean="0"/>
                  <a:t>U_t</a:t>
                </a:r>
                <a:r>
                  <a:rPr lang="zh-CN" altLang="en-US" dirty="0" smtClean="0"/>
                  <a:t>求期望，就可以得到一个数，记做是</a:t>
                </a:r>
                <a:r>
                  <a:rPr lang="en-US" altLang="zh-CN" dirty="0" smtClean="0"/>
                  <a:t>Q_{\pi}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-------</a:t>
                </a:r>
              </a:p>
              <a:p>
                <a:r>
                  <a:rPr lang="zh-CN" altLang="en-US" dirty="0" smtClean="0"/>
                  <a:t>这个期望是怎么求的呢？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把</a:t>
                </a:r>
                <a:r>
                  <a:rPr lang="en-US" altLang="zh-CN" dirty="0" smtClean="0"/>
                  <a:t>U_T</a:t>
                </a:r>
                <a:r>
                  <a:rPr lang="zh-CN" altLang="en-US" dirty="0" smtClean="0"/>
                  <a:t>当初未来所有的动作</a:t>
                </a:r>
                <a:r>
                  <a:rPr lang="en-US" altLang="zh-CN" dirty="0" smtClean="0"/>
                  <a:t>a</a:t>
                </a:r>
                <a:r>
                  <a:rPr lang="zh-CN" altLang="en-US" dirty="0" smtClean="0"/>
                  <a:t>和所有状态</a:t>
                </a:r>
                <a:r>
                  <a:rPr lang="en-US" altLang="zh-CN" dirty="0" smtClean="0"/>
                  <a:t>s</a:t>
                </a:r>
                <a:r>
                  <a:rPr lang="zh-CN" altLang="en-US" dirty="0" smtClean="0"/>
                  <a:t>的一个函数。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未来的动作</a:t>
                </a:r>
                <a:r>
                  <a:rPr lang="en-US" altLang="zh-CN" dirty="0" smtClean="0"/>
                  <a:t>a</a:t>
                </a:r>
                <a:r>
                  <a:rPr lang="zh-CN" altLang="en-US" dirty="0" smtClean="0"/>
                  <a:t>和状态</a:t>
                </a:r>
                <a:r>
                  <a:rPr lang="en-US" altLang="zh-CN" dirty="0" smtClean="0"/>
                  <a:t>s</a:t>
                </a:r>
                <a:r>
                  <a:rPr lang="zh-CN" altLang="en-US" dirty="0" smtClean="0"/>
                  <a:t>都有随机性。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动作是根据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altLang="zh-CN" dirty="0" smtClean="0"/>
                  <a:t>pi</a:t>
                </a:r>
                <a:r>
                  <a:rPr lang="zh-CN" altLang="en-US" dirty="0" smtClean="0"/>
                  <a:t>随机抽样的；状态是根据状态转移函数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随机抽样的。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-------</a:t>
                </a:r>
              </a:p>
              <a:p>
                <a:r>
                  <a:rPr lang="zh-CN" altLang="en-US" dirty="0" smtClean="0"/>
                  <a:t>期望就是对这些随机变量求的，把这些随机变量都用积分</a:t>
                </a:r>
                <a:r>
                  <a:rPr lang="zh-CN" altLang="en-US" baseline="0" dirty="0" smtClean="0"/>
                  <a:t> 积掉。</a:t>
                </a:r>
                <a:endParaRPr lang="en-US" altLang="zh-CN" baseline="0" dirty="0" smtClean="0"/>
              </a:p>
              <a:p>
                <a:r>
                  <a:rPr lang="zh-CN" altLang="en-US" baseline="0" dirty="0" smtClean="0"/>
                  <a:t>除了</a:t>
                </a:r>
                <a:r>
                  <a:rPr lang="en-US" altLang="zh-CN" baseline="0" dirty="0" err="1" smtClean="0"/>
                  <a:t>s_t</a:t>
                </a:r>
                <a:r>
                  <a:rPr lang="zh-CN" altLang="en-US" baseline="0" dirty="0" smtClean="0"/>
                  <a:t>和</a:t>
                </a:r>
                <a:r>
                  <a:rPr lang="en-US" altLang="zh-CN" baseline="0" dirty="0" err="1" smtClean="0"/>
                  <a:t>a_t</a:t>
                </a:r>
                <a:r>
                  <a:rPr lang="zh-CN" altLang="en-US" baseline="0" dirty="0" smtClean="0"/>
                  <a:t>，其余的随机变量都被积掉了。</a:t>
                </a:r>
                <a:endParaRPr lang="en-US" altLang="zh-CN" baseline="0" dirty="0" smtClean="0"/>
              </a:p>
              <a:p>
                <a:r>
                  <a:rPr lang="zh-CN" altLang="en-US" baseline="0" dirty="0" smtClean="0"/>
                  <a:t>被积掉的随机变量是</a:t>
                </a:r>
                <a:r>
                  <a:rPr lang="en-US" altLang="zh-CN" sz="1200" i="0">
                    <a:solidFill>
                      <a:srgbClr val="FF0000"/>
                    </a:solidFill>
                    <a:latin typeface="Cambria Math" charset="0"/>
                  </a:rPr>
                  <a:t>𝑎</a:t>
                </a:r>
                <a:r>
                  <a:rPr lang="en-US" altLang="zh-CN" sz="1200" i="0" smtClean="0">
                    <a:solidFill>
                      <a:srgbClr val="FF0000"/>
                    </a:solidFill>
                    <a:latin typeface="Cambria Math" charset="0"/>
                  </a:rPr>
                  <a:t>_(</a:t>
                </a:r>
                <a:r>
                  <a:rPr lang="en-US" altLang="zh-CN" sz="1200" i="0">
                    <a:solidFill>
                      <a:srgbClr val="FF0000"/>
                    </a:solidFill>
                    <a:latin typeface="Cambria Math" charset="0"/>
                  </a:rPr>
                  <a:t>𝑡+1</a:t>
                </a:r>
                <a:r>
                  <a:rPr lang="en-US" altLang="zh-CN" sz="1200" i="0" smtClean="0">
                    <a:solidFill>
                      <a:srgbClr val="FF0000"/>
                    </a:solidFill>
                    <a:latin typeface="Cambria Math" charset="0"/>
                  </a:rPr>
                  <a:t>)</a:t>
                </a:r>
                <a:r>
                  <a:rPr lang="en-US" altLang="zh-CN" sz="1200" i="0">
                    <a:latin typeface="Cambria Math" charset="0"/>
                  </a:rPr>
                  <a:t>,</a:t>
                </a:r>
                <a:r>
                  <a:rPr lang="zh-CN" altLang="en-US" sz="1200" i="0">
                    <a:latin typeface="Cambria Math" charset="0"/>
                  </a:rPr>
                  <a:t> </a:t>
                </a:r>
                <a:r>
                  <a:rPr lang="en-US" altLang="zh-CN" sz="1200" i="0">
                    <a:solidFill>
                      <a:srgbClr val="FF0000"/>
                    </a:solidFill>
                    <a:latin typeface="Cambria Math" charset="0"/>
                  </a:rPr>
                  <a:t>𝑎_(𝑡+2)</a:t>
                </a:r>
                <a:r>
                  <a:rPr lang="en-US" altLang="zh-CN" sz="1200" i="0">
                    <a:latin typeface="Cambria Math" charset="0"/>
                  </a:rPr>
                  <a:t>,</a:t>
                </a:r>
                <a:r>
                  <a:rPr lang="zh-CN" altLang="en-US" sz="1200" i="0">
                    <a:latin typeface="Cambria Math" charset="0"/>
                  </a:rPr>
                  <a:t> </a:t>
                </a:r>
                <a:r>
                  <a:rPr lang="en-US" altLang="zh-CN" sz="1200" i="0">
                    <a:solidFill>
                      <a:srgbClr val="FF0000"/>
                    </a:solidFill>
                    <a:latin typeface="Cambria Math" charset="0"/>
                  </a:rPr>
                  <a:t>𝑎_(𝑡+3)</a:t>
                </a:r>
                <a:r>
                  <a:rPr lang="zh-CN" altLang="en-US" dirty="0" smtClean="0"/>
                  <a:t>等动作、以及</a:t>
                </a:r>
                <a:r>
                  <a:rPr lang="en-US" altLang="zh-CN" sz="1200" i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𝑠</a:t>
                </a:r>
                <a:r>
                  <a:rPr lang="en-US" altLang="zh-CN" sz="1200" i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_(</a:t>
                </a:r>
                <a:r>
                  <a:rPr lang="en-US" altLang="zh-CN" sz="1200" i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𝑡+1</a:t>
                </a:r>
                <a:r>
                  <a:rPr lang="en-US" altLang="zh-CN" sz="1200" i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)</a:t>
                </a:r>
                <a:r>
                  <a:rPr lang="en-US" altLang="zh-CN" sz="1200" i="0">
                    <a:latin typeface="Cambria Math" charset="0"/>
                  </a:rPr>
                  <a:t>,</a:t>
                </a:r>
                <a:r>
                  <a:rPr lang="zh-CN" altLang="en-US" sz="1200" i="0">
                    <a:latin typeface="Cambria Math" charset="0"/>
                  </a:rPr>
                  <a:t> </a:t>
                </a:r>
                <a:r>
                  <a:rPr lang="en-US" altLang="zh-CN" sz="1200" i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𝑠_(𝑡+2)</a:t>
                </a:r>
                <a:r>
                  <a:rPr lang="en-US" altLang="zh-CN" sz="1200" i="0">
                    <a:latin typeface="Cambria Math" charset="0"/>
                  </a:rPr>
                  <a:t>,</a:t>
                </a:r>
                <a:r>
                  <a:rPr lang="zh-CN" altLang="en-US" sz="1200" i="0">
                    <a:latin typeface="Cambria Math" charset="0"/>
                  </a:rPr>
                  <a:t> </a:t>
                </a:r>
                <a:r>
                  <a:rPr lang="en-US" altLang="zh-CN" sz="1200" i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𝑠_(𝑡+3)</a:t>
                </a:r>
                <a:r>
                  <a:rPr lang="zh-CN" altLang="en-US" dirty="0" smtClean="0"/>
                  <a:t>等状态。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------------------------------------</a:t>
                </a:r>
              </a:p>
              <a:p>
                <a:r>
                  <a:rPr lang="zh-CN" altLang="en-US" dirty="0" smtClean="0"/>
                  <a:t>积分得到的函数</a:t>
                </a:r>
                <a:r>
                  <a:rPr lang="en-US" i="0">
                    <a:latin typeface="Cambria Math" charset="0"/>
                  </a:rPr>
                  <a:t>𝑄</a:t>
                </a:r>
                <a:r>
                  <a:rPr lang="en-US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被称为</a:t>
                </a:r>
                <a:r>
                  <a:rPr lang="en-US" altLang="zh-CN" dirty="0" smtClean="0"/>
                  <a:t>action-value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function</a:t>
                </a:r>
                <a:r>
                  <a:rPr lang="zh-CN" altLang="en-US" dirty="0" smtClean="0"/>
                  <a:t>，动作价值函数。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函数</a:t>
                </a:r>
                <a:r>
                  <a:rPr lang="en-US" i="0">
                    <a:latin typeface="Cambria Math" charset="0"/>
                  </a:rPr>
                  <a:t>𝑄</a:t>
                </a:r>
                <a:r>
                  <a:rPr lang="en-US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跟当前状态</a:t>
                </a:r>
                <a:r>
                  <a:rPr lang="en-US" altLang="zh-CN" dirty="0" err="1" smtClean="0"/>
                  <a:t>s_t</a:t>
                </a:r>
                <a:r>
                  <a:rPr lang="zh-CN" altLang="en-US" dirty="0" smtClean="0"/>
                  <a:t>、动作</a:t>
                </a:r>
                <a:r>
                  <a:rPr lang="en-US" altLang="zh-CN" dirty="0" err="1" smtClean="0"/>
                  <a:t>a_t</a:t>
                </a:r>
                <a:r>
                  <a:rPr lang="zh-CN" altLang="en-US" dirty="0" smtClean="0"/>
                  <a:t>有关。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为什么呢？因为这两个变量没有被积分积掉；他们后面的状态和动作都被积掉了。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</a:t>
                </a:r>
              </a:p>
              <a:p>
                <a:r>
                  <a:rPr lang="zh-CN" altLang="en-US" dirty="0" smtClean="0"/>
                  <a:t>函数</a:t>
                </a:r>
                <a:r>
                  <a:rPr lang="en-US" i="0">
                    <a:latin typeface="Cambria Math" charset="0"/>
                  </a:rPr>
                  <a:t>𝑄</a:t>
                </a:r>
                <a:r>
                  <a:rPr lang="en-US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还跟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altLang="zh-CN" dirty="0" smtClean="0"/>
                  <a:t>pi</a:t>
                </a:r>
                <a:r>
                  <a:rPr lang="zh-CN" altLang="en-US" dirty="0" smtClean="0"/>
                  <a:t>有关。为什么呢？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因为积分的时候会用到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如果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altLang="zh-CN" dirty="0" smtClean="0"/>
                  <a:t>pi</a:t>
                </a:r>
                <a:r>
                  <a:rPr lang="zh-CN" altLang="en-US" dirty="0" smtClean="0"/>
                  <a:t>不一样，积分得到的</a:t>
                </a:r>
                <a:r>
                  <a:rPr lang="zh-CN" altLang="en-US" dirty="0" smtClean="0"/>
                  <a:t>函数</a:t>
                </a:r>
                <a:r>
                  <a:rPr lang="en-US" i="0">
                    <a:latin typeface="Cambria Math" charset="0"/>
                  </a:rPr>
                  <a:t>𝑄</a:t>
                </a:r>
                <a:r>
                  <a:rPr lang="en-US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就不一样。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--------------------------------</a:t>
                </a:r>
              </a:p>
              <a:p>
                <a:r>
                  <a:rPr lang="zh-CN" altLang="en-US" dirty="0" smtClean="0"/>
                  <a:t>动作价值函数</a:t>
                </a:r>
                <a:r>
                  <a:rPr lang="en-US" altLang="zh-CN" dirty="0" smtClean="0"/>
                  <a:t>action-value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function</a:t>
                </a:r>
                <a:r>
                  <a:rPr lang="zh-CN" altLang="en-US" dirty="0" smtClean="0"/>
                  <a:t>有什么直观意义呢？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函数</a:t>
                </a:r>
                <a:r>
                  <a:rPr lang="en-US" i="0">
                    <a:latin typeface="Cambria Math" charset="0"/>
                  </a:rPr>
                  <a:t>𝑄</a:t>
                </a:r>
                <a:r>
                  <a:rPr lang="en-US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告诉我们，如果用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altLang="zh-CN" dirty="0" smtClean="0"/>
                  <a:t>pi</a:t>
                </a:r>
                <a:r>
                  <a:rPr lang="zh-CN" altLang="en-US" dirty="0" smtClean="0"/>
                  <a:t>，那么在</a:t>
                </a:r>
                <a:r>
                  <a:rPr lang="en-US" altLang="zh-CN" dirty="0" err="1" smtClean="0"/>
                  <a:t>s_t</a:t>
                </a:r>
                <a:r>
                  <a:rPr lang="zh-CN" altLang="en-US" dirty="0" smtClean="0"/>
                  <a:t>这个状态下，做动作</a:t>
                </a:r>
                <a:r>
                  <a:rPr lang="en-US" altLang="zh-CN" dirty="0" err="1" smtClean="0"/>
                  <a:t>a_t</a:t>
                </a:r>
                <a:r>
                  <a:rPr lang="zh-CN" altLang="en-US" dirty="0" smtClean="0"/>
                  <a:t>是好还是坏。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比如说，如果用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函数来操纵超级玛丽做出了一系列动作，那么</a:t>
                </a:r>
                <a:r>
                  <a:rPr lang="zh-CN" altLang="en-US" dirty="0" smtClean="0"/>
                  <a:t>函数</a:t>
                </a:r>
                <a:r>
                  <a:rPr lang="en-US" i="0">
                    <a:latin typeface="Cambria Math" charset="0"/>
                  </a:rPr>
                  <a:t>𝑄</a:t>
                </a:r>
                <a:r>
                  <a:rPr lang="en-US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就可以告诉我们这个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函数玩游戏的水平是高还是低。</a:t>
                </a:r>
                <a:endParaRPr lang="en-US" altLang="zh-CN" dirty="0" smtClean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11057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expectation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taken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err="1" smtClean="0"/>
                  <a:t>w.r.t</a:t>
                </a:r>
                <a:r>
                  <a:rPr lang="en-US" altLang="zh-CN" sz="1600" baseline="0" dirty="0" smtClean="0"/>
                  <a:t>.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states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𝑆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+1</m:t>
                        </m:r>
                      </m:sub>
                    </m:sSub>
                    <m:r>
                      <a:rPr lang="en-US" altLang="zh-CN" sz="1600" i="1">
                        <a:solidFill>
                          <a:schemeClr val="tx1"/>
                        </a:solidFill>
                        <a:latin typeface="Cambria Math" charset="0"/>
                      </a:rPr>
                      <m:t>,</m:t>
                    </m:r>
                    <m:r>
                      <a:rPr lang="zh-CN" altLang="en-US" sz="1600" i="1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  <m:r>
                      <a:rPr lang="en-US" altLang="zh-CN" sz="1600" i="1">
                        <a:solidFill>
                          <a:schemeClr val="tx1"/>
                        </a:solidFill>
                        <a:latin typeface="Cambria Math" charset="0"/>
                      </a:rPr>
                      <m:t>⋯,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𝑆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and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actions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+1</m:t>
                        </m:r>
                      </m:sub>
                    </m:sSub>
                    <m:r>
                      <a:rPr lang="en-US" altLang="zh-CN" sz="1600" i="1">
                        <a:solidFill>
                          <a:schemeClr val="tx1"/>
                        </a:solidFill>
                        <a:latin typeface="Cambria Math" charset="0"/>
                      </a:rPr>
                      <m:t>,</m:t>
                    </m:r>
                    <m:r>
                      <a:rPr lang="zh-CN" altLang="en-US" sz="1600" i="1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  <m:r>
                      <a:rPr lang="en-US" altLang="zh-CN" sz="1600" i="1">
                        <a:solidFill>
                          <a:schemeClr val="tx1"/>
                        </a:solidFill>
                        <a:latin typeface="Cambria Math" charset="0"/>
                      </a:rPr>
                      <m:t>⋯,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1600" dirty="0" smtClean="0">
                    <a:solidFill>
                      <a:schemeClr val="tx1"/>
                    </a:solidFill>
                  </a:rPr>
                  <a:t>.</a:t>
                </a:r>
              </a:p>
              <a:p>
                <a:r>
                  <a:rPr lang="en-US" altLang="zh-CN" sz="1600" dirty="0" smtClean="0">
                    <a:solidFill>
                      <a:schemeClr val="tx1"/>
                    </a:solidFill>
                  </a:rPr>
                  <a:t>The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expectation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eliminates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the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random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variables.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/>
                  <a:t>To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compute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expectation,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we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need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probability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density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functions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of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and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A.</a:t>
                </a:r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dirty="0" err="1" smtClean="0"/>
                  <a:t>U_t</a:t>
                </a:r>
                <a:r>
                  <a:rPr lang="zh-CN" altLang="en-US" dirty="0" smtClean="0"/>
                  <a:t>是个随机变量，在</a:t>
                </a:r>
                <a:r>
                  <a:rPr lang="en-US" altLang="zh-CN" dirty="0" smtClean="0"/>
                  <a:t>t</a:t>
                </a:r>
                <a:r>
                  <a:rPr lang="zh-CN" altLang="en-US" dirty="0" smtClean="0"/>
                  <a:t>时刻我不知道</a:t>
                </a:r>
                <a:r>
                  <a:rPr lang="en-US" altLang="zh-CN" dirty="0" err="1" smtClean="0"/>
                  <a:t>U_t</a:t>
                </a:r>
                <a:r>
                  <a:rPr lang="zh-CN" altLang="en-US" dirty="0" smtClean="0"/>
                  <a:t>是什么。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那该怎么样评估当前的形势呢？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我们可以对</a:t>
                </a:r>
                <a:r>
                  <a:rPr lang="en-US" altLang="zh-CN" dirty="0" err="1" smtClean="0"/>
                  <a:t>U_t</a:t>
                </a:r>
                <a:r>
                  <a:rPr lang="zh-CN" altLang="en-US" dirty="0" smtClean="0"/>
                  <a:t>求期望，把里面的随机性都用积分给积掉，得到的就是个实数。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</a:t>
                </a:r>
              </a:p>
              <a:p>
                <a:r>
                  <a:rPr lang="zh-CN" altLang="en-US" dirty="0" smtClean="0"/>
                  <a:t>打个比方，虽然抛硬币之前你不知道会得到什么，但是你知道正反面各有一半的概率。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如果正面记做</a:t>
                </a:r>
                <a:r>
                  <a:rPr lang="en-US" altLang="zh-CN" dirty="0" smtClean="0"/>
                  <a:t>1</a:t>
                </a:r>
                <a:r>
                  <a:rPr lang="zh-CN" altLang="en-US" dirty="0" smtClean="0"/>
                  <a:t>，背面记做</a:t>
                </a:r>
                <a:r>
                  <a:rPr lang="en-US" altLang="zh-CN" dirty="0" smtClean="0"/>
                  <a:t>0</a:t>
                </a:r>
                <a:r>
                  <a:rPr lang="zh-CN" altLang="en-US" dirty="0" smtClean="0"/>
                  <a:t>，得到的期望就是</a:t>
                </a:r>
                <a:r>
                  <a:rPr lang="en-US" altLang="zh-CN" dirty="0" smtClean="0"/>
                  <a:t>0.5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同样的道理，对随机变量</a:t>
                </a:r>
                <a:r>
                  <a:rPr lang="en-US" altLang="zh-CN" dirty="0" err="1" smtClean="0"/>
                  <a:t>U_t</a:t>
                </a:r>
                <a:r>
                  <a:rPr lang="zh-CN" altLang="en-US" dirty="0" smtClean="0"/>
                  <a:t>求期望，就可以得到一个数，记做是</a:t>
                </a:r>
                <a:r>
                  <a:rPr lang="en-US" altLang="zh-CN" dirty="0" smtClean="0"/>
                  <a:t>Q_{\pi}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-------</a:t>
                </a:r>
              </a:p>
              <a:p>
                <a:r>
                  <a:rPr lang="zh-CN" altLang="en-US" dirty="0" smtClean="0"/>
                  <a:t>这个期望是怎么求的呢？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把</a:t>
                </a:r>
                <a:r>
                  <a:rPr lang="en-US" altLang="zh-CN" dirty="0" smtClean="0"/>
                  <a:t>U_T</a:t>
                </a:r>
                <a:r>
                  <a:rPr lang="zh-CN" altLang="en-US" dirty="0" smtClean="0"/>
                  <a:t>当初未来所有的动作</a:t>
                </a:r>
                <a:r>
                  <a:rPr lang="en-US" altLang="zh-CN" dirty="0" smtClean="0"/>
                  <a:t>a</a:t>
                </a:r>
                <a:r>
                  <a:rPr lang="zh-CN" altLang="en-US" dirty="0" smtClean="0"/>
                  <a:t>和所有状态</a:t>
                </a:r>
                <a:r>
                  <a:rPr lang="en-US" altLang="zh-CN" dirty="0" smtClean="0"/>
                  <a:t>s</a:t>
                </a:r>
                <a:r>
                  <a:rPr lang="zh-CN" altLang="en-US" dirty="0" smtClean="0"/>
                  <a:t>的一个函数。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未来的动作</a:t>
                </a:r>
                <a:r>
                  <a:rPr lang="en-US" altLang="zh-CN" dirty="0" smtClean="0"/>
                  <a:t>a</a:t>
                </a:r>
                <a:r>
                  <a:rPr lang="zh-CN" altLang="en-US" dirty="0" smtClean="0"/>
                  <a:t>和状态</a:t>
                </a:r>
                <a:r>
                  <a:rPr lang="en-US" altLang="zh-CN" dirty="0" smtClean="0"/>
                  <a:t>s</a:t>
                </a:r>
                <a:r>
                  <a:rPr lang="zh-CN" altLang="en-US" dirty="0" smtClean="0"/>
                  <a:t>都有随机性。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动作是根据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altLang="zh-CN" dirty="0" smtClean="0"/>
                  <a:t>pi</a:t>
                </a:r>
                <a:r>
                  <a:rPr lang="zh-CN" altLang="en-US" dirty="0" smtClean="0"/>
                  <a:t>随机抽样的；状态是根据状态转移函数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随机抽样的。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-------</a:t>
                </a:r>
              </a:p>
              <a:p>
                <a:r>
                  <a:rPr lang="zh-CN" altLang="en-US" dirty="0" smtClean="0"/>
                  <a:t>期望就是对这些随机变量求的，把这些随机变量都用积分</a:t>
                </a:r>
                <a:r>
                  <a:rPr lang="zh-CN" altLang="en-US" baseline="0" dirty="0" smtClean="0"/>
                  <a:t> 积掉。</a:t>
                </a:r>
                <a:endParaRPr lang="en-US" altLang="zh-CN" baseline="0" dirty="0" smtClean="0"/>
              </a:p>
              <a:p>
                <a:r>
                  <a:rPr lang="zh-CN" altLang="en-US" baseline="0" dirty="0" smtClean="0"/>
                  <a:t>除了</a:t>
                </a:r>
                <a:r>
                  <a:rPr lang="en-US" altLang="zh-CN" baseline="0" dirty="0" err="1" smtClean="0"/>
                  <a:t>s_t</a:t>
                </a:r>
                <a:r>
                  <a:rPr lang="zh-CN" altLang="en-US" baseline="0" dirty="0" smtClean="0"/>
                  <a:t>和</a:t>
                </a:r>
                <a:r>
                  <a:rPr lang="en-US" altLang="zh-CN" baseline="0" dirty="0" err="1" smtClean="0"/>
                  <a:t>a_t</a:t>
                </a:r>
                <a:r>
                  <a:rPr lang="zh-CN" altLang="en-US" baseline="0" dirty="0" smtClean="0"/>
                  <a:t>，其余的随机变量都被积掉了。</a:t>
                </a:r>
                <a:endParaRPr lang="en-US" altLang="zh-CN" baseline="0" dirty="0" smtClean="0"/>
              </a:p>
              <a:p>
                <a:r>
                  <a:rPr lang="zh-CN" altLang="en-US" baseline="0" dirty="0" smtClean="0"/>
                  <a:t>被积掉的随机变量是</a:t>
                </a:r>
                <a:r>
                  <a:rPr lang="en-US" altLang="zh-CN" sz="1200" i="0">
                    <a:solidFill>
                      <a:srgbClr val="FF0000"/>
                    </a:solidFill>
                    <a:latin typeface="Cambria Math" charset="0"/>
                  </a:rPr>
                  <a:t>𝑎</a:t>
                </a:r>
                <a:r>
                  <a:rPr lang="en-US" altLang="zh-CN" sz="1200" i="0" smtClean="0">
                    <a:solidFill>
                      <a:srgbClr val="FF0000"/>
                    </a:solidFill>
                    <a:latin typeface="Cambria Math" charset="0"/>
                  </a:rPr>
                  <a:t>_(</a:t>
                </a:r>
                <a:r>
                  <a:rPr lang="en-US" altLang="zh-CN" sz="1200" i="0">
                    <a:solidFill>
                      <a:srgbClr val="FF0000"/>
                    </a:solidFill>
                    <a:latin typeface="Cambria Math" charset="0"/>
                  </a:rPr>
                  <a:t>𝑡+1</a:t>
                </a:r>
                <a:r>
                  <a:rPr lang="en-US" altLang="zh-CN" sz="1200" i="0" smtClean="0">
                    <a:solidFill>
                      <a:srgbClr val="FF0000"/>
                    </a:solidFill>
                    <a:latin typeface="Cambria Math" charset="0"/>
                  </a:rPr>
                  <a:t>)</a:t>
                </a:r>
                <a:r>
                  <a:rPr lang="en-US" altLang="zh-CN" sz="1200" i="0">
                    <a:latin typeface="Cambria Math" charset="0"/>
                  </a:rPr>
                  <a:t>,</a:t>
                </a:r>
                <a:r>
                  <a:rPr lang="zh-CN" altLang="en-US" sz="1200" i="0">
                    <a:latin typeface="Cambria Math" charset="0"/>
                  </a:rPr>
                  <a:t> </a:t>
                </a:r>
                <a:r>
                  <a:rPr lang="en-US" altLang="zh-CN" sz="1200" i="0">
                    <a:solidFill>
                      <a:srgbClr val="FF0000"/>
                    </a:solidFill>
                    <a:latin typeface="Cambria Math" charset="0"/>
                  </a:rPr>
                  <a:t>𝑎_(𝑡+2)</a:t>
                </a:r>
                <a:r>
                  <a:rPr lang="en-US" altLang="zh-CN" sz="1200" i="0">
                    <a:latin typeface="Cambria Math" charset="0"/>
                  </a:rPr>
                  <a:t>,</a:t>
                </a:r>
                <a:r>
                  <a:rPr lang="zh-CN" altLang="en-US" sz="1200" i="0">
                    <a:latin typeface="Cambria Math" charset="0"/>
                  </a:rPr>
                  <a:t> </a:t>
                </a:r>
                <a:r>
                  <a:rPr lang="en-US" altLang="zh-CN" sz="1200" i="0">
                    <a:solidFill>
                      <a:srgbClr val="FF0000"/>
                    </a:solidFill>
                    <a:latin typeface="Cambria Math" charset="0"/>
                  </a:rPr>
                  <a:t>𝑎_(𝑡+3)</a:t>
                </a:r>
                <a:r>
                  <a:rPr lang="zh-CN" altLang="en-US" dirty="0" smtClean="0"/>
                  <a:t>等动作、以及</a:t>
                </a:r>
                <a:r>
                  <a:rPr lang="en-US" altLang="zh-CN" sz="1200" i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𝑠</a:t>
                </a:r>
                <a:r>
                  <a:rPr lang="en-US" altLang="zh-CN" sz="1200" i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_(</a:t>
                </a:r>
                <a:r>
                  <a:rPr lang="en-US" altLang="zh-CN" sz="1200" i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𝑡+1</a:t>
                </a:r>
                <a:r>
                  <a:rPr lang="en-US" altLang="zh-CN" sz="1200" i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)</a:t>
                </a:r>
                <a:r>
                  <a:rPr lang="en-US" altLang="zh-CN" sz="1200" i="0">
                    <a:latin typeface="Cambria Math" charset="0"/>
                  </a:rPr>
                  <a:t>,</a:t>
                </a:r>
                <a:r>
                  <a:rPr lang="zh-CN" altLang="en-US" sz="1200" i="0">
                    <a:latin typeface="Cambria Math" charset="0"/>
                  </a:rPr>
                  <a:t> </a:t>
                </a:r>
                <a:r>
                  <a:rPr lang="en-US" altLang="zh-CN" sz="1200" i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𝑠_(𝑡+2)</a:t>
                </a:r>
                <a:r>
                  <a:rPr lang="en-US" altLang="zh-CN" sz="1200" i="0">
                    <a:latin typeface="Cambria Math" charset="0"/>
                  </a:rPr>
                  <a:t>,</a:t>
                </a:r>
                <a:r>
                  <a:rPr lang="zh-CN" altLang="en-US" sz="1200" i="0">
                    <a:latin typeface="Cambria Math" charset="0"/>
                  </a:rPr>
                  <a:t> </a:t>
                </a:r>
                <a:r>
                  <a:rPr lang="en-US" altLang="zh-CN" sz="1200" i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𝑠_(𝑡+3)</a:t>
                </a:r>
                <a:r>
                  <a:rPr lang="zh-CN" altLang="en-US" dirty="0" smtClean="0"/>
                  <a:t>等状态。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------------------------------------</a:t>
                </a:r>
              </a:p>
              <a:p>
                <a:r>
                  <a:rPr lang="zh-CN" altLang="en-US" dirty="0" smtClean="0"/>
                  <a:t>积分得到的函数</a:t>
                </a:r>
                <a:r>
                  <a:rPr lang="en-US" i="0">
                    <a:latin typeface="Cambria Math" charset="0"/>
                  </a:rPr>
                  <a:t>𝑄</a:t>
                </a:r>
                <a:r>
                  <a:rPr lang="en-US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被称为</a:t>
                </a:r>
                <a:r>
                  <a:rPr lang="en-US" altLang="zh-CN" dirty="0" smtClean="0"/>
                  <a:t>action-value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function</a:t>
                </a:r>
                <a:r>
                  <a:rPr lang="zh-CN" altLang="en-US" dirty="0" smtClean="0"/>
                  <a:t>，动作价值函数。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函数</a:t>
                </a:r>
                <a:r>
                  <a:rPr lang="en-US" i="0">
                    <a:latin typeface="Cambria Math" charset="0"/>
                  </a:rPr>
                  <a:t>𝑄</a:t>
                </a:r>
                <a:r>
                  <a:rPr lang="en-US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跟当前状态</a:t>
                </a:r>
                <a:r>
                  <a:rPr lang="en-US" altLang="zh-CN" dirty="0" err="1" smtClean="0"/>
                  <a:t>s_t</a:t>
                </a:r>
                <a:r>
                  <a:rPr lang="zh-CN" altLang="en-US" dirty="0" smtClean="0"/>
                  <a:t>、动作</a:t>
                </a:r>
                <a:r>
                  <a:rPr lang="en-US" altLang="zh-CN" dirty="0" err="1" smtClean="0"/>
                  <a:t>a_t</a:t>
                </a:r>
                <a:r>
                  <a:rPr lang="zh-CN" altLang="en-US" dirty="0" smtClean="0"/>
                  <a:t>有关。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为什么呢？因为这两个变量没有被积分积掉；他们后面的状态和动作都被积掉了。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</a:t>
                </a:r>
              </a:p>
              <a:p>
                <a:r>
                  <a:rPr lang="zh-CN" altLang="en-US" dirty="0" smtClean="0"/>
                  <a:t>函数</a:t>
                </a:r>
                <a:r>
                  <a:rPr lang="en-US" i="0">
                    <a:latin typeface="Cambria Math" charset="0"/>
                  </a:rPr>
                  <a:t>𝑄</a:t>
                </a:r>
                <a:r>
                  <a:rPr lang="en-US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还跟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altLang="zh-CN" dirty="0" smtClean="0"/>
                  <a:t>pi</a:t>
                </a:r>
                <a:r>
                  <a:rPr lang="zh-CN" altLang="en-US" dirty="0" smtClean="0"/>
                  <a:t>有关。为什么呢？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因为积分的时候会用到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如果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altLang="zh-CN" dirty="0" smtClean="0"/>
                  <a:t>pi</a:t>
                </a:r>
                <a:r>
                  <a:rPr lang="zh-CN" altLang="en-US" dirty="0" smtClean="0"/>
                  <a:t>不一样，积分得到的</a:t>
                </a:r>
                <a:r>
                  <a:rPr lang="zh-CN" altLang="en-US" dirty="0" smtClean="0"/>
                  <a:t>函数</a:t>
                </a:r>
                <a:r>
                  <a:rPr lang="en-US" i="0">
                    <a:latin typeface="Cambria Math" charset="0"/>
                  </a:rPr>
                  <a:t>𝑄</a:t>
                </a:r>
                <a:r>
                  <a:rPr lang="en-US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就不一样。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--------------------------------</a:t>
                </a:r>
              </a:p>
              <a:p>
                <a:r>
                  <a:rPr lang="zh-CN" altLang="en-US" dirty="0" smtClean="0"/>
                  <a:t>动作价值函数</a:t>
                </a:r>
                <a:r>
                  <a:rPr lang="en-US" altLang="zh-CN" dirty="0" smtClean="0"/>
                  <a:t>action-value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function</a:t>
                </a:r>
                <a:r>
                  <a:rPr lang="zh-CN" altLang="en-US" dirty="0" smtClean="0"/>
                  <a:t>有什么直观意义呢？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函数</a:t>
                </a:r>
                <a:r>
                  <a:rPr lang="en-US" i="0">
                    <a:latin typeface="Cambria Math" charset="0"/>
                  </a:rPr>
                  <a:t>𝑄</a:t>
                </a:r>
                <a:r>
                  <a:rPr lang="en-US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告诉我们，如果用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altLang="zh-CN" dirty="0" smtClean="0"/>
                  <a:t>pi</a:t>
                </a:r>
                <a:r>
                  <a:rPr lang="zh-CN" altLang="en-US" dirty="0" smtClean="0"/>
                  <a:t>，那么在</a:t>
                </a:r>
                <a:r>
                  <a:rPr lang="en-US" altLang="zh-CN" dirty="0" err="1" smtClean="0"/>
                  <a:t>s_t</a:t>
                </a:r>
                <a:r>
                  <a:rPr lang="zh-CN" altLang="en-US" dirty="0" smtClean="0"/>
                  <a:t>这个状态下，做动作</a:t>
                </a:r>
                <a:r>
                  <a:rPr lang="en-US" altLang="zh-CN" dirty="0" err="1" smtClean="0"/>
                  <a:t>a_t</a:t>
                </a:r>
                <a:r>
                  <a:rPr lang="zh-CN" altLang="en-US" dirty="0" smtClean="0"/>
                  <a:t>是好还是坏。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比如说，如果用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函数来操纵超级玛丽做出了一系列动作，那么</a:t>
                </a:r>
                <a:r>
                  <a:rPr lang="zh-CN" altLang="en-US" dirty="0" smtClean="0"/>
                  <a:t>函数</a:t>
                </a:r>
                <a:r>
                  <a:rPr lang="en-US" i="0">
                    <a:latin typeface="Cambria Math" charset="0"/>
                  </a:rPr>
                  <a:t>𝑄</a:t>
                </a:r>
                <a:r>
                  <a:rPr lang="en-US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就可以告诉我们这个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函数玩游戏的水平是高还是低。</a:t>
                </a:r>
                <a:endParaRPr lang="en-US" altLang="zh-CN" dirty="0" smtClean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071422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environment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generates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new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state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randomly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sampling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from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state-transition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function.</a:t>
                </a:r>
              </a:p>
              <a:p>
                <a:r>
                  <a:rPr lang="en-US" altLang="zh-CN" sz="1600" baseline="0" dirty="0" smtClean="0"/>
                  <a:t>p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probability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density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function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 state.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========================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The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actions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are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randomly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sampled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from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the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policy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function</a:t>
                </a:r>
                <a:r>
                  <a:rPr lang="zh-CN" altLang="en-US" sz="1600" i="0" baseline="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i="0" baseline="0" dirty="0" smtClean="0">
                    <a:solidFill>
                      <a:schemeClr val="tx1"/>
                    </a:solidFill>
                    <a:latin typeface="+mn-lt"/>
                  </a:rPr>
                  <a:t>π.</a:t>
                </a:r>
              </a:p>
              <a:p>
                <a:r>
                  <a:rPr lang="en-US" altLang="zh-CN" sz="1600" dirty="0" smtClean="0"/>
                  <a:t>Thus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resulting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expectation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depends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on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π.</a:t>
                </a:r>
                <a:endParaRPr lang="en-US" altLang="zh-CN" sz="1600" baseline="0" dirty="0" smtClean="0"/>
              </a:p>
              <a:p>
                <a:r>
                  <a:rPr lang="en-US" altLang="zh-CN" sz="1600" baseline="0" dirty="0" smtClean="0"/>
                  <a:t>If the policy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function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π changes,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outcome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expectation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would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different.</a:t>
                </a:r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dirty="0" err="1" smtClean="0"/>
                  <a:t>U_t</a:t>
                </a:r>
                <a:r>
                  <a:rPr lang="zh-CN" altLang="en-US" dirty="0" smtClean="0"/>
                  <a:t>是个随机变量，在</a:t>
                </a:r>
                <a:r>
                  <a:rPr lang="en-US" altLang="zh-CN" dirty="0" smtClean="0"/>
                  <a:t>t</a:t>
                </a:r>
                <a:r>
                  <a:rPr lang="zh-CN" altLang="en-US" dirty="0" smtClean="0"/>
                  <a:t>时刻我不知道</a:t>
                </a:r>
                <a:r>
                  <a:rPr lang="en-US" altLang="zh-CN" dirty="0" err="1" smtClean="0"/>
                  <a:t>U_t</a:t>
                </a:r>
                <a:r>
                  <a:rPr lang="zh-CN" altLang="en-US" dirty="0" smtClean="0"/>
                  <a:t>是什么。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那该怎么样评估当前的形势呢？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我们可以对</a:t>
                </a:r>
                <a:r>
                  <a:rPr lang="en-US" altLang="zh-CN" dirty="0" err="1" smtClean="0"/>
                  <a:t>U_t</a:t>
                </a:r>
                <a:r>
                  <a:rPr lang="zh-CN" altLang="en-US" dirty="0" smtClean="0"/>
                  <a:t>求期望，把里面的随机性都用积分给积掉，得到的就是个实数。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</a:t>
                </a:r>
              </a:p>
              <a:p>
                <a:r>
                  <a:rPr lang="zh-CN" altLang="en-US" dirty="0" smtClean="0"/>
                  <a:t>打个比方，虽然抛硬币之前你不知道会得到什么，但是你知道正反面各有一半的概率。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如果正面记做</a:t>
                </a:r>
                <a:r>
                  <a:rPr lang="en-US" altLang="zh-CN" dirty="0" smtClean="0"/>
                  <a:t>1</a:t>
                </a:r>
                <a:r>
                  <a:rPr lang="zh-CN" altLang="en-US" dirty="0" smtClean="0"/>
                  <a:t>，背面记做</a:t>
                </a:r>
                <a:r>
                  <a:rPr lang="en-US" altLang="zh-CN" dirty="0" smtClean="0"/>
                  <a:t>0</a:t>
                </a:r>
                <a:r>
                  <a:rPr lang="zh-CN" altLang="en-US" dirty="0" smtClean="0"/>
                  <a:t>，得到的期望就是</a:t>
                </a:r>
                <a:r>
                  <a:rPr lang="en-US" altLang="zh-CN" dirty="0" smtClean="0"/>
                  <a:t>0.5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同样的道理，对随机变量</a:t>
                </a:r>
                <a:r>
                  <a:rPr lang="en-US" altLang="zh-CN" dirty="0" err="1" smtClean="0"/>
                  <a:t>U_t</a:t>
                </a:r>
                <a:r>
                  <a:rPr lang="zh-CN" altLang="en-US" dirty="0" smtClean="0"/>
                  <a:t>求期望，就可以得到一个数，记做是</a:t>
                </a:r>
                <a:r>
                  <a:rPr lang="en-US" altLang="zh-CN" dirty="0" smtClean="0"/>
                  <a:t>Q_{\pi}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-------</a:t>
                </a:r>
              </a:p>
              <a:p>
                <a:r>
                  <a:rPr lang="zh-CN" altLang="en-US" dirty="0" smtClean="0"/>
                  <a:t>这个期望是怎么求的呢？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把</a:t>
                </a:r>
                <a:r>
                  <a:rPr lang="en-US" altLang="zh-CN" dirty="0" smtClean="0"/>
                  <a:t>U_T</a:t>
                </a:r>
                <a:r>
                  <a:rPr lang="zh-CN" altLang="en-US" dirty="0" smtClean="0"/>
                  <a:t>当初未来所有的动作</a:t>
                </a:r>
                <a:r>
                  <a:rPr lang="en-US" altLang="zh-CN" dirty="0" smtClean="0"/>
                  <a:t>a</a:t>
                </a:r>
                <a:r>
                  <a:rPr lang="zh-CN" altLang="en-US" dirty="0" smtClean="0"/>
                  <a:t>和所有状态</a:t>
                </a:r>
                <a:r>
                  <a:rPr lang="en-US" altLang="zh-CN" dirty="0" smtClean="0"/>
                  <a:t>s</a:t>
                </a:r>
                <a:r>
                  <a:rPr lang="zh-CN" altLang="en-US" dirty="0" smtClean="0"/>
                  <a:t>的一个函数。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未来的动作</a:t>
                </a:r>
                <a:r>
                  <a:rPr lang="en-US" altLang="zh-CN" dirty="0" smtClean="0"/>
                  <a:t>a</a:t>
                </a:r>
                <a:r>
                  <a:rPr lang="zh-CN" altLang="en-US" dirty="0" smtClean="0"/>
                  <a:t>和状态</a:t>
                </a:r>
                <a:r>
                  <a:rPr lang="en-US" altLang="zh-CN" dirty="0" smtClean="0"/>
                  <a:t>s</a:t>
                </a:r>
                <a:r>
                  <a:rPr lang="zh-CN" altLang="en-US" dirty="0" smtClean="0"/>
                  <a:t>都有随机性。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动作是根据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altLang="zh-CN" dirty="0" smtClean="0"/>
                  <a:t>pi</a:t>
                </a:r>
                <a:r>
                  <a:rPr lang="zh-CN" altLang="en-US" dirty="0" smtClean="0"/>
                  <a:t>随机抽样的；状态是根据状态转移函数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随机抽样的。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-------</a:t>
                </a:r>
              </a:p>
              <a:p>
                <a:r>
                  <a:rPr lang="zh-CN" altLang="en-US" dirty="0" smtClean="0"/>
                  <a:t>期望就是对这些随机变量求的，把这些随机变量都用积分</a:t>
                </a:r>
                <a:r>
                  <a:rPr lang="zh-CN" altLang="en-US" baseline="0" dirty="0" smtClean="0"/>
                  <a:t> 积掉。</a:t>
                </a:r>
                <a:endParaRPr lang="en-US" altLang="zh-CN" baseline="0" dirty="0" smtClean="0"/>
              </a:p>
              <a:p>
                <a:r>
                  <a:rPr lang="zh-CN" altLang="en-US" baseline="0" dirty="0" smtClean="0"/>
                  <a:t>除了</a:t>
                </a:r>
                <a:r>
                  <a:rPr lang="en-US" altLang="zh-CN" baseline="0" dirty="0" err="1" smtClean="0"/>
                  <a:t>s_t</a:t>
                </a:r>
                <a:r>
                  <a:rPr lang="zh-CN" altLang="en-US" baseline="0" dirty="0" smtClean="0"/>
                  <a:t>和</a:t>
                </a:r>
                <a:r>
                  <a:rPr lang="en-US" altLang="zh-CN" baseline="0" dirty="0" err="1" smtClean="0"/>
                  <a:t>a_t</a:t>
                </a:r>
                <a:r>
                  <a:rPr lang="zh-CN" altLang="en-US" baseline="0" dirty="0" smtClean="0"/>
                  <a:t>，其余的随机变量都被积掉了。</a:t>
                </a:r>
                <a:endParaRPr lang="en-US" altLang="zh-CN" baseline="0" dirty="0" smtClean="0"/>
              </a:p>
              <a:p>
                <a:r>
                  <a:rPr lang="zh-CN" altLang="en-US" baseline="0" dirty="0" smtClean="0"/>
                  <a:t>被积掉的随机变量是</a:t>
                </a:r>
                <a:r>
                  <a:rPr lang="en-US" altLang="zh-CN" sz="1200" i="0">
                    <a:solidFill>
                      <a:srgbClr val="FF0000"/>
                    </a:solidFill>
                    <a:latin typeface="Cambria Math" charset="0"/>
                  </a:rPr>
                  <a:t>𝑎</a:t>
                </a:r>
                <a:r>
                  <a:rPr lang="en-US" altLang="zh-CN" sz="1200" i="0" smtClean="0">
                    <a:solidFill>
                      <a:srgbClr val="FF0000"/>
                    </a:solidFill>
                    <a:latin typeface="Cambria Math" charset="0"/>
                  </a:rPr>
                  <a:t>_(</a:t>
                </a:r>
                <a:r>
                  <a:rPr lang="en-US" altLang="zh-CN" sz="1200" i="0">
                    <a:solidFill>
                      <a:srgbClr val="FF0000"/>
                    </a:solidFill>
                    <a:latin typeface="Cambria Math" charset="0"/>
                  </a:rPr>
                  <a:t>𝑡+1</a:t>
                </a:r>
                <a:r>
                  <a:rPr lang="en-US" altLang="zh-CN" sz="1200" i="0" smtClean="0">
                    <a:solidFill>
                      <a:srgbClr val="FF0000"/>
                    </a:solidFill>
                    <a:latin typeface="Cambria Math" charset="0"/>
                  </a:rPr>
                  <a:t>)</a:t>
                </a:r>
                <a:r>
                  <a:rPr lang="en-US" altLang="zh-CN" sz="1200" i="0">
                    <a:latin typeface="Cambria Math" charset="0"/>
                  </a:rPr>
                  <a:t>,</a:t>
                </a:r>
                <a:r>
                  <a:rPr lang="zh-CN" altLang="en-US" sz="1200" i="0">
                    <a:latin typeface="Cambria Math" charset="0"/>
                  </a:rPr>
                  <a:t> </a:t>
                </a:r>
                <a:r>
                  <a:rPr lang="en-US" altLang="zh-CN" sz="1200" i="0">
                    <a:solidFill>
                      <a:srgbClr val="FF0000"/>
                    </a:solidFill>
                    <a:latin typeface="Cambria Math" charset="0"/>
                  </a:rPr>
                  <a:t>𝑎_(𝑡+2)</a:t>
                </a:r>
                <a:r>
                  <a:rPr lang="en-US" altLang="zh-CN" sz="1200" i="0">
                    <a:latin typeface="Cambria Math" charset="0"/>
                  </a:rPr>
                  <a:t>,</a:t>
                </a:r>
                <a:r>
                  <a:rPr lang="zh-CN" altLang="en-US" sz="1200" i="0">
                    <a:latin typeface="Cambria Math" charset="0"/>
                  </a:rPr>
                  <a:t> </a:t>
                </a:r>
                <a:r>
                  <a:rPr lang="en-US" altLang="zh-CN" sz="1200" i="0">
                    <a:solidFill>
                      <a:srgbClr val="FF0000"/>
                    </a:solidFill>
                    <a:latin typeface="Cambria Math" charset="0"/>
                  </a:rPr>
                  <a:t>𝑎_(𝑡+3)</a:t>
                </a:r>
                <a:r>
                  <a:rPr lang="zh-CN" altLang="en-US" dirty="0" smtClean="0"/>
                  <a:t>等动作、以及</a:t>
                </a:r>
                <a:r>
                  <a:rPr lang="en-US" altLang="zh-CN" sz="1200" i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𝑠</a:t>
                </a:r>
                <a:r>
                  <a:rPr lang="en-US" altLang="zh-CN" sz="1200" i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_(</a:t>
                </a:r>
                <a:r>
                  <a:rPr lang="en-US" altLang="zh-CN" sz="1200" i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𝑡+1</a:t>
                </a:r>
                <a:r>
                  <a:rPr lang="en-US" altLang="zh-CN" sz="1200" i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)</a:t>
                </a:r>
                <a:r>
                  <a:rPr lang="en-US" altLang="zh-CN" sz="1200" i="0">
                    <a:latin typeface="Cambria Math" charset="0"/>
                  </a:rPr>
                  <a:t>,</a:t>
                </a:r>
                <a:r>
                  <a:rPr lang="zh-CN" altLang="en-US" sz="1200" i="0">
                    <a:latin typeface="Cambria Math" charset="0"/>
                  </a:rPr>
                  <a:t> </a:t>
                </a:r>
                <a:r>
                  <a:rPr lang="en-US" altLang="zh-CN" sz="1200" i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𝑠_(𝑡+2)</a:t>
                </a:r>
                <a:r>
                  <a:rPr lang="en-US" altLang="zh-CN" sz="1200" i="0">
                    <a:latin typeface="Cambria Math" charset="0"/>
                  </a:rPr>
                  <a:t>,</a:t>
                </a:r>
                <a:r>
                  <a:rPr lang="zh-CN" altLang="en-US" sz="1200" i="0">
                    <a:latin typeface="Cambria Math" charset="0"/>
                  </a:rPr>
                  <a:t> </a:t>
                </a:r>
                <a:r>
                  <a:rPr lang="en-US" altLang="zh-CN" sz="1200" i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𝑠_(𝑡+3)</a:t>
                </a:r>
                <a:r>
                  <a:rPr lang="zh-CN" altLang="en-US" dirty="0" smtClean="0"/>
                  <a:t>等状态。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------------------------------------</a:t>
                </a:r>
              </a:p>
              <a:p>
                <a:r>
                  <a:rPr lang="zh-CN" altLang="en-US" dirty="0" smtClean="0"/>
                  <a:t>积分得到的函数</a:t>
                </a:r>
                <a:r>
                  <a:rPr lang="en-US" i="0">
                    <a:latin typeface="Cambria Math" charset="0"/>
                  </a:rPr>
                  <a:t>𝑄</a:t>
                </a:r>
                <a:r>
                  <a:rPr lang="en-US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被称为</a:t>
                </a:r>
                <a:r>
                  <a:rPr lang="en-US" altLang="zh-CN" dirty="0" smtClean="0"/>
                  <a:t>action-value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function</a:t>
                </a:r>
                <a:r>
                  <a:rPr lang="zh-CN" altLang="en-US" dirty="0" smtClean="0"/>
                  <a:t>，动作价值函数。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函数</a:t>
                </a:r>
                <a:r>
                  <a:rPr lang="en-US" i="0">
                    <a:latin typeface="Cambria Math" charset="0"/>
                  </a:rPr>
                  <a:t>𝑄</a:t>
                </a:r>
                <a:r>
                  <a:rPr lang="en-US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跟当前状态</a:t>
                </a:r>
                <a:r>
                  <a:rPr lang="en-US" altLang="zh-CN" dirty="0" err="1" smtClean="0"/>
                  <a:t>s_t</a:t>
                </a:r>
                <a:r>
                  <a:rPr lang="zh-CN" altLang="en-US" dirty="0" smtClean="0"/>
                  <a:t>、动作</a:t>
                </a:r>
                <a:r>
                  <a:rPr lang="en-US" altLang="zh-CN" dirty="0" err="1" smtClean="0"/>
                  <a:t>a_t</a:t>
                </a:r>
                <a:r>
                  <a:rPr lang="zh-CN" altLang="en-US" dirty="0" smtClean="0"/>
                  <a:t>有关。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为什么呢？因为这两个变量没有被积分积掉；他们后面的状态和动作都被积掉了。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</a:t>
                </a:r>
              </a:p>
              <a:p>
                <a:r>
                  <a:rPr lang="zh-CN" altLang="en-US" dirty="0" smtClean="0"/>
                  <a:t>函数</a:t>
                </a:r>
                <a:r>
                  <a:rPr lang="en-US" i="0">
                    <a:latin typeface="Cambria Math" charset="0"/>
                  </a:rPr>
                  <a:t>𝑄</a:t>
                </a:r>
                <a:r>
                  <a:rPr lang="en-US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还跟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altLang="zh-CN" dirty="0" smtClean="0"/>
                  <a:t>pi</a:t>
                </a:r>
                <a:r>
                  <a:rPr lang="zh-CN" altLang="en-US" dirty="0" smtClean="0"/>
                  <a:t>有关。为什么呢？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因为积分的时候会用到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如果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altLang="zh-CN" dirty="0" smtClean="0"/>
                  <a:t>pi</a:t>
                </a:r>
                <a:r>
                  <a:rPr lang="zh-CN" altLang="en-US" dirty="0" smtClean="0"/>
                  <a:t>不一样，积分得到的</a:t>
                </a:r>
                <a:r>
                  <a:rPr lang="zh-CN" altLang="en-US" dirty="0" smtClean="0"/>
                  <a:t>函数</a:t>
                </a:r>
                <a:r>
                  <a:rPr lang="en-US" i="0">
                    <a:latin typeface="Cambria Math" charset="0"/>
                  </a:rPr>
                  <a:t>𝑄</a:t>
                </a:r>
                <a:r>
                  <a:rPr lang="en-US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就不一样。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--------------------------------</a:t>
                </a:r>
              </a:p>
              <a:p>
                <a:r>
                  <a:rPr lang="zh-CN" altLang="en-US" dirty="0" smtClean="0"/>
                  <a:t>动作价值函数</a:t>
                </a:r>
                <a:r>
                  <a:rPr lang="en-US" altLang="zh-CN" dirty="0" smtClean="0"/>
                  <a:t>action-value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function</a:t>
                </a:r>
                <a:r>
                  <a:rPr lang="zh-CN" altLang="en-US" dirty="0" smtClean="0"/>
                  <a:t>有什么直观意义呢？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函数</a:t>
                </a:r>
                <a:r>
                  <a:rPr lang="en-US" i="0">
                    <a:latin typeface="Cambria Math" charset="0"/>
                  </a:rPr>
                  <a:t>𝑄</a:t>
                </a:r>
                <a:r>
                  <a:rPr lang="en-US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告诉我们，如果用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altLang="zh-CN" dirty="0" smtClean="0"/>
                  <a:t>pi</a:t>
                </a:r>
                <a:r>
                  <a:rPr lang="zh-CN" altLang="en-US" dirty="0" smtClean="0"/>
                  <a:t>，那么在</a:t>
                </a:r>
                <a:r>
                  <a:rPr lang="en-US" altLang="zh-CN" dirty="0" err="1" smtClean="0"/>
                  <a:t>s_t</a:t>
                </a:r>
                <a:r>
                  <a:rPr lang="zh-CN" altLang="en-US" dirty="0" smtClean="0"/>
                  <a:t>这个状态下，做动作</a:t>
                </a:r>
                <a:r>
                  <a:rPr lang="en-US" altLang="zh-CN" dirty="0" err="1" smtClean="0"/>
                  <a:t>a_t</a:t>
                </a:r>
                <a:r>
                  <a:rPr lang="zh-CN" altLang="en-US" dirty="0" smtClean="0"/>
                  <a:t>是好还是坏。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比如说，如果用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函数来操纵超级玛丽做出了一系列动作，那么</a:t>
                </a:r>
                <a:r>
                  <a:rPr lang="zh-CN" altLang="en-US" dirty="0" smtClean="0"/>
                  <a:t>函数</a:t>
                </a:r>
                <a:r>
                  <a:rPr lang="en-US" i="0">
                    <a:latin typeface="Cambria Math" charset="0"/>
                  </a:rPr>
                  <a:t>𝑄</a:t>
                </a:r>
                <a:r>
                  <a:rPr lang="en-US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就可以告诉我们这个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函数玩游戏的水平是高还是低。</a:t>
                </a:r>
                <a:endParaRPr lang="en-US" altLang="zh-CN" dirty="0" smtClean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99089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 smtClean="0"/>
                  <a:t>That's </a:t>
                </a:r>
                <a:r>
                  <a:rPr lang="en-US" altLang="zh-CN" sz="1600" baseline="0" dirty="0" smtClean="0"/>
                  <a:t>why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dirty="0" smtClean="0"/>
                  <a:t>action-value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function,</a:t>
                </a:r>
                <a:r>
                  <a:rPr lang="zh-CN" altLang="en-US" sz="1600" baseline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en-US" altLang="zh-CN" sz="1600" dirty="0" smtClean="0"/>
                  <a:t>,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depends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on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policy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function,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π</a:t>
                </a:r>
                <a:r>
                  <a:rPr lang="en-US" altLang="zh-CN" sz="1600" baseline="0" dirty="0" smtClean="0"/>
                  <a:t>.</a:t>
                </a:r>
              </a:p>
              <a:p>
                <a:r>
                  <a:rPr lang="en-US" altLang="zh-CN" sz="1600" baseline="0" dirty="0" smtClean="0"/>
                  <a:t>With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different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policy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functions,</a:t>
                </a:r>
                <a:r>
                  <a:rPr lang="en-US" sz="16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would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different.</a:t>
                </a:r>
              </a:p>
              <a:p>
                <a:r>
                  <a:rPr lang="en-US" altLang="zh-CN" sz="1600" baseline="0" dirty="0" smtClean="0"/>
                  <a:t>-----</a:t>
                </a:r>
              </a:p>
              <a:p>
                <a:r>
                  <a:rPr lang="en-US" altLang="zh-CN" sz="1600" baseline="0" dirty="0" smtClean="0"/>
                  <a:t>I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give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intuitive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explanation.</a:t>
                </a:r>
              </a:p>
              <a:p>
                <a:r>
                  <a:rPr lang="en-US" altLang="zh-CN" sz="1600" baseline="0" dirty="0" smtClean="0"/>
                  <a:t>Suppose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was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playing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Super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Mario.</a:t>
                </a:r>
              </a:p>
              <a:p>
                <a:r>
                  <a:rPr lang="en-US" altLang="zh-CN" sz="1600" baseline="0" dirty="0" smtClean="0"/>
                  <a:t>At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time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handle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game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professional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player.</a:t>
                </a:r>
              </a:p>
              <a:p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professional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player’s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policy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π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much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better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than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my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policy.</a:t>
                </a:r>
              </a:p>
              <a:p>
                <a:r>
                  <a:rPr lang="en-US" altLang="zh-CN" sz="1600" baseline="0" dirty="0" smtClean="0"/>
                  <a:t>Then</a:t>
                </a:r>
                <a:r>
                  <a:rPr lang="zh-CN" altLang="en-US" sz="1600" baseline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will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increase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lot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because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professional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player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expected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get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much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higher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rewards.</a:t>
                </a:r>
              </a:p>
              <a:p>
                <a:r>
                  <a:rPr lang="en-US" altLang="zh-CN" sz="1600" baseline="0" dirty="0" smtClean="0"/>
                  <a:t>This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example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means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that</a:t>
                </a:r>
                <a:r>
                  <a:rPr lang="zh-CN" altLang="en-US" sz="1600" baseline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depends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policy,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π.</a:t>
                </a:r>
              </a:p>
              <a:p>
                <a:r>
                  <a:rPr lang="en-US" altLang="zh-CN" sz="1600" baseline="0" dirty="0" smtClean="0"/>
                  <a:t>With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better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policy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π,</a:t>
                </a:r>
                <a:r>
                  <a:rPr lang="zh-CN" altLang="en-US" sz="1600" baseline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becomes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bigger.</a:t>
                </a:r>
              </a:p>
              <a:p>
                <a:endParaRPr lang="en-US" altLang="zh-CN" sz="1600" baseline="0" dirty="0" smtClean="0"/>
              </a:p>
              <a:p>
                <a:endParaRPr lang="en-US" altLang="zh-CN" sz="1600" baseline="0" dirty="0" smtClean="0"/>
              </a:p>
              <a:p>
                <a:endParaRPr lang="en-US" altLang="zh-CN" sz="1600" baseline="0" dirty="0" smtClean="0"/>
              </a:p>
              <a:p>
                <a:endParaRPr lang="en-US" altLang="zh-CN" sz="1600" baseline="0" dirty="0" smtClean="0"/>
              </a:p>
              <a:p>
                <a:endParaRPr lang="en-US" altLang="zh-CN" sz="1600" baseline="0" dirty="0" smtClean="0"/>
              </a:p>
              <a:p>
                <a:endParaRPr lang="en-US" altLang="zh-CN" sz="1600" baseline="0" dirty="0" smtClean="0"/>
              </a:p>
              <a:p>
                <a:endParaRPr lang="en-US" altLang="zh-CN" sz="1600" baseline="0" dirty="0" smtClean="0"/>
              </a:p>
              <a:p>
                <a:endParaRPr lang="en-US" altLang="zh-CN" sz="1600" baseline="0" dirty="0" smtClean="0"/>
              </a:p>
              <a:p>
                <a:endParaRPr lang="en-US" altLang="zh-CN" sz="1600" baseline="0" dirty="0" smtClean="0"/>
              </a:p>
              <a:p>
                <a:endParaRPr lang="en-US" altLang="zh-CN" sz="1600" baseline="0" dirty="0" smtClean="0"/>
              </a:p>
              <a:p>
                <a:endParaRPr lang="en-US" altLang="zh-CN" sz="1600" baseline="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dirty="0" err="1" smtClean="0"/>
                  <a:t>U_t</a:t>
                </a:r>
                <a:r>
                  <a:rPr lang="zh-CN" altLang="en-US" dirty="0" smtClean="0"/>
                  <a:t>是个随机变量，在</a:t>
                </a:r>
                <a:r>
                  <a:rPr lang="en-US" altLang="zh-CN" dirty="0" smtClean="0"/>
                  <a:t>t</a:t>
                </a:r>
                <a:r>
                  <a:rPr lang="zh-CN" altLang="en-US" dirty="0" smtClean="0"/>
                  <a:t>时刻我不知道</a:t>
                </a:r>
                <a:r>
                  <a:rPr lang="en-US" altLang="zh-CN" dirty="0" err="1" smtClean="0"/>
                  <a:t>U_t</a:t>
                </a:r>
                <a:r>
                  <a:rPr lang="zh-CN" altLang="en-US" dirty="0" smtClean="0"/>
                  <a:t>是什么。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那该怎么样评估当前的形势呢？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我们可以对</a:t>
                </a:r>
                <a:r>
                  <a:rPr lang="en-US" altLang="zh-CN" dirty="0" err="1" smtClean="0"/>
                  <a:t>U_t</a:t>
                </a:r>
                <a:r>
                  <a:rPr lang="zh-CN" altLang="en-US" dirty="0" smtClean="0"/>
                  <a:t>求期望，把里面的随机性都用积分给积掉，得到的就是个实数。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</a:t>
                </a:r>
              </a:p>
              <a:p>
                <a:r>
                  <a:rPr lang="zh-CN" altLang="en-US" dirty="0" smtClean="0"/>
                  <a:t>打个比方，虽然抛硬币之前你不知道会得到什么，但是你知道正反面各有一半的概率。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如果正面记做</a:t>
                </a:r>
                <a:r>
                  <a:rPr lang="en-US" altLang="zh-CN" dirty="0" smtClean="0"/>
                  <a:t>1</a:t>
                </a:r>
                <a:r>
                  <a:rPr lang="zh-CN" altLang="en-US" dirty="0" smtClean="0"/>
                  <a:t>，背面记做</a:t>
                </a:r>
                <a:r>
                  <a:rPr lang="en-US" altLang="zh-CN" dirty="0" smtClean="0"/>
                  <a:t>0</a:t>
                </a:r>
                <a:r>
                  <a:rPr lang="zh-CN" altLang="en-US" dirty="0" smtClean="0"/>
                  <a:t>，得到的期望就是</a:t>
                </a:r>
                <a:r>
                  <a:rPr lang="en-US" altLang="zh-CN" dirty="0" smtClean="0"/>
                  <a:t>0.5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同样的道理，对随机变量</a:t>
                </a:r>
                <a:r>
                  <a:rPr lang="en-US" altLang="zh-CN" dirty="0" err="1" smtClean="0"/>
                  <a:t>U_t</a:t>
                </a:r>
                <a:r>
                  <a:rPr lang="zh-CN" altLang="en-US" dirty="0" smtClean="0"/>
                  <a:t>求期望，就可以得到一个数，记做是</a:t>
                </a:r>
                <a:r>
                  <a:rPr lang="en-US" altLang="zh-CN" dirty="0" smtClean="0"/>
                  <a:t>Q_{\pi}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-------</a:t>
                </a:r>
              </a:p>
              <a:p>
                <a:r>
                  <a:rPr lang="zh-CN" altLang="en-US" dirty="0" smtClean="0"/>
                  <a:t>这个期望是怎么求的呢？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把</a:t>
                </a:r>
                <a:r>
                  <a:rPr lang="en-US" altLang="zh-CN" dirty="0" smtClean="0"/>
                  <a:t>U_T</a:t>
                </a:r>
                <a:r>
                  <a:rPr lang="zh-CN" altLang="en-US" dirty="0" smtClean="0"/>
                  <a:t>当初未来所有的动作</a:t>
                </a:r>
                <a:r>
                  <a:rPr lang="en-US" altLang="zh-CN" dirty="0" smtClean="0"/>
                  <a:t>a</a:t>
                </a:r>
                <a:r>
                  <a:rPr lang="zh-CN" altLang="en-US" dirty="0" smtClean="0"/>
                  <a:t>和所有状态</a:t>
                </a:r>
                <a:r>
                  <a:rPr lang="en-US" altLang="zh-CN" dirty="0" smtClean="0"/>
                  <a:t>s</a:t>
                </a:r>
                <a:r>
                  <a:rPr lang="zh-CN" altLang="en-US" dirty="0" smtClean="0"/>
                  <a:t>的一个函数。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未来的动作</a:t>
                </a:r>
                <a:r>
                  <a:rPr lang="en-US" altLang="zh-CN" dirty="0" smtClean="0"/>
                  <a:t>a</a:t>
                </a:r>
                <a:r>
                  <a:rPr lang="zh-CN" altLang="en-US" dirty="0" smtClean="0"/>
                  <a:t>和状态</a:t>
                </a:r>
                <a:r>
                  <a:rPr lang="en-US" altLang="zh-CN" dirty="0" smtClean="0"/>
                  <a:t>s</a:t>
                </a:r>
                <a:r>
                  <a:rPr lang="zh-CN" altLang="en-US" dirty="0" smtClean="0"/>
                  <a:t>都有随机性。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动作是根据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altLang="zh-CN" dirty="0" smtClean="0"/>
                  <a:t>pi</a:t>
                </a:r>
                <a:r>
                  <a:rPr lang="zh-CN" altLang="en-US" dirty="0" smtClean="0"/>
                  <a:t>随机抽样的；状态是根据状态转移函数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随机抽样的。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-------</a:t>
                </a:r>
              </a:p>
              <a:p>
                <a:r>
                  <a:rPr lang="zh-CN" altLang="en-US" dirty="0" smtClean="0"/>
                  <a:t>期望就是对这些随机变量求的，把这些随机变量都用积分</a:t>
                </a:r>
                <a:r>
                  <a:rPr lang="zh-CN" altLang="en-US" baseline="0" dirty="0" smtClean="0"/>
                  <a:t> 积掉。</a:t>
                </a:r>
                <a:endParaRPr lang="en-US" altLang="zh-CN" baseline="0" dirty="0" smtClean="0"/>
              </a:p>
              <a:p>
                <a:r>
                  <a:rPr lang="zh-CN" altLang="en-US" baseline="0" dirty="0" smtClean="0"/>
                  <a:t>除了</a:t>
                </a:r>
                <a:r>
                  <a:rPr lang="en-US" altLang="zh-CN" baseline="0" dirty="0" err="1" smtClean="0"/>
                  <a:t>s_t</a:t>
                </a:r>
                <a:r>
                  <a:rPr lang="zh-CN" altLang="en-US" baseline="0" dirty="0" smtClean="0"/>
                  <a:t>和</a:t>
                </a:r>
                <a:r>
                  <a:rPr lang="en-US" altLang="zh-CN" baseline="0" dirty="0" err="1" smtClean="0"/>
                  <a:t>a_t</a:t>
                </a:r>
                <a:r>
                  <a:rPr lang="zh-CN" altLang="en-US" baseline="0" dirty="0" smtClean="0"/>
                  <a:t>，其余的随机变量都被积掉了。</a:t>
                </a:r>
                <a:endParaRPr lang="en-US" altLang="zh-CN" baseline="0" dirty="0" smtClean="0"/>
              </a:p>
              <a:p>
                <a:r>
                  <a:rPr lang="zh-CN" altLang="en-US" baseline="0" dirty="0" smtClean="0"/>
                  <a:t>被积掉的随机变量是</a:t>
                </a:r>
                <a:r>
                  <a:rPr lang="en-US" altLang="zh-CN" sz="1200" i="0">
                    <a:solidFill>
                      <a:srgbClr val="FF0000"/>
                    </a:solidFill>
                    <a:latin typeface="Cambria Math" charset="0"/>
                  </a:rPr>
                  <a:t>𝑎</a:t>
                </a:r>
                <a:r>
                  <a:rPr lang="en-US" altLang="zh-CN" sz="1200" i="0" smtClean="0">
                    <a:solidFill>
                      <a:srgbClr val="FF0000"/>
                    </a:solidFill>
                    <a:latin typeface="Cambria Math" charset="0"/>
                  </a:rPr>
                  <a:t>_(</a:t>
                </a:r>
                <a:r>
                  <a:rPr lang="en-US" altLang="zh-CN" sz="1200" i="0">
                    <a:solidFill>
                      <a:srgbClr val="FF0000"/>
                    </a:solidFill>
                    <a:latin typeface="Cambria Math" charset="0"/>
                  </a:rPr>
                  <a:t>𝑡+1</a:t>
                </a:r>
                <a:r>
                  <a:rPr lang="en-US" altLang="zh-CN" sz="1200" i="0" smtClean="0">
                    <a:solidFill>
                      <a:srgbClr val="FF0000"/>
                    </a:solidFill>
                    <a:latin typeface="Cambria Math" charset="0"/>
                  </a:rPr>
                  <a:t>)</a:t>
                </a:r>
                <a:r>
                  <a:rPr lang="en-US" altLang="zh-CN" sz="1200" i="0">
                    <a:latin typeface="Cambria Math" charset="0"/>
                  </a:rPr>
                  <a:t>,</a:t>
                </a:r>
                <a:r>
                  <a:rPr lang="zh-CN" altLang="en-US" sz="1200" i="0">
                    <a:latin typeface="Cambria Math" charset="0"/>
                  </a:rPr>
                  <a:t> </a:t>
                </a:r>
                <a:r>
                  <a:rPr lang="en-US" altLang="zh-CN" sz="1200" i="0">
                    <a:solidFill>
                      <a:srgbClr val="FF0000"/>
                    </a:solidFill>
                    <a:latin typeface="Cambria Math" charset="0"/>
                  </a:rPr>
                  <a:t>𝑎_(𝑡+2)</a:t>
                </a:r>
                <a:r>
                  <a:rPr lang="en-US" altLang="zh-CN" sz="1200" i="0">
                    <a:latin typeface="Cambria Math" charset="0"/>
                  </a:rPr>
                  <a:t>,</a:t>
                </a:r>
                <a:r>
                  <a:rPr lang="zh-CN" altLang="en-US" sz="1200" i="0">
                    <a:latin typeface="Cambria Math" charset="0"/>
                  </a:rPr>
                  <a:t> </a:t>
                </a:r>
                <a:r>
                  <a:rPr lang="en-US" altLang="zh-CN" sz="1200" i="0">
                    <a:solidFill>
                      <a:srgbClr val="FF0000"/>
                    </a:solidFill>
                    <a:latin typeface="Cambria Math" charset="0"/>
                  </a:rPr>
                  <a:t>𝑎_(𝑡+3)</a:t>
                </a:r>
                <a:r>
                  <a:rPr lang="zh-CN" altLang="en-US" dirty="0" smtClean="0"/>
                  <a:t>等动作、以及</a:t>
                </a:r>
                <a:r>
                  <a:rPr lang="en-US" altLang="zh-CN" sz="1200" i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𝑠</a:t>
                </a:r>
                <a:r>
                  <a:rPr lang="en-US" altLang="zh-CN" sz="1200" i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_(</a:t>
                </a:r>
                <a:r>
                  <a:rPr lang="en-US" altLang="zh-CN" sz="1200" i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𝑡+1</a:t>
                </a:r>
                <a:r>
                  <a:rPr lang="en-US" altLang="zh-CN" sz="1200" i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)</a:t>
                </a:r>
                <a:r>
                  <a:rPr lang="en-US" altLang="zh-CN" sz="1200" i="0">
                    <a:latin typeface="Cambria Math" charset="0"/>
                  </a:rPr>
                  <a:t>,</a:t>
                </a:r>
                <a:r>
                  <a:rPr lang="zh-CN" altLang="en-US" sz="1200" i="0">
                    <a:latin typeface="Cambria Math" charset="0"/>
                  </a:rPr>
                  <a:t> </a:t>
                </a:r>
                <a:r>
                  <a:rPr lang="en-US" altLang="zh-CN" sz="1200" i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𝑠_(𝑡+2)</a:t>
                </a:r>
                <a:r>
                  <a:rPr lang="en-US" altLang="zh-CN" sz="1200" i="0">
                    <a:latin typeface="Cambria Math" charset="0"/>
                  </a:rPr>
                  <a:t>,</a:t>
                </a:r>
                <a:r>
                  <a:rPr lang="zh-CN" altLang="en-US" sz="1200" i="0">
                    <a:latin typeface="Cambria Math" charset="0"/>
                  </a:rPr>
                  <a:t> </a:t>
                </a:r>
                <a:r>
                  <a:rPr lang="en-US" altLang="zh-CN" sz="1200" i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𝑠_(𝑡+3)</a:t>
                </a:r>
                <a:r>
                  <a:rPr lang="zh-CN" altLang="en-US" dirty="0" smtClean="0"/>
                  <a:t>等状态。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------------------------------------</a:t>
                </a:r>
              </a:p>
              <a:p>
                <a:r>
                  <a:rPr lang="zh-CN" altLang="en-US" dirty="0" smtClean="0"/>
                  <a:t>积分得到的函数</a:t>
                </a:r>
                <a:r>
                  <a:rPr lang="en-US" i="0">
                    <a:latin typeface="Cambria Math" charset="0"/>
                  </a:rPr>
                  <a:t>𝑄</a:t>
                </a:r>
                <a:r>
                  <a:rPr lang="en-US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被称为</a:t>
                </a:r>
                <a:r>
                  <a:rPr lang="en-US" altLang="zh-CN" dirty="0" smtClean="0"/>
                  <a:t>action-value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function</a:t>
                </a:r>
                <a:r>
                  <a:rPr lang="zh-CN" altLang="en-US" dirty="0" smtClean="0"/>
                  <a:t>，动作价值函数。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函数</a:t>
                </a:r>
                <a:r>
                  <a:rPr lang="en-US" i="0">
                    <a:latin typeface="Cambria Math" charset="0"/>
                  </a:rPr>
                  <a:t>𝑄</a:t>
                </a:r>
                <a:r>
                  <a:rPr lang="en-US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跟当前状态</a:t>
                </a:r>
                <a:r>
                  <a:rPr lang="en-US" altLang="zh-CN" dirty="0" err="1" smtClean="0"/>
                  <a:t>s_t</a:t>
                </a:r>
                <a:r>
                  <a:rPr lang="zh-CN" altLang="en-US" dirty="0" smtClean="0"/>
                  <a:t>、动作</a:t>
                </a:r>
                <a:r>
                  <a:rPr lang="en-US" altLang="zh-CN" dirty="0" err="1" smtClean="0"/>
                  <a:t>a_t</a:t>
                </a:r>
                <a:r>
                  <a:rPr lang="zh-CN" altLang="en-US" dirty="0" smtClean="0"/>
                  <a:t>有关。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为什么呢？因为这两个变量没有被积分积掉；他们后面的状态和动作都被积掉了。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</a:t>
                </a:r>
              </a:p>
              <a:p>
                <a:r>
                  <a:rPr lang="zh-CN" altLang="en-US" dirty="0" smtClean="0"/>
                  <a:t>函数</a:t>
                </a:r>
                <a:r>
                  <a:rPr lang="en-US" i="0">
                    <a:latin typeface="Cambria Math" charset="0"/>
                  </a:rPr>
                  <a:t>𝑄</a:t>
                </a:r>
                <a:r>
                  <a:rPr lang="en-US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还跟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altLang="zh-CN" dirty="0" smtClean="0"/>
                  <a:t>pi</a:t>
                </a:r>
                <a:r>
                  <a:rPr lang="zh-CN" altLang="en-US" dirty="0" smtClean="0"/>
                  <a:t>有关。为什么呢？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因为积分的时候会用到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如果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altLang="zh-CN" dirty="0" smtClean="0"/>
                  <a:t>pi</a:t>
                </a:r>
                <a:r>
                  <a:rPr lang="zh-CN" altLang="en-US" dirty="0" smtClean="0"/>
                  <a:t>不一样，积分得到的</a:t>
                </a:r>
                <a:r>
                  <a:rPr lang="zh-CN" altLang="en-US" dirty="0" smtClean="0"/>
                  <a:t>函数</a:t>
                </a:r>
                <a:r>
                  <a:rPr lang="en-US" i="0">
                    <a:latin typeface="Cambria Math" charset="0"/>
                  </a:rPr>
                  <a:t>𝑄</a:t>
                </a:r>
                <a:r>
                  <a:rPr lang="en-US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就不一样。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--------------------------------</a:t>
                </a:r>
              </a:p>
              <a:p>
                <a:r>
                  <a:rPr lang="zh-CN" altLang="en-US" dirty="0" smtClean="0"/>
                  <a:t>动作价值函数</a:t>
                </a:r>
                <a:r>
                  <a:rPr lang="en-US" altLang="zh-CN" dirty="0" smtClean="0"/>
                  <a:t>action-value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function</a:t>
                </a:r>
                <a:r>
                  <a:rPr lang="zh-CN" altLang="en-US" dirty="0" smtClean="0"/>
                  <a:t>有什么直观意义呢？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函数</a:t>
                </a:r>
                <a:r>
                  <a:rPr lang="en-US" i="0">
                    <a:latin typeface="Cambria Math" charset="0"/>
                  </a:rPr>
                  <a:t>𝑄</a:t>
                </a:r>
                <a:r>
                  <a:rPr lang="en-US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告诉我们，如果用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altLang="zh-CN" dirty="0" smtClean="0"/>
                  <a:t>pi</a:t>
                </a:r>
                <a:r>
                  <a:rPr lang="zh-CN" altLang="en-US" dirty="0" smtClean="0"/>
                  <a:t>，那么在</a:t>
                </a:r>
                <a:r>
                  <a:rPr lang="en-US" altLang="zh-CN" dirty="0" err="1" smtClean="0"/>
                  <a:t>s_t</a:t>
                </a:r>
                <a:r>
                  <a:rPr lang="zh-CN" altLang="en-US" dirty="0" smtClean="0"/>
                  <a:t>这个状态下，做动作</a:t>
                </a:r>
                <a:r>
                  <a:rPr lang="en-US" altLang="zh-CN" dirty="0" err="1" smtClean="0"/>
                  <a:t>a_t</a:t>
                </a:r>
                <a:r>
                  <a:rPr lang="zh-CN" altLang="en-US" dirty="0" smtClean="0"/>
                  <a:t>是好还是坏。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比如说，如果用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函数来操纵超级玛丽做出了一系列动作，那么</a:t>
                </a:r>
                <a:r>
                  <a:rPr lang="zh-CN" altLang="en-US" dirty="0" smtClean="0"/>
                  <a:t>函数</a:t>
                </a:r>
                <a:r>
                  <a:rPr lang="en-US" i="0">
                    <a:latin typeface="Cambria Math" charset="0"/>
                  </a:rPr>
                  <a:t>𝑄</a:t>
                </a:r>
                <a:r>
                  <a:rPr lang="en-US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就可以告诉我们这个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函数玩游戏的水平是高还是低。</a:t>
                </a:r>
                <a:endParaRPr lang="en-US" altLang="zh-CN" dirty="0" smtClean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817173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depends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on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current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state</a:t>
                </a:r>
                <a:r>
                  <a:rPr lang="zh-CN" altLang="en-US" sz="16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and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action</a:t>
                </a:r>
                <a:r>
                  <a:rPr lang="zh-CN" altLang="en-US" sz="1600" baseline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1600" baseline="0" dirty="0" smtClean="0"/>
                  <a:t>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/>
                  <a:t>This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because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regard</a:t>
                </a:r>
                <a:r>
                  <a:rPr lang="zh-CN" altLang="en-US" sz="1600" baseline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and</a:t>
                </a:r>
                <a:r>
                  <a:rPr lang="zh-CN" altLang="en-US" sz="1600" baseline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observed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values.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/>
                  <a:t>They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not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eliminated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expectation.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/>
                  <a:t>---------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baseline="0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baseline="0" smtClean="0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altLang="zh-CN" sz="1600" b="0" i="1" baseline="0" smtClean="0">
                            <a:latin typeface="Cambria Math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tells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us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that given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current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state</a:t>
                </a:r>
                <a:r>
                  <a:rPr lang="zh-CN" altLang="en-US" sz="1600" baseline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en-US" sz="1600" i="1">
                        <a:latin typeface="Cambria Math" charset="0"/>
                      </a:rPr>
                      <m:t>,</m:t>
                    </m:r>
                  </m:oMath>
                </a14:m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how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good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take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action</a:t>
                </a:r>
                <a:r>
                  <a:rPr lang="zh-CN" altLang="en-US" sz="1600" baseline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1600" baseline="0" dirty="0" smtClean="0"/>
                  <a:t>.</a:t>
                </a:r>
              </a:p>
              <a:p>
                <a:r>
                  <a:rPr lang="en-US" altLang="zh-CN" sz="1600" baseline="0" dirty="0" smtClean="0"/>
                  <a:t>Sometimes,</a:t>
                </a:r>
                <a:r>
                  <a:rPr lang="zh-CN" altLang="en-US" sz="1600" baseline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baseline="0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baseline="0" smtClean="0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altLang="zh-CN" sz="1600" b="0" i="1" baseline="0" smtClean="0">
                            <a:latin typeface="Cambria Math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called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“critic”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because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evaluates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how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good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agent’s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performance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is.</a:t>
                </a:r>
              </a:p>
              <a:p>
                <a:endParaRPr lang="en-US" altLang="zh-CN" sz="1600" baseline="0" dirty="0" smtClean="0"/>
              </a:p>
              <a:p>
                <a:endParaRPr lang="en-US" altLang="zh-CN" sz="1600" baseline="0" dirty="0" smtClean="0"/>
              </a:p>
              <a:p>
                <a:endParaRPr lang="en-US" altLang="zh-CN" sz="1600" dirty="0" smtClean="0"/>
              </a:p>
              <a:p>
                <a:r>
                  <a:rPr lang="en-US" altLang="zh-CN" sz="1600" dirty="0" smtClean="0"/>
                  <a:t>action-value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function</a:t>
                </a:r>
                <a:r>
                  <a:rPr lang="zh-CN" altLang="en-US" sz="1600" dirty="0" smtClean="0"/>
                  <a:t>动作价值函数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有什么直观意义呢？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函数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告诉我们，如果用</a:t>
                </a:r>
                <a:r>
                  <a:rPr lang="en-US" altLang="zh-CN" sz="1600" dirty="0" smtClean="0"/>
                  <a:t>policy</a:t>
                </a:r>
                <a:r>
                  <a:rPr lang="zh-CN" altLang="en-US" sz="1600" dirty="0" smtClean="0"/>
                  <a:t>函数</a:t>
                </a:r>
                <a:r>
                  <a:rPr lang="en-US" altLang="zh-CN" sz="1600" dirty="0" smtClean="0"/>
                  <a:t>pi</a:t>
                </a:r>
                <a:r>
                  <a:rPr lang="zh-CN" altLang="en-US" sz="1600" dirty="0" smtClean="0"/>
                  <a:t>，那么在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这个状态下，做动作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是好还是坏。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已知</a:t>
                </a:r>
                <a:r>
                  <a:rPr lang="en-US" altLang="zh-CN" sz="1600" dirty="0" smtClean="0"/>
                  <a:t>policy</a:t>
                </a:r>
                <a:r>
                  <a:rPr lang="zh-CN" altLang="en-US" sz="1600" dirty="0" smtClean="0"/>
                  <a:t>函数</a:t>
                </a:r>
                <a:r>
                  <a:rPr lang="en-US" altLang="zh-CN" sz="1600" dirty="0" smtClean="0"/>
                  <a:t>pi</a:t>
                </a:r>
                <a:r>
                  <a:rPr lang="zh-CN" altLang="en-US" sz="1600" dirty="0" smtClean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就会给当前状态下 所有的 动作</a:t>
                </a:r>
                <a:r>
                  <a:rPr lang="en-US" altLang="zh-CN" sz="1600" dirty="0" smtClean="0"/>
                  <a:t>a</a:t>
                </a:r>
                <a:r>
                  <a:rPr lang="zh-CN" altLang="en-US" sz="1600" dirty="0" smtClean="0"/>
                  <a:t> 打分</a:t>
                </a:r>
                <a:r>
                  <a:rPr lang="en-US" altLang="zh-CN" sz="1600" dirty="0" smtClean="0"/>
                  <a:t>;</a:t>
                </a:r>
              </a:p>
              <a:p>
                <a:r>
                  <a:rPr lang="zh-CN" altLang="en-US" sz="1600" dirty="0" smtClean="0"/>
                  <a:t>然后我就知道哪个动作好、哪个动作不好。</a:t>
                </a:r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dirty="0" err="1" smtClean="0"/>
                  <a:t>U_t</a:t>
                </a:r>
                <a:r>
                  <a:rPr lang="zh-CN" altLang="en-US" dirty="0" smtClean="0"/>
                  <a:t>是个随机变量，在</a:t>
                </a:r>
                <a:r>
                  <a:rPr lang="en-US" altLang="zh-CN" dirty="0" smtClean="0"/>
                  <a:t>t</a:t>
                </a:r>
                <a:r>
                  <a:rPr lang="zh-CN" altLang="en-US" dirty="0" smtClean="0"/>
                  <a:t>时刻我不知道</a:t>
                </a:r>
                <a:r>
                  <a:rPr lang="en-US" altLang="zh-CN" dirty="0" err="1" smtClean="0"/>
                  <a:t>U_t</a:t>
                </a:r>
                <a:r>
                  <a:rPr lang="zh-CN" altLang="en-US" dirty="0" smtClean="0"/>
                  <a:t>是什么。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那该怎么样评估当前的形势呢？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我们可以对</a:t>
                </a:r>
                <a:r>
                  <a:rPr lang="en-US" altLang="zh-CN" dirty="0" err="1" smtClean="0"/>
                  <a:t>U_t</a:t>
                </a:r>
                <a:r>
                  <a:rPr lang="zh-CN" altLang="en-US" dirty="0" smtClean="0"/>
                  <a:t>求期望，把里面的随机性都用积分给积掉，得到的就是个实数。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</a:t>
                </a:r>
              </a:p>
              <a:p>
                <a:r>
                  <a:rPr lang="zh-CN" altLang="en-US" dirty="0" smtClean="0"/>
                  <a:t>打个比方，虽然抛硬币之前你不知道会得到什么，但是你知道正反面各有一半的概率。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如果正面记做</a:t>
                </a:r>
                <a:r>
                  <a:rPr lang="en-US" altLang="zh-CN" dirty="0" smtClean="0"/>
                  <a:t>1</a:t>
                </a:r>
                <a:r>
                  <a:rPr lang="zh-CN" altLang="en-US" dirty="0" smtClean="0"/>
                  <a:t>，背面记做</a:t>
                </a:r>
                <a:r>
                  <a:rPr lang="en-US" altLang="zh-CN" dirty="0" smtClean="0"/>
                  <a:t>0</a:t>
                </a:r>
                <a:r>
                  <a:rPr lang="zh-CN" altLang="en-US" dirty="0" smtClean="0"/>
                  <a:t>，得到的期望就是</a:t>
                </a:r>
                <a:r>
                  <a:rPr lang="en-US" altLang="zh-CN" dirty="0" smtClean="0"/>
                  <a:t>0.5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同样的道理，对随机变量</a:t>
                </a:r>
                <a:r>
                  <a:rPr lang="en-US" altLang="zh-CN" dirty="0" err="1" smtClean="0"/>
                  <a:t>U_t</a:t>
                </a:r>
                <a:r>
                  <a:rPr lang="zh-CN" altLang="en-US" dirty="0" smtClean="0"/>
                  <a:t>求期望，就可以得到一个数，记做是</a:t>
                </a:r>
                <a:r>
                  <a:rPr lang="en-US" altLang="zh-CN" dirty="0" smtClean="0"/>
                  <a:t>Q_{\pi}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-------</a:t>
                </a:r>
              </a:p>
              <a:p>
                <a:r>
                  <a:rPr lang="zh-CN" altLang="en-US" dirty="0" smtClean="0"/>
                  <a:t>这个期望是怎么求的呢？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把</a:t>
                </a:r>
                <a:r>
                  <a:rPr lang="en-US" altLang="zh-CN" dirty="0" smtClean="0"/>
                  <a:t>U_T</a:t>
                </a:r>
                <a:r>
                  <a:rPr lang="zh-CN" altLang="en-US" dirty="0" smtClean="0"/>
                  <a:t>当初未来所有的动作</a:t>
                </a:r>
                <a:r>
                  <a:rPr lang="en-US" altLang="zh-CN" dirty="0" smtClean="0"/>
                  <a:t>a</a:t>
                </a:r>
                <a:r>
                  <a:rPr lang="zh-CN" altLang="en-US" dirty="0" smtClean="0"/>
                  <a:t>和所有状态</a:t>
                </a:r>
                <a:r>
                  <a:rPr lang="en-US" altLang="zh-CN" dirty="0" smtClean="0"/>
                  <a:t>s</a:t>
                </a:r>
                <a:r>
                  <a:rPr lang="zh-CN" altLang="en-US" dirty="0" smtClean="0"/>
                  <a:t>的一个函数。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未来的动作</a:t>
                </a:r>
                <a:r>
                  <a:rPr lang="en-US" altLang="zh-CN" dirty="0" smtClean="0"/>
                  <a:t>a</a:t>
                </a:r>
                <a:r>
                  <a:rPr lang="zh-CN" altLang="en-US" dirty="0" smtClean="0"/>
                  <a:t>和状态</a:t>
                </a:r>
                <a:r>
                  <a:rPr lang="en-US" altLang="zh-CN" dirty="0" smtClean="0"/>
                  <a:t>s</a:t>
                </a:r>
                <a:r>
                  <a:rPr lang="zh-CN" altLang="en-US" dirty="0" smtClean="0"/>
                  <a:t>都有随机性。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动作是根据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altLang="zh-CN" dirty="0" smtClean="0"/>
                  <a:t>pi</a:t>
                </a:r>
                <a:r>
                  <a:rPr lang="zh-CN" altLang="en-US" dirty="0" smtClean="0"/>
                  <a:t>随机抽样的；状态是根据状态转移函数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随机抽样的。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-------</a:t>
                </a:r>
              </a:p>
              <a:p>
                <a:r>
                  <a:rPr lang="zh-CN" altLang="en-US" dirty="0" smtClean="0"/>
                  <a:t>期望就是对这些随机变量求的，把这些随机变量都用积分</a:t>
                </a:r>
                <a:r>
                  <a:rPr lang="zh-CN" altLang="en-US" baseline="0" dirty="0" smtClean="0"/>
                  <a:t> 积掉。</a:t>
                </a:r>
                <a:endParaRPr lang="en-US" altLang="zh-CN" baseline="0" dirty="0" smtClean="0"/>
              </a:p>
              <a:p>
                <a:r>
                  <a:rPr lang="zh-CN" altLang="en-US" baseline="0" dirty="0" smtClean="0"/>
                  <a:t>除了</a:t>
                </a:r>
                <a:r>
                  <a:rPr lang="en-US" altLang="zh-CN" baseline="0" dirty="0" err="1" smtClean="0"/>
                  <a:t>s_t</a:t>
                </a:r>
                <a:r>
                  <a:rPr lang="zh-CN" altLang="en-US" baseline="0" dirty="0" smtClean="0"/>
                  <a:t>和</a:t>
                </a:r>
                <a:r>
                  <a:rPr lang="en-US" altLang="zh-CN" baseline="0" dirty="0" err="1" smtClean="0"/>
                  <a:t>a_t</a:t>
                </a:r>
                <a:r>
                  <a:rPr lang="zh-CN" altLang="en-US" baseline="0" dirty="0" smtClean="0"/>
                  <a:t>，其余的随机变量都被积掉了。</a:t>
                </a:r>
                <a:endParaRPr lang="en-US" altLang="zh-CN" baseline="0" dirty="0" smtClean="0"/>
              </a:p>
              <a:p>
                <a:r>
                  <a:rPr lang="zh-CN" altLang="en-US" baseline="0" dirty="0" smtClean="0"/>
                  <a:t>被积掉的随机变量是</a:t>
                </a:r>
                <a:r>
                  <a:rPr lang="en-US" altLang="zh-CN" sz="1200" i="0">
                    <a:solidFill>
                      <a:srgbClr val="FF0000"/>
                    </a:solidFill>
                    <a:latin typeface="Cambria Math" charset="0"/>
                  </a:rPr>
                  <a:t>𝑎</a:t>
                </a:r>
                <a:r>
                  <a:rPr lang="en-US" altLang="zh-CN" sz="1200" i="0" smtClean="0">
                    <a:solidFill>
                      <a:srgbClr val="FF0000"/>
                    </a:solidFill>
                    <a:latin typeface="Cambria Math" charset="0"/>
                  </a:rPr>
                  <a:t>_(</a:t>
                </a:r>
                <a:r>
                  <a:rPr lang="en-US" altLang="zh-CN" sz="1200" i="0">
                    <a:solidFill>
                      <a:srgbClr val="FF0000"/>
                    </a:solidFill>
                    <a:latin typeface="Cambria Math" charset="0"/>
                  </a:rPr>
                  <a:t>𝑡+1</a:t>
                </a:r>
                <a:r>
                  <a:rPr lang="en-US" altLang="zh-CN" sz="1200" i="0" smtClean="0">
                    <a:solidFill>
                      <a:srgbClr val="FF0000"/>
                    </a:solidFill>
                    <a:latin typeface="Cambria Math" charset="0"/>
                  </a:rPr>
                  <a:t>)</a:t>
                </a:r>
                <a:r>
                  <a:rPr lang="en-US" altLang="zh-CN" sz="1200" i="0">
                    <a:latin typeface="Cambria Math" charset="0"/>
                  </a:rPr>
                  <a:t>,</a:t>
                </a:r>
                <a:r>
                  <a:rPr lang="zh-CN" altLang="en-US" sz="1200" i="0">
                    <a:latin typeface="Cambria Math" charset="0"/>
                  </a:rPr>
                  <a:t> </a:t>
                </a:r>
                <a:r>
                  <a:rPr lang="en-US" altLang="zh-CN" sz="1200" i="0">
                    <a:solidFill>
                      <a:srgbClr val="FF0000"/>
                    </a:solidFill>
                    <a:latin typeface="Cambria Math" charset="0"/>
                  </a:rPr>
                  <a:t>𝑎_(𝑡+2)</a:t>
                </a:r>
                <a:r>
                  <a:rPr lang="en-US" altLang="zh-CN" sz="1200" i="0">
                    <a:latin typeface="Cambria Math" charset="0"/>
                  </a:rPr>
                  <a:t>,</a:t>
                </a:r>
                <a:r>
                  <a:rPr lang="zh-CN" altLang="en-US" sz="1200" i="0">
                    <a:latin typeface="Cambria Math" charset="0"/>
                  </a:rPr>
                  <a:t> </a:t>
                </a:r>
                <a:r>
                  <a:rPr lang="en-US" altLang="zh-CN" sz="1200" i="0">
                    <a:solidFill>
                      <a:srgbClr val="FF0000"/>
                    </a:solidFill>
                    <a:latin typeface="Cambria Math" charset="0"/>
                  </a:rPr>
                  <a:t>𝑎_(𝑡+3)</a:t>
                </a:r>
                <a:r>
                  <a:rPr lang="zh-CN" altLang="en-US" dirty="0" smtClean="0"/>
                  <a:t>等动作、以及</a:t>
                </a:r>
                <a:r>
                  <a:rPr lang="en-US" altLang="zh-CN" sz="1200" i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𝑠</a:t>
                </a:r>
                <a:r>
                  <a:rPr lang="en-US" altLang="zh-CN" sz="1200" i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_(</a:t>
                </a:r>
                <a:r>
                  <a:rPr lang="en-US" altLang="zh-CN" sz="1200" i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𝑡+1</a:t>
                </a:r>
                <a:r>
                  <a:rPr lang="en-US" altLang="zh-CN" sz="1200" i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)</a:t>
                </a:r>
                <a:r>
                  <a:rPr lang="en-US" altLang="zh-CN" sz="1200" i="0">
                    <a:latin typeface="Cambria Math" charset="0"/>
                  </a:rPr>
                  <a:t>,</a:t>
                </a:r>
                <a:r>
                  <a:rPr lang="zh-CN" altLang="en-US" sz="1200" i="0">
                    <a:latin typeface="Cambria Math" charset="0"/>
                  </a:rPr>
                  <a:t> </a:t>
                </a:r>
                <a:r>
                  <a:rPr lang="en-US" altLang="zh-CN" sz="1200" i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𝑠_(𝑡+2)</a:t>
                </a:r>
                <a:r>
                  <a:rPr lang="en-US" altLang="zh-CN" sz="1200" i="0">
                    <a:latin typeface="Cambria Math" charset="0"/>
                  </a:rPr>
                  <a:t>,</a:t>
                </a:r>
                <a:r>
                  <a:rPr lang="zh-CN" altLang="en-US" sz="1200" i="0">
                    <a:latin typeface="Cambria Math" charset="0"/>
                  </a:rPr>
                  <a:t> </a:t>
                </a:r>
                <a:r>
                  <a:rPr lang="en-US" altLang="zh-CN" sz="1200" i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𝑠_(𝑡+3)</a:t>
                </a:r>
                <a:r>
                  <a:rPr lang="zh-CN" altLang="en-US" dirty="0" smtClean="0"/>
                  <a:t>等状态。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------------------------------------</a:t>
                </a:r>
              </a:p>
              <a:p>
                <a:r>
                  <a:rPr lang="zh-CN" altLang="en-US" dirty="0" smtClean="0"/>
                  <a:t>积分得到的函数</a:t>
                </a:r>
                <a:r>
                  <a:rPr lang="en-US" i="0">
                    <a:latin typeface="Cambria Math" charset="0"/>
                  </a:rPr>
                  <a:t>𝑄</a:t>
                </a:r>
                <a:r>
                  <a:rPr lang="en-US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被称为</a:t>
                </a:r>
                <a:r>
                  <a:rPr lang="en-US" altLang="zh-CN" dirty="0" smtClean="0"/>
                  <a:t>action-value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function</a:t>
                </a:r>
                <a:r>
                  <a:rPr lang="zh-CN" altLang="en-US" dirty="0" smtClean="0"/>
                  <a:t>，动作价值函数。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函数</a:t>
                </a:r>
                <a:r>
                  <a:rPr lang="en-US" i="0">
                    <a:latin typeface="Cambria Math" charset="0"/>
                  </a:rPr>
                  <a:t>𝑄</a:t>
                </a:r>
                <a:r>
                  <a:rPr lang="en-US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跟当前状态</a:t>
                </a:r>
                <a:r>
                  <a:rPr lang="en-US" altLang="zh-CN" dirty="0" err="1" smtClean="0"/>
                  <a:t>s_t</a:t>
                </a:r>
                <a:r>
                  <a:rPr lang="zh-CN" altLang="en-US" dirty="0" smtClean="0"/>
                  <a:t>、动作</a:t>
                </a:r>
                <a:r>
                  <a:rPr lang="en-US" altLang="zh-CN" dirty="0" err="1" smtClean="0"/>
                  <a:t>a_t</a:t>
                </a:r>
                <a:r>
                  <a:rPr lang="zh-CN" altLang="en-US" dirty="0" smtClean="0"/>
                  <a:t>有关。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为什么呢？因为这两个变量没有被积分积掉；他们后面的状态和动作都被积掉了。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</a:t>
                </a:r>
              </a:p>
              <a:p>
                <a:r>
                  <a:rPr lang="zh-CN" altLang="en-US" dirty="0" smtClean="0"/>
                  <a:t>函数</a:t>
                </a:r>
                <a:r>
                  <a:rPr lang="en-US" i="0">
                    <a:latin typeface="Cambria Math" charset="0"/>
                  </a:rPr>
                  <a:t>𝑄</a:t>
                </a:r>
                <a:r>
                  <a:rPr lang="en-US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还跟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altLang="zh-CN" dirty="0" smtClean="0"/>
                  <a:t>pi</a:t>
                </a:r>
                <a:r>
                  <a:rPr lang="zh-CN" altLang="en-US" dirty="0" smtClean="0"/>
                  <a:t>有关。为什么呢？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因为积分的时候会用到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如果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altLang="zh-CN" dirty="0" smtClean="0"/>
                  <a:t>pi</a:t>
                </a:r>
                <a:r>
                  <a:rPr lang="zh-CN" altLang="en-US" dirty="0" smtClean="0"/>
                  <a:t>不一样，积分得到的</a:t>
                </a:r>
                <a:r>
                  <a:rPr lang="zh-CN" altLang="en-US" dirty="0" smtClean="0"/>
                  <a:t>函数</a:t>
                </a:r>
                <a:r>
                  <a:rPr lang="en-US" i="0">
                    <a:latin typeface="Cambria Math" charset="0"/>
                  </a:rPr>
                  <a:t>𝑄</a:t>
                </a:r>
                <a:r>
                  <a:rPr lang="en-US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就不一样。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--------------------------------</a:t>
                </a:r>
              </a:p>
              <a:p>
                <a:r>
                  <a:rPr lang="zh-CN" altLang="en-US" dirty="0" smtClean="0"/>
                  <a:t>动作价值函数</a:t>
                </a:r>
                <a:r>
                  <a:rPr lang="en-US" altLang="zh-CN" dirty="0" smtClean="0"/>
                  <a:t>action-value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function</a:t>
                </a:r>
                <a:r>
                  <a:rPr lang="zh-CN" altLang="en-US" dirty="0" smtClean="0"/>
                  <a:t>有什么直观意义呢？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函数</a:t>
                </a:r>
                <a:r>
                  <a:rPr lang="en-US" i="0">
                    <a:latin typeface="Cambria Math" charset="0"/>
                  </a:rPr>
                  <a:t>𝑄</a:t>
                </a:r>
                <a:r>
                  <a:rPr lang="en-US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告诉我们，如果用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altLang="zh-CN" dirty="0" smtClean="0"/>
                  <a:t>pi</a:t>
                </a:r>
                <a:r>
                  <a:rPr lang="zh-CN" altLang="en-US" dirty="0" smtClean="0"/>
                  <a:t>，那么在</a:t>
                </a:r>
                <a:r>
                  <a:rPr lang="en-US" altLang="zh-CN" dirty="0" err="1" smtClean="0"/>
                  <a:t>s_t</a:t>
                </a:r>
                <a:r>
                  <a:rPr lang="zh-CN" altLang="en-US" dirty="0" smtClean="0"/>
                  <a:t>这个状态下，做动作</a:t>
                </a:r>
                <a:r>
                  <a:rPr lang="en-US" altLang="zh-CN" dirty="0" err="1" smtClean="0"/>
                  <a:t>a_t</a:t>
                </a:r>
                <a:r>
                  <a:rPr lang="zh-CN" altLang="en-US" dirty="0" smtClean="0"/>
                  <a:t>是好还是坏。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比如说，如果用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函数来操纵超级玛丽做出了一系列动作，那么</a:t>
                </a:r>
                <a:r>
                  <a:rPr lang="zh-CN" altLang="en-US" dirty="0" smtClean="0"/>
                  <a:t>函数</a:t>
                </a:r>
                <a:r>
                  <a:rPr lang="en-US" i="0">
                    <a:latin typeface="Cambria Math" charset="0"/>
                  </a:rPr>
                  <a:t>𝑄</a:t>
                </a:r>
                <a:r>
                  <a:rPr lang="en-US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就可以告诉我们这个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函数玩游戏的水平是高还是低。</a:t>
                </a:r>
                <a:endParaRPr lang="en-US" altLang="zh-CN" dirty="0" smtClean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720379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 smtClean="0"/>
                  <a:t>In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sum,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action-value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function</a:t>
                </a:r>
                <a:r>
                  <a:rPr lang="en-US" altLang="zh-CN" sz="1600" dirty="0" smtClean="0"/>
                  <a:t>,</a:t>
                </a:r>
                <a:r>
                  <a:rPr lang="zh-CN" altLang="en-US" sz="16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en-US" altLang="zh-CN" sz="1600" dirty="0" smtClean="0"/>
                  <a:t>,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depends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current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state</a:t>
                </a:r>
                <a:r>
                  <a:rPr lang="zh-CN" altLang="en-US" sz="1600" baseline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1600" dirty="0" smtClean="0"/>
                  <a:t>,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current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action</a:t>
                </a:r>
                <a:r>
                  <a:rPr lang="zh-CN" altLang="en-US" sz="16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1600" dirty="0" smtClean="0"/>
                  <a:t>,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policy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function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i="1" dirty="0" smtClean="0"/>
                  <a:t>π</a:t>
                </a:r>
                <a:r>
                  <a:rPr lang="en-US" altLang="zh-CN" sz="1600" dirty="0" smtClean="0"/>
                  <a:t>,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and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 </a:t>
                </a:r>
                <a:r>
                  <a:rPr lang="en-US" altLang="zh-CN" sz="1600" dirty="0" smtClean="0"/>
                  <a:t>state-transition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function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b="1" dirty="0" smtClean="0"/>
                  <a:t>p</a:t>
                </a:r>
                <a:r>
                  <a:rPr lang="en-US" altLang="zh-CN" sz="1600" dirty="0" smtClean="0"/>
                  <a:t>.</a:t>
                </a:r>
              </a:p>
              <a:p>
                <a:r>
                  <a:rPr lang="en-US" altLang="zh-CN" sz="1600" dirty="0" smtClean="0"/>
                  <a:t>========================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is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independent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of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future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states,</a:t>
                </a:r>
                <a:r>
                  <a:rPr lang="zh-CN" altLang="en-US" sz="16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𝑆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altLang="zh-CN" sz="16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+1</m:t>
                        </m:r>
                      </m:sub>
                    </m:sSub>
                    <m:r>
                      <a:rPr lang="en-US" altLang="zh-CN" sz="1600" i="1">
                        <a:latin typeface="Cambria Math" charset="0"/>
                      </a:rPr>
                      <m:t>,</m:t>
                    </m:r>
                    <m:r>
                      <a:rPr lang="zh-CN" altLang="en-US" sz="1600" i="1">
                        <a:latin typeface="Cambria Math" charset="0"/>
                      </a:rPr>
                      <m:t> </m:t>
                    </m:r>
                    <m:r>
                      <a:rPr lang="en-US" altLang="zh-CN" sz="16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charset="0"/>
                      </a:rPr>
                      <m:t>⋯</m:t>
                    </m:r>
                    <m:r>
                      <a:rPr lang="en-US" altLang="zh-CN" sz="1600" i="1"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𝑆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1600" dirty="0" smtClean="0"/>
                  <a:t>,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/>
                  <a:t>and</a:t>
                </a:r>
                <a:r>
                  <a:rPr lang="zh-CN" altLang="en-US" sz="1600" dirty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future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actions,</a:t>
                </a:r>
                <a:r>
                  <a:rPr lang="zh-CN" altLang="en-US" sz="16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+1</m:t>
                        </m:r>
                      </m:sub>
                    </m:sSub>
                    <m:r>
                      <a:rPr lang="en-US" altLang="zh-CN" sz="1600" i="1">
                        <a:latin typeface="Cambria Math" charset="0"/>
                      </a:rPr>
                      <m:t>,</m:t>
                    </m:r>
                    <m:r>
                      <a:rPr lang="zh-CN" altLang="en-US" sz="1600" i="1">
                        <a:latin typeface="Cambria Math" charset="0"/>
                      </a:rPr>
                      <m:t> </m:t>
                    </m:r>
                    <m:r>
                      <a:rPr lang="en-US" altLang="zh-CN" sz="1600" i="1">
                        <a:solidFill>
                          <a:srgbClr val="FF0000"/>
                        </a:solidFill>
                        <a:latin typeface="Cambria Math" charset="0"/>
                      </a:rPr>
                      <m:t>⋯</m:t>
                    </m:r>
                    <m:r>
                      <a:rPr lang="en-US" altLang="zh-CN" sz="1600" i="1"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1600" dirty="0" smtClean="0"/>
                  <a:t>.</a:t>
                </a:r>
              </a:p>
              <a:p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future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states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and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future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actions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are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eliminated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baseline="0" dirty="0" smtClean="0"/>
                  <a:t>by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expectation.</a:t>
                </a:r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dirty="0" err="1" smtClean="0"/>
                  <a:t>U_t</a:t>
                </a:r>
                <a:r>
                  <a:rPr lang="zh-CN" altLang="en-US" dirty="0" smtClean="0"/>
                  <a:t>是个随机变量，在</a:t>
                </a:r>
                <a:r>
                  <a:rPr lang="en-US" altLang="zh-CN" dirty="0" smtClean="0"/>
                  <a:t>t</a:t>
                </a:r>
                <a:r>
                  <a:rPr lang="zh-CN" altLang="en-US" dirty="0" smtClean="0"/>
                  <a:t>时刻我不知道</a:t>
                </a:r>
                <a:r>
                  <a:rPr lang="en-US" altLang="zh-CN" dirty="0" err="1" smtClean="0"/>
                  <a:t>U_t</a:t>
                </a:r>
                <a:r>
                  <a:rPr lang="zh-CN" altLang="en-US" dirty="0" smtClean="0"/>
                  <a:t>是什么。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那该怎么样评估当前的形势呢？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我们可以对</a:t>
                </a:r>
                <a:r>
                  <a:rPr lang="en-US" altLang="zh-CN" dirty="0" err="1" smtClean="0"/>
                  <a:t>U_t</a:t>
                </a:r>
                <a:r>
                  <a:rPr lang="zh-CN" altLang="en-US" dirty="0" smtClean="0"/>
                  <a:t>求期望，把里面的随机性都用积分给积掉，得到的就是个实数。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</a:t>
                </a:r>
              </a:p>
              <a:p>
                <a:r>
                  <a:rPr lang="zh-CN" altLang="en-US" dirty="0" smtClean="0"/>
                  <a:t>打个比方，虽然抛硬币之前你不知道会得到什么，但是你知道正反面各有一半的概率。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如果正面记做</a:t>
                </a:r>
                <a:r>
                  <a:rPr lang="en-US" altLang="zh-CN" dirty="0" smtClean="0"/>
                  <a:t>1</a:t>
                </a:r>
                <a:r>
                  <a:rPr lang="zh-CN" altLang="en-US" dirty="0" smtClean="0"/>
                  <a:t>，背面记做</a:t>
                </a:r>
                <a:r>
                  <a:rPr lang="en-US" altLang="zh-CN" dirty="0" smtClean="0"/>
                  <a:t>0</a:t>
                </a:r>
                <a:r>
                  <a:rPr lang="zh-CN" altLang="en-US" dirty="0" smtClean="0"/>
                  <a:t>，得到的期望就是</a:t>
                </a:r>
                <a:r>
                  <a:rPr lang="en-US" altLang="zh-CN" dirty="0" smtClean="0"/>
                  <a:t>0.5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同样的道理，对随机变量</a:t>
                </a:r>
                <a:r>
                  <a:rPr lang="en-US" altLang="zh-CN" dirty="0" err="1" smtClean="0"/>
                  <a:t>U_t</a:t>
                </a:r>
                <a:r>
                  <a:rPr lang="zh-CN" altLang="en-US" dirty="0" smtClean="0"/>
                  <a:t>求期望，就可以得到一个数，记做是</a:t>
                </a:r>
                <a:r>
                  <a:rPr lang="en-US" altLang="zh-CN" dirty="0" smtClean="0"/>
                  <a:t>Q_{\pi}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-------</a:t>
                </a:r>
              </a:p>
              <a:p>
                <a:r>
                  <a:rPr lang="zh-CN" altLang="en-US" dirty="0" smtClean="0"/>
                  <a:t>这个期望是怎么求的呢？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把</a:t>
                </a:r>
                <a:r>
                  <a:rPr lang="en-US" altLang="zh-CN" dirty="0" smtClean="0"/>
                  <a:t>U_T</a:t>
                </a:r>
                <a:r>
                  <a:rPr lang="zh-CN" altLang="en-US" dirty="0" smtClean="0"/>
                  <a:t>当初未来所有的动作</a:t>
                </a:r>
                <a:r>
                  <a:rPr lang="en-US" altLang="zh-CN" dirty="0" smtClean="0"/>
                  <a:t>a</a:t>
                </a:r>
                <a:r>
                  <a:rPr lang="zh-CN" altLang="en-US" dirty="0" smtClean="0"/>
                  <a:t>和所有状态</a:t>
                </a:r>
                <a:r>
                  <a:rPr lang="en-US" altLang="zh-CN" dirty="0" smtClean="0"/>
                  <a:t>s</a:t>
                </a:r>
                <a:r>
                  <a:rPr lang="zh-CN" altLang="en-US" dirty="0" smtClean="0"/>
                  <a:t>的一个函数。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未来的动作</a:t>
                </a:r>
                <a:r>
                  <a:rPr lang="en-US" altLang="zh-CN" dirty="0" smtClean="0"/>
                  <a:t>a</a:t>
                </a:r>
                <a:r>
                  <a:rPr lang="zh-CN" altLang="en-US" dirty="0" smtClean="0"/>
                  <a:t>和状态</a:t>
                </a:r>
                <a:r>
                  <a:rPr lang="en-US" altLang="zh-CN" dirty="0" smtClean="0"/>
                  <a:t>s</a:t>
                </a:r>
                <a:r>
                  <a:rPr lang="zh-CN" altLang="en-US" dirty="0" smtClean="0"/>
                  <a:t>都有随机性。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动作是根据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altLang="zh-CN" dirty="0" smtClean="0"/>
                  <a:t>pi</a:t>
                </a:r>
                <a:r>
                  <a:rPr lang="zh-CN" altLang="en-US" dirty="0" smtClean="0"/>
                  <a:t>随机抽样的；状态是根据状态转移函数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随机抽样的。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-------</a:t>
                </a:r>
              </a:p>
              <a:p>
                <a:r>
                  <a:rPr lang="zh-CN" altLang="en-US" dirty="0" smtClean="0"/>
                  <a:t>期望就是对这些随机变量求的，把这些随机变量都用积分</a:t>
                </a:r>
                <a:r>
                  <a:rPr lang="zh-CN" altLang="en-US" baseline="0" dirty="0" smtClean="0"/>
                  <a:t> 积掉。</a:t>
                </a:r>
                <a:endParaRPr lang="en-US" altLang="zh-CN" baseline="0" dirty="0" smtClean="0"/>
              </a:p>
              <a:p>
                <a:r>
                  <a:rPr lang="zh-CN" altLang="en-US" baseline="0" dirty="0" smtClean="0"/>
                  <a:t>除了</a:t>
                </a:r>
                <a:r>
                  <a:rPr lang="en-US" altLang="zh-CN" baseline="0" dirty="0" err="1" smtClean="0"/>
                  <a:t>s_t</a:t>
                </a:r>
                <a:r>
                  <a:rPr lang="zh-CN" altLang="en-US" baseline="0" dirty="0" smtClean="0"/>
                  <a:t>和</a:t>
                </a:r>
                <a:r>
                  <a:rPr lang="en-US" altLang="zh-CN" baseline="0" dirty="0" err="1" smtClean="0"/>
                  <a:t>a_t</a:t>
                </a:r>
                <a:r>
                  <a:rPr lang="zh-CN" altLang="en-US" baseline="0" dirty="0" smtClean="0"/>
                  <a:t>，其余的随机变量都被积掉了。</a:t>
                </a:r>
                <a:endParaRPr lang="en-US" altLang="zh-CN" baseline="0" dirty="0" smtClean="0"/>
              </a:p>
              <a:p>
                <a:r>
                  <a:rPr lang="zh-CN" altLang="en-US" baseline="0" dirty="0" smtClean="0"/>
                  <a:t>被积掉的随机变量是</a:t>
                </a:r>
                <a:r>
                  <a:rPr lang="en-US" altLang="zh-CN" sz="1200" i="0">
                    <a:solidFill>
                      <a:srgbClr val="FF0000"/>
                    </a:solidFill>
                    <a:latin typeface="Cambria Math" charset="0"/>
                  </a:rPr>
                  <a:t>𝑎</a:t>
                </a:r>
                <a:r>
                  <a:rPr lang="en-US" altLang="zh-CN" sz="1200" i="0" smtClean="0">
                    <a:solidFill>
                      <a:srgbClr val="FF0000"/>
                    </a:solidFill>
                    <a:latin typeface="Cambria Math" charset="0"/>
                  </a:rPr>
                  <a:t>_(</a:t>
                </a:r>
                <a:r>
                  <a:rPr lang="en-US" altLang="zh-CN" sz="1200" i="0">
                    <a:solidFill>
                      <a:srgbClr val="FF0000"/>
                    </a:solidFill>
                    <a:latin typeface="Cambria Math" charset="0"/>
                  </a:rPr>
                  <a:t>𝑡+1</a:t>
                </a:r>
                <a:r>
                  <a:rPr lang="en-US" altLang="zh-CN" sz="1200" i="0" smtClean="0">
                    <a:solidFill>
                      <a:srgbClr val="FF0000"/>
                    </a:solidFill>
                    <a:latin typeface="Cambria Math" charset="0"/>
                  </a:rPr>
                  <a:t>)</a:t>
                </a:r>
                <a:r>
                  <a:rPr lang="en-US" altLang="zh-CN" sz="1200" i="0">
                    <a:latin typeface="Cambria Math" charset="0"/>
                  </a:rPr>
                  <a:t>,</a:t>
                </a:r>
                <a:r>
                  <a:rPr lang="zh-CN" altLang="en-US" sz="1200" i="0">
                    <a:latin typeface="Cambria Math" charset="0"/>
                  </a:rPr>
                  <a:t> </a:t>
                </a:r>
                <a:r>
                  <a:rPr lang="en-US" altLang="zh-CN" sz="1200" i="0">
                    <a:solidFill>
                      <a:srgbClr val="FF0000"/>
                    </a:solidFill>
                    <a:latin typeface="Cambria Math" charset="0"/>
                  </a:rPr>
                  <a:t>𝑎_(𝑡+2)</a:t>
                </a:r>
                <a:r>
                  <a:rPr lang="en-US" altLang="zh-CN" sz="1200" i="0">
                    <a:latin typeface="Cambria Math" charset="0"/>
                  </a:rPr>
                  <a:t>,</a:t>
                </a:r>
                <a:r>
                  <a:rPr lang="zh-CN" altLang="en-US" sz="1200" i="0">
                    <a:latin typeface="Cambria Math" charset="0"/>
                  </a:rPr>
                  <a:t> </a:t>
                </a:r>
                <a:r>
                  <a:rPr lang="en-US" altLang="zh-CN" sz="1200" i="0">
                    <a:solidFill>
                      <a:srgbClr val="FF0000"/>
                    </a:solidFill>
                    <a:latin typeface="Cambria Math" charset="0"/>
                  </a:rPr>
                  <a:t>𝑎_(𝑡+3)</a:t>
                </a:r>
                <a:r>
                  <a:rPr lang="zh-CN" altLang="en-US" dirty="0" smtClean="0"/>
                  <a:t>等动作、以及</a:t>
                </a:r>
                <a:r>
                  <a:rPr lang="en-US" altLang="zh-CN" sz="1200" i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𝑠</a:t>
                </a:r>
                <a:r>
                  <a:rPr lang="en-US" altLang="zh-CN" sz="1200" i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_(</a:t>
                </a:r>
                <a:r>
                  <a:rPr lang="en-US" altLang="zh-CN" sz="1200" i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𝑡+1</a:t>
                </a:r>
                <a:r>
                  <a:rPr lang="en-US" altLang="zh-CN" sz="1200" i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)</a:t>
                </a:r>
                <a:r>
                  <a:rPr lang="en-US" altLang="zh-CN" sz="1200" i="0">
                    <a:latin typeface="Cambria Math" charset="0"/>
                  </a:rPr>
                  <a:t>,</a:t>
                </a:r>
                <a:r>
                  <a:rPr lang="zh-CN" altLang="en-US" sz="1200" i="0">
                    <a:latin typeface="Cambria Math" charset="0"/>
                  </a:rPr>
                  <a:t> </a:t>
                </a:r>
                <a:r>
                  <a:rPr lang="en-US" altLang="zh-CN" sz="1200" i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𝑠_(𝑡+2)</a:t>
                </a:r>
                <a:r>
                  <a:rPr lang="en-US" altLang="zh-CN" sz="1200" i="0">
                    <a:latin typeface="Cambria Math" charset="0"/>
                  </a:rPr>
                  <a:t>,</a:t>
                </a:r>
                <a:r>
                  <a:rPr lang="zh-CN" altLang="en-US" sz="1200" i="0">
                    <a:latin typeface="Cambria Math" charset="0"/>
                  </a:rPr>
                  <a:t> </a:t>
                </a:r>
                <a:r>
                  <a:rPr lang="en-US" altLang="zh-CN" sz="1200" i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𝑠_(𝑡+3)</a:t>
                </a:r>
                <a:r>
                  <a:rPr lang="zh-CN" altLang="en-US" dirty="0" smtClean="0"/>
                  <a:t>等状态。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------------------------------------</a:t>
                </a:r>
              </a:p>
              <a:p>
                <a:r>
                  <a:rPr lang="zh-CN" altLang="en-US" dirty="0" smtClean="0"/>
                  <a:t>积分得到的函数</a:t>
                </a:r>
                <a:r>
                  <a:rPr lang="en-US" i="0">
                    <a:latin typeface="Cambria Math" charset="0"/>
                  </a:rPr>
                  <a:t>𝑄</a:t>
                </a:r>
                <a:r>
                  <a:rPr lang="en-US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被称为</a:t>
                </a:r>
                <a:r>
                  <a:rPr lang="en-US" altLang="zh-CN" dirty="0" smtClean="0"/>
                  <a:t>action-value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function</a:t>
                </a:r>
                <a:r>
                  <a:rPr lang="zh-CN" altLang="en-US" dirty="0" smtClean="0"/>
                  <a:t>，动作价值函数。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函数</a:t>
                </a:r>
                <a:r>
                  <a:rPr lang="en-US" i="0">
                    <a:latin typeface="Cambria Math" charset="0"/>
                  </a:rPr>
                  <a:t>𝑄</a:t>
                </a:r>
                <a:r>
                  <a:rPr lang="en-US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跟当前状态</a:t>
                </a:r>
                <a:r>
                  <a:rPr lang="en-US" altLang="zh-CN" dirty="0" err="1" smtClean="0"/>
                  <a:t>s_t</a:t>
                </a:r>
                <a:r>
                  <a:rPr lang="zh-CN" altLang="en-US" dirty="0" smtClean="0"/>
                  <a:t>、动作</a:t>
                </a:r>
                <a:r>
                  <a:rPr lang="en-US" altLang="zh-CN" dirty="0" err="1" smtClean="0"/>
                  <a:t>a_t</a:t>
                </a:r>
                <a:r>
                  <a:rPr lang="zh-CN" altLang="en-US" dirty="0" smtClean="0"/>
                  <a:t>有关。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为什么呢？因为这两个变量没有被积分积掉；他们后面的状态和动作都被积掉了。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</a:t>
                </a:r>
              </a:p>
              <a:p>
                <a:r>
                  <a:rPr lang="zh-CN" altLang="en-US" dirty="0" smtClean="0"/>
                  <a:t>函数</a:t>
                </a:r>
                <a:r>
                  <a:rPr lang="en-US" i="0">
                    <a:latin typeface="Cambria Math" charset="0"/>
                  </a:rPr>
                  <a:t>𝑄</a:t>
                </a:r>
                <a:r>
                  <a:rPr lang="en-US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还跟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altLang="zh-CN" dirty="0" smtClean="0"/>
                  <a:t>pi</a:t>
                </a:r>
                <a:r>
                  <a:rPr lang="zh-CN" altLang="en-US" dirty="0" smtClean="0"/>
                  <a:t>有关。为什么呢？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因为积分的时候会用到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如果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altLang="zh-CN" dirty="0" smtClean="0"/>
                  <a:t>pi</a:t>
                </a:r>
                <a:r>
                  <a:rPr lang="zh-CN" altLang="en-US" dirty="0" smtClean="0"/>
                  <a:t>不一样，积分得到的</a:t>
                </a:r>
                <a:r>
                  <a:rPr lang="zh-CN" altLang="en-US" dirty="0" smtClean="0"/>
                  <a:t>函数</a:t>
                </a:r>
                <a:r>
                  <a:rPr lang="en-US" i="0">
                    <a:latin typeface="Cambria Math" charset="0"/>
                  </a:rPr>
                  <a:t>𝑄</a:t>
                </a:r>
                <a:r>
                  <a:rPr lang="en-US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就不一样。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--------------------------------</a:t>
                </a:r>
              </a:p>
              <a:p>
                <a:r>
                  <a:rPr lang="zh-CN" altLang="en-US" dirty="0" smtClean="0"/>
                  <a:t>动作价值函数</a:t>
                </a:r>
                <a:r>
                  <a:rPr lang="en-US" altLang="zh-CN" dirty="0" smtClean="0"/>
                  <a:t>action-value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function</a:t>
                </a:r>
                <a:r>
                  <a:rPr lang="zh-CN" altLang="en-US" dirty="0" smtClean="0"/>
                  <a:t>有什么直观意义呢？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函数</a:t>
                </a:r>
                <a:r>
                  <a:rPr lang="en-US" i="0">
                    <a:latin typeface="Cambria Math" charset="0"/>
                  </a:rPr>
                  <a:t>𝑄</a:t>
                </a:r>
                <a:r>
                  <a:rPr lang="en-US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告诉我们，如果用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altLang="zh-CN" dirty="0" smtClean="0"/>
                  <a:t>pi</a:t>
                </a:r>
                <a:r>
                  <a:rPr lang="zh-CN" altLang="en-US" dirty="0" smtClean="0"/>
                  <a:t>，那么在</a:t>
                </a:r>
                <a:r>
                  <a:rPr lang="en-US" altLang="zh-CN" dirty="0" err="1" smtClean="0"/>
                  <a:t>s_t</a:t>
                </a:r>
                <a:r>
                  <a:rPr lang="zh-CN" altLang="en-US" dirty="0" smtClean="0"/>
                  <a:t>这个状态下，做动作</a:t>
                </a:r>
                <a:r>
                  <a:rPr lang="en-US" altLang="zh-CN" dirty="0" err="1" smtClean="0"/>
                  <a:t>a_t</a:t>
                </a:r>
                <a:r>
                  <a:rPr lang="zh-CN" altLang="en-US" dirty="0" smtClean="0"/>
                  <a:t>是好还是坏。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比如说，如果用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函数来操纵超级玛丽做出了一系列动作，那么</a:t>
                </a:r>
                <a:r>
                  <a:rPr lang="zh-CN" altLang="en-US" dirty="0" smtClean="0"/>
                  <a:t>函数</a:t>
                </a:r>
                <a:r>
                  <a:rPr lang="en-US" i="0">
                    <a:latin typeface="Cambria Math" charset="0"/>
                  </a:rPr>
                  <a:t>𝑄</a:t>
                </a:r>
                <a:r>
                  <a:rPr lang="en-US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就可以告诉我们这个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函数玩游戏的水平是高还是低。</a:t>
                </a:r>
                <a:endParaRPr lang="en-US" altLang="zh-CN" dirty="0" smtClean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407813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last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concept: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state-value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function</a:t>
                </a:r>
                <a:r>
                  <a:rPr lang="zh-CN" altLang="en-US" sz="16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charset="0"/>
                          </a:rPr>
                          <m:t>𝑉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en-US" altLang="zh-CN" sz="1600" dirty="0" smtClean="0"/>
                  <a:t>.</a:t>
                </a:r>
              </a:p>
              <a:p>
                <a:r>
                  <a:rPr lang="en-US" altLang="zh-CN" sz="1600" dirty="0" smtClean="0"/>
                  <a:t>It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is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expectation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of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action-value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function</a:t>
                </a:r>
                <a:r>
                  <a:rPr lang="zh-CN" altLang="en-US" sz="16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en-US" altLang="zh-CN" sz="1600" dirty="0" smtClean="0"/>
                  <a:t>.</a:t>
                </a:r>
              </a:p>
              <a:p>
                <a:r>
                  <a:rPr lang="en-US" altLang="zh-CN" sz="1600" dirty="0" smtClean="0"/>
                  <a:t>====================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depends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on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state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s,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action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a,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and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policy</a:t>
                </a:r>
                <a:r>
                  <a:rPr lang="zh-CN" altLang="en-US" sz="1600" dirty="0" smtClean="0"/>
                  <a:t> 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 charset="0"/>
                      </a:rPr>
                      <m:t>𝜋</m:t>
                    </m:r>
                  </m:oMath>
                </a14:m>
                <a:r>
                  <a:rPr lang="en-US" altLang="zh-CN" sz="1600" dirty="0" smtClean="0"/>
                  <a:t>.</a:t>
                </a:r>
              </a:p>
              <a:p>
                <a:r>
                  <a:rPr lang="en-US" altLang="zh-CN" sz="1600" dirty="0" smtClean="0"/>
                  <a:t>We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can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treat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action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random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variable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and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take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expectation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err="1" smtClean="0"/>
                  <a:t>w.r.t</a:t>
                </a:r>
                <a:r>
                  <a:rPr lang="en-US" altLang="zh-CN" sz="1600" baseline="0" dirty="0" smtClean="0"/>
                  <a:t>.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A.</a:t>
                </a:r>
              </a:p>
              <a:p>
                <a:r>
                  <a:rPr lang="en-US" altLang="zh-CN" sz="1600" baseline="0" dirty="0" smtClean="0"/>
                  <a:t>In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way,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action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eliminated.</a:t>
                </a:r>
              </a:p>
              <a:p>
                <a:r>
                  <a:rPr lang="en-US" altLang="zh-CN" sz="1600" dirty="0" smtClean="0"/>
                  <a:t>====================</a:t>
                </a:r>
              </a:p>
              <a:p>
                <a:r>
                  <a:rPr lang="en-US" altLang="zh-CN" sz="1600" baseline="0" dirty="0" smtClean="0"/>
                  <a:t>Denote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resulting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function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by</a:t>
                </a:r>
                <a:r>
                  <a:rPr lang="zh-CN" altLang="en-US" sz="1600" baseline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charset="0"/>
                          </a:rPr>
                          <m:t>𝑉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en-US" altLang="zh-CN" sz="1600" dirty="0" smtClean="0"/>
                  <a:t>.</a:t>
                </a:r>
              </a:p>
              <a:p>
                <a:r>
                  <a:rPr lang="en-US" altLang="zh-CN" sz="1600" dirty="0" smtClean="0"/>
                  <a:t>It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is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known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state-value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function.</a:t>
                </a:r>
              </a:p>
              <a:p>
                <a:r>
                  <a:rPr lang="en-US" altLang="zh-CN" sz="1600" dirty="0" smtClean="0"/>
                  <a:t>It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depends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state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and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policy</a:t>
                </a:r>
                <a:r>
                  <a:rPr lang="zh-CN" altLang="en-US" sz="1600" baseline="0" dirty="0" smtClean="0"/>
                  <a:t> 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 charset="0"/>
                      </a:rPr>
                      <m:t>𝜋</m:t>
                    </m:r>
                  </m:oMath>
                </a14:m>
                <a:r>
                  <a:rPr lang="en-US" altLang="zh-CN" sz="1600" dirty="0" smtClean="0"/>
                  <a:t>.</a:t>
                </a:r>
              </a:p>
              <a:p>
                <a:r>
                  <a:rPr lang="en-US" altLang="zh-CN" sz="1600" dirty="0" smtClean="0"/>
                  <a:t>It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is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independent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of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action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A.</a:t>
                </a:r>
              </a:p>
              <a:p>
                <a:r>
                  <a:rPr lang="en-US" altLang="zh-CN" sz="1600" dirty="0" smtClean="0"/>
                  <a:t>----</a:t>
                </a:r>
              </a:p>
              <a:p>
                <a:r>
                  <a:rPr lang="en-US" altLang="zh-CN" sz="1600" dirty="0" smtClean="0"/>
                  <a:t>What’s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physical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meaning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of</a:t>
                </a:r>
                <a:r>
                  <a:rPr lang="zh-CN" altLang="en-US" sz="1600" baseline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charset="0"/>
                          </a:rPr>
                          <m:t>𝑉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en-US" altLang="zh-CN" sz="1600" dirty="0" smtClean="0"/>
                  <a:t>?</a:t>
                </a:r>
              </a:p>
              <a:p>
                <a:r>
                  <a:rPr lang="en-US" altLang="zh-CN" sz="1600" dirty="0" smtClean="0"/>
                  <a:t>Given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policy</a:t>
                </a:r>
                <a:r>
                  <a:rPr lang="zh-CN" altLang="en-US" sz="1600" dirty="0" smtClean="0"/>
                  <a:t> 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 charset="0"/>
                      </a:rPr>
                      <m:t>𝜋</m:t>
                    </m:r>
                  </m:oMath>
                </a14:m>
                <a:r>
                  <a:rPr lang="en-US" altLang="zh-CN" sz="1600" dirty="0" smtClean="0"/>
                  <a:t>,</a:t>
                </a:r>
                <a:r>
                  <a:rPr lang="zh-CN" altLang="en-US" sz="16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charset="0"/>
                          </a:rPr>
                          <m:t>𝑉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indicates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how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good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current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state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baseline="0" dirty="0" smtClean="0"/>
                  <a:t>is.</a:t>
                </a:r>
              </a:p>
              <a:p>
                <a:r>
                  <a:rPr lang="en-US" altLang="zh-CN" sz="1600" dirty="0" smtClean="0"/>
                  <a:t>For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example,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when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playing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Super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Mario,</a:t>
                </a:r>
                <a:r>
                  <a:rPr lang="zh-CN" altLang="en-US" sz="1600" baseline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charset="0"/>
                          </a:rPr>
                          <m:t>𝑉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can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tell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whether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am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close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winning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losing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game.</a:t>
                </a:r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r>
                  <a:rPr lang="zh-CN" altLang="en-US" sz="1600" dirty="0" smtClean="0"/>
                  <a:t>强化学习里的概念实在太多了，我刚开始学的时候也特别头大。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可惜没有什么捷径，你只能理解，然后记住，否则后面的课学不下去。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</a:t>
                </a:r>
              </a:p>
              <a:p>
                <a:r>
                  <a:rPr lang="zh-CN" altLang="en-US" sz="1600" dirty="0" smtClean="0"/>
                  <a:t>终于只剩最后一个概念了：</a:t>
                </a:r>
                <a:r>
                  <a:rPr lang="en-US" altLang="zh-CN" sz="1600" dirty="0" smtClean="0"/>
                  <a:t>state-value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function</a:t>
                </a:r>
                <a:r>
                  <a:rPr lang="zh-CN" altLang="en-US" sz="1600" dirty="0" smtClean="0"/>
                  <a:t>，状态价值函数，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charset="0"/>
                          </a:rPr>
                          <m:t>𝑉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charset="0"/>
                          </a:rPr>
                          <m:t>𝑉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是</a:t>
                </a:r>
                <a:r>
                  <a:rPr lang="en-US" altLang="zh-CN" sz="1600" dirty="0" smtClean="0"/>
                  <a:t>action-value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function</a:t>
                </a:r>
                <a:r>
                  <a:rPr lang="zh-CN" altLang="en-US" sz="1600" baseline="0" dirty="0" smtClean="0"/>
                  <a:t>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   的期望。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 跟</a:t>
                </a:r>
                <a:r>
                  <a:rPr lang="en-US" altLang="zh-CN" sz="1600" dirty="0" smtClean="0"/>
                  <a:t>policy</a:t>
                </a:r>
                <a:r>
                  <a:rPr lang="zh-CN" altLang="en-US" sz="1600" dirty="0" smtClean="0"/>
                  <a:t>函数</a:t>
                </a:r>
                <a:r>
                  <a:rPr lang="en-US" altLang="zh-CN" sz="1600" dirty="0" smtClean="0"/>
                  <a:t>pi</a:t>
                </a:r>
                <a:r>
                  <a:rPr lang="zh-CN" altLang="en-US" sz="1600" dirty="0" smtClean="0"/>
                  <a:t>、状态</a:t>
                </a:r>
                <a:r>
                  <a:rPr lang="en-US" altLang="zh-CN" sz="1600" dirty="0" err="1" smtClean="0"/>
                  <a:t>s_t</a:t>
                </a:r>
                <a:r>
                  <a:rPr lang="zh-CN" altLang="en-US" sz="1600" dirty="0" smtClean="0"/>
                  <a:t>、动作</a:t>
                </a:r>
                <a:r>
                  <a:rPr lang="en-US" altLang="zh-CN" sz="1600" dirty="0" err="1" smtClean="0"/>
                  <a:t>a_t</a:t>
                </a:r>
                <a:r>
                  <a:rPr lang="zh-CN" altLang="en-US" sz="1600" dirty="0" smtClean="0"/>
                  <a:t>都有关。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/>
                  <a:t>----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/>
                  <a:t>可以把这里的动作</a:t>
                </a:r>
                <a:r>
                  <a:rPr lang="en-US" altLang="zh-CN" sz="1600" dirty="0" smtClean="0"/>
                  <a:t>A</a:t>
                </a:r>
                <a:r>
                  <a:rPr lang="zh-CN" altLang="en-US" sz="1600" dirty="0" smtClean="0"/>
                  <a:t>作为随机变量，然后关于</a:t>
                </a:r>
                <a:r>
                  <a:rPr lang="en-US" altLang="zh-CN" sz="1600" dirty="0" smtClean="0"/>
                  <a:t>A</a:t>
                </a:r>
                <a:r>
                  <a:rPr lang="zh-CN" altLang="en-US" sz="1600" dirty="0" smtClean="0"/>
                  <a:t>求期望，把</a:t>
                </a:r>
                <a:r>
                  <a:rPr lang="en-US" altLang="zh-CN" sz="1600" dirty="0" smtClean="0"/>
                  <a:t>A</a:t>
                </a:r>
                <a:r>
                  <a:rPr lang="zh-CN" altLang="en-US" sz="1600" dirty="0" smtClean="0"/>
                  <a:t>消掉。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/>
                  <a:t>求期望得到了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charset="0"/>
                          </a:rPr>
                          <m:t>𝑉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，它只跟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 charset="0"/>
                      </a:rPr>
                      <m:t>𝜋</m:t>
                    </m:r>
                  </m:oMath>
                </a14:m>
                <a:r>
                  <a:rPr lang="zh-CN" altLang="en-US" sz="1600" dirty="0" smtClean="0"/>
                  <a:t>和</a:t>
                </a:r>
                <a:r>
                  <a:rPr lang="en-US" altLang="zh-CN" sz="1600" dirty="0" smtClean="0"/>
                  <a:t>s</a:t>
                </a:r>
                <a:r>
                  <a:rPr lang="zh-CN" altLang="en-US" sz="1600" dirty="0" smtClean="0"/>
                  <a:t>有关。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/>
                  <a:t>-------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/>
                  <a:t>函数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charset="0"/>
                          </a:rPr>
                          <m:t>𝑉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 有什么直观的意义呢？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charset="0"/>
                          </a:rPr>
                          <m:t>𝑉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可以告诉我们当前的局势好不好。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/>
                  <a:t>假如我根据</a:t>
                </a:r>
                <a:r>
                  <a:rPr lang="en-US" altLang="zh-CN" sz="1600" dirty="0" smtClean="0"/>
                  <a:t>policy</a:t>
                </a:r>
                <a:r>
                  <a:rPr lang="zh-CN" altLang="en-US" sz="1600" dirty="0" smtClean="0"/>
                  <a:t>函数</a:t>
                </a:r>
                <a:r>
                  <a:rPr lang="en-US" altLang="zh-CN" sz="1600" dirty="0" smtClean="0"/>
                  <a:t>pi</a:t>
                </a:r>
                <a:r>
                  <a:rPr lang="zh-CN" altLang="en-US" sz="1600" dirty="0" smtClean="0"/>
                  <a:t>下围棋；让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charset="0"/>
                          </a:rPr>
                          <m:t>𝑉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函数看一下棋盘，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charset="0"/>
                          </a:rPr>
                          <m:t>𝑉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就可以告诉我，当前我的胜算有多大，我是快赢了、快输了、还是和对手不分高下。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 smtClean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强化学习里的概念实在太多了，我刚开始学的时候也特别头大。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没什么捷径，只能理解，然后记住，否则后面的课学不下去。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</a:t>
                </a:r>
              </a:p>
              <a:p>
                <a:r>
                  <a:rPr lang="zh-CN" altLang="en-US" dirty="0" smtClean="0"/>
                  <a:t>最后一个概念了：</a:t>
                </a:r>
                <a:r>
                  <a:rPr lang="en-US" altLang="zh-CN" dirty="0" smtClean="0"/>
                  <a:t>state-value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function</a:t>
                </a:r>
                <a:r>
                  <a:rPr lang="zh-CN" altLang="en-US" dirty="0" smtClean="0"/>
                  <a:t>，状态价值函数，</a:t>
                </a:r>
                <a:r>
                  <a:rPr lang="en-US" i="0">
                    <a:latin typeface="Cambria Math" charset="0"/>
                  </a:rPr>
                  <a:t>𝑉</a:t>
                </a:r>
                <a:r>
                  <a:rPr lang="en-US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i="0">
                    <a:latin typeface="Cambria Math" charset="0"/>
                  </a:rPr>
                  <a:t>𝑉</a:t>
                </a:r>
                <a:r>
                  <a:rPr lang="en-US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是</a:t>
                </a:r>
                <a:r>
                  <a:rPr lang="en-US" altLang="zh-CN" dirty="0" smtClean="0"/>
                  <a:t>action-value</a:t>
                </a:r>
                <a:r>
                  <a:rPr lang="zh-CN" altLang="en-US" baseline="0" dirty="0" smtClean="0"/>
                  <a:t> </a:t>
                </a:r>
                <a:r>
                  <a:rPr lang="en-US" altLang="zh-CN" baseline="0" dirty="0" smtClean="0"/>
                  <a:t>function</a:t>
                </a:r>
                <a:r>
                  <a:rPr lang="zh-CN" altLang="en-US" baseline="0" dirty="0" smtClean="0"/>
                  <a:t>    </a:t>
                </a:r>
                <a:r>
                  <a:rPr lang="en-US" altLang="zh-CN" b="0" i="0" smtClean="0">
                    <a:latin typeface="Cambria Math" charset="0"/>
                  </a:rPr>
                  <a:t>𝑄_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   的期望。</a:t>
                </a:r>
                <a:endParaRPr lang="en-US" altLang="zh-CN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b="0" i="0" smtClean="0">
                    <a:latin typeface="Cambria Math" charset="0"/>
                  </a:rPr>
                  <a:t>𝑄</a:t>
                </a:r>
                <a:r>
                  <a:rPr lang="en-US" altLang="zh-CN" b="0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 跟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altLang="zh-CN" dirty="0" smtClean="0"/>
                  <a:t>pi</a:t>
                </a:r>
                <a:r>
                  <a:rPr lang="zh-CN" altLang="en-US" dirty="0" smtClean="0"/>
                  <a:t>、状态</a:t>
                </a:r>
                <a:r>
                  <a:rPr lang="en-US" altLang="zh-CN" dirty="0" err="1" smtClean="0"/>
                  <a:t>s_t</a:t>
                </a:r>
                <a:r>
                  <a:rPr lang="zh-CN" altLang="en-US" dirty="0" smtClean="0"/>
                  <a:t>、动作</a:t>
                </a:r>
                <a:r>
                  <a:rPr lang="en-US" altLang="zh-CN" dirty="0" err="1" smtClean="0"/>
                  <a:t>a_t</a:t>
                </a:r>
                <a:r>
                  <a:rPr lang="zh-CN" altLang="en-US" dirty="0" smtClean="0"/>
                  <a:t>都有关。</a:t>
                </a:r>
                <a:endParaRPr lang="en-US" altLang="zh-CN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dirty="0" smtClean="0"/>
                  <a:t>这个动作</a:t>
                </a:r>
                <a:r>
                  <a:rPr lang="en-US" altLang="zh-CN" dirty="0" err="1" smtClean="0"/>
                  <a:t>a_t</a:t>
                </a:r>
                <a:r>
                  <a:rPr lang="zh-CN" altLang="en-US" dirty="0" smtClean="0"/>
                  <a:t>是根据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altLang="zh-CN" dirty="0" smtClean="0"/>
                  <a:t>pi</a:t>
                </a:r>
                <a:r>
                  <a:rPr lang="zh-CN" altLang="en-US" dirty="0" smtClean="0"/>
                  <a:t>随机抽样的，所以我们可以把动作</a:t>
                </a:r>
                <a:r>
                  <a:rPr lang="en-US" altLang="zh-CN" dirty="0" err="1" smtClean="0"/>
                  <a:t>a_t</a:t>
                </a:r>
                <a:r>
                  <a:rPr lang="zh-CN" altLang="en-US" dirty="0" smtClean="0"/>
                  <a:t>用积分积掉。</a:t>
                </a:r>
                <a:endParaRPr lang="en-US" altLang="zh-CN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dirty="0" smtClean="0"/>
                  <a:t>对</a:t>
                </a:r>
                <a:r>
                  <a:rPr lang="en-US" altLang="zh-CN" b="0" i="0" smtClean="0">
                    <a:latin typeface="Cambria Math" charset="0"/>
                  </a:rPr>
                  <a:t>𝑄</a:t>
                </a:r>
                <a:r>
                  <a:rPr lang="en-US" altLang="zh-CN" b="0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关于 随机变量 </a:t>
                </a:r>
                <a:r>
                  <a:rPr lang="en-US" altLang="zh-CN" dirty="0" err="1" smtClean="0"/>
                  <a:t>a_t</a:t>
                </a:r>
                <a:r>
                  <a:rPr lang="zh-CN" altLang="en-US" dirty="0" smtClean="0"/>
                  <a:t> 求期望</a:t>
                </a:r>
                <a:endParaRPr lang="en-US" altLang="zh-CN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dirty="0" smtClean="0"/>
                  <a:t>-------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dirty="0" smtClean="0"/>
                  <a:t>State-value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function</a:t>
                </a:r>
                <a:r>
                  <a:rPr lang="zh-CN" altLang="en-US" dirty="0" smtClean="0"/>
                  <a:t> </a:t>
                </a:r>
                <a:r>
                  <a:rPr lang="en-US" i="0">
                    <a:latin typeface="Cambria Math" charset="0"/>
                  </a:rPr>
                  <a:t>𝑉</a:t>
                </a:r>
                <a:r>
                  <a:rPr lang="en-US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 有什么直观的意义呢？</a:t>
                </a:r>
                <a:endParaRPr lang="en-US" altLang="zh-CN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i="0">
                    <a:latin typeface="Cambria Math" charset="0"/>
                  </a:rPr>
                  <a:t>𝑉</a:t>
                </a:r>
                <a:r>
                  <a:rPr lang="en-US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可以告诉我们当前的局势好不好。</a:t>
                </a:r>
                <a:endParaRPr lang="en-US" altLang="zh-CN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dirty="0" smtClean="0"/>
                  <a:t>假如我根据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altLang="zh-CN" dirty="0" smtClean="0"/>
                  <a:t>pi</a:t>
                </a:r>
                <a:r>
                  <a:rPr lang="zh-CN" altLang="en-US" dirty="0" smtClean="0"/>
                  <a:t>下围棋下围棋，而且有了</a:t>
                </a:r>
                <a:r>
                  <a:rPr lang="en-US" i="0">
                    <a:latin typeface="Cambria Math" charset="0"/>
                  </a:rPr>
                  <a:t>𝑉</a:t>
                </a:r>
                <a:r>
                  <a:rPr lang="en-US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这个函数，让</a:t>
                </a:r>
                <a:r>
                  <a:rPr lang="en-US" i="0">
                    <a:latin typeface="Cambria Math" charset="0"/>
                  </a:rPr>
                  <a:t>𝑉</a:t>
                </a:r>
                <a:r>
                  <a:rPr lang="en-US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函数看一下棋盘，</a:t>
                </a:r>
                <a:r>
                  <a:rPr lang="en-US" i="0">
                    <a:latin typeface="Cambria Math" charset="0"/>
                  </a:rPr>
                  <a:t>𝑉</a:t>
                </a:r>
                <a:r>
                  <a:rPr lang="en-US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就可以告诉我，当前我的胜算有多大，我是快赢了、快输了、还是和对手不分高下。</a:t>
                </a:r>
                <a:endParaRPr lang="en-US" altLang="zh-CN" dirty="0" smtClean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573542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 smtClean="0"/>
                  <a:t>Here,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expectation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taken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err="1" smtClean="0"/>
                  <a:t>w.r.t</a:t>
                </a:r>
                <a:r>
                  <a:rPr lang="en-US" altLang="zh-CN" sz="1600" baseline="0" dirty="0" smtClean="0"/>
                  <a:t>.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action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A.</a:t>
                </a:r>
              </a:p>
              <a:p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probability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density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function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policy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function</a:t>
                </a:r>
                <a:r>
                  <a:rPr lang="zh-CN" altLang="en-US" sz="1600" baseline="0" dirty="0" smtClean="0"/>
                  <a:t> 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 charset="0"/>
                      </a:rPr>
                      <m:t>𝜋</m:t>
                    </m:r>
                  </m:oMath>
                </a14:m>
                <a:r>
                  <a:rPr lang="en-US" altLang="zh-CN" sz="1600" dirty="0" smtClean="0"/>
                  <a:t>.</a:t>
                </a:r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r>
                  <a:rPr lang="zh-CN" altLang="en-US" sz="1600" dirty="0" smtClean="0"/>
                  <a:t>这里的期望是关于随机变量</a:t>
                </a:r>
                <a:r>
                  <a:rPr lang="en-US" altLang="zh-CN" sz="1600" dirty="0" smtClean="0"/>
                  <a:t>A</a:t>
                </a:r>
                <a:r>
                  <a:rPr lang="zh-CN" altLang="en-US" sz="1600" dirty="0" smtClean="0"/>
                  <a:t>求的。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A</a:t>
                </a:r>
                <a:r>
                  <a:rPr lang="zh-CN" altLang="en-US" sz="1600" dirty="0" smtClean="0"/>
                  <a:t>的概率密度函数是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 charset="0"/>
                      </a:rPr>
                      <m:t>𝜋</m:t>
                    </m:r>
                  </m:oMath>
                </a14:m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endParaRPr lang="en-US" altLang="zh-CN" sz="1600" dirty="0" smtClean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这里的期望是关于随机变量</a:t>
                </a:r>
                <a:r>
                  <a:rPr lang="en-US" altLang="zh-CN" dirty="0" smtClean="0"/>
                  <a:t>A</a:t>
                </a:r>
                <a:r>
                  <a:rPr lang="zh-CN" altLang="en-US" dirty="0" smtClean="0"/>
                  <a:t>求的。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</a:t>
                </a:r>
                <a:r>
                  <a:rPr lang="zh-CN" altLang="en-US" dirty="0" smtClean="0"/>
                  <a:t>的概率密度函数是</a:t>
                </a:r>
                <a:r>
                  <a:rPr lang="en-US" sz="1200" i="0" smtClean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</a:t>
                </a:r>
              </a:p>
              <a:p>
                <a:r>
                  <a:rPr lang="zh-CN" altLang="en-US" dirty="0" smtClean="0"/>
                  <a:t>根据</a:t>
                </a:r>
                <a:r>
                  <a:rPr lang="zh-CN" altLang="en-US" dirty="0" smtClean="0"/>
                  <a:t>期望的定义，可以把期望写成连加或者积分的形式。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如果动作都是离散的，比如</a:t>
                </a:r>
                <a:r>
                  <a:rPr lang="zh-CN" altLang="en-US" dirty="0" smtClean="0"/>
                  <a:t>上、下、左、右</a:t>
                </a:r>
                <a:r>
                  <a:rPr lang="zh-CN" altLang="en-US" dirty="0" smtClean="0"/>
                  <a:t>，这样就可以把期望写成连加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期望等于 对</a:t>
                </a:r>
                <a:r>
                  <a:rPr lang="en-US" sz="1200" i="0" smtClean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与</a:t>
                </a:r>
                <a:r>
                  <a:rPr lang="en-US" sz="1200" i="0">
                    <a:latin typeface="Cambria Math" charset="0"/>
                  </a:rPr>
                  <a:t>𝑄</a:t>
                </a:r>
                <a:r>
                  <a:rPr lang="en-US" sz="1200" i="0" smtClean="0">
                    <a:latin typeface="Cambria Math" charset="0"/>
                  </a:rPr>
                  <a:t>_</a:t>
                </a:r>
                <a:r>
                  <a:rPr lang="en-US" sz="1200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的乘积 做连加，把所有的动作</a:t>
                </a:r>
                <a:r>
                  <a:rPr lang="en-US" altLang="zh-CN" dirty="0" smtClean="0"/>
                  <a:t>a</a:t>
                </a:r>
                <a:r>
                  <a:rPr lang="zh-CN" altLang="en-US" dirty="0" smtClean="0"/>
                  <a:t>都算上。</a:t>
                </a:r>
                <a:endParaRPr lang="en-US" altLang="zh-CN" dirty="0" smtClean="0"/>
              </a:p>
              <a:p>
                <a:endParaRPr lang="en-US" altLang="zh-CN" dirty="0" smtClean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468373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 smtClean="0"/>
                  <a:t>By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definition,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expectation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can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written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sum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integral.</a:t>
                </a:r>
              </a:p>
              <a:p>
                <a:r>
                  <a:rPr lang="en-US" altLang="zh-CN" sz="1600" baseline="0" dirty="0" smtClean="0"/>
                  <a:t>If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actions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discrete,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for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example,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left,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right,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and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up,</a:t>
                </a:r>
                <a:r>
                  <a:rPr lang="zh-CN" altLang="en-US" sz="1600" baseline="0" dirty="0" smtClean="0"/>
                  <a:t> </a:t>
                </a:r>
                <a:endParaRPr lang="en-US" altLang="zh-CN" sz="1600" baseline="0" dirty="0" smtClean="0"/>
              </a:p>
              <a:p>
                <a:r>
                  <a:rPr lang="en-US" altLang="zh-CN" sz="1600" baseline="0" dirty="0" smtClean="0"/>
                  <a:t>====================</a:t>
                </a:r>
              </a:p>
              <a:p>
                <a:r>
                  <a:rPr lang="en-US" altLang="zh-CN" sz="1600" baseline="0" dirty="0" smtClean="0"/>
                  <a:t>then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expectation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sum.</a:t>
                </a:r>
              </a:p>
              <a:p>
                <a:r>
                  <a:rPr lang="en-US" altLang="zh-CN" sz="1600" baseline="0" dirty="0" smtClean="0"/>
                  <a:t>Multiply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policy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function</a:t>
                </a:r>
                <a:r>
                  <a:rPr lang="zh-CN" altLang="en-US" sz="1600" baseline="0" dirty="0" smtClean="0"/>
                  <a:t> 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 charset="0"/>
                      </a:rPr>
                      <m:t>𝜋</m:t>
                    </m:r>
                  </m:oMath>
                </a14:m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by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action-value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function</a:t>
                </a:r>
                <a:r>
                  <a:rPr lang="zh-CN" altLang="en-US" sz="16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en-US" altLang="zh-CN" sz="1600" dirty="0" smtClean="0"/>
                  <a:t>,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and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take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sum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over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all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possible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actions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a.</a:t>
                </a:r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r>
                  <a:rPr lang="zh-CN" altLang="en-US" sz="1600" dirty="0" smtClean="0"/>
                  <a:t>根据期望的定义，可以把期望写成连加或者积分的形式。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如果动作都是离散的，比如上、下、左、右，这样就可以把期望写成连加。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期望等于 对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 charset="0"/>
                      </a:rPr>
                      <m:t>𝜋</m:t>
                    </m:r>
                  </m:oMath>
                </a14:m>
                <a:r>
                  <a:rPr lang="zh-CN" altLang="en-US" sz="1600" dirty="0" smtClean="0"/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的乘积 做连加，把所有的动作</a:t>
                </a:r>
                <a:r>
                  <a:rPr lang="en-US" altLang="zh-CN" sz="1600" dirty="0" smtClean="0"/>
                  <a:t>a</a:t>
                </a:r>
                <a:r>
                  <a:rPr lang="zh-CN" altLang="en-US" sz="1600" dirty="0" smtClean="0"/>
                  <a:t>都算上。</a:t>
                </a:r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这里的期望是关于随机变量</a:t>
                </a:r>
                <a:r>
                  <a:rPr lang="en-US" altLang="zh-CN" dirty="0" smtClean="0"/>
                  <a:t>A</a:t>
                </a:r>
                <a:r>
                  <a:rPr lang="zh-CN" altLang="en-US" dirty="0" smtClean="0"/>
                  <a:t>求的。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</a:t>
                </a:r>
                <a:r>
                  <a:rPr lang="zh-CN" altLang="en-US" dirty="0" smtClean="0"/>
                  <a:t>的概率密度函数是</a:t>
                </a:r>
                <a:r>
                  <a:rPr lang="en-US" sz="1200" i="0" smtClean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</a:t>
                </a:r>
              </a:p>
              <a:p>
                <a:r>
                  <a:rPr lang="zh-CN" altLang="en-US" dirty="0" smtClean="0"/>
                  <a:t>根据</a:t>
                </a:r>
                <a:r>
                  <a:rPr lang="zh-CN" altLang="en-US" dirty="0" smtClean="0"/>
                  <a:t>期望的定义，可以把期望写成连加或者积分的形式。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如果动作都是离散的，比如</a:t>
                </a:r>
                <a:r>
                  <a:rPr lang="zh-CN" altLang="en-US" dirty="0" smtClean="0"/>
                  <a:t>上、下、左、右</a:t>
                </a:r>
                <a:r>
                  <a:rPr lang="zh-CN" altLang="en-US" dirty="0" smtClean="0"/>
                  <a:t>，这样就可以把期望写成连加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期望等于 对</a:t>
                </a:r>
                <a:r>
                  <a:rPr lang="en-US" sz="1200" i="0" smtClean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与</a:t>
                </a:r>
                <a:r>
                  <a:rPr lang="en-US" sz="1200" i="0">
                    <a:latin typeface="Cambria Math" charset="0"/>
                  </a:rPr>
                  <a:t>𝑄</a:t>
                </a:r>
                <a:r>
                  <a:rPr lang="en-US" sz="1200" i="0" smtClean="0">
                    <a:latin typeface="Cambria Math" charset="0"/>
                  </a:rPr>
                  <a:t>_</a:t>
                </a:r>
                <a:r>
                  <a:rPr lang="en-US" sz="1200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的乘积 做连加，把所有的动作</a:t>
                </a:r>
                <a:r>
                  <a:rPr lang="en-US" altLang="zh-CN" dirty="0" smtClean="0"/>
                  <a:t>a</a:t>
                </a:r>
                <a:r>
                  <a:rPr lang="zh-CN" altLang="en-US" dirty="0" smtClean="0"/>
                  <a:t>都算上。</a:t>
                </a:r>
                <a:endParaRPr lang="en-US" altLang="zh-CN" dirty="0" smtClean="0"/>
              </a:p>
              <a:p>
                <a:endParaRPr lang="en-US" altLang="zh-CN" dirty="0" smtClean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743037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 smtClean="0"/>
                  <a:t>Sometimes,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action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continuous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variable.</a:t>
                </a:r>
              </a:p>
              <a:p>
                <a:r>
                  <a:rPr lang="en-US" altLang="zh-CN" sz="1600" baseline="0" dirty="0" smtClean="0"/>
                  <a:t>For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example,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self-driving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cars,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angle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steering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wheel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continuous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action.</a:t>
                </a:r>
              </a:p>
              <a:p>
                <a:r>
                  <a:rPr lang="en-US" altLang="zh-CN" sz="1600" baseline="0" dirty="0" smtClean="0"/>
                  <a:t>It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values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can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angles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certain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range.</a:t>
                </a:r>
              </a:p>
              <a:p>
                <a:r>
                  <a:rPr lang="en-US" altLang="zh-CN" sz="1600" baseline="0" dirty="0" smtClean="0"/>
                  <a:t>=============================</a:t>
                </a:r>
              </a:p>
              <a:p>
                <a:r>
                  <a:rPr lang="en-US" altLang="zh-CN" sz="1600" baseline="0" dirty="0" smtClean="0"/>
                  <a:t>For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continuous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variables,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expectation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integral.</a:t>
                </a:r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r>
                  <a:rPr lang="zh-CN" altLang="en-US" sz="1600" dirty="0" smtClean="0"/>
                  <a:t>有时候动作</a:t>
                </a:r>
                <a:r>
                  <a:rPr lang="en-US" altLang="zh-CN" sz="1600" dirty="0" smtClean="0"/>
                  <a:t>a</a:t>
                </a:r>
                <a:r>
                  <a:rPr lang="zh-CN" altLang="en-US" sz="1600" dirty="0" smtClean="0"/>
                  <a:t>是个连续变量，比如自动驾驶汽车方向盘的角度。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这个角度可以是 负</a:t>
                </a:r>
                <a:r>
                  <a:rPr lang="en-US" altLang="zh-CN" sz="1600" dirty="0" smtClean="0"/>
                  <a:t>90</a:t>
                </a:r>
                <a:r>
                  <a:rPr lang="zh-CN" altLang="en-US" sz="1600" dirty="0" smtClean="0"/>
                  <a:t>度 到正</a:t>
                </a:r>
                <a:r>
                  <a:rPr lang="en-US" altLang="zh-CN" sz="1600" dirty="0" smtClean="0"/>
                  <a:t>90</a:t>
                </a:r>
                <a:r>
                  <a:rPr lang="zh-CN" altLang="en-US" sz="1600" dirty="0" smtClean="0"/>
                  <a:t>度 之间所有的值，是连续的。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对于连续变量，就不能用连加了，而应该换成积分。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/>
                  <a:t>=============================</a:t>
                </a:r>
              </a:p>
              <a:p>
                <a:r>
                  <a:rPr lang="zh-CN" altLang="en-US" sz="1600" dirty="0" smtClean="0"/>
                  <a:t>期望等于对 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 charset="0"/>
                      </a:rPr>
                      <m:t>𝜋</m:t>
                    </m:r>
                  </m:oMath>
                </a14:m>
                <a:r>
                  <a:rPr lang="zh-CN" altLang="en-US" sz="1600" dirty="0" smtClean="0"/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的乘积 做积分，把动作</a:t>
                </a:r>
                <a:r>
                  <a:rPr lang="en-US" altLang="zh-CN" sz="1600" dirty="0" smtClean="0"/>
                  <a:t>a</a:t>
                </a:r>
                <a:r>
                  <a:rPr lang="zh-CN" altLang="en-US" sz="1600" dirty="0" smtClean="0"/>
                  <a:t>给积掉。</a:t>
                </a:r>
                <a:endParaRPr lang="en-US" altLang="zh-CN" sz="1600" dirty="0" smtClean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有时候动作</a:t>
                </a:r>
                <a:r>
                  <a:rPr lang="en-US" altLang="zh-CN" dirty="0" smtClean="0"/>
                  <a:t>a</a:t>
                </a:r>
                <a:r>
                  <a:rPr lang="zh-CN" altLang="en-US" dirty="0" smtClean="0"/>
                  <a:t>是</a:t>
                </a:r>
                <a:r>
                  <a:rPr lang="zh-CN" altLang="en-US" dirty="0" smtClean="0"/>
                  <a:t>个连续变量，比如自动驾驶汽车方向盘的</a:t>
                </a:r>
                <a:r>
                  <a:rPr lang="zh-CN" altLang="en-US" dirty="0" smtClean="0"/>
                  <a:t>角度。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对于连续变量，不</a:t>
                </a:r>
                <a:r>
                  <a:rPr lang="zh-CN" altLang="en-US" dirty="0" smtClean="0"/>
                  <a:t>能用连加，而应该用积分。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期望等于</a:t>
                </a:r>
                <a:r>
                  <a:rPr lang="zh-CN" altLang="en-US" dirty="0" smtClean="0"/>
                  <a:t>对 </a:t>
                </a:r>
                <a:r>
                  <a:rPr lang="en-US" sz="1200" i="0" smtClean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与</a:t>
                </a:r>
                <a:r>
                  <a:rPr lang="en-US" sz="1200" i="0">
                    <a:latin typeface="Cambria Math" charset="0"/>
                  </a:rPr>
                  <a:t>𝑄</a:t>
                </a:r>
                <a:r>
                  <a:rPr lang="en-US" sz="1200" i="0" smtClean="0">
                    <a:latin typeface="Cambria Math" charset="0"/>
                  </a:rPr>
                  <a:t>_</a:t>
                </a:r>
                <a:r>
                  <a:rPr lang="en-US" sz="1200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的乘积 </a:t>
                </a:r>
                <a:r>
                  <a:rPr lang="zh-CN" altLang="en-US" dirty="0" smtClean="0"/>
                  <a:t>做积分，把随机变量</a:t>
                </a:r>
                <a:r>
                  <a:rPr lang="en-US" altLang="zh-CN" dirty="0" smtClean="0"/>
                  <a:t>a</a:t>
                </a:r>
                <a:r>
                  <a:rPr lang="zh-CN" altLang="en-US" dirty="0" smtClean="0"/>
                  <a:t>给积掉。</a:t>
                </a:r>
                <a:endParaRPr lang="en-US" altLang="zh-CN" dirty="0" smtClean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149378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 smtClean="0"/>
                  <a:t>In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sum,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we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have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studied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two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types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value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functions.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/>
                  <a:t>=====================</a:t>
                </a:r>
              </a:p>
              <a:p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first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action-value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function</a:t>
                </a:r>
                <a:r>
                  <a:rPr lang="zh-CN" altLang="en-US" sz="1600" baseline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en-US" altLang="zh-CN" sz="1600" baseline="0" dirty="0" smtClean="0"/>
                  <a:t>.</a:t>
                </a:r>
              </a:p>
              <a:p>
                <a:r>
                  <a:rPr lang="en-US" altLang="zh-CN" sz="1600" baseline="0" dirty="0" smtClean="0"/>
                  <a:t>It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depends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state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action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and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policy</a:t>
                </a:r>
                <a:r>
                  <a:rPr lang="zh-CN" altLang="en-US" sz="1600" baseline="0" dirty="0" smtClean="0"/>
                  <a:t> 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 charset="0"/>
                      </a:rPr>
                      <m:t>𝜋</m:t>
                    </m:r>
                  </m:oMath>
                </a14:m>
                <a:r>
                  <a:rPr lang="en-US" altLang="zh-CN" sz="1600" dirty="0" smtClean="0"/>
                  <a:t>.</a:t>
                </a:r>
              </a:p>
              <a:p>
                <a:r>
                  <a:rPr lang="en-US" altLang="zh-CN" sz="1600" dirty="0" smtClean="0"/>
                  <a:t>=====================</a:t>
                </a:r>
              </a:p>
              <a:p>
                <a:r>
                  <a:rPr lang="en-US" altLang="zh-CN" sz="1600" dirty="0" smtClean="0"/>
                  <a:t>It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is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conditional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expectation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of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return</a:t>
                </a:r>
                <a:r>
                  <a:rPr lang="zh-CN" altLang="en-US" sz="16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1600" dirty="0" smtClean="0"/>
                  <a:t>.</a:t>
                </a:r>
              </a:p>
              <a:p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expectation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is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taken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err="1" smtClean="0"/>
                  <a:t>w.r.t</a:t>
                </a:r>
                <a:r>
                  <a:rPr lang="en-US" altLang="zh-CN" sz="1600" dirty="0" smtClean="0"/>
                  <a:t>.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all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future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states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and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actions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except</a:t>
                </a:r>
                <a:r>
                  <a:rPr lang="zh-CN" altLang="en-US" sz="1600" baseline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and</a:t>
                </a:r>
                <a:r>
                  <a:rPr lang="zh-CN" altLang="en-US" sz="16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1600" dirty="0" smtClean="0"/>
                  <a:t>.</a:t>
                </a:r>
              </a:p>
              <a:p>
                <a:r>
                  <a:rPr lang="en-US" altLang="zh-CN" sz="1600" dirty="0" smtClean="0"/>
                  <a:t>=====================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/>
                  <a:t>Given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policy</a:t>
                </a:r>
                <a:r>
                  <a:rPr lang="zh-CN" altLang="en-US" sz="1600" dirty="0" smtClean="0"/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charset="0"/>
                      </a:rPr>
                      <m:t>𝜋</m:t>
                    </m:r>
                  </m:oMath>
                </a14:m>
                <a:r>
                  <a:rPr lang="en-US" altLang="zh-CN" sz="1600" dirty="0" smtClean="0"/>
                  <a:t>,</a:t>
                </a:r>
                <a:r>
                  <a:rPr lang="zh-CN" altLang="en-US" sz="1600" dirty="0" smtClean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sz="16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  <m:r>
                          <a:rPr lang="en-US" sz="1600" i="1">
                            <a:latin typeface="Cambria Math" charset="0"/>
                          </a:rPr>
                          <m:t>,</m:t>
                        </m:r>
                        <m: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evaluates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how </a:t>
                </a:r>
                <a:r>
                  <a:rPr lang="en-US" altLang="zh-CN" sz="1600" dirty="0"/>
                  <a:t>good it is for an agent to pick action 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𝑎</m:t>
                    </m:r>
                  </m:oMath>
                </a14:m>
                <a:r>
                  <a:rPr lang="en-US" altLang="zh-CN" sz="1600" dirty="0"/>
                  <a:t> while being in state 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charset="0"/>
                      </a:rPr>
                      <m:t>𝑠</m:t>
                    </m:r>
                  </m:oMath>
                </a14:m>
                <a:r>
                  <a:rPr lang="en-US" altLang="zh-CN" sz="1600" dirty="0" smtClean="0"/>
                  <a:t>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indicates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how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good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action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is;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that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why</a:t>
                </a:r>
                <a:r>
                  <a:rPr lang="zh-CN" altLang="en-US" sz="1600" baseline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is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called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action-value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function.</a:t>
                </a:r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r>
                  <a:rPr lang="zh-CN" altLang="en-US" sz="1600" dirty="0" smtClean="0"/>
                  <a:t>总结一下，主要有两种</a:t>
                </a:r>
                <a:r>
                  <a:rPr lang="en-US" altLang="zh-CN" sz="1600" dirty="0" smtClean="0"/>
                  <a:t>value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functions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一种是</a:t>
                </a:r>
                <a:r>
                  <a:rPr lang="en-US" altLang="zh-CN" sz="1600" dirty="0" smtClean="0">
                    <a:solidFill>
                      <a:srgbClr val="FF0000"/>
                    </a:solidFill>
                  </a:rPr>
                  <a:t>Action</a:t>
                </a:r>
                <a:r>
                  <a:rPr lang="en-US" altLang="zh-CN" sz="1600" dirty="0" smtClean="0"/>
                  <a:t>-value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function</a:t>
                </a:r>
                <a:r>
                  <a:rPr lang="zh-CN" altLang="en-US" sz="1600" dirty="0" smtClean="0"/>
                  <a:t>动作价值函数，记做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它跟</a:t>
                </a:r>
                <a:r>
                  <a:rPr lang="en-US" altLang="zh-CN" sz="1600" dirty="0" smtClean="0"/>
                  <a:t>policy</a:t>
                </a:r>
                <a:r>
                  <a:rPr lang="zh-CN" altLang="en-US" sz="1600" dirty="0" smtClean="0"/>
                  <a:t>函数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 charset="0"/>
                      </a:rPr>
                      <m:t>𝜋</m:t>
                    </m:r>
                  </m:oMath>
                </a14:m>
                <a:r>
                  <a:rPr lang="zh-CN" altLang="en-US" sz="1600" dirty="0" smtClean="0"/>
                  <a:t>有关，跟状态</a:t>
                </a:r>
                <a:r>
                  <a:rPr lang="en-US" altLang="zh-CN" sz="1600" dirty="0" smtClean="0"/>
                  <a:t>s</a:t>
                </a:r>
                <a:r>
                  <a:rPr lang="zh-CN" altLang="en-US" sz="1600" dirty="0" smtClean="0"/>
                  <a:t>有关，跟动作</a:t>
                </a:r>
                <a:r>
                  <a:rPr lang="en-US" altLang="zh-CN" sz="1600" dirty="0" smtClean="0"/>
                  <a:t>a</a:t>
                </a:r>
                <a:r>
                  <a:rPr lang="zh-CN" altLang="en-US" sz="1600" dirty="0" smtClean="0"/>
                  <a:t>也有关。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</a:t>
                </a:r>
              </a:p>
              <a:p>
                <a:r>
                  <a:rPr lang="zh-CN" altLang="en-US" sz="1600" dirty="0" smtClean="0"/>
                  <a:t>它是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的条件期望。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这里的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是个随机变量，它等于未来所有奖励的加权求和。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期望把未来的状态和动作都消除，只留下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𝑆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zh-CN" altLang="en-US" sz="16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charset="0"/>
                      </a:rPr>
                      <m:t>与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 这两个变量。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=================</a:t>
                </a:r>
              </a:p>
              <a:p>
                <a:r>
                  <a:rPr lang="zh-CN" altLang="en-US" sz="1600" dirty="0" smtClean="0"/>
                  <a:t>函数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能告诉我们什么信息呢？</a:t>
                </a:r>
                <a:endParaRPr lang="en-US" altLang="zh-CN" sz="1600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zh-CN" altLang="en-US" sz="1600" dirty="0" smtClean="0"/>
                          <m:t>如果使用</m:t>
                        </m:r>
                        <m:r>
                          <m:rPr>
                            <m:nor/>
                          </m:rPr>
                          <a:rPr lang="en-US" altLang="zh-CN" sz="1600" dirty="0" smtClean="0"/>
                          <m:t>policy</m:t>
                        </m:r>
                        <m:r>
                          <m:rPr>
                            <m:nor/>
                          </m:rPr>
                          <a:rPr lang="zh-CN" altLang="en-US" sz="1600" dirty="0" smtClean="0"/>
                          <m:t>函数</m:t>
                        </m:r>
                        <m:r>
                          <a:rPr lang="en-US" sz="1600" i="1" smtClean="0">
                            <a:latin typeface="Cambria Math" charset="0"/>
                          </a:rPr>
                          <m:t>𝜋</m:t>
                        </m:r>
                        <m:r>
                          <m:rPr>
                            <m:nor/>
                          </m:rPr>
                          <a:rPr lang="zh-CN" altLang="en-US" sz="1600" dirty="0" smtClean="0"/>
                          <m:t>，</m:t>
                        </m:r>
                        <m:r>
                          <a:rPr lang="zh-CN" altLang="en-US" sz="1600" i="1" dirty="0" smtClean="0">
                            <a:latin typeface="Cambria Math" charset="0"/>
                          </a:rPr>
                          <m:t>那么</m:t>
                        </m:r>
                        <m:r>
                          <a:rPr lang="en-US" sz="1600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说明</a:t>
                </a:r>
                <a:r>
                  <a:rPr lang="en-US" altLang="zh-CN" sz="1600" dirty="0" smtClean="0"/>
                  <a:t>agent</a:t>
                </a:r>
                <a:r>
                  <a:rPr lang="zh-CN" altLang="en-US" sz="1600" dirty="0" smtClean="0"/>
                  <a:t>处在状态</a:t>
                </a:r>
                <a:r>
                  <a:rPr lang="en-US" altLang="zh-CN" sz="1600" dirty="0" smtClean="0"/>
                  <a:t>s</a:t>
                </a:r>
                <a:r>
                  <a:rPr lang="zh-CN" altLang="en-US" sz="1600" dirty="0" smtClean="0"/>
                  <a:t>时做出动作</a:t>
                </a:r>
                <a:r>
                  <a:rPr lang="en-US" altLang="zh-CN" sz="1600" dirty="0" smtClean="0"/>
                  <a:t>a</a:t>
                </a:r>
                <a:r>
                  <a:rPr lang="zh-CN" altLang="en-US" sz="1600" dirty="0" smtClean="0"/>
                  <a:t>是否明智。</a:t>
                </a:r>
                <a:endParaRPr lang="en-US" altLang="zh-CN" sz="1600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可以给动作</a:t>
                </a:r>
                <a:r>
                  <a:rPr lang="en-US" altLang="zh-CN" sz="1600" dirty="0" smtClean="0"/>
                  <a:t>a</a:t>
                </a:r>
                <a:r>
                  <a:rPr lang="zh-CN" altLang="en-US" sz="1600" dirty="0" smtClean="0"/>
                  <a:t>打分。</a:t>
                </a:r>
                <a:endParaRPr lang="en-US" altLang="zh-CN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我们之前定义了</a:t>
                </a:r>
                <a:r>
                  <a:rPr lang="en-US" altLang="zh-CN" dirty="0" smtClean="0"/>
                  <a:t>optimal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action-value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function</a:t>
                </a:r>
                <a:r>
                  <a:rPr lang="zh-CN" altLang="en-US" dirty="0" smtClean="0"/>
                  <a:t>，最优动作价值函数</a:t>
                </a:r>
                <a:r>
                  <a:rPr lang="en-US" i="0">
                    <a:latin typeface="Cambria Math" charset="0"/>
                  </a:rPr>
                  <a:t>𝑄</a:t>
                </a:r>
                <a:r>
                  <a:rPr lang="en-US" i="0" smtClean="0">
                    <a:latin typeface="Cambria Math" charset="0"/>
                  </a:rPr>
                  <a:t>^</a:t>
                </a:r>
                <a:r>
                  <a:rPr lang="en-US" i="0">
                    <a:latin typeface="Cambria Math" charset="0"/>
                  </a:rPr>
                  <a:t>⋆</a:t>
                </a:r>
                <a:r>
                  <a:rPr lang="zh-CN" altLang="en-US" b="0" i="0" smtClean="0">
                    <a:latin typeface="Cambria Math" charset="0"/>
                  </a:rPr>
                  <a:t> 。</a:t>
                </a:r>
                <a:endParaRPr lang="en-US" altLang="zh-CN" b="0" dirty="0" smtClean="0"/>
              </a:p>
              <a:p>
                <a:r>
                  <a:rPr lang="zh-CN" altLang="en-US" dirty="0" smtClean="0"/>
                  <a:t>函数</a:t>
                </a:r>
                <a:r>
                  <a:rPr lang="en-US" i="0">
                    <a:latin typeface="Cambria Math" charset="0"/>
                  </a:rPr>
                  <a:t>𝑄</a:t>
                </a:r>
                <a:r>
                  <a:rPr lang="en-US" i="0" smtClean="0">
                    <a:latin typeface="Cambria Math" charset="0"/>
                  </a:rPr>
                  <a:t>^</a:t>
                </a:r>
                <a:r>
                  <a:rPr lang="en-US" i="0">
                    <a:latin typeface="Cambria Math" charset="0"/>
                  </a:rPr>
                  <a:t>⋆</a:t>
                </a:r>
                <a:r>
                  <a:rPr lang="zh-CN" altLang="en-US" dirty="0" smtClean="0"/>
                  <a:t> 的输入是当前状态</a:t>
                </a:r>
                <a:r>
                  <a:rPr lang="en-US" altLang="zh-CN" dirty="0" smtClean="0"/>
                  <a:t>s</a:t>
                </a:r>
                <a:r>
                  <a:rPr lang="zh-CN" altLang="en-US" baseline="0" dirty="0" smtClean="0"/>
                  <a:t> </a:t>
                </a:r>
                <a:r>
                  <a:rPr lang="zh-CN" altLang="en-US" dirty="0" smtClean="0"/>
                  <a:t>和动作</a:t>
                </a:r>
                <a:r>
                  <a:rPr lang="en-US" altLang="zh-CN" dirty="0" smtClean="0"/>
                  <a:t>a</a:t>
                </a:r>
                <a:r>
                  <a:rPr lang="zh-CN" altLang="en-US" baseline="0" dirty="0" smtClean="0"/>
                  <a:t> </a:t>
                </a:r>
                <a:r>
                  <a:rPr lang="zh-CN" altLang="en-US" dirty="0" smtClean="0"/>
                  <a:t>，不依赖于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i="0" smtClean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函数</a:t>
                </a:r>
                <a:r>
                  <a:rPr lang="en-US" i="0">
                    <a:latin typeface="Cambria Math" charset="0"/>
                  </a:rPr>
                  <a:t>𝑄</a:t>
                </a:r>
                <a:r>
                  <a:rPr lang="en-US" i="0" smtClean="0">
                    <a:latin typeface="Cambria Math" charset="0"/>
                  </a:rPr>
                  <a:t>^</a:t>
                </a:r>
                <a:r>
                  <a:rPr lang="en-US" i="0">
                    <a:latin typeface="Cambria Math" charset="0"/>
                  </a:rPr>
                  <a:t>⋆</a:t>
                </a:r>
                <a:r>
                  <a:rPr lang="zh-CN" altLang="en-US" dirty="0" smtClean="0"/>
                  <a:t>能告诉我们什么信息呢？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它说明当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处在状态</a:t>
                </a:r>
                <a:r>
                  <a:rPr lang="en-US" altLang="zh-CN" dirty="0" smtClean="0"/>
                  <a:t>s</a:t>
                </a:r>
                <a:r>
                  <a:rPr lang="zh-CN" altLang="en-US" baseline="0" dirty="0" smtClean="0"/>
                  <a:t> </a:t>
                </a:r>
                <a:r>
                  <a:rPr lang="zh-CN" altLang="en-US" dirty="0" smtClean="0"/>
                  <a:t>时，选择动作</a:t>
                </a:r>
                <a:r>
                  <a:rPr lang="en-US" altLang="zh-CN" dirty="0" smtClean="0"/>
                  <a:t>a</a:t>
                </a:r>
                <a:r>
                  <a:rPr lang="zh-CN" altLang="en-US" dirty="0" smtClean="0"/>
                  <a:t>是好是坏。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========</a:t>
                </a:r>
              </a:p>
              <a:p>
                <a:r>
                  <a:rPr lang="zh-CN" altLang="en-US" dirty="0" smtClean="0"/>
                  <a:t>我们还定义了</a:t>
                </a:r>
                <a:r>
                  <a:rPr lang="zh-CN" altLang="en-US" baseline="0" dirty="0" smtClean="0"/>
                  <a:t> </a:t>
                </a:r>
                <a:r>
                  <a:rPr lang="en-US" altLang="zh-CN" baseline="0" dirty="0" smtClean="0"/>
                  <a:t>state-value</a:t>
                </a:r>
                <a:r>
                  <a:rPr lang="zh-CN" altLang="en-US" baseline="0" dirty="0" smtClean="0"/>
                  <a:t> </a:t>
                </a:r>
                <a:r>
                  <a:rPr lang="en-US" altLang="zh-CN" baseline="0" dirty="0" smtClean="0"/>
                  <a:t>function</a:t>
                </a:r>
                <a:r>
                  <a:rPr lang="zh-CN" altLang="en-US" baseline="0" dirty="0" smtClean="0"/>
                  <a:t> </a:t>
                </a:r>
                <a:r>
                  <a:rPr lang="en-US" i="0">
                    <a:latin typeface="Cambria Math" charset="0"/>
                  </a:rPr>
                  <a:t>𝑉</a:t>
                </a:r>
                <a:r>
                  <a:rPr lang="en-US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en-US" altLang="zh-CN" dirty="0" smtClean="0"/>
                  <a:t>.</a:t>
                </a:r>
              </a:p>
              <a:p>
                <a:r>
                  <a:rPr lang="en-US" i="0">
                    <a:latin typeface="Cambria Math" charset="0"/>
                  </a:rPr>
                  <a:t>𝑉</a:t>
                </a:r>
                <a:r>
                  <a:rPr lang="en-US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是把</a:t>
                </a:r>
                <a:r>
                  <a:rPr lang="en-US" i="0">
                    <a:latin typeface="Cambria Math" charset="0"/>
                  </a:rPr>
                  <a:t>𝑄</a:t>
                </a:r>
                <a:r>
                  <a:rPr lang="en-US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中的变量</a:t>
                </a:r>
                <a:r>
                  <a:rPr lang="en-US" altLang="zh-CN" dirty="0" smtClean="0"/>
                  <a:t>a</a:t>
                </a:r>
                <a:r>
                  <a:rPr lang="zh-CN" altLang="en-US" dirty="0" smtClean="0"/>
                  <a:t>用积分给去掉，这样就只剩下状态</a:t>
                </a:r>
                <a:r>
                  <a:rPr lang="en-US" altLang="zh-CN" dirty="0" smtClean="0"/>
                  <a:t>s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en-US" i="0">
                    <a:latin typeface="Cambria Math" charset="0"/>
                  </a:rPr>
                  <a:t>𝑉</a:t>
                </a:r>
                <a:r>
                  <a:rPr lang="en-US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只跟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altLang="zh-CN" dirty="0" smtClean="0"/>
                  <a:t>pi</a:t>
                </a:r>
                <a:r>
                  <a:rPr lang="zh-CN" altLang="en-US" dirty="0" smtClean="0"/>
                  <a:t>和状态</a:t>
                </a:r>
                <a:r>
                  <a:rPr lang="en-US" altLang="zh-CN" dirty="0" smtClean="0"/>
                  <a:t>s</a:t>
                </a:r>
                <a:r>
                  <a:rPr lang="zh-CN" altLang="en-US" dirty="0" smtClean="0"/>
                  <a:t>有关。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它说明如果使用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altLang="zh-CN" dirty="0" smtClean="0"/>
                  <a:t>pi</a:t>
                </a:r>
                <a:r>
                  <a:rPr lang="zh-CN" altLang="en-US" dirty="0" smtClean="0"/>
                  <a:t>，那么当前的状况是好还是坏，我是快赢了呢，</a:t>
                </a:r>
                <a:r>
                  <a:rPr lang="zh-CN" altLang="en-US" smtClean="0"/>
                  <a:t>还是快输了。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6464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/>
                  <a:t>We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have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also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learned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baseline="0" dirty="0" smtClean="0"/>
                  <a:t>state-value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function</a:t>
                </a:r>
                <a:r>
                  <a:rPr lang="zh-CN" altLang="en-US" sz="1600" baseline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charset="0"/>
                          </a:rPr>
                          <m:t>𝑉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en-US" altLang="zh-CN" sz="1600" dirty="0" smtClean="0"/>
                  <a:t>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/>
                  <a:t>====================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/>
                  <a:t>It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is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expectation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of</a:t>
                </a:r>
                <a:r>
                  <a:rPr lang="zh-CN" altLang="en-US" sz="16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en-US" altLang="zh-CN" sz="1600" dirty="0" smtClean="0"/>
                  <a:t>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/>
                  <a:t>It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further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integrates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out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action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/>
                  <a:t>So</a:t>
                </a:r>
                <a:r>
                  <a:rPr lang="zh-CN" altLang="en-US" sz="16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charset="0"/>
                          </a:rPr>
                          <m:t>𝑉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independent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charset="0"/>
                          </a:rPr>
                          <m:t>𝑉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depends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only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state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and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policy</a:t>
                </a:r>
                <a:r>
                  <a:rPr lang="zh-CN" altLang="en-US" sz="1600" baseline="0" dirty="0" smtClean="0"/>
                  <a:t> 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 charset="0"/>
                      </a:rPr>
                      <m:t>𝜋</m:t>
                    </m:r>
                  </m:oMath>
                </a14:m>
                <a:r>
                  <a:rPr lang="en-US" altLang="zh-CN" sz="1600" dirty="0" smtClean="0"/>
                  <a:t>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/>
                  <a:t>====================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/>
                  <a:t>For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fixed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policy</a:t>
                </a:r>
                <a:r>
                  <a:rPr lang="zh-CN" altLang="en-US" sz="1600" dirty="0" smtClean="0"/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charset="0"/>
                      </a:rPr>
                      <m:t>𝜋</m:t>
                    </m:r>
                  </m:oMath>
                </a14:m>
                <a:r>
                  <a:rPr lang="en-US" altLang="zh-CN" sz="1600" dirty="0" smtClean="0"/>
                  <a:t>,</a:t>
                </a:r>
                <a:r>
                  <a:rPr lang="zh-CN" altLang="en-US" sz="1600" dirty="0" smtClean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charset="0"/>
                          </a:rPr>
                          <m:t>𝑉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sz="16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evaluates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how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good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situation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is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in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/>
                  <a:t>state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charset="0"/>
                      </a:rPr>
                      <m:t>𝑠</m:t>
                    </m:r>
                  </m:oMath>
                </a14:m>
                <a:r>
                  <a:rPr lang="en-US" altLang="zh-CN" sz="1600" dirty="0" smtClean="0"/>
                  <a:t>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/>
                  <a:t>It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can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tell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us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how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likely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going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win.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/>
                  <a:t>====================</a:t>
                </a:r>
                <a:endParaRPr lang="en-US" altLang="zh-CN" sz="1600" baseline="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/>
                  <a:t>We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can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further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integrate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out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random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variable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/>
                  <a:t>Then,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depends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only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policy</a:t>
                </a:r>
                <a:r>
                  <a:rPr lang="zh-CN" altLang="en-US" sz="1600" baseline="0" dirty="0" smtClean="0"/>
                  <a:t> 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 charset="0"/>
                      </a:rPr>
                      <m:t>𝜋</m:t>
                    </m:r>
                  </m:oMath>
                </a14:m>
                <a:r>
                  <a:rPr lang="en-US" altLang="zh-CN" sz="1600" dirty="0" smtClean="0"/>
                  <a:t>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/>
                  <a:t>It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can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evaluate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how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good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policy</a:t>
                </a:r>
                <a:r>
                  <a:rPr lang="zh-CN" altLang="en-US" sz="1600" dirty="0" smtClean="0"/>
                  <a:t> 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 charset="0"/>
                      </a:rPr>
                      <m:t>𝜋</m:t>
                    </m:r>
                  </m:oMath>
                </a14:m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is.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/>
                  <a:t>It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objective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function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policy-based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learning.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/>
                  <a:t>Policy-based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learning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basically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means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maximizing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expectation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err="1" smtClean="0"/>
                  <a:t>w.r.t</a:t>
                </a:r>
                <a:r>
                  <a:rPr lang="en-US" altLang="zh-CN" sz="1600" baseline="0" dirty="0" smtClean="0"/>
                  <a:t>.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policy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π.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/>
                  <a:t>It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will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used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throughout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policy-based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learning.</a:t>
                </a:r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r>
                  <a:rPr lang="zh-CN" altLang="en-US" sz="1600" dirty="0" smtClean="0"/>
                  <a:t>我们还定义了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state-value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function</a:t>
                </a:r>
                <a:r>
                  <a:rPr lang="zh-CN" altLang="en-US" sz="1600" baseline="0" dirty="0" smtClean="0"/>
                  <a:t>状态价值函数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charset="0"/>
                          </a:rPr>
                          <m:t>𝑉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en-US" altLang="zh-CN" sz="1600" dirty="0" smtClean="0"/>
                  <a:t>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charset="0"/>
                          </a:rPr>
                          <m:t>𝑉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是把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中的变量</a:t>
                </a:r>
                <a:r>
                  <a:rPr lang="en-US" altLang="zh-CN" sz="1600" dirty="0" smtClean="0"/>
                  <a:t>A</a:t>
                </a:r>
                <a:r>
                  <a:rPr lang="zh-CN" altLang="en-US" sz="1600" dirty="0" smtClean="0"/>
                  <a:t>用积分给去掉，这样变量就只剩下状态</a:t>
                </a:r>
                <a:r>
                  <a:rPr lang="en-US" altLang="zh-CN" sz="1600" dirty="0" smtClean="0"/>
                  <a:t>s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charset="0"/>
                          </a:rPr>
                          <m:t>𝑉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只跟</a:t>
                </a:r>
                <a:r>
                  <a:rPr lang="en-US" altLang="zh-CN" sz="1600" dirty="0" smtClean="0"/>
                  <a:t>policy</a:t>
                </a:r>
                <a:r>
                  <a:rPr lang="zh-CN" altLang="en-US" sz="1600" dirty="0" smtClean="0"/>
                  <a:t>函数</a:t>
                </a:r>
                <a:r>
                  <a:rPr lang="en-US" altLang="zh-CN" sz="1600" dirty="0" smtClean="0"/>
                  <a:t>pi</a:t>
                </a:r>
                <a:r>
                  <a:rPr lang="zh-CN" altLang="en-US" sz="1600" dirty="0" smtClean="0"/>
                  <a:t>和状态</a:t>
                </a:r>
                <a:r>
                  <a:rPr lang="en-US" altLang="zh-CN" sz="1600" dirty="0" smtClean="0"/>
                  <a:t>s</a:t>
                </a:r>
                <a:r>
                  <a:rPr lang="zh-CN" altLang="en-US" sz="1600" dirty="0" smtClean="0"/>
                  <a:t>有关，跟动作</a:t>
                </a:r>
                <a:r>
                  <a:rPr lang="en-US" altLang="zh-CN" sz="1600" dirty="0" smtClean="0"/>
                  <a:t>a</a:t>
                </a:r>
                <a:r>
                  <a:rPr lang="zh-CN" altLang="en-US" sz="1600" dirty="0" smtClean="0"/>
                  <a:t>无关。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=========</a:t>
                </a:r>
              </a:p>
              <a:p>
                <a:r>
                  <a:rPr lang="zh-CN" altLang="en-US" sz="1600" dirty="0" smtClean="0"/>
                  <a:t>如果使用</a:t>
                </a:r>
                <a:r>
                  <a:rPr lang="en-US" altLang="zh-CN" sz="1600" dirty="0" smtClean="0"/>
                  <a:t>policy</a:t>
                </a:r>
                <a:r>
                  <a:rPr lang="zh-CN" altLang="en-US" sz="1600" dirty="0" smtClean="0"/>
                  <a:t>函数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 charset="0"/>
                      </a:rPr>
                      <m:t>𝜋</m:t>
                    </m:r>
                  </m:oMath>
                </a14:m>
                <a:r>
                  <a:rPr lang="zh-CN" altLang="en-US" sz="1600" dirty="0" smtClean="0"/>
                  <a:t>，那么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charset="0"/>
                          </a:rPr>
                          <m:t>𝑉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可以评价  当前的状况是  好还是坏，我是快赢了呢，还是快输了。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/>
                  <a:t>如果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 charset="0"/>
                      </a:rPr>
                      <m:t>𝜋</m:t>
                    </m:r>
                  </m:oMath>
                </a14:m>
                <a:r>
                  <a:rPr lang="zh-CN" altLang="en-US" sz="1600" dirty="0" smtClean="0"/>
                  <a:t>是固定的，那么状态</a:t>
                </a:r>
                <a:r>
                  <a:rPr lang="en-US" altLang="zh-CN" sz="1600" dirty="0" smtClean="0"/>
                  <a:t>s</a:t>
                </a:r>
                <a:r>
                  <a:rPr lang="zh-CN" altLang="en-US" sz="1600" dirty="0" smtClean="0"/>
                  <a:t>越好，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charset="0"/>
                          </a:rPr>
                          <m:t>𝑉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sz="16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zh-CN" altLang="en-US" sz="1600" dirty="0" smtClean="0"/>
                  <a:t> 的数值就越大。</a:t>
                </a:r>
                <a:endParaRPr lang="en-US" sz="1600" dirty="0"/>
              </a:p>
              <a:p>
                <a:r>
                  <a:rPr lang="en-US" altLang="zh-CN" sz="1600" dirty="0" smtClean="0"/>
                  <a:t>===========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charset="0"/>
                          </a:rPr>
                          <m:t>𝑉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还能评价</a:t>
                </a:r>
                <a:r>
                  <a:rPr lang="en-US" altLang="zh-CN" sz="1600" dirty="0" smtClean="0"/>
                  <a:t>policy</a:t>
                </a:r>
                <a:r>
                  <a:rPr lang="zh-CN" altLang="en-US" sz="1600" dirty="0" smtClean="0"/>
                  <a:t>函数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 charset="0"/>
                      </a:rPr>
                      <m:t>𝜋</m:t>
                    </m:r>
                  </m:oMath>
                </a14:m>
                <a:r>
                  <a:rPr lang="zh-CN" altLang="en-US" sz="1600" dirty="0" smtClean="0"/>
                  <a:t>的好坏。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如果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 charset="0"/>
                      </a:rPr>
                      <m:t>𝜋</m:t>
                    </m:r>
                  </m:oMath>
                </a14:m>
                <a:r>
                  <a:rPr lang="zh-CN" altLang="en-US" sz="1600" dirty="0" smtClean="0"/>
                  <a:t>越好，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charset="0"/>
                          </a:rPr>
                          <m:t>𝑉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的平均值就越大。</a:t>
                </a:r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我们之前定义了</a:t>
                </a:r>
                <a:r>
                  <a:rPr lang="en-US" altLang="zh-CN" dirty="0" smtClean="0"/>
                  <a:t>optimal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action-value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function</a:t>
                </a:r>
                <a:r>
                  <a:rPr lang="zh-CN" altLang="en-US" dirty="0" smtClean="0"/>
                  <a:t>，最优动作价值函数</a:t>
                </a:r>
                <a:r>
                  <a:rPr lang="en-US" i="0">
                    <a:latin typeface="Cambria Math" charset="0"/>
                  </a:rPr>
                  <a:t>𝑄</a:t>
                </a:r>
                <a:r>
                  <a:rPr lang="en-US" i="0" smtClean="0">
                    <a:latin typeface="Cambria Math" charset="0"/>
                  </a:rPr>
                  <a:t>^</a:t>
                </a:r>
                <a:r>
                  <a:rPr lang="en-US" i="0">
                    <a:latin typeface="Cambria Math" charset="0"/>
                  </a:rPr>
                  <a:t>⋆</a:t>
                </a:r>
                <a:r>
                  <a:rPr lang="zh-CN" altLang="en-US" b="0" i="0" smtClean="0">
                    <a:latin typeface="Cambria Math" charset="0"/>
                  </a:rPr>
                  <a:t> 。</a:t>
                </a:r>
                <a:endParaRPr lang="en-US" altLang="zh-CN" b="0" dirty="0" smtClean="0"/>
              </a:p>
              <a:p>
                <a:r>
                  <a:rPr lang="zh-CN" altLang="en-US" dirty="0" smtClean="0"/>
                  <a:t>函数</a:t>
                </a:r>
                <a:r>
                  <a:rPr lang="en-US" i="0">
                    <a:latin typeface="Cambria Math" charset="0"/>
                  </a:rPr>
                  <a:t>𝑄</a:t>
                </a:r>
                <a:r>
                  <a:rPr lang="en-US" i="0" smtClean="0">
                    <a:latin typeface="Cambria Math" charset="0"/>
                  </a:rPr>
                  <a:t>^</a:t>
                </a:r>
                <a:r>
                  <a:rPr lang="en-US" i="0">
                    <a:latin typeface="Cambria Math" charset="0"/>
                  </a:rPr>
                  <a:t>⋆</a:t>
                </a:r>
                <a:r>
                  <a:rPr lang="zh-CN" altLang="en-US" dirty="0" smtClean="0"/>
                  <a:t> 的输入是当前状态</a:t>
                </a:r>
                <a:r>
                  <a:rPr lang="en-US" altLang="zh-CN" dirty="0" smtClean="0"/>
                  <a:t>s</a:t>
                </a:r>
                <a:r>
                  <a:rPr lang="zh-CN" altLang="en-US" baseline="0" dirty="0" smtClean="0"/>
                  <a:t> </a:t>
                </a:r>
                <a:r>
                  <a:rPr lang="zh-CN" altLang="en-US" dirty="0" smtClean="0"/>
                  <a:t>和动作</a:t>
                </a:r>
                <a:r>
                  <a:rPr lang="en-US" altLang="zh-CN" dirty="0" smtClean="0"/>
                  <a:t>a</a:t>
                </a:r>
                <a:r>
                  <a:rPr lang="zh-CN" altLang="en-US" baseline="0" dirty="0" smtClean="0"/>
                  <a:t> </a:t>
                </a:r>
                <a:r>
                  <a:rPr lang="zh-CN" altLang="en-US" dirty="0" smtClean="0"/>
                  <a:t>，不依赖于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i="0" smtClean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函数</a:t>
                </a:r>
                <a:r>
                  <a:rPr lang="en-US" i="0">
                    <a:latin typeface="Cambria Math" charset="0"/>
                  </a:rPr>
                  <a:t>𝑄</a:t>
                </a:r>
                <a:r>
                  <a:rPr lang="en-US" i="0" smtClean="0">
                    <a:latin typeface="Cambria Math" charset="0"/>
                  </a:rPr>
                  <a:t>^</a:t>
                </a:r>
                <a:r>
                  <a:rPr lang="en-US" i="0">
                    <a:latin typeface="Cambria Math" charset="0"/>
                  </a:rPr>
                  <a:t>⋆</a:t>
                </a:r>
                <a:r>
                  <a:rPr lang="zh-CN" altLang="en-US" dirty="0" smtClean="0"/>
                  <a:t>能告诉我们什么信息呢？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它说明当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处在状态</a:t>
                </a:r>
                <a:r>
                  <a:rPr lang="en-US" altLang="zh-CN" dirty="0" smtClean="0"/>
                  <a:t>s</a:t>
                </a:r>
                <a:r>
                  <a:rPr lang="zh-CN" altLang="en-US" baseline="0" dirty="0" smtClean="0"/>
                  <a:t> </a:t>
                </a:r>
                <a:r>
                  <a:rPr lang="zh-CN" altLang="en-US" dirty="0" smtClean="0"/>
                  <a:t>时，选择动作</a:t>
                </a:r>
                <a:r>
                  <a:rPr lang="en-US" altLang="zh-CN" dirty="0" smtClean="0"/>
                  <a:t>a</a:t>
                </a:r>
                <a:r>
                  <a:rPr lang="zh-CN" altLang="en-US" dirty="0" smtClean="0"/>
                  <a:t>是好是坏。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========</a:t>
                </a:r>
              </a:p>
              <a:p>
                <a:r>
                  <a:rPr lang="zh-CN" altLang="en-US" dirty="0" smtClean="0"/>
                  <a:t>我们还定义了</a:t>
                </a:r>
                <a:r>
                  <a:rPr lang="zh-CN" altLang="en-US" baseline="0" dirty="0" smtClean="0"/>
                  <a:t> </a:t>
                </a:r>
                <a:r>
                  <a:rPr lang="en-US" altLang="zh-CN" baseline="0" dirty="0" smtClean="0"/>
                  <a:t>state-value</a:t>
                </a:r>
                <a:r>
                  <a:rPr lang="zh-CN" altLang="en-US" baseline="0" dirty="0" smtClean="0"/>
                  <a:t> </a:t>
                </a:r>
                <a:r>
                  <a:rPr lang="en-US" altLang="zh-CN" baseline="0" dirty="0" smtClean="0"/>
                  <a:t>function</a:t>
                </a:r>
                <a:r>
                  <a:rPr lang="zh-CN" altLang="en-US" baseline="0" dirty="0" smtClean="0"/>
                  <a:t> </a:t>
                </a:r>
                <a:r>
                  <a:rPr lang="en-US" i="0">
                    <a:latin typeface="Cambria Math" charset="0"/>
                  </a:rPr>
                  <a:t>𝑉</a:t>
                </a:r>
                <a:r>
                  <a:rPr lang="en-US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en-US" altLang="zh-CN" dirty="0" smtClean="0"/>
                  <a:t>.</a:t>
                </a:r>
              </a:p>
              <a:p>
                <a:r>
                  <a:rPr lang="en-US" i="0">
                    <a:latin typeface="Cambria Math" charset="0"/>
                  </a:rPr>
                  <a:t>𝑉</a:t>
                </a:r>
                <a:r>
                  <a:rPr lang="en-US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是把</a:t>
                </a:r>
                <a:r>
                  <a:rPr lang="en-US" i="0">
                    <a:latin typeface="Cambria Math" charset="0"/>
                  </a:rPr>
                  <a:t>𝑄</a:t>
                </a:r>
                <a:r>
                  <a:rPr lang="en-US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中的变量</a:t>
                </a:r>
                <a:r>
                  <a:rPr lang="en-US" altLang="zh-CN" dirty="0" smtClean="0"/>
                  <a:t>a</a:t>
                </a:r>
                <a:r>
                  <a:rPr lang="zh-CN" altLang="en-US" dirty="0" smtClean="0"/>
                  <a:t>用积分给去掉，这样就只剩下状态</a:t>
                </a:r>
                <a:r>
                  <a:rPr lang="en-US" altLang="zh-CN" dirty="0" smtClean="0"/>
                  <a:t>s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en-US" i="0">
                    <a:latin typeface="Cambria Math" charset="0"/>
                  </a:rPr>
                  <a:t>𝑉</a:t>
                </a:r>
                <a:r>
                  <a:rPr lang="en-US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只跟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altLang="zh-CN" dirty="0" smtClean="0"/>
                  <a:t>pi</a:t>
                </a:r>
                <a:r>
                  <a:rPr lang="zh-CN" altLang="en-US" dirty="0" smtClean="0"/>
                  <a:t>和状态</a:t>
                </a:r>
                <a:r>
                  <a:rPr lang="en-US" altLang="zh-CN" dirty="0" smtClean="0"/>
                  <a:t>s</a:t>
                </a:r>
                <a:r>
                  <a:rPr lang="zh-CN" altLang="en-US" dirty="0" smtClean="0"/>
                  <a:t>有关。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它说明如果使用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altLang="zh-CN" dirty="0" smtClean="0"/>
                  <a:t>pi</a:t>
                </a:r>
                <a:r>
                  <a:rPr lang="zh-CN" altLang="en-US" dirty="0" smtClean="0"/>
                  <a:t>，那么当前的状况是好还是坏，我是快赢了呢，</a:t>
                </a:r>
                <a:r>
                  <a:rPr lang="zh-CN" altLang="en-US" smtClean="0"/>
                  <a:t>还是快输了。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650680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600" dirty="0" smtClean="0"/>
              <a:t>We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have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learned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all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the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terminologies.</a:t>
            </a:r>
          </a:p>
          <a:p>
            <a:r>
              <a:rPr lang="en-US" altLang="zh-CN" sz="1600" dirty="0" smtClean="0"/>
              <a:t>Suppose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there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are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two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reinforcement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learning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algorithms.</a:t>
            </a:r>
          </a:p>
          <a:p>
            <a:r>
              <a:rPr lang="en-US" altLang="zh-CN" sz="1600" baseline="0" dirty="0" smtClean="0"/>
              <a:t>How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do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we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evaluate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algorithms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to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see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which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one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better?</a:t>
            </a:r>
          </a:p>
          <a:p>
            <a:endParaRPr lang="en-US" altLang="zh-CN" sz="1600" baseline="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r>
              <a:rPr lang="zh-CN" altLang="en-US" sz="1600" dirty="0" smtClean="0"/>
              <a:t>强化学习的基本概念都已经讲完了。</a:t>
            </a:r>
            <a:endParaRPr lang="en-US" altLang="zh-CN" sz="1600" dirty="0" smtClean="0"/>
          </a:p>
          <a:p>
            <a:r>
              <a:rPr lang="zh-CN" altLang="en-US" sz="1600" dirty="0" smtClean="0"/>
              <a:t>最后我们来看看怎么样用强化学习来自动打游戏。</a:t>
            </a:r>
            <a:endParaRPr lang="en-US" altLang="zh-CN" sz="1600" dirty="0" smtClean="0"/>
          </a:p>
          <a:p>
            <a:r>
              <a:rPr lang="zh-CN" altLang="en-US" sz="1600" dirty="0" smtClean="0"/>
              <a:t>这部分内容稍微轻松点。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631770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err="1" smtClean="0"/>
                  <a:t>OpenAI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Gym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</a:t>
                </a:r>
                <a:r>
                  <a:rPr lang="zh-CN" altLang="en-US" sz="1600" baseline="0" dirty="0" smtClean="0"/>
                  <a:t> </a:t>
                </a:r>
                <a:r>
                  <a:rPr lang="en-US" sz="1600" dirty="0" smtClean="0"/>
                  <a:t>toolkit for developing and comparing reinforcement learning algorithms.</a:t>
                </a:r>
              </a:p>
              <a:p>
                <a:r>
                  <a:rPr lang="en-US" altLang="zh-CN" sz="1600" baseline="0" dirty="0" smtClean="0"/>
                  <a:t>It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benchmark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for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evaluating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reinforcement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learning.</a:t>
                </a:r>
              </a:p>
              <a:p>
                <a:r>
                  <a:rPr lang="en-US" altLang="zh-CN" sz="1600" baseline="0" dirty="0" smtClean="0"/>
                  <a:t>It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like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ImageNet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data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for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computer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vision.</a:t>
                </a:r>
              </a:p>
              <a:p>
                <a:endParaRPr lang="en-US" altLang="zh-CN" sz="1600" baseline="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r>
                  <a:rPr lang="en-US" altLang="zh-CN" sz="1600" dirty="0" err="1" smtClean="0"/>
                  <a:t>OpenAI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Gym</a:t>
                </a:r>
                <a:r>
                  <a:rPr lang="zh-CN" altLang="en-US" sz="1600" dirty="0" smtClean="0"/>
                  <a:t> 是强化学习 最常用的 标准库。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如果你做强化学习，你肯定会用到</a:t>
                </a:r>
                <a:r>
                  <a:rPr lang="en-US" altLang="zh-CN" sz="1600" dirty="0" smtClean="0"/>
                  <a:t>Gym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如果你设计出一种算法学习到了</a:t>
                </a:r>
                <a:r>
                  <a:rPr lang="zh-CN" altLang="en-US" baseline="0" dirty="0" smtClean="0"/>
                  <a:t> </a:t>
                </a:r>
                <a:r>
                  <a:rPr lang="en-US" sz="1200" b="0" i="0" smtClean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函数，或者是</a:t>
                </a:r>
                <a:r>
                  <a:rPr lang="en-US" sz="1200" i="0">
                    <a:latin typeface="Cambria Math" charset="0"/>
                  </a:rPr>
                  <a:t>𝑄</a:t>
                </a:r>
                <a:r>
                  <a:rPr lang="en-US" sz="1200" i="0" smtClean="0">
                    <a:latin typeface="Cambria Math" charset="0"/>
                  </a:rPr>
                  <a:t>^</a:t>
                </a:r>
                <a:r>
                  <a:rPr lang="en-US" sz="1200" i="0">
                    <a:latin typeface="Cambria Math" charset="0"/>
                  </a:rPr>
                  <a:t>⋆</a:t>
                </a:r>
                <a:r>
                  <a:rPr lang="zh-CN" altLang="en-US" dirty="0" smtClean="0"/>
                  <a:t>函数，你就可以把算法用在控制问题上、或者是小游戏上。</a:t>
                </a:r>
                <a:endParaRPr lang="en-US" dirty="0" smtClean="0"/>
              </a:p>
              <a:p>
                <a:r>
                  <a:rPr lang="en-US" altLang="zh-CN" dirty="0" smtClean="0"/>
                  <a:t>-----</a:t>
                </a:r>
              </a:p>
              <a:p>
                <a:r>
                  <a:rPr lang="en-US" altLang="zh-CN" dirty="0" err="1" smtClean="0"/>
                  <a:t>OpenAI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Gym</a:t>
                </a:r>
                <a:r>
                  <a:rPr lang="zh-CN" altLang="en-US" dirty="0" smtClean="0"/>
                  <a:t> 是一个非常常用的 标准数据集。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如果你做强化学习，你肯定会用到</a:t>
                </a:r>
                <a:r>
                  <a:rPr lang="en-US" altLang="zh-CN" dirty="0" smtClean="0"/>
                  <a:t>Gym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Gym</a:t>
                </a:r>
                <a:r>
                  <a:rPr lang="zh-CN" altLang="en-US" dirty="0" smtClean="0"/>
                  <a:t>种有几类控制问题。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第一种是经典控制问题，比如</a:t>
                </a:r>
                <a:r>
                  <a:rPr lang="en-US" altLang="zh-CN" dirty="0" smtClean="0"/>
                  <a:t>cart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pole</a:t>
                </a:r>
                <a:r>
                  <a:rPr lang="zh-CN" altLang="en-US" dirty="0" smtClean="0"/>
                  <a:t>和</a:t>
                </a:r>
                <a:r>
                  <a:rPr lang="en-US" altLang="zh-CN" dirty="0" smtClean="0"/>
                  <a:t>pendulum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Cart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Pole</a:t>
                </a:r>
                <a:r>
                  <a:rPr lang="zh-CN" altLang="en-US" dirty="0" smtClean="0"/>
                  <a:t>要求给小车左右的力，移动小车，让上面的杆子能竖起来。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Pendulum</a:t>
                </a:r>
                <a:r>
                  <a:rPr lang="zh-CN" altLang="en-US" dirty="0" smtClean="0"/>
                  <a:t>要求给钟摆一个力，让钟摆恰好能竖起来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endParaRPr lang="en-US" altLang="zh-CN" dirty="0" smtClean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02725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baseline="0" dirty="0" smtClean="0"/>
                  <a:t>Gym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has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several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types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problems.</a:t>
                </a:r>
              </a:p>
              <a:p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first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and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simplest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classical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control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problems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such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Cart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Pole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and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Pendulum.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/>
                  <a:t>=================================</a:t>
                </a:r>
              </a:p>
              <a:p>
                <a:r>
                  <a:rPr lang="en-US" altLang="zh-CN" sz="1600" baseline="0" dirty="0" smtClean="0"/>
                  <a:t>In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Cart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Pole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environment,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give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cart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force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towards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left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right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that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pole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can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upright.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/>
                  <a:t>=================================</a:t>
                </a:r>
              </a:p>
              <a:p>
                <a:r>
                  <a:rPr lang="en-US" altLang="zh-CN" sz="1600" baseline="0" dirty="0" smtClean="0"/>
                  <a:t>In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Pendulum,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similarly,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give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pendulum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force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that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pendulum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becomes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upright.</a:t>
                </a:r>
              </a:p>
              <a:p>
                <a:endParaRPr lang="en-US" altLang="zh-CN" sz="1600" baseline="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r>
                  <a:rPr lang="en-US" altLang="zh-CN" sz="1600" dirty="0" smtClean="0"/>
                  <a:t>Gym</a:t>
                </a:r>
                <a:r>
                  <a:rPr lang="zh-CN" altLang="en-US" sz="1600" baseline="0" dirty="0" smtClean="0"/>
                  <a:t> </a:t>
                </a:r>
                <a:r>
                  <a:rPr lang="zh-CN" altLang="en-US" sz="1600" dirty="0" smtClean="0"/>
                  <a:t>有几大类控制问题。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第一种是经典控制问题，比如</a:t>
                </a:r>
                <a:r>
                  <a:rPr lang="en-US" altLang="zh-CN" sz="1600" dirty="0" smtClean="0"/>
                  <a:t>cart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pole</a:t>
                </a:r>
                <a:r>
                  <a:rPr lang="zh-CN" altLang="en-US" sz="1600" dirty="0" smtClean="0"/>
                  <a:t>和</a:t>
                </a:r>
                <a:r>
                  <a:rPr lang="en-US" altLang="zh-CN" sz="1600" dirty="0" smtClean="0"/>
                  <a:t>pendulum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/>
                  <a:t>=================================</a:t>
                </a:r>
              </a:p>
              <a:p>
                <a:r>
                  <a:rPr lang="en-US" altLang="zh-CN" sz="1600" dirty="0" smtClean="0"/>
                  <a:t>Cart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Pole</a:t>
                </a:r>
                <a:r>
                  <a:rPr lang="zh-CN" altLang="en-US" sz="1600" dirty="0" smtClean="0"/>
                  <a:t>要求给小车左右的力，移动小车，让上面的杆子能竖起来。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/>
                  <a:t>=================================</a:t>
                </a:r>
              </a:p>
              <a:p>
                <a:r>
                  <a:rPr lang="en-US" altLang="zh-CN" sz="1600" dirty="0" smtClean="0"/>
                  <a:t>Pendulum</a:t>
                </a:r>
                <a:r>
                  <a:rPr lang="zh-CN" altLang="en-US" sz="1600" dirty="0" smtClean="0"/>
                  <a:t>要求给钟摆一个力，让钟摆恰好能竖起来。</a:t>
                </a:r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如果你设计出一种算法学习到了</a:t>
                </a:r>
                <a:r>
                  <a:rPr lang="zh-CN" altLang="en-US" baseline="0" dirty="0" smtClean="0"/>
                  <a:t> </a:t>
                </a:r>
                <a:r>
                  <a:rPr lang="en-US" sz="1200" b="0" i="0" smtClean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函数，或者是</a:t>
                </a:r>
                <a:r>
                  <a:rPr lang="en-US" sz="1200" i="0">
                    <a:latin typeface="Cambria Math" charset="0"/>
                  </a:rPr>
                  <a:t>𝑄</a:t>
                </a:r>
                <a:r>
                  <a:rPr lang="en-US" sz="1200" i="0" smtClean="0">
                    <a:latin typeface="Cambria Math" charset="0"/>
                  </a:rPr>
                  <a:t>^</a:t>
                </a:r>
                <a:r>
                  <a:rPr lang="en-US" sz="1200" i="0">
                    <a:latin typeface="Cambria Math" charset="0"/>
                  </a:rPr>
                  <a:t>⋆</a:t>
                </a:r>
                <a:r>
                  <a:rPr lang="zh-CN" altLang="en-US" dirty="0" smtClean="0"/>
                  <a:t>函数，你就可以把算法用在控制问题上、或者是小游戏上。</a:t>
                </a:r>
                <a:endParaRPr lang="en-US" dirty="0" smtClean="0"/>
              </a:p>
              <a:p>
                <a:r>
                  <a:rPr lang="en-US" altLang="zh-CN" dirty="0" smtClean="0"/>
                  <a:t>-----</a:t>
                </a:r>
              </a:p>
              <a:p>
                <a:r>
                  <a:rPr lang="en-US" altLang="zh-CN" dirty="0" err="1" smtClean="0"/>
                  <a:t>OpenAI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Gym</a:t>
                </a:r>
                <a:r>
                  <a:rPr lang="zh-CN" altLang="en-US" dirty="0" smtClean="0"/>
                  <a:t> 是一个非常常用的 标准数据集。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如果你做强化学习，你肯定会用到</a:t>
                </a:r>
                <a:r>
                  <a:rPr lang="en-US" altLang="zh-CN" dirty="0" smtClean="0"/>
                  <a:t>Gym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Gym</a:t>
                </a:r>
                <a:r>
                  <a:rPr lang="zh-CN" altLang="en-US" dirty="0" smtClean="0"/>
                  <a:t>种有几类控制问题。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第一种是经典控制问题，比如</a:t>
                </a:r>
                <a:r>
                  <a:rPr lang="en-US" altLang="zh-CN" dirty="0" smtClean="0"/>
                  <a:t>cart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pole</a:t>
                </a:r>
                <a:r>
                  <a:rPr lang="zh-CN" altLang="en-US" dirty="0" smtClean="0"/>
                  <a:t>和</a:t>
                </a:r>
                <a:r>
                  <a:rPr lang="en-US" altLang="zh-CN" dirty="0" smtClean="0"/>
                  <a:t>pendulum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Cart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Pole</a:t>
                </a:r>
                <a:r>
                  <a:rPr lang="zh-CN" altLang="en-US" dirty="0" smtClean="0"/>
                  <a:t>要求给小车左右的力，移动小车，让上面的杆子能竖起来。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Pendulum</a:t>
                </a:r>
                <a:r>
                  <a:rPr lang="zh-CN" altLang="en-US" dirty="0" smtClean="0"/>
                  <a:t>要求给钟摆一个力，让钟摆恰好能竖起来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endParaRPr lang="en-US" altLang="zh-CN" dirty="0" smtClean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198768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600" dirty="0" smtClean="0"/>
              <a:t>Atari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games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are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</a:t>
            </a:r>
            <a:r>
              <a:rPr lang="en-US" altLang="zh-CN" sz="1600" dirty="0" smtClean="0"/>
              <a:t>he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second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kind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of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problems;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they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are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the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most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popular.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aseline="0" dirty="0" smtClean="0"/>
              <a:t>=================================</a:t>
            </a:r>
          </a:p>
          <a:p>
            <a:r>
              <a:rPr lang="en-US" altLang="zh-CN" sz="1600" dirty="0" smtClean="0"/>
              <a:t>Pong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requires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the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control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of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paddle.</a:t>
            </a:r>
          </a:p>
          <a:p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paddle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agent.</a:t>
            </a:r>
          </a:p>
          <a:p>
            <a:r>
              <a:rPr lang="en-US" altLang="zh-CN" sz="1600" baseline="0" dirty="0" smtClean="0"/>
              <a:t>You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can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move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paddle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vertically.</a:t>
            </a:r>
          </a:p>
          <a:p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goal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to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get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ball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and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try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to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make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opponent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fail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to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get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ball.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aseline="0" dirty="0" smtClean="0"/>
              <a:t>=================================</a:t>
            </a:r>
          </a:p>
          <a:p>
            <a:r>
              <a:rPr lang="en-US" altLang="zh-CN" sz="1600" baseline="0" dirty="0" smtClean="0"/>
              <a:t>In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Space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Invader,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you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control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 laser cannon by moving it horizontally across the bottom of the screen and firing at descending aliens.</a:t>
            </a:r>
          </a:p>
          <a:p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laser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cannon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agent.</a:t>
            </a:r>
          </a:p>
          <a:p>
            <a:r>
              <a:rPr lang="en-US" altLang="zh-CN" sz="1600" baseline="0" dirty="0" smtClean="0"/>
              <a:t>=================================</a:t>
            </a:r>
          </a:p>
          <a:p>
            <a:r>
              <a:rPr lang="en-US" altLang="zh-CN" sz="1600" baseline="0" dirty="0" smtClean="0"/>
              <a:t>In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Breakout,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you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can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move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paddle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horizontally.</a:t>
            </a:r>
          </a:p>
          <a:p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paddle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agent.</a:t>
            </a:r>
          </a:p>
          <a:p>
            <a:r>
              <a:rPr lang="en-US" altLang="zh-CN" sz="1600" baseline="0" dirty="0" smtClean="0"/>
              <a:t>Using a single ball, the player must knock down as many bricks as possible.</a:t>
            </a:r>
          </a:p>
          <a:p>
            <a:endParaRPr lang="en-US" altLang="zh-CN" sz="1600" baseline="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r>
              <a:rPr lang="zh-CN" altLang="en-US" sz="1600" dirty="0" smtClean="0"/>
              <a:t>第二种是你最常见的，</a:t>
            </a:r>
            <a:r>
              <a:rPr lang="en-US" altLang="zh-CN" sz="1600" dirty="0" smtClean="0"/>
              <a:t>Atari</a:t>
            </a:r>
            <a:r>
              <a:rPr lang="zh-CN" altLang="en-US" sz="1600" dirty="0" smtClean="0"/>
              <a:t>游戏，就是小时候 在小霸王游戏机上  拿手柄玩的那种。</a:t>
            </a:r>
            <a:endParaRPr lang="en-US" altLang="zh-CN" sz="1600" dirty="0" smtClean="0"/>
          </a:p>
          <a:p>
            <a:r>
              <a:rPr lang="en-US" altLang="zh-CN" sz="1600" dirty="0" smtClean="0"/>
              <a:t>Pong</a:t>
            </a:r>
            <a:r>
              <a:rPr lang="zh-CN" altLang="en-US" sz="1600" dirty="0" smtClean="0"/>
              <a:t>里面的</a:t>
            </a:r>
            <a:r>
              <a:rPr lang="en-US" altLang="zh-CN" sz="1600" dirty="0" smtClean="0"/>
              <a:t>agent</a:t>
            </a:r>
            <a:r>
              <a:rPr lang="zh-CN" altLang="en-US" sz="1600" dirty="0" smtClean="0"/>
              <a:t>是乒乓球拍，你让球拍上下运动，目标是接住对手的球，并且让对手接不住你的球。</a:t>
            </a:r>
            <a:endParaRPr lang="en-US" altLang="zh-CN" sz="1600" dirty="0" smtClean="0"/>
          </a:p>
          <a:p>
            <a:r>
              <a:rPr lang="en-US" altLang="zh-CN" sz="1600" dirty="0" smtClean="0"/>
              <a:t>Space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Invader</a:t>
            </a:r>
            <a:r>
              <a:rPr lang="zh-CN" altLang="en-US" sz="1600" dirty="0" smtClean="0"/>
              <a:t>里面的</a:t>
            </a:r>
            <a:r>
              <a:rPr lang="en-US" altLang="zh-CN" sz="1600" dirty="0" smtClean="0"/>
              <a:t>agent</a:t>
            </a:r>
            <a:r>
              <a:rPr lang="zh-CN" altLang="en-US" sz="1600" dirty="0" smtClean="0"/>
              <a:t>是小飞机，可以左右移动，也可以发射炮弹。</a:t>
            </a:r>
            <a:endParaRPr lang="en-US" altLang="zh-CN" sz="1600" dirty="0" smtClean="0"/>
          </a:p>
          <a:p>
            <a:r>
              <a:rPr lang="en-US" altLang="zh-CN" sz="1600" dirty="0" smtClean="0"/>
              <a:t>Breakout</a:t>
            </a:r>
            <a:r>
              <a:rPr lang="zh-CN" altLang="en-US" sz="1600" dirty="0" smtClean="0"/>
              <a:t>里面的</a:t>
            </a:r>
            <a:r>
              <a:rPr lang="en-US" altLang="zh-CN" sz="1600" dirty="0" smtClean="0"/>
              <a:t>agent</a:t>
            </a:r>
            <a:r>
              <a:rPr lang="zh-CN" altLang="en-US" sz="1600" dirty="0" smtClean="0"/>
              <a:t>是下面这个球拍，可以左右移动，目标是接住球，并且把上面这些砖头都打掉。</a:t>
            </a:r>
            <a:endParaRPr lang="en-US" altLang="zh-CN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26297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600" dirty="0" smtClean="0"/>
              <a:t>The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third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kind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of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problem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is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continuous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control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tasks,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including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Ant,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Humanoid,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and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Half-Cheetah.</a:t>
            </a:r>
            <a:endParaRPr lang="en-US" altLang="zh-CN" sz="1600" dirty="0" smtClean="0"/>
          </a:p>
          <a:p>
            <a:r>
              <a:rPr lang="en-US" altLang="zh-CN" sz="1600" dirty="0" smtClean="0"/>
              <a:t>The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physical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simulator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called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err="1" smtClean="0"/>
              <a:t>MuJoCo</a:t>
            </a:r>
            <a:r>
              <a:rPr lang="en-US" altLang="zh-CN" sz="1600" baseline="0" dirty="0" smtClean="0"/>
              <a:t>.</a:t>
            </a:r>
          </a:p>
          <a:p>
            <a:r>
              <a:rPr lang="en-US" altLang="zh-CN" sz="1600" baseline="0" dirty="0" smtClean="0"/>
              <a:t>It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can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simulate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gravity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and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other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forces.</a:t>
            </a:r>
          </a:p>
          <a:p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AI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will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learn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to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control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robots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to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stand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and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walk.</a:t>
            </a:r>
            <a:endParaRPr lang="en-US" altLang="zh-CN" sz="160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r>
              <a:rPr lang="zh-CN" altLang="en-US" sz="1600" dirty="0" smtClean="0"/>
              <a:t>第三种问题是连续的控制问题。</a:t>
            </a:r>
            <a:endParaRPr lang="en-US" altLang="zh-CN" sz="1600" dirty="0" smtClean="0"/>
          </a:p>
          <a:p>
            <a:r>
              <a:rPr lang="zh-CN" altLang="en-US" sz="1600" dirty="0" smtClean="0"/>
              <a:t>比如控制蚂蚁、人、猎豹走路。</a:t>
            </a:r>
            <a:endParaRPr lang="en-US" altLang="zh-CN" sz="1600" dirty="0" smtClean="0"/>
          </a:p>
          <a:p>
            <a:r>
              <a:rPr lang="zh-CN" altLang="en-US" sz="1600" dirty="0" smtClean="0"/>
              <a:t>这个模拟器叫做</a:t>
            </a:r>
            <a:r>
              <a:rPr lang="en-US" altLang="zh-CN" sz="1600" dirty="0" err="1" smtClean="0"/>
              <a:t>MuJoCo</a:t>
            </a:r>
            <a:r>
              <a:rPr lang="zh-CN" altLang="en-US" sz="1600" dirty="0" smtClean="0"/>
              <a:t>，它可以模拟重力等物理量。</a:t>
            </a:r>
            <a:endParaRPr lang="en-US" altLang="zh-CN" sz="1600" dirty="0" smtClean="0"/>
          </a:p>
          <a:p>
            <a:r>
              <a:rPr lang="en-US" altLang="zh-CN" sz="1600" dirty="0" smtClean="0"/>
              <a:t>Ai</a:t>
            </a:r>
            <a:r>
              <a:rPr lang="zh-CN" altLang="en-US" sz="1600" dirty="0" smtClean="0"/>
              <a:t>需要控制这些机器人站立和走路。</a:t>
            </a:r>
            <a:endParaRPr lang="en-US" altLang="zh-CN" sz="1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293093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600" dirty="0" smtClean="0"/>
              <a:t>You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can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use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Gym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to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evaluate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your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algorithm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and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compare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your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algorithm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with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existing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baselines.</a:t>
            </a:r>
          </a:p>
          <a:p>
            <a:r>
              <a:rPr lang="en-US" altLang="zh-CN" sz="1600" baseline="0" dirty="0" smtClean="0"/>
              <a:t>You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can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use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this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Humanoid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for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evaluating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your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algorithm.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aseline="0" dirty="0" smtClean="0"/>
              <a:t>=================================</a:t>
            </a:r>
          </a:p>
          <a:p>
            <a:r>
              <a:rPr lang="en-US" altLang="zh-CN" sz="1600" baseline="0" dirty="0" smtClean="0"/>
              <a:t>In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beginning,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neural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networks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are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randomly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initialized.</a:t>
            </a:r>
          </a:p>
          <a:p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policy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makes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random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decisions.</a:t>
            </a:r>
          </a:p>
          <a:p>
            <a:r>
              <a:rPr lang="en-US" altLang="zh-CN" sz="1600" baseline="0" dirty="0" smtClean="0"/>
              <a:t>So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humanoid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always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falls.</a:t>
            </a:r>
          </a:p>
          <a:p>
            <a:r>
              <a:rPr lang="en-US" altLang="zh-CN" sz="1600" baseline="0" dirty="0" smtClean="0"/>
              <a:t>----</a:t>
            </a:r>
          </a:p>
          <a:p>
            <a:r>
              <a:rPr lang="en-US" altLang="zh-CN" sz="1600" baseline="0" dirty="0" smtClean="0"/>
              <a:t>After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some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iterations,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becomes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able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to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stand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and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hold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for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few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seconds.</a:t>
            </a:r>
          </a:p>
          <a:p>
            <a:r>
              <a:rPr lang="en-US" altLang="zh-CN" sz="1600" baseline="0" dirty="0" smtClean="0"/>
              <a:t>After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hundred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iterations,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agent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can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walk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few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steps.</a:t>
            </a:r>
          </a:p>
          <a:p>
            <a:r>
              <a:rPr lang="en-US" altLang="zh-CN" sz="1600" baseline="0" dirty="0" smtClean="0"/>
              <a:t>After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hundreds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of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iterations,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agent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can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even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run.</a:t>
            </a:r>
          </a:p>
          <a:p>
            <a:r>
              <a:rPr lang="en-US" altLang="zh-CN" sz="1600" baseline="0" dirty="0" smtClean="0"/>
              <a:t>With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more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training,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policy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gets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better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and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better,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and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agent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runs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longer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and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faster.</a:t>
            </a:r>
            <a:endParaRPr lang="en-US" altLang="zh-CN" sz="160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r>
              <a:rPr lang="zh-CN" altLang="en-US" sz="1600" dirty="0" smtClean="0"/>
              <a:t>如果你设计出一种强化学习的算法，你怎么知道你的算法是否比 别人的算法更好、或者更快？</a:t>
            </a:r>
            <a:endParaRPr lang="en-US" altLang="zh-CN" sz="1600" dirty="0" smtClean="0"/>
          </a:p>
          <a:p>
            <a:r>
              <a:rPr lang="zh-CN" altLang="en-US" sz="1600" dirty="0" smtClean="0"/>
              <a:t>这就需要在标准数据集上检验算法的效果。</a:t>
            </a:r>
            <a:endParaRPr lang="en-US" altLang="zh-CN" sz="1600" dirty="0" smtClean="0"/>
          </a:p>
          <a:p>
            <a:r>
              <a:rPr lang="zh-CN" altLang="en-US" sz="1600" dirty="0" smtClean="0"/>
              <a:t>所有搞强化学习的学者 都会用</a:t>
            </a:r>
            <a:r>
              <a:rPr lang="en-US" altLang="zh-CN" sz="1600" dirty="0" smtClean="0"/>
              <a:t>Gym</a:t>
            </a:r>
            <a:r>
              <a:rPr lang="zh-CN" altLang="en-US" sz="1600" dirty="0" smtClean="0"/>
              <a:t>来测试算法的优劣。</a:t>
            </a:r>
            <a:endParaRPr lang="en-US" altLang="zh-CN" sz="1600" dirty="0" smtClean="0"/>
          </a:p>
          <a:p>
            <a:r>
              <a:rPr lang="en-US" altLang="zh-CN" sz="1600" dirty="0" smtClean="0"/>
              <a:t>------</a:t>
            </a:r>
          </a:p>
          <a:p>
            <a:r>
              <a:rPr lang="zh-CN" altLang="en-US" sz="1600" dirty="0" smtClean="0"/>
              <a:t>比如你可以用</a:t>
            </a:r>
            <a:r>
              <a:rPr lang="en-US" altLang="zh-CN" sz="1600" dirty="0" err="1" smtClean="0"/>
              <a:t>MuJoCo</a:t>
            </a:r>
            <a:r>
              <a:rPr lang="zh-CN" altLang="en-US" sz="1600" dirty="0" smtClean="0"/>
              <a:t>库里面的这个人型机器人来检验你的算法。</a:t>
            </a:r>
            <a:endParaRPr lang="en-US" altLang="zh-CN" sz="160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aseline="0" dirty="0" smtClean="0"/>
              <a:t>=================================</a:t>
            </a:r>
            <a:endParaRPr lang="en-US" altLang="zh-CN" sz="1600" dirty="0" smtClean="0"/>
          </a:p>
          <a:p>
            <a:r>
              <a:rPr lang="zh-CN" altLang="en-US" sz="1600" dirty="0" smtClean="0"/>
              <a:t>一开始，神经网络是随机初始化的，所以机器人会摔倒。</a:t>
            </a:r>
            <a:endParaRPr lang="en-US" altLang="zh-CN" sz="1600" dirty="0" smtClean="0"/>
          </a:p>
          <a:p>
            <a:r>
              <a:rPr lang="zh-CN" altLang="en-US" sz="1600" dirty="0" smtClean="0"/>
              <a:t>慢慢地机器人能站住一会了。</a:t>
            </a:r>
            <a:endParaRPr lang="en-US" altLang="zh-CN" sz="1600" dirty="0" smtClean="0"/>
          </a:p>
          <a:p>
            <a:r>
              <a:rPr lang="zh-CN" altLang="en-US" sz="1600" dirty="0" smtClean="0"/>
              <a:t>然后机器人会走两步。</a:t>
            </a:r>
            <a:endParaRPr lang="en-US" altLang="zh-CN" sz="1600" dirty="0" smtClean="0"/>
          </a:p>
          <a:p>
            <a:r>
              <a:rPr lang="zh-CN" altLang="en-US" sz="1600" dirty="0" smtClean="0"/>
              <a:t>学了几百次之后，机器还学会小跑了。</a:t>
            </a:r>
            <a:endParaRPr lang="en-US" altLang="zh-CN" sz="1600" dirty="0" smtClean="0"/>
          </a:p>
          <a:p>
            <a:r>
              <a:rPr lang="en-US" altLang="zh-CN" sz="1600" dirty="0" smtClean="0"/>
              <a:t>------------------</a:t>
            </a:r>
          </a:p>
          <a:p>
            <a:r>
              <a:rPr lang="zh-CN" altLang="en-US" sz="1600" dirty="0" smtClean="0"/>
              <a:t>怎么比较算法的优劣呢？</a:t>
            </a:r>
            <a:endParaRPr lang="en-US" altLang="zh-CN" sz="1600" dirty="0" smtClean="0"/>
          </a:p>
          <a:p>
            <a:r>
              <a:rPr lang="zh-CN" altLang="en-US" sz="1600" dirty="0" smtClean="0"/>
              <a:t>比如可以这样。</a:t>
            </a:r>
            <a:endParaRPr lang="en-US" altLang="zh-CN" sz="1600" dirty="0" smtClean="0"/>
          </a:p>
          <a:p>
            <a:r>
              <a:rPr lang="zh-CN" altLang="en-US" sz="1600" dirty="0" smtClean="0"/>
              <a:t>有两种算法。</a:t>
            </a:r>
            <a:endParaRPr lang="en-US" altLang="zh-CN" sz="1600" dirty="0" smtClean="0"/>
          </a:p>
          <a:p>
            <a:r>
              <a:rPr lang="zh-CN" altLang="en-US" sz="1600" dirty="0" smtClean="0"/>
              <a:t>第一种算法玩了一万局游戏，达到了某种水平。</a:t>
            </a:r>
            <a:endParaRPr lang="en-US" altLang="zh-CN" sz="1600" dirty="0" smtClean="0"/>
          </a:p>
          <a:p>
            <a:r>
              <a:rPr lang="zh-CN" altLang="en-US" sz="1600" dirty="0" smtClean="0"/>
              <a:t>另一种算法玩了一千局游戏，达到相同水平。</a:t>
            </a:r>
            <a:endParaRPr lang="en-US" altLang="zh-CN" sz="1600" dirty="0" smtClean="0"/>
          </a:p>
          <a:p>
            <a:r>
              <a:rPr lang="zh-CN" altLang="en-US" sz="1600" dirty="0" smtClean="0"/>
              <a:t>那就可以认为后一种算法更好，因为它用了更少样本就学到了同样的能力。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51658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600" dirty="0" smtClean="0"/>
              <a:t>Here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I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show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you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how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to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use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Gym.</a:t>
            </a:r>
          </a:p>
          <a:p>
            <a:r>
              <a:rPr lang="en-US" altLang="zh-CN" sz="1600" dirty="0" smtClean="0"/>
              <a:t>First,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follow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official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document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to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install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Gym.</a:t>
            </a:r>
          </a:p>
          <a:p>
            <a:r>
              <a:rPr lang="en-US" altLang="zh-CN" sz="1600" baseline="0" dirty="0" smtClean="0"/>
              <a:t>===============================</a:t>
            </a:r>
          </a:p>
          <a:p>
            <a:r>
              <a:rPr lang="en-US" altLang="zh-CN" sz="1600" baseline="0" dirty="0" smtClean="0"/>
              <a:t>Then,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you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can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import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Gym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library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Python.</a:t>
            </a:r>
          </a:p>
          <a:p>
            <a:r>
              <a:rPr lang="en-US" altLang="zh-CN" sz="1600" baseline="0" dirty="0" smtClean="0"/>
              <a:t>===============================</a:t>
            </a:r>
          </a:p>
          <a:p>
            <a:r>
              <a:rPr lang="en-US" altLang="zh-CN" sz="1600" baseline="0" dirty="0" smtClean="0"/>
              <a:t>Function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err="1" smtClean="0"/>
              <a:t>gym.make</a:t>
            </a:r>
            <a:r>
              <a:rPr lang="en-US" altLang="zh-CN" sz="1600" baseline="0" dirty="0" smtClean="0"/>
              <a:t>()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can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generate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environment.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aseline="0" dirty="0" smtClean="0"/>
              <a:t>===============================</a:t>
            </a:r>
          </a:p>
          <a:p>
            <a:r>
              <a:rPr lang="en-US" altLang="zh-CN" sz="1600" baseline="0" dirty="0" smtClean="0"/>
              <a:t>In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parentheses,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you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specify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name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of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control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problem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or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game.</a:t>
            </a:r>
          </a:p>
          <a:p>
            <a:r>
              <a:rPr lang="en-US" altLang="zh-CN" sz="1600" dirty="0" smtClean="0"/>
              <a:t>I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wrote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“</a:t>
            </a:r>
            <a:r>
              <a:rPr lang="en-US" altLang="zh-CN" sz="1600" baseline="0" dirty="0" err="1" smtClean="0"/>
              <a:t>CartPole</a:t>
            </a:r>
            <a:r>
              <a:rPr lang="en-US" altLang="zh-CN" sz="1600" baseline="0" dirty="0" smtClean="0"/>
              <a:t>”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parentheses,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so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environment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err="1" smtClean="0"/>
              <a:t>CartPole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control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problem.</a:t>
            </a:r>
          </a:p>
          <a:p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function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returns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object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err="1" smtClean="0"/>
              <a:t>env</a:t>
            </a:r>
            <a:r>
              <a:rPr lang="en-US" altLang="zh-CN" sz="1600" baseline="0" dirty="0" smtClean="0"/>
              <a:t>.</a:t>
            </a:r>
          </a:p>
          <a:p>
            <a:r>
              <a:rPr lang="en-US" altLang="zh-CN" sz="1600" baseline="0" dirty="0" err="1" smtClean="0"/>
              <a:t>env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environment.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aseline="0" dirty="0" smtClean="0"/>
              <a:t>===============================</a:t>
            </a:r>
          </a:p>
          <a:p>
            <a:r>
              <a:rPr lang="en-US" altLang="zh-CN" sz="1600" baseline="0" dirty="0" smtClean="0"/>
              <a:t>Look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figure.</a:t>
            </a:r>
          </a:p>
          <a:p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cart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agent;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can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move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horizontally.</a:t>
            </a:r>
          </a:p>
          <a:p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environment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use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Newton’s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laws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to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compute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movement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of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cart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and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pole,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based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on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position,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velocity,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and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force.</a:t>
            </a:r>
            <a:endParaRPr lang="en-US" altLang="zh-CN" sz="160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r>
              <a:rPr lang="zh-CN" altLang="en-US" sz="1600" dirty="0" smtClean="0"/>
              <a:t>用</a:t>
            </a:r>
            <a:r>
              <a:rPr lang="en-US" altLang="zh-CN" sz="1600" dirty="0" smtClean="0"/>
              <a:t>Gym</a:t>
            </a:r>
            <a:r>
              <a:rPr lang="zh-CN" altLang="en-US" sz="1600" dirty="0" smtClean="0"/>
              <a:t>这个系统来做实验很容易。</a:t>
            </a:r>
            <a:endParaRPr lang="en-US" altLang="zh-CN" sz="1600" dirty="0" smtClean="0"/>
          </a:p>
          <a:p>
            <a:r>
              <a:rPr lang="zh-CN" altLang="en-US" sz="1600" dirty="0" smtClean="0"/>
              <a:t>首先按照官方文档来安装</a:t>
            </a:r>
            <a:r>
              <a:rPr lang="en-US" altLang="zh-CN" sz="1600" dirty="0" smtClean="0"/>
              <a:t>Gym</a:t>
            </a:r>
            <a:r>
              <a:rPr lang="zh-CN" altLang="en-US" sz="1600" dirty="0" smtClean="0"/>
              <a:t>。</a:t>
            </a:r>
            <a:endParaRPr lang="en-US" altLang="zh-CN" sz="1600" dirty="0" smtClean="0"/>
          </a:p>
          <a:p>
            <a:r>
              <a:rPr lang="zh-CN" altLang="en-US" sz="1600" dirty="0" smtClean="0"/>
              <a:t>安装好了就可以在</a:t>
            </a:r>
            <a:r>
              <a:rPr lang="en-US" altLang="zh-CN" sz="1600" dirty="0" smtClean="0"/>
              <a:t>Python</a:t>
            </a:r>
            <a:r>
              <a:rPr lang="zh-CN" altLang="en-US" sz="1600" dirty="0" smtClean="0"/>
              <a:t>里面调用</a:t>
            </a:r>
            <a:r>
              <a:rPr lang="en-US" altLang="zh-CN" sz="1600" dirty="0" smtClean="0"/>
              <a:t>Gym</a:t>
            </a:r>
            <a:r>
              <a:rPr lang="zh-CN" altLang="en-US" sz="1600" dirty="0" smtClean="0"/>
              <a:t>的函数了。</a:t>
            </a:r>
            <a:endParaRPr lang="en-US" altLang="zh-CN" sz="1600" dirty="0" smtClean="0"/>
          </a:p>
          <a:p>
            <a:r>
              <a:rPr lang="en-US" altLang="zh-CN" sz="1600" dirty="0" smtClean="0"/>
              <a:t>-----</a:t>
            </a:r>
          </a:p>
          <a:p>
            <a:r>
              <a:rPr lang="zh-CN" altLang="en-US" sz="1600" dirty="0" smtClean="0"/>
              <a:t>首先</a:t>
            </a:r>
            <a:r>
              <a:rPr lang="en-US" altLang="zh-CN" sz="1600" dirty="0" smtClean="0"/>
              <a:t>import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gym</a:t>
            </a:r>
            <a:r>
              <a:rPr lang="zh-CN" altLang="en-US" sz="1600" dirty="0" smtClean="0"/>
              <a:t>。</a:t>
            </a:r>
            <a:endParaRPr lang="en-US" altLang="zh-CN" sz="1600" dirty="0" smtClean="0"/>
          </a:p>
          <a:p>
            <a:r>
              <a:rPr lang="zh-CN" altLang="en-US" sz="1600" dirty="0" smtClean="0"/>
              <a:t>然后要生成环境，需要用</a:t>
            </a:r>
            <a:r>
              <a:rPr lang="en-US" altLang="zh-CN" sz="1600" dirty="0" err="1" smtClean="0"/>
              <a:t>gym.make</a:t>
            </a:r>
            <a:r>
              <a:rPr lang="zh-CN" altLang="en-US" sz="1600" dirty="0" smtClean="0"/>
              <a:t>这个函数。</a:t>
            </a:r>
            <a:endParaRPr lang="en-US" altLang="zh-CN" sz="1600" dirty="0" smtClean="0"/>
          </a:p>
          <a:p>
            <a:r>
              <a:rPr lang="zh-CN" altLang="en-US" sz="1600" dirty="0" smtClean="0"/>
              <a:t>如果想要训练</a:t>
            </a:r>
            <a:r>
              <a:rPr lang="en-US" altLang="zh-CN" sz="1600" dirty="0" smtClean="0"/>
              <a:t>AI</a:t>
            </a:r>
            <a:r>
              <a:rPr lang="zh-CN" altLang="en-US" sz="1600" dirty="0" smtClean="0"/>
              <a:t>解</a:t>
            </a:r>
            <a:r>
              <a:rPr lang="en-US" altLang="zh-CN" sz="1600" dirty="0" err="1" smtClean="0"/>
              <a:t>CartPole</a:t>
            </a:r>
            <a:r>
              <a:rPr lang="zh-CN" altLang="en-US" sz="1600" dirty="0" smtClean="0"/>
              <a:t>这个问题，就用</a:t>
            </a:r>
            <a:r>
              <a:rPr lang="en-US" altLang="zh-CN" sz="1600" dirty="0" smtClean="0"/>
              <a:t>’</a:t>
            </a:r>
            <a:r>
              <a:rPr lang="en-US" altLang="zh-CN" sz="1600" dirty="0" err="1" smtClean="0"/>
              <a:t>CartPole</a:t>
            </a:r>
            <a:r>
              <a:rPr lang="en-US" altLang="zh-CN" sz="1600" dirty="0" smtClean="0"/>
              <a:t>’</a:t>
            </a:r>
            <a:r>
              <a:rPr lang="zh-CN" altLang="en-US" sz="1600" dirty="0" smtClean="0"/>
              <a:t>作为</a:t>
            </a:r>
            <a:r>
              <a:rPr lang="en-US" altLang="zh-CN" sz="1600" dirty="0" smtClean="0"/>
              <a:t>make</a:t>
            </a:r>
            <a:r>
              <a:rPr lang="zh-CN" altLang="en-US" sz="1600" dirty="0" smtClean="0"/>
              <a:t>函数的输入。</a:t>
            </a:r>
            <a:endParaRPr lang="en-US" altLang="zh-CN" sz="1600" dirty="0" smtClean="0"/>
          </a:p>
          <a:p>
            <a:r>
              <a:rPr lang="en-US" altLang="zh-CN" sz="1600" dirty="0" smtClean="0"/>
              <a:t>Make</a:t>
            </a:r>
            <a:r>
              <a:rPr lang="zh-CN" altLang="en-US" sz="1600" dirty="0" smtClean="0"/>
              <a:t>函数返回</a:t>
            </a:r>
            <a:r>
              <a:rPr lang="en-US" altLang="zh-CN" sz="1600" dirty="0" err="1" smtClean="0"/>
              <a:t>env</a:t>
            </a:r>
            <a:r>
              <a:rPr lang="zh-CN" altLang="en-US" sz="1600" dirty="0" smtClean="0"/>
              <a:t>这个对象。</a:t>
            </a:r>
            <a:r>
              <a:rPr lang="en-US" altLang="zh-CN" sz="1600" dirty="0" err="1" smtClean="0"/>
              <a:t>Env</a:t>
            </a:r>
            <a:r>
              <a:rPr lang="zh-CN" altLang="en-US" sz="1600" dirty="0" smtClean="0"/>
              <a:t>就是环境。</a:t>
            </a:r>
            <a:endParaRPr lang="en-US" altLang="zh-CN" sz="1600" dirty="0" smtClean="0"/>
          </a:p>
          <a:p>
            <a:r>
              <a:rPr lang="en-US" altLang="zh-CN" sz="1600" dirty="0" smtClean="0"/>
              <a:t>------</a:t>
            </a:r>
          </a:p>
          <a:p>
            <a:r>
              <a:rPr lang="en-US" altLang="zh-CN" sz="1600" dirty="0" smtClean="0"/>
              <a:t>Ai</a:t>
            </a:r>
            <a:r>
              <a:rPr lang="zh-CN" altLang="en-US" sz="1600" dirty="0" smtClean="0"/>
              <a:t>可以控制小车，跟环境交互。</a:t>
            </a:r>
            <a:endParaRPr lang="en-US" altLang="zh-CN" sz="1600" dirty="0" smtClean="0"/>
          </a:p>
          <a:p>
            <a:r>
              <a:rPr lang="en-US" altLang="zh-CN" sz="1600" dirty="0" smtClean="0"/>
              <a:t>AI</a:t>
            </a:r>
            <a:r>
              <a:rPr lang="zh-CN" altLang="en-US" sz="1600" dirty="0" smtClean="0"/>
              <a:t>让这个小车往左或者往右走。</a:t>
            </a:r>
            <a:endParaRPr lang="en-US" altLang="zh-CN" sz="1600" dirty="0" smtClean="0"/>
          </a:p>
          <a:p>
            <a:r>
              <a:rPr lang="zh-CN" altLang="en-US" sz="1600" dirty="0" smtClean="0"/>
              <a:t>环境根据车、棒子的位置和运动，然后用力学定律去计算这根棒子的力和运动，得到新的状态。</a:t>
            </a:r>
            <a:endParaRPr lang="en-US" altLang="zh-CN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r>
              <a:rPr lang="en-US" sz="1600" dirty="0" smtClean="0"/>
              <a:t>		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112933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600" dirty="0" smtClean="0"/>
              <a:t>W</a:t>
            </a:r>
            <a:r>
              <a:rPr lang="en-US" altLang="zh-CN" sz="1600" baseline="0" dirty="0" smtClean="0"/>
              <a:t>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can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control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agent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to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interact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with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environment.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aseline="0" dirty="0" smtClean="0"/>
              <a:t>===============================</a:t>
            </a:r>
          </a:p>
          <a:p>
            <a:r>
              <a:rPr lang="en-US" altLang="zh-CN" sz="1600" baseline="0" dirty="0" smtClean="0"/>
              <a:t>First,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use</a:t>
            </a:r>
            <a:r>
              <a:rPr lang="zh-CN" altLang="en-US" sz="1600" baseline="0" dirty="0" smtClean="0"/>
              <a:t> </a:t>
            </a:r>
            <a:r>
              <a:rPr lang="en-US" altLang="zh-CN" sz="1600" dirty="0" smtClean="0"/>
              <a:t>function</a:t>
            </a:r>
            <a:r>
              <a:rPr lang="zh-CN" altLang="en-US" sz="1600" baseline="0" dirty="0" smtClean="0"/>
              <a:t> </a:t>
            </a:r>
            <a:r>
              <a:rPr lang="en-US" altLang="zh-CN" sz="1600" dirty="0" err="1" smtClean="0"/>
              <a:t>env.reset</a:t>
            </a:r>
            <a:r>
              <a:rPr lang="en-US" altLang="zh-CN" sz="1600" dirty="0" smtClean="0"/>
              <a:t>()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to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reset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the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environment.</a:t>
            </a:r>
          </a:p>
          <a:p>
            <a:r>
              <a:rPr lang="en-US" altLang="zh-CN" sz="1600" dirty="0" smtClean="0"/>
              <a:t>So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that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the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cart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and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pole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will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go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back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to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origin.</a:t>
            </a:r>
          </a:p>
          <a:p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reset()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function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returns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initial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state.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aseline="0" dirty="0" smtClean="0"/>
              <a:t>===============================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aseline="0" dirty="0" smtClean="0"/>
              <a:t>Then,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repeat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for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loop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for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maybe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100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iterations.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aseline="0" dirty="0" smtClean="0"/>
              <a:t>===============================</a:t>
            </a:r>
          </a:p>
          <a:p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line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of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code,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err="1" smtClean="0"/>
              <a:t>env.render</a:t>
            </a:r>
            <a:r>
              <a:rPr lang="en-US" altLang="zh-CN" sz="1600" baseline="0" dirty="0" smtClean="0"/>
              <a:t>(),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not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necessary.</a:t>
            </a:r>
          </a:p>
          <a:p>
            <a:r>
              <a:rPr lang="en-US" altLang="zh-CN" sz="1600" baseline="0" dirty="0" smtClean="0"/>
              <a:t>If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we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execute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this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line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of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code,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window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will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pop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up.</a:t>
            </a:r>
          </a:p>
          <a:p>
            <a:r>
              <a:rPr lang="en-US" altLang="zh-CN" sz="1600" baseline="0" dirty="0" smtClean="0"/>
              <a:t>We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will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see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animation.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aseline="0" dirty="0" smtClean="0"/>
              <a:t>===============================</a:t>
            </a:r>
          </a:p>
          <a:p>
            <a:r>
              <a:rPr lang="en-US" altLang="zh-CN" sz="1600" baseline="0" dirty="0" smtClean="0"/>
              <a:t>In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every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iteration,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we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need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to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make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decision.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decision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action.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aseline="0" dirty="0" smtClean="0"/>
              <a:t>Here,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don’t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know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good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policy,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so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randomly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sample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action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using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this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line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of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code.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aseline="0" dirty="0" smtClean="0"/>
              <a:t>However,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if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we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have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good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policy,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we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can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use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policy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to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make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decision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based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on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state.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aseline="0" dirty="0" smtClean="0"/>
              <a:t>===============================</a:t>
            </a:r>
          </a:p>
          <a:p>
            <a:r>
              <a:rPr lang="en-US" altLang="zh-CN" sz="1600" baseline="0" dirty="0" smtClean="0"/>
              <a:t>Next,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agent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executes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action.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aseline="0" dirty="0" smtClean="0"/>
              <a:t>===============================</a:t>
            </a:r>
          </a:p>
          <a:p>
            <a:r>
              <a:rPr lang="en-US" altLang="zh-CN" sz="1600" baseline="0" dirty="0" smtClean="0"/>
              <a:t>Using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function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err="1" smtClean="0"/>
              <a:t>env.step</a:t>
            </a:r>
            <a:r>
              <a:rPr lang="en-US" altLang="zh-CN" sz="1600" baseline="0" dirty="0" smtClean="0"/>
              <a:t>(),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we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tell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environment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that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this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action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executed.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aseline="0" dirty="0" smtClean="0"/>
              <a:t>===============================</a:t>
            </a:r>
          </a:p>
          <a:p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environment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will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return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new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state,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reward,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done,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and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info.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aseline="0" dirty="0" smtClean="0"/>
              <a:t>===============================</a:t>
            </a:r>
          </a:p>
          <a:p>
            <a:r>
              <a:rPr lang="en-US" altLang="zh-CN" sz="1600" baseline="0" dirty="0" smtClean="0"/>
              <a:t>Here,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“done”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means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whether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game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has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ended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after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this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iteration.</a:t>
            </a:r>
          </a:p>
          <a:p>
            <a:r>
              <a:rPr lang="en-US" altLang="zh-CN" sz="1600" baseline="0" dirty="0" smtClean="0"/>
              <a:t>If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“done”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true,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means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we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either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win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game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or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lose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game;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so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we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need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to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break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for-loop.</a:t>
            </a:r>
          </a:p>
          <a:p>
            <a:r>
              <a:rPr lang="en-US" altLang="zh-CN" sz="1600" baseline="0" dirty="0" smtClean="0"/>
              <a:t>If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game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has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not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ended,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we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continue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next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loop.</a:t>
            </a:r>
            <a:endParaRPr lang="en-US" altLang="zh-CN" sz="160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r>
              <a:rPr lang="zh-CN" altLang="en-US" sz="1600" dirty="0" smtClean="0"/>
              <a:t>得到环境</a:t>
            </a:r>
            <a:r>
              <a:rPr lang="en-US" altLang="zh-CN" sz="1600" dirty="0" err="1" smtClean="0"/>
              <a:t>env</a:t>
            </a:r>
            <a:r>
              <a:rPr lang="zh-CN" altLang="en-US" sz="1600" dirty="0" smtClean="0"/>
              <a:t>之后，就像这段代码一样，让</a:t>
            </a:r>
            <a:r>
              <a:rPr lang="en-US" altLang="zh-CN" sz="1600" dirty="0" smtClean="0"/>
              <a:t>agent</a:t>
            </a:r>
            <a:r>
              <a:rPr lang="zh-CN" altLang="en-US" sz="1600" dirty="0" smtClean="0"/>
              <a:t>跟环境交互。</a:t>
            </a:r>
            <a:endParaRPr lang="en-US" altLang="zh-CN" sz="1600" dirty="0" smtClean="0"/>
          </a:p>
          <a:p>
            <a:r>
              <a:rPr lang="zh-CN" altLang="en-US" sz="1600" dirty="0" smtClean="0"/>
              <a:t>首先用</a:t>
            </a:r>
            <a:r>
              <a:rPr lang="en-US" altLang="zh-CN" sz="1600" dirty="0" err="1" smtClean="0"/>
              <a:t>env.reset</a:t>
            </a:r>
            <a:r>
              <a:rPr lang="zh-CN" altLang="en-US" sz="1600" dirty="0" smtClean="0"/>
              <a:t>函数去重置环境。</a:t>
            </a:r>
            <a:endParaRPr lang="en-US" altLang="zh-CN" sz="1600" dirty="0" smtClean="0"/>
          </a:p>
          <a:p>
            <a:r>
              <a:rPr lang="zh-CN" altLang="en-US" sz="1600" dirty="0" smtClean="0"/>
              <a:t>之前不管小车和棒子在哪，都会回到原点。</a:t>
            </a:r>
            <a:endParaRPr lang="en-US" altLang="zh-CN" sz="1600" dirty="0" smtClean="0"/>
          </a:p>
          <a:p>
            <a:r>
              <a:rPr lang="zh-CN" altLang="en-US" sz="1600" dirty="0" smtClean="0"/>
              <a:t>这个函数会告诉我们初始状态，记为</a:t>
            </a:r>
            <a:r>
              <a:rPr lang="en-US" altLang="zh-CN" sz="1600" dirty="0" smtClean="0"/>
              <a:t>state</a:t>
            </a:r>
            <a:r>
              <a:rPr lang="zh-CN" altLang="en-US" sz="1600" dirty="0" smtClean="0"/>
              <a:t>。</a:t>
            </a:r>
            <a:endParaRPr lang="en-US" altLang="zh-CN" sz="1600" dirty="0" smtClean="0"/>
          </a:p>
          <a:p>
            <a:r>
              <a:rPr lang="en-US" altLang="zh-CN" sz="1600" dirty="0" smtClean="0"/>
              <a:t>--------</a:t>
            </a:r>
          </a:p>
          <a:p>
            <a:r>
              <a:rPr lang="zh-CN" altLang="en-US" sz="1600" dirty="0" smtClean="0"/>
              <a:t>然后就是重复下面的循环了。</a:t>
            </a:r>
            <a:endParaRPr lang="en-US" altLang="zh-CN" sz="1600" dirty="0" smtClean="0"/>
          </a:p>
          <a:p>
            <a:r>
              <a:rPr lang="zh-CN" altLang="en-US" sz="1600" dirty="0" smtClean="0"/>
              <a:t>每一轮循环里，</a:t>
            </a:r>
            <a:r>
              <a:rPr lang="en-US" altLang="zh-CN" sz="1600" dirty="0" smtClean="0"/>
              <a:t>agent</a:t>
            </a:r>
            <a:r>
              <a:rPr lang="zh-CN" altLang="en-US" sz="1600" dirty="0" smtClean="0"/>
              <a:t>做一个动作，然后环境会更新状态，给出奖励。</a:t>
            </a:r>
            <a:endParaRPr lang="en-US" altLang="zh-CN" sz="1600" dirty="0" smtClean="0"/>
          </a:p>
          <a:p>
            <a:r>
              <a:rPr lang="zh-CN" altLang="en-US" sz="1600" dirty="0" smtClean="0"/>
              <a:t>我来解释一下循环里面的代码。</a:t>
            </a:r>
            <a:endParaRPr lang="en-US" altLang="zh-CN" sz="1600" dirty="0" smtClean="0"/>
          </a:p>
          <a:p>
            <a:r>
              <a:rPr lang="en-US" altLang="zh-CN" sz="1600" dirty="0" err="1" smtClean="0"/>
              <a:t>Env.render</a:t>
            </a:r>
            <a:r>
              <a:rPr lang="en-US" altLang="zh-CN" sz="1600" dirty="0" smtClean="0"/>
              <a:t>()</a:t>
            </a:r>
            <a:r>
              <a:rPr lang="zh-CN" altLang="en-US" sz="1600" baseline="0" dirty="0" smtClean="0"/>
              <a:t> 是渲染，把游戏里发生的展示给人看。</a:t>
            </a:r>
            <a:endParaRPr lang="en-US" altLang="zh-CN" sz="1600" baseline="0" dirty="0" smtClean="0"/>
          </a:p>
          <a:p>
            <a:r>
              <a:rPr lang="zh-CN" altLang="en-US" sz="1600" baseline="0" dirty="0" smtClean="0"/>
              <a:t>运行</a:t>
            </a:r>
            <a:r>
              <a:rPr lang="en-US" altLang="zh-CN" sz="1600" baseline="0" dirty="0" smtClean="0"/>
              <a:t>render</a:t>
            </a:r>
            <a:r>
              <a:rPr lang="zh-CN" altLang="en-US" sz="1600" baseline="0" dirty="0" smtClean="0"/>
              <a:t>函数，</a:t>
            </a:r>
            <a:r>
              <a:rPr lang="en-US" altLang="zh-CN" sz="1600" baseline="0" dirty="0" smtClean="0"/>
              <a:t>Python</a:t>
            </a:r>
            <a:r>
              <a:rPr lang="zh-CN" altLang="en-US" sz="1600" baseline="0" dirty="0" smtClean="0"/>
              <a:t>就会自动弹出一个窗口来，显示</a:t>
            </a:r>
            <a:r>
              <a:rPr lang="en-US" altLang="zh-CN" sz="1600" baseline="0" dirty="0" smtClean="0"/>
              <a:t>cart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pole</a:t>
            </a:r>
            <a:r>
              <a:rPr lang="zh-CN" altLang="en-US" sz="1600" baseline="0" dirty="0" smtClean="0"/>
              <a:t>这个游戏。</a:t>
            </a:r>
            <a:endParaRPr lang="en-US" altLang="zh-CN" sz="1600" baseline="0" dirty="0" smtClean="0"/>
          </a:p>
          <a:p>
            <a:r>
              <a:rPr lang="en-US" altLang="zh-CN" sz="1600" baseline="0" dirty="0" smtClean="0"/>
              <a:t>---------------</a:t>
            </a:r>
          </a:p>
          <a:p>
            <a:r>
              <a:rPr lang="zh-CN" altLang="en-US" sz="1600" baseline="0" dirty="0" smtClean="0"/>
              <a:t>这一行代码，</a:t>
            </a:r>
            <a:r>
              <a:rPr lang="en-US" altLang="zh-CN" sz="1600" baseline="0" dirty="0" err="1" smtClean="0"/>
              <a:t>env.action_space.sample</a:t>
            </a:r>
            <a:r>
              <a:rPr lang="en-US" altLang="zh-CN" sz="1600" baseline="0" dirty="0" smtClean="0"/>
              <a:t>()</a:t>
            </a:r>
            <a:r>
              <a:rPr lang="zh-CN" altLang="en-US" sz="1600" baseline="0" dirty="0" smtClean="0"/>
              <a:t>，这个函数 随机 均匀地 抽样一个动作，记为</a:t>
            </a:r>
            <a:r>
              <a:rPr lang="en-US" altLang="zh-CN" sz="1600" baseline="0" dirty="0" smtClean="0"/>
              <a:t>action</a:t>
            </a:r>
            <a:r>
              <a:rPr lang="zh-CN" altLang="en-US" sz="1600" baseline="0" dirty="0" smtClean="0"/>
              <a:t>。</a:t>
            </a:r>
            <a:endParaRPr lang="en-US" altLang="zh-CN" sz="1600" baseline="0" dirty="0" smtClean="0"/>
          </a:p>
          <a:p>
            <a:r>
              <a:rPr lang="zh-CN" altLang="en-US" sz="1600" baseline="0" dirty="0" smtClean="0"/>
              <a:t>实际上，我们不该用 均匀抽样，否则</a:t>
            </a:r>
            <a:r>
              <a:rPr lang="en-US" altLang="zh-CN" sz="1600" baseline="0" dirty="0" smtClean="0"/>
              <a:t>agent</a:t>
            </a:r>
            <a:r>
              <a:rPr lang="zh-CN" altLang="en-US" sz="1600" baseline="0" dirty="0" smtClean="0"/>
              <a:t>会乱来。</a:t>
            </a:r>
            <a:endParaRPr lang="en-US" altLang="zh-CN" sz="1600" baseline="0" dirty="0" smtClean="0"/>
          </a:p>
          <a:p>
            <a:r>
              <a:rPr lang="zh-CN" altLang="en-US" sz="1600" baseline="0" dirty="0" smtClean="0"/>
              <a:t>在实际的应用里，我们不会用到这行代码；我只是为了方便，拿这行代码来 得到 动作。</a:t>
            </a:r>
            <a:endParaRPr lang="en-US" altLang="zh-CN" sz="1600" baseline="0" dirty="0" smtClean="0"/>
          </a:p>
          <a:p>
            <a:r>
              <a:rPr lang="en-US" altLang="zh-CN" sz="1600" baseline="0" dirty="0" smtClean="0"/>
              <a:t>----</a:t>
            </a:r>
          </a:p>
          <a:p>
            <a:r>
              <a:rPr lang="zh-CN" altLang="en-US" sz="1600" baseline="0" dirty="0" smtClean="0"/>
              <a:t>实际上 我们要根据</a:t>
            </a:r>
            <a:r>
              <a:rPr lang="en-US" altLang="zh-CN" sz="1600" baseline="0" dirty="0" smtClean="0"/>
              <a:t>policy</a:t>
            </a:r>
            <a:r>
              <a:rPr lang="zh-CN" altLang="en-US" sz="1600" baseline="0" dirty="0" smtClean="0"/>
              <a:t>函数或者</a:t>
            </a:r>
            <a:r>
              <a:rPr lang="en-US" altLang="zh-CN" sz="1600" baseline="0" dirty="0" smtClean="0"/>
              <a:t>Q</a:t>
            </a:r>
            <a:r>
              <a:rPr lang="zh-CN" altLang="en-US" sz="1600" baseline="0" dirty="0" smtClean="0"/>
              <a:t>函数 算出来一个 </a:t>
            </a:r>
            <a:r>
              <a:rPr lang="en-US" altLang="zh-CN" sz="1600" baseline="0" dirty="0" smtClean="0"/>
              <a:t>action</a:t>
            </a:r>
            <a:r>
              <a:rPr lang="zh-CN" altLang="en-US" sz="1600" baseline="0" dirty="0" smtClean="0"/>
              <a:t>。</a:t>
            </a:r>
            <a:endParaRPr lang="en-US" altLang="zh-CN" sz="1600" baseline="0" dirty="0" smtClean="0"/>
          </a:p>
          <a:p>
            <a:r>
              <a:rPr lang="zh-CN" altLang="en-US" sz="1600" baseline="0" dirty="0" smtClean="0"/>
              <a:t>到这一步，</a:t>
            </a:r>
            <a:r>
              <a:rPr lang="en-US" altLang="zh-CN" sz="1600" baseline="0" dirty="0" smtClean="0"/>
              <a:t>agent</a:t>
            </a:r>
            <a:r>
              <a:rPr lang="zh-CN" altLang="en-US" sz="1600" baseline="0" dirty="0" smtClean="0"/>
              <a:t>知道该做什么动作，但是还没真正执行这个动作。</a:t>
            </a:r>
            <a:endParaRPr lang="en-US" altLang="zh-CN" sz="1600" baseline="0" dirty="0" smtClean="0"/>
          </a:p>
          <a:p>
            <a:r>
              <a:rPr lang="en-US" altLang="zh-CN" sz="1600" baseline="0" dirty="0" smtClean="0"/>
              <a:t>------------------------</a:t>
            </a:r>
          </a:p>
          <a:p>
            <a:r>
              <a:rPr lang="zh-CN" altLang="en-US" sz="1600" baseline="0" dirty="0" smtClean="0"/>
              <a:t>下一行，把</a:t>
            </a:r>
            <a:r>
              <a:rPr lang="en-US" altLang="zh-CN" sz="1600" baseline="0" dirty="0" smtClean="0"/>
              <a:t>action</a:t>
            </a:r>
            <a:r>
              <a:rPr lang="zh-CN" altLang="en-US" sz="1600" baseline="0" dirty="0" smtClean="0"/>
              <a:t>输入</a:t>
            </a:r>
            <a:r>
              <a:rPr lang="en-US" altLang="zh-CN" sz="1600" baseline="0" dirty="0" err="1" smtClean="0"/>
              <a:t>env.step</a:t>
            </a:r>
            <a:r>
              <a:rPr lang="en-US" altLang="zh-CN" sz="1600" baseline="0" dirty="0" smtClean="0"/>
              <a:t>()</a:t>
            </a:r>
            <a:r>
              <a:rPr lang="zh-CN" altLang="en-US" sz="1600" baseline="0" dirty="0" smtClean="0"/>
              <a:t>函数。</a:t>
            </a:r>
            <a:endParaRPr lang="en-US" altLang="zh-CN" sz="1600" baseline="0" dirty="0" smtClean="0"/>
          </a:p>
          <a:p>
            <a:r>
              <a:rPr lang="zh-CN" altLang="en-US" sz="1600" baseline="0" dirty="0" smtClean="0"/>
              <a:t>这时候</a:t>
            </a:r>
            <a:r>
              <a:rPr lang="en-US" altLang="zh-CN" sz="1600" baseline="0" dirty="0" smtClean="0"/>
              <a:t>agent</a:t>
            </a:r>
            <a:r>
              <a:rPr lang="zh-CN" altLang="en-US" sz="1600" baseline="0" dirty="0" smtClean="0"/>
              <a:t>就真正做出这个动作了，环境会更新状态</a:t>
            </a:r>
            <a:r>
              <a:rPr lang="en-US" altLang="zh-CN" sz="1600" baseline="0" dirty="0" smtClean="0"/>
              <a:t>state</a:t>
            </a:r>
            <a:r>
              <a:rPr lang="zh-CN" altLang="en-US" sz="1600" baseline="0" dirty="0" smtClean="0"/>
              <a:t>、给一个奖励</a:t>
            </a:r>
            <a:r>
              <a:rPr lang="en-US" altLang="zh-CN" sz="1600" baseline="0" dirty="0" smtClean="0"/>
              <a:t>reward</a:t>
            </a:r>
            <a:r>
              <a:rPr lang="zh-CN" altLang="en-US" sz="1600" baseline="0" dirty="0" smtClean="0"/>
              <a:t>，还有</a:t>
            </a:r>
            <a:r>
              <a:rPr lang="en-US" altLang="zh-CN" sz="1600" baseline="0" dirty="0" smtClean="0"/>
              <a:t>done</a:t>
            </a:r>
            <a:r>
              <a:rPr lang="zh-CN" altLang="en-US" sz="1600" baseline="0" dirty="0" smtClean="0"/>
              <a:t>和</a:t>
            </a:r>
            <a:r>
              <a:rPr lang="en-US" altLang="zh-CN" sz="1600" baseline="0" dirty="0" smtClean="0"/>
              <a:t>info</a:t>
            </a:r>
            <a:r>
              <a:rPr lang="zh-CN" altLang="en-US" sz="1600" baseline="0" dirty="0" smtClean="0"/>
              <a:t>两个返回值。</a:t>
            </a:r>
            <a:endParaRPr lang="en-US" altLang="zh-CN" sz="1600" baseline="0" dirty="0" smtClean="0"/>
          </a:p>
          <a:p>
            <a:r>
              <a:rPr lang="en-US" altLang="zh-CN" sz="1600" baseline="0" dirty="0" smtClean="0"/>
              <a:t>done</a:t>
            </a:r>
            <a:r>
              <a:rPr lang="zh-CN" altLang="en-US" sz="1600" baseline="0" dirty="0" smtClean="0"/>
              <a:t>的意思是游戏到这一步结束了没有。如果游戏结束，</a:t>
            </a:r>
            <a:r>
              <a:rPr lang="en-US" altLang="zh-CN" sz="1600" baseline="0" dirty="0" smtClean="0"/>
              <a:t>done</a:t>
            </a:r>
            <a:r>
              <a:rPr lang="zh-CN" altLang="en-US" sz="1600" baseline="0" dirty="0" smtClean="0"/>
              <a:t>就等于</a:t>
            </a:r>
            <a:r>
              <a:rPr lang="en-US" altLang="zh-CN" sz="1600" baseline="0" dirty="0" smtClean="0"/>
              <a:t>1</a:t>
            </a:r>
            <a:r>
              <a:rPr lang="zh-CN" altLang="en-US" sz="1600" baseline="0" dirty="0" smtClean="0"/>
              <a:t>；没结束的话</a:t>
            </a:r>
            <a:r>
              <a:rPr lang="en-US" altLang="zh-CN" sz="1600" baseline="0" dirty="0" smtClean="0"/>
              <a:t>done</a:t>
            </a:r>
            <a:r>
              <a:rPr lang="zh-CN" altLang="en-US" sz="1600" baseline="0" dirty="0" smtClean="0"/>
              <a:t>就等于</a:t>
            </a:r>
            <a:r>
              <a:rPr lang="en-US" altLang="zh-CN" sz="1600" baseline="0" dirty="0" smtClean="0"/>
              <a:t>0</a:t>
            </a:r>
            <a:r>
              <a:rPr lang="zh-CN" altLang="en-US" sz="1600" baseline="0" dirty="0" smtClean="0"/>
              <a:t>。</a:t>
            </a:r>
            <a:endParaRPr lang="en-US" altLang="zh-CN" sz="1600" baseline="0" dirty="0" smtClean="0"/>
          </a:p>
          <a:p>
            <a:r>
              <a:rPr lang="en-US" altLang="zh-CN" sz="1600" baseline="0" dirty="0" smtClean="0"/>
              <a:t>Info</a:t>
            </a:r>
            <a:r>
              <a:rPr lang="zh-CN" altLang="en-US" sz="1600" baseline="0" dirty="0" smtClean="0"/>
              <a:t>这个返回值先不用管。</a:t>
            </a:r>
            <a:endParaRPr lang="en-US" altLang="zh-CN" sz="1600" baseline="0" dirty="0" smtClean="0"/>
          </a:p>
          <a:p>
            <a:r>
              <a:rPr lang="en-US" altLang="zh-CN" sz="1600" baseline="0" dirty="0" smtClean="0"/>
              <a:t>------</a:t>
            </a:r>
          </a:p>
          <a:p>
            <a:r>
              <a:rPr lang="zh-CN" altLang="en-US" sz="1600" baseline="0" dirty="0" smtClean="0"/>
              <a:t>如果游戏结束了，就用</a:t>
            </a:r>
            <a:r>
              <a:rPr lang="en-US" altLang="zh-CN" sz="1600" baseline="0" dirty="0" smtClean="0"/>
              <a:t>break</a:t>
            </a:r>
            <a:r>
              <a:rPr lang="zh-CN" altLang="en-US" sz="1600" baseline="0" dirty="0" smtClean="0"/>
              <a:t>终止循环。</a:t>
            </a:r>
            <a:endParaRPr lang="en-US" altLang="zh-CN" sz="1600" baseline="0" dirty="0" smtClean="0"/>
          </a:p>
          <a:p>
            <a:r>
              <a:rPr lang="zh-CN" altLang="en-US" sz="1600" baseline="0" dirty="0" smtClean="0"/>
              <a:t>如果没结束，就开始下一轮循环。</a:t>
            </a:r>
            <a:endParaRPr lang="en-US" altLang="zh-CN" sz="1600" baseline="0" dirty="0" smtClean="0"/>
          </a:p>
          <a:p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285582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600" dirty="0" smtClean="0"/>
              <a:t>Finally,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let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me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summarize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this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lecture.</a:t>
            </a:r>
            <a:endParaRPr lang="en-US" altLang="zh-CN" sz="160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r>
              <a:rPr lang="zh-CN" altLang="en-US" sz="1600" dirty="0" smtClean="0"/>
              <a:t>总结一下这节课的内容。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142627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 smtClean="0"/>
                  <a:t>We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have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learned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basic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concepts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reinforcement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learning.</a:t>
                </a:r>
              </a:p>
              <a:p>
                <a:r>
                  <a:rPr lang="en-US" altLang="zh-CN" sz="1600" baseline="0" dirty="0" smtClean="0"/>
                  <a:t>===============================</a:t>
                </a:r>
              </a:p>
              <a:p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agent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what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performs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actions;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game,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Mario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agent.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/>
                  <a:t>===============================</a:t>
                </a:r>
              </a:p>
              <a:p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agent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can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interact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with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environment.</a:t>
                </a:r>
              </a:p>
              <a:p>
                <a:r>
                  <a:rPr lang="en-US" altLang="zh-CN" sz="1600" baseline="0" dirty="0" smtClean="0"/>
                  <a:t>In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game,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environment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program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game.</a:t>
                </a:r>
              </a:p>
              <a:p>
                <a:r>
                  <a:rPr lang="en-US" altLang="zh-CN" sz="1600" baseline="0" dirty="0" smtClean="0"/>
                  <a:t>===============================</a:t>
                </a:r>
              </a:p>
              <a:p>
                <a:r>
                  <a:rPr lang="en-US" altLang="zh-CN" sz="1600" baseline="0" dirty="0" smtClean="0"/>
                  <a:t>State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s.</a:t>
                </a:r>
                <a:r>
                  <a:rPr lang="zh-CN" altLang="en-US" sz="1600" baseline="0" dirty="0" smtClean="0"/>
                  <a:t> </a:t>
                </a:r>
                <a:endParaRPr lang="en-US" altLang="zh-CN" sz="1600" baseline="0" dirty="0" smtClean="0"/>
              </a:p>
              <a:p>
                <a:r>
                  <a:rPr lang="en-US" altLang="zh-CN" sz="1600" baseline="0" dirty="0" smtClean="0"/>
                  <a:t>You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can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think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state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what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shown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screen.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/>
                  <a:t>===============================</a:t>
                </a:r>
              </a:p>
              <a:p>
                <a:r>
                  <a:rPr lang="en-US" altLang="zh-CN" sz="1600" baseline="0" dirty="0" smtClean="0"/>
                  <a:t>Action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can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moving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left,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right,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up.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/>
                  <a:t>===============================</a:t>
                </a:r>
              </a:p>
              <a:p>
                <a:r>
                  <a:rPr lang="en-US" altLang="zh-CN" sz="1600" baseline="0" dirty="0" smtClean="0"/>
                  <a:t>Rewards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given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environment.</a:t>
                </a:r>
              </a:p>
              <a:p>
                <a:r>
                  <a:rPr lang="en-US" altLang="zh-CN" sz="1600" baseline="0" dirty="0" smtClean="0"/>
                  <a:t>By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collecting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coin,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agent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will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receive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small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positive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reward;</a:t>
                </a:r>
                <a:r>
                  <a:rPr lang="zh-CN" altLang="en-US" sz="1600" baseline="0" dirty="0" smtClean="0"/>
                  <a:t> </a:t>
                </a:r>
                <a:endParaRPr lang="en-US" altLang="zh-CN" sz="1600" baseline="0" dirty="0" smtClean="0"/>
              </a:p>
              <a:p>
                <a:r>
                  <a:rPr lang="en-US" altLang="zh-CN" sz="1600" baseline="0" dirty="0" smtClean="0"/>
                  <a:t>by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touching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enemy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jumping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off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cliff,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agent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will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receive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big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negative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reward.</a:t>
                </a:r>
              </a:p>
              <a:p>
                <a:endParaRPr lang="en-US" altLang="zh-CN" sz="1600" baseline="0" dirty="0" smtClean="0"/>
              </a:p>
              <a:p>
                <a:endParaRPr lang="en-US" altLang="zh-CN" sz="1600" baseline="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r>
                  <a:rPr lang="zh-CN" altLang="en-US" sz="1600" dirty="0" smtClean="0"/>
                  <a:t>这节课主要讲了强化学习中的基本概念。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/>
                  <a:t>===============================</a:t>
                </a:r>
              </a:p>
              <a:p>
                <a:r>
                  <a:rPr lang="en-US" altLang="zh-CN" sz="1600" dirty="0" smtClean="0"/>
                  <a:t>Agent</a:t>
                </a:r>
                <a:r>
                  <a:rPr lang="zh-CN" altLang="en-US" sz="1600" dirty="0" smtClean="0"/>
                  <a:t>就是会做动作的那个东西，比如超级玛丽中的</a:t>
                </a:r>
                <a:r>
                  <a:rPr lang="en-US" altLang="zh-CN" sz="1600" dirty="0" smtClean="0"/>
                  <a:t>Mario</a:t>
                </a:r>
                <a:r>
                  <a:rPr lang="zh-CN" altLang="en-US" sz="1600" dirty="0" smtClean="0"/>
                  <a:t>就是</a:t>
                </a:r>
                <a:r>
                  <a:rPr lang="en-US" altLang="zh-CN" sz="1600" dirty="0" smtClean="0"/>
                  <a:t>agent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/>
                  <a:t>===============================</a:t>
                </a:r>
              </a:p>
              <a:p>
                <a:r>
                  <a:rPr lang="en-US" altLang="zh-CN" sz="1600" dirty="0" smtClean="0"/>
                  <a:t>Agent</a:t>
                </a:r>
                <a:r>
                  <a:rPr lang="zh-CN" altLang="en-US" sz="1600" dirty="0" smtClean="0"/>
                  <a:t>跟环境交互；超级玛丽中的环境就是游戏程序本身。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/>
                  <a:t>===============================</a:t>
                </a:r>
              </a:p>
              <a:p>
                <a:r>
                  <a:rPr lang="en-US" altLang="zh-CN" sz="1600" dirty="0" smtClean="0"/>
                  <a:t>Agent</a:t>
                </a:r>
                <a:r>
                  <a:rPr lang="zh-CN" altLang="en-US" sz="1600" dirty="0" smtClean="0"/>
                  <a:t>做出动作</a:t>
                </a:r>
                <a:r>
                  <a:rPr lang="en-US" altLang="zh-CN" sz="1600" dirty="0" smtClean="0"/>
                  <a:t>action</a:t>
                </a:r>
                <a:r>
                  <a:rPr lang="zh-CN" altLang="en-US" sz="1600" dirty="0" smtClean="0"/>
                  <a:t>，环境就会更新状态</a:t>
                </a:r>
                <a:r>
                  <a:rPr lang="en-US" altLang="zh-CN" sz="1600" dirty="0" smtClean="0"/>
                  <a:t>state</a:t>
                </a:r>
                <a:r>
                  <a:rPr lang="zh-CN" altLang="en-US" sz="1600" dirty="0" smtClean="0"/>
                  <a:t>，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/>
                  <a:t>===============================</a:t>
                </a:r>
              </a:p>
              <a:p>
                <a:r>
                  <a:rPr lang="zh-CN" altLang="en-US" sz="1600" dirty="0" smtClean="0"/>
                  <a:t>并且给出一个奖励 </a:t>
                </a:r>
                <a:r>
                  <a:rPr lang="en-US" altLang="zh-CN" sz="1600" dirty="0" smtClean="0"/>
                  <a:t>reward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你可以认为状态</a:t>
                </a:r>
                <a:r>
                  <a:rPr lang="en-US" altLang="zh-CN" sz="1600" dirty="0" smtClean="0"/>
                  <a:t>state</a:t>
                </a:r>
                <a:r>
                  <a:rPr lang="zh-CN" altLang="en-US" sz="1600" dirty="0" smtClean="0"/>
                  <a:t>就是当前屏幕上显示的画面；游戏玩家会根据这个画面做操作。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如果状态、动作、奖励等变量被观测到，就用小写字母表示；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如果没观测到，他们就是随机变量，用大写字母表示。</a:t>
                </a:r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这节课主要讲了强化学习中的基本概念。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就是会做动作的那个东西，</a:t>
                </a:r>
                <a:r>
                  <a:rPr lang="zh-CN" altLang="en-US" dirty="0" smtClean="0"/>
                  <a:t>比如超级玛丽中</a:t>
                </a:r>
                <a:r>
                  <a:rPr lang="zh-CN" altLang="en-US" dirty="0" smtClean="0"/>
                  <a:t>的</a:t>
                </a:r>
                <a:r>
                  <a:rPr lang="en-US" altLang="zh-CN" dirty="0" smtClean="0"/>
                  <a:t>Mario</a:t>
                </a:r>
                <a:r>
                  <a:rPr lang="zh-CN" altLang="en-US" dirty="0" smtClean="0"/>
                  <a:t>就是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跟环境交互；超级玛丽中的环境就是游戏程序本身。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做出动作</a:t>
                </a:r>
                <a:r>
                  <a:rPr lang="en-US" altLang="zh-CN" dirty="0" smtClean="0"/>
                  <a:t>action</a:t>
                </a:r>
                <a:r>
                  <a:rPr lang="zh-CN" altLang="en-US" dirty="0" smtClean="0"/>
                  <a:t>，环境就会更新状态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，并且给出一个奖励 </a:t>
                </a:r>
                <a:r>
                  <a:rPr lang="en-US" altLang="zh-CN" dirty="0" smtClean="0"/>
                  <a:t>reward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你可以认为状态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就是当前屏幕上显示的画面；游戏玩家会根据这个</a:t>
                </a:r>
                <a:r>
                  <a:rPr lang="zh-CN" altLang="en-US" dirty="0" smtClean="0"/>
                  <a:t>画面做操作。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如果状态、动作、奖励等变量被观测到，就用小写字母表示；如果没观测到，他们就是随机变量，用大写字母表示。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----------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我们还讲了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sz="1200" i="0" smtClean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 </a:t>
                </a:r>
                <a:r>
                  <a:rPr lang="zh-CN" altLang="en-US" dirty="0" smtClean="0"/>
                  <a:t>和状态转移函数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这两个都是条件概率密度函数。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观测到</a:t>
                </a:r>
                <a:r>
                  <a:rPr lang="zh-CN" altLang="en-US" dirty="0" smtClean="0"/>
                  <a:t>状态状态</a:t>
                </a:r>
                <a:r>
                  <a:rPr lang="en-US" altLang="zh-CN" dirty="0" smtClean="0"/>
                  <a:t>s</a:t>
                </a:r>
                <a:r>
                  <a:rPr lang="zh-CN" altLang="en-US" dirty="0" smtClean="0"/>
                  <a:t>，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函数会输出每个动作的概率密度，告诉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该做什么动作。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我们是不知道的；环境通过函数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来随机选下一个状态。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07375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baseline="0" dirty="0" smtClean="0"/>
                  <a:t>Policy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function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π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takes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state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input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and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outputs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probability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distribution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over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all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possible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actions.</a:t>
                </a:r>
              </a:p>
              <a:p>
                <a:r>
                  <a:rPr lang="en-US" altLang="zh-CN" sz="1600" baseline="0" dirty="0" smtClean="0"/>
                  <a:t>We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can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randomly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sample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action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accordingly.</a:t>
                </a:r>
              </a:p>
              <a:p>
                <a:r>
                  <a:rPr lang="en-US" altLang="zh-CN" sz="1600" baseline="0" dirty="0" smtClean="0"/>
                  <a:t>===============================</a:t>
                </a:r>
              </a:p>
              <a:p>
                <a:r>
                  <a:rPr lang="en-US" altLang="zh-CN" sz="1600" baseline="0" dirty="0" smtClean="0"/>
                  <a:t>After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agent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executes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action,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environment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will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use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state-transition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function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compute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new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state.</a:t>
                </a:r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r>
                  <a:rPr lang="zh-CN" altLang="en-US" sz="1600" dirty="0" smtClean="0"/>
                  <a:t>我们还讲了</a:t>
                </a:r>
                <a:r>
                  <a:rPr lang="en-US" altLang="zh-CN" sz="1600" dirty="0" smtClean="0"/>
                  <a:t>policy</a:t>
                </a:r>
                <a:r>
                  <a:rPr lang="zh-CN" altLang="en-US" sz="1600" dirty="0" smtClean="0"/>
                  <a:t>函数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 charset="0"/>
                      </a:rPr>
                      <m:t>𝜋</m:t>
                    </m:r>
                  </m:oMath>
                </a14:m>
                <a:r>
                  <a:rPr lang="zh-CN" altLang="en-US" sz="1600" dirty="0" smtClean="0"/>
                  <a:t> 和状态转移函数</a:t>
                </a:r>
                <a:r>
                  <a:rPr lang="en-US" altLang="zh-CN" sz="1600" dirty="0" smtClean="0"/>
                  <a:t>p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这两个都是条件概率密度函数。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观测到状态</a:t>
                </a:r>
                <a:r>
                  <a:rPr lang="en-US" altLang="zh-CN" sz="1600" dirty="0" smtClean="0"/>
                  <a:t>s</a:t>
                </a:r>
                <a:r>
                  <a:rPr lang="zh-CN" altLang="en-US" sz="1600" dirty="0" smtClean="0"/>
                  <a:t>，</a:t>
                </a:r>
                <a:r>
                  <a:rPr lang="en-US" altLang="zh-CN" sz="1600" dirty="0" smtClean="0"/>
                  <a:t>policy</a:t>
                </a:r>
                <a:r>
                  <a:rPr lang="zh-CN" altLang="en-US" sz="1600" dirty="0" smtClean="0"/>
                  <a:t>函数会输出每个动作的概率，告诉</a:t>
                </a:r>
                <a:r>
                  <a:rPr lang="en-US" altLang="zh-CN" sz="1600" dirty="0" smtClean="0"/>
                  <a:t>agent</a:t>
                </a:r>
                <a:r>
                  <a:rPr lang="zh-CN" altLang="en-US" sz="1600" dirty="0" smtClean="0"/>
                  <a:t>该做什么动作。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状态转移函数</a:t>
                </a:r>
                <a:r>
                  <a:rPr lang="en-US" altLang="zh-CN" sz="1600" dirty="0" smtClean="0"/>
                  <a:t>p</a:t>
                </a:r>
                <a:r>
                  <a:rPr lang="zh-CN" altLang="en-US" sz="1600" dirty="0" smtClean="0"/>
                  <a:t>我们是不知道的；环境通过函数</a:t>
                </a:r>
                <a:r>
                  <a:rPr lang="en-US" altLang="zh-CN" sz="1600" dirty="0" smtClean="0"/>
                  <a:t>p</a:t>
                </a:r>
                <a:r>
                  <a:rPr lang="zh-CN" altLang="en-US" sz="1600" dirty="0" smtClean="0"/>
                  <a:t>来随机选下一个状态。</a:t>
                </a:r>
                <a:endParaRPr lang="en-US" altLang="zh-CN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这节课主要讲了强化学习中的基本概念。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就是会做动作的那个东西，</a:t>
                </a:r>
                <a:r>
                  <a:rPr lang="zh-CN" altLang="en-US" dirty="0" smtClean="0"/>
                  <a:t>比如超级玛丽中</a:t>
                </a:r>
                <a:r>
                  <a:rPr lang="zh-CN" altLang="en-US" dirty="0" smtClean="0"/>
                  <a:t>的</a:t>
                </a:r>
                <a:r>
                  <a:rPr lang="en-US" altLang="zh-CN" dirty="0" smtClean="0"/>
                  <a:t>Mario</a:t>
                </a:r>
                <a:r>
                  <a:rPr lang="zh-CN" altLang="en-US" dirty="0" smtClean="0"/>
                  <a:t>就是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跟环境交互；超级玛丽中的环境就是游戏程序本身。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做出动作</a:t>
                </a:r>
                <a:r>
                  <a:rPr lang="en-US" altLang="zh-CN" dirty="0" smtClean="0"/>
                  <a:t>action</a:t>
                </a:r>
                <a:r>
                  <a:rPr lang="zh-CN" altLang="en-US" dirty="0" smtClean="0"/>
                  <a:t>，环境就会更新状态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，并且给出一个奖励 </a:t>
                </a:r>
                <a:r>
                  <a:rPr lang="en-US" altLang="zh-CN" dirty="0" smtClean="0"/>
                  <a:t>reward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你可以认为状态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就是当前屏幕上显示的画面；游戏玩家会根据这个</a:t>
                </a:r>
                <a:r>
                  <a:rPr lang="zh-CN" altLang="en-US" dirty="0" smtClean="0"/>
                  <a:t>画面做操作。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如果状态、动作、奖励等变量被观测到，就用小写字母表示；如果没观测到，他们就是随机变量，用大写字母表示。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----------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我们还讲了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sz="1200" i="0" smtClean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 </a:t>
                </a:r>
                <a:r>
                  <a:rPr lang="zh-CN" altLang="en-US" dirty="0" smtClean="0"/>
                  <a:t>和状态转移函数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这两个都是条件概率密度函数。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观测到</a:t>
                </a:r>
                <a:r>
                  <a:rPr lang="zh-CN" altLang="en-US" dirty="0" smtClean="0"/>
                  <a:t>状态状态</a:t>
                </a:r>
                <a:r>
                  <a:rPr lang="en-US" altLang="zh-CN" dirty="0" smtClean="0"/>
                  <a:t>s</a:t>
                </a:r>
                <a:r>
                  <a:rPr lang="zh-CN" altLang="en-US" dirty="0" smtClean="0"/>
                  <a:t>，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函数会输出每个动作的概率密度，告诉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该做什么动作。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我们是不知道的；环境通过函数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来随机选下一个状态。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169643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 smtClean="0"/>
                  <a:t>We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have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also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learned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less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intuitive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concepts: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return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and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value.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/>
                  <a:t>===============================</a:t>
                </a:r>
              </a:p>
              <a:p>
                <a:r>
                  <a:rPr lang="en-US" altLang="zh-CN" sz="1600" baseline="0" dirty="0" smtClean="0"/>
                  <a:t>Return</a:t>
                </a:r>
                <a:r>
                  <a:rPr lang="zh-CN" altLang="en-US" sz="1600" baseline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sum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weighted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sum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all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future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rewards.</a:t>
                </a:r>
              </a:p>
              <a:p>
                <a:r>
                  <a:rPr lang="en-US" altLang="zh-CN" sz="1600" baseline="0" dirty="0" smtClean="0"/>
                  <a:t>We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wish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maximize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return</a:t>
                </a:r>
                <a:r>
                  <a:rPr lang="zh-CN" altLang="en-US" sz="1600" baseline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1600" baseline="0" dirty="0" smtClean="0"/>
                  <a:t>.</a:t>
                </a:r>
              </a:p>
              <a:p>
                <a:r>
                  <a:rPr lang="en-US" altLang="zh-CN" sz="1600" baseline="0" dirty="0" smtClean="0"/>
                  <a:t>------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is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random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variable</a:t>
                </a:r>
                <a:r>
                  <a:rPr lang="en-US" altLang="zh-CN" sz="1600" baseline="0" dirty="0" smtClean="0"/>
                  <a:t>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time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t,</a:t>
                </a:r>
                <a:r>
                  <a:rPr lang="zh-CN" altLang="en-US" sz="1600" baseline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is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unknown.</a:t>
                </a:r>
              </a:p>
              <a:p>
                <a:r>
                  <a:rPr lang="en-US" altLang="zh-CN" sz="1600" dirty="0" smtClean="0"/>
                  <a:t>We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don’t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know</a:t>
                </a:r>
                <a:r>
                  <a:rPr lang="zh-CN" altLang="en-US" sz="1600" baseline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until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end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game.</a:t>
                </a:r>
              </a:p>
              <a:p>
                <a:r>
                  <a:rPr lang="en-US" altLang="zh-CN" sz="1600" baseline="0" dirty="0" smtClean="0"/>
                  <a:t>-------</a:t>
                </a:r>
              </a:p>
              <a:p>
                <a:r>
                  <a:rPr lang="en-US" altLang="zh-CN" sz="1600" baseline="0" dirty="0" smtClean="0"/>
                  <a:t>To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have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estimate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of</a:t>
                </a:r>
                <a:r>
                  <a:rPr lang="zh-CN" altLang="en-US" sz="1600" baseline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time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t,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we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can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take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expectation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of</a:t>
                </a:r>
                <a:r>
                  <a:rPr lang="zh-CN" altLang="en-US" sz="16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eliminate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randomness.</a:t>
                </a:r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r>
                  <a:rPr lang="zh-CN" altLang="en-US" sz="1600" dirty="0" smtClean="0"/>
                  <a:t>然后是比较复杂的一些概念：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/>
                  <a:t>===============================</a:t>
                </a:r>
              </a:p>
              <a:p>
                <a:r>
                  <a:rPr lang="en-US" altLang="zh-CN" sz="1600" dirty="0" smtClean="0"/>
                  <a:t>Return</a:t>
                </a:r>
                <a:r>
                  <a:rPr lang="zh-CN" altLang="en-US" sz="1600" dirty="0" smtClean="0"/>
                  <a:t>回报，就是把未来所有的奖励都加权求和。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我们希望</a:t>
                </a:r>
                <a:r>
                  <a:rPr lang="en-US" altLang="zh-CN" sz="1600" dirty="0" smtClean="0"/>
                  <a:t>return</a:t>
                </a:r>
                <a:r>
                  <a:rPr lang="zh-CN" altLang="en-US" sz="16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越大越好。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-----------------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是个随机变量，随机性 来自于 未来所有的 状态和动作。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由于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的随机性，在</a:t>
                </a:r>
                <a:r>
                  <a:rPr lang="en-US" altLang="zh-CN" sz="1600" dirty="0" smtClean="0"/>
                  <a:t>T</a:t>
                </a:r>
                <a:r>
                  <a:rPr lang="zh-CN" altLang="en-US" sz="1600" dirty="0" smtClean="0"/>
                  <a:t>时刻我们并不知道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是什么，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只有当</a:t>
                </a:r>
                <a:r>
                  <a:rPr lang="en-US" altLang="zh-CN" sz="1600" dirty="0" smtClean="0"/>
                  <a:t>agent</a:t>
                </a:r>
                <a:r>
                  <a:rPr lang="zh-CN" altLang="en-US" sz="1600" dirty="0" smtClean="0"/>
                  <a:t>玩完游戏，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才能被观测到。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想要在当前就对</a:t>
                </a:r>
                <a:r>
                  <a:rPr lang="en-US" altLang="zh-CN" sz="1600" dirty="0" smtClean="0"/>
                  <a:t>return</a:t>
                </a:r>
                <a:r>
                  <a:rPr lang="zh-CN" altLang="en-US" sz="1600" dirty="0" smtClean="0"/>
                  <a:t>有一个预估的话，可以对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求期望，把其中的随机性给去掉。</a:t>
                </a:r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然后是比较复杂的一些概念：</a:t>
                </a:r>
                <a:endParaRPr lang="en-US" altLang="zh-CN" dirty="0" smtClean="0"/>
              </a:p>
              <a:p>
                <a:r>
                  <a:rPr lang="en-US" altLang="zh-CN" dirty="0" smtClean="0"/>
                  <a:t>Return</a:t>
                </a:r>
                <a:r>
                  <a:rPr lang="zh-CN" altLang="en-US" dirty="0" smtClean="0"/>
                  <a:t>回报，就是把未来所有的奖励都加权求和。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我们当然希望</a:t>
                </a:r>
                <a:r>
                  <a:rPr lang="en-US" altLang="zh-CN" dirty="0" smtClean="0"/>
                  <a:t>return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U_T</a:t>
                </a:r>
                <a:r>
                  <a:rPr lang="zh-CN" altLang="en-US" dirty="0" smtClean="0"/>
                  <a:t>越大越好。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U_T</a:t>
                </a:r>
                <a:r>
                  <a:rPr lang="zh-CN" altLang="en-US" dirty="0" smtClean="0"/>
                  <a:t>是个随机变量，随机性来自于未来所有的状态和动作。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--------</a:t>
                </a:r>
              </a:p>
              <a:p>
                <a:r>
                  <a:rPr lang="zh-CN" altLang="en-US" dirty="0" smtClean="0"/>
                  <a:t>由于</a:t>
                </a:r>
                <a:r>
                  <a:rPr lang="en-US" altLang="zh-CN" dirty="0" smtClean="0"/>
                  <a:t>U_T</a:t>
                </a:r>
                <a:r>
                  <a:rPr lang="zh-CN" altLang="en-US" dirty="0" smtClean="0"/>
                  <a:t>的随机性，在</a:t>
                </a:r>
                <a:r>
                  <a:rPr lang="en-US" altLang="zh-CN" dirty="0" smtClean="0"/>
                  <a:t>T</a:t>
                </a:r>
                <a:r>
                  <a:rPr lang="zh-CN" altLang="en-US" dirty="0" smtClean="0"/>
                  <a:t>时刻我们并不知道</a:t>
                </a:r>
                <a:r>
                  <a:rPr lang="en-US" altLang="zh-CN" dirty="0" err="1" smtClean="0"/>
                  <a:t>U_t</a:t>
                </a:r>
                <a:r>
                  <a:rPr lang="zh-CN" altLang="en-US" dirty="0" smtClean="0"/>
                  <a:t>是什么，只有当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玩完游戏，</a:t>
                </a:r>
                <a:r>
                  <a:rPr lang="en-US" altLang="zh-CN" dirty="0" err="1" smtClean="0"/>
                  <a:t>U_t</a:t>
                </a:r>
                <a:r>
                  <a:rPr lang="zh-CN" altLang="en-US" dirty="0" smtClean="0"/>
                  <a:t>才能被观测到。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想要在当前就对</a:t>
                </a:r>
                <a:r>
                  <a:rPr lang="en-US" altLang="zh-CN" dirty="0" smtClean="0"/>
                  <a:t>return</a:t>
                </a:r>
                <a:r>
                  <a:rPr lang="zh-CN" altLang="en-US" dirty="0" smtClean="0"/>
                  <a:t>有一个预估的话，可以对</a:t>
                </a:r>
                <a:r>
                  <a:rPr lang="en-US" altLang="zh-CN" dirty="0" smtClean="0"/>
                  <a:t>U_T</a:t>
                </a:r>
                <a:r>
                  <a:rPr lang="zh-CN" altLang="en-US" dirty="0" smtClean="0"/>
                  <a:t>求期望，把其中的随机性给去掉。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</a:t>
                </a:r>
              </a:p>
              <a:p>
                <a:r>
                  <a:rPr lang="en-US" altLang="zh-CN" dirty="0" smtClean="0"/>
                  <a:t>Action-value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function</a:t>
                </a:r>
                <a:r>
                  <a:rPr lang="zh-CN" altLang="en-US" dirty="0" smtClean="0"/>
                  <a:t>，动作价值函数</a:t>
                </a:r>
                <a:r>
                  <a:rPr lang="en-US" sz="1200" i="0">
                    <a:latin typeface="Cambria Math" charset="0"/>
                  </a:rPr>
                  <a:t>𝑄</a:t>
                </a:r>
                <a:r>
                  <a:rPr lang="en-US" sz="1200" i="0" smtClean="0">
                    <a:latin typeface="Cambria Math" charset="0"/>
                  </a:rPr>
                  <a:t>_</a:t>
                </a:r>
                <a:r>
                  <a:rPr lang="en-US" sz="1200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，就是对</a:t>
                </a:r>
                <a:r>
                  <a:rPr lang="en-US" altLang="zh-CN" dirty="0" err="1" smtClean="0"/>
                  <a:t>U_t</a:t>
                </a:r>
                <a:r>
                  <a:rPr lang="zh-CN" altLang="en-US" dirty="0" smtClean="0"/>
                  <a:t>的期望。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除了当前状态</a:t>
                </a:r>
                <a:r>
                  <a:rPr lang="en-US" altLang="zh-CN" dirty="0" err="1" smtClean="0"/>
                  <a:t>s_t</a:t>
                </a:r>
                <a:r>
                  <a:rPr lang="zh-CN" altLang="en-US" dirty="0" smtClean="0"/>
                  <a:t>和动作</a:t>
                </a:r>
                <a:r>
                  <a:rPr lang="en-US" altLang="zh-CN" dirty="0" err="1" smtClean="0"/>
                  <a:t>a_t</a:t>
                </a:r>
                <a:r>
                  <a:rPr lang="zh-CN" altLang="en-US" dirty="0" smtClean="0"/>
                  <a:t>，其余随机变量都被期望给去掉了。</a:t>
                </a:r>
                <a:endParaRPr lang="en-US" altLang="zh-CN" dirty="0" smtClean="0"/>
              </a:p>
              <a:p>
                <a:r>
                  <a:rPr lang="en-US" sz="1200" i="0">
                    <a:latin typeface="Cambria Math" charset="0"/>
                  </a:rPr>
                  <a:t>𝑄</a:t>
                </a:r>
                <a:r>
                  <a:rPr lang="en-US" sz="1200" i="0" smtClean="0">
                    <a:latin typeface="Cambria Math" charset="0"/>
                  </a:rPr>
                  <a:t>_</a:t>
                </a:r>
                <a:r>
                  <a:rPr lang="en-US" sz="1200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跟状态</a:t>
                </a:r>
                <a:r>
                  <a:rPr lang="en-US" altLang="zh-CN" dirty="0" err="1" smtClean="0"/>
                  <a:t>s_t</a:t>
                </a:r>
                <a:r>
                  <a:rPr lang="zh-CN" altLang="en-US" dirty="0" smtClean="0"/>
                  <a:t>，动作</a:t>
                </a:r>
                <a:r>
                  <a:rPr lang="en-US" altLang="zh-CN" dirty="0" err="1" smtClean="0"/>
                  <a:t>a_t</a:t>
                </a:r>
                <a:r>
                  <a:rPr lang="zh-CN" altLang="en-US" dirty="0" smtClean="0"/>
                  <a:t>，还有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altLang="zh-CN" dirty="0" smtClean="0"/>
                  <a:t>pi</a:t>
                </a:r>
                <a:r>
                  <a:rPr lang="zh-CN" altLang="en-US" dirty="0" smtClean="0"/>
                  <a:t>有关。</a:t>
                </a:r>
                <a:endParaRPr lang="en-US" altLang="zh-CN" dirty="0" smtClean="0"/>
              </a:p>
              <a:p>
                <a:r>
                  <a:rPr lang="en-US" sz="1200" i="0">
                    <a:latin typeface="Cambria Math" charset="0"/>
                  </a:rPr>
                  <a:t>𝑄</a:t>
                </a:r>
                <a:r>
                  <a:rPr lang="en-US" sz="1200" i="0" smtClean="0">
                    <a:latin typeface="Cambria Math" charset="0"/>
                  </a:rPr>
                  <a:t>_</a:t>
                </a:r>
                <a:r>
                  <a:rPr lang="en-US" sz="1200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告诉我们，如果用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altLang="zh-CN" dirty="0" smtClean="0"/>
                  <a:t>pi</a:t>
                </a:r>
                <a:r>
                  <a:rPr lang="zh-CN" altLang="en-US" dirty="0" smtClean="0"/>
                  <a:t>，那么在状态</a:t>
                </a:r>
                <a:r>
                  <a:rPr lang="en-US" altLang="zh-CN" dirty="0" err="1" smtClean="0"/>
                  <a:t>s_t</a:t>
                </a:r>
                <a:r>
                  <a:rPr lang="zh-CN" altLang="en-US" dirty="0" smtClean="0"/>
                  <a:t>的情况下做出动作</a:t>
                </a:r>
                <a:r>
                  <a:rPr lang="en-US" altLang="zh-CN" dirty="0" err="1" smtClean="0"/>
                  <a:t>a_t</a:t>
                </a:r>
                <a:r>
                  <a:rPr lang="zh-CN" altLang="en-US" dirty="0" smtClean="0"/>
                  <a:t>是 好 还是 坏。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</a:t>
                </a:r>
              </a:p>
              <a:p>
                <a:r>
                  <a:rPr lang="en-US" dirty="0" smtClean="0"/>
                  <a:t>Optimal action-value function</a:t>
                </a:r>
                <a:r>
                  <a:rPr lang="zh-CN" altLang="en-US" dirty="0" smtClean="0"/>
                  <a:t>，最优动作价值函数</a:t>
                </a:r>
                <a:r>
                  <a:rPr lang="en-US" sz="1200" i="0">
                    <a:latin typeface="Cambria Math" charset="0"/>
                  </a:rPr>
                  <a:t>𝑄</a:t>
                </a:r>
                <a:r>
                  <a:rPr lang="en-US" sz="1200" i="0" smtClean="0">
                    <a:latin typeface="Cambria Math" charset="0"/>
                  </a:rPr>
                  <a:t>^</a:t>
                </a:r>
                <a:r>
                  <a:rPr lang="en-US" sz="1200" i="0">
                    <a:latin typeface="Cambria Math" charset="0"/>
                  </a:rPr>
                  <a:t>⋆</a:t>
                </a:r>
                <a:r>
                  <a:rPr lang="zh-CN" altLang="en-US" dirty="0" smtClean="0"/>
                  <a:t>是对</a:t>
                </a:r>
                <a:r>
                  <a:rPr lang="en-US" sz="1200" i="0">
                    <a:latin typeface="Cambria Math" charset="0"/>
                  </a:rPr>
                  <a:t>𝑄</a:t>
                </a:r>
                <a:r>
                  <a:rPr lang="en-US" sz="1200" i="0" smtClean="0">
                    <a:latin typeface="Cambria Math" charset="0"/>
                  </a:rPr>
                  <a:t>_</a:t>
                </a:r>
                <a:r>
                  <a:rPr lang="en-US" sz="1200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求最大化，把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altLang="zh-CN" dirty="0" smtClean="0"/>
                  <a:t>pi</a:t>
                </a:r>
                <a:r>
                  <a:rPr lang="zh-CN" altLang="en-US" dirty="0" smtClean="0"/>
                  <a:t>给去掉了。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意思就是说，无论用什么样的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函数控制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，在状态</a:t>
                </a:r>
                <a:r>
                  <a:rPr lang="en-US" altLang="zh-CN" dirty="0" err="1" smtClean="0"/>
                  <a:t>s_t</a:t>
                </a:r>
                <a:r>
                  <a:rPr lang="zh-CN" altLang="en-US" dirty="0" smtClean="0"/>
                  <a:t>做动作</a:t>
                </a:r>
                <a:r>
                  <a:rPr lang="en-US" altLang="zh-CN" dirty="0" err="1" smtClean="0"/>
                  <a:t>a_t</a:t>
                </a:r>
                <a:r>
                  <a:rPr lang="zh-CN" altLang="en-US" dirty="0" smtClean="0"/>
                  <a:t>，你顶多就能获得</a:t>
                </a:r>
                <a:r>
                  <a:rPr lang="en-US" sz="1200" i="0">
                    <a:latin typeface="Cambria Math" charset="0"/>
                  </a:rPr>
                  <a:t>𝑄</a:t>
                </a:r>
                <a:r>
                  <a:rPr lang="en-US" sz="1200" i="0" smtClean="0">
                    <a:latin typeface="Cambria Math" charset="0"/>
                  </a:rPr>
                  <a:t>^</a:t>
                </a:r>
                <a:r>
                  <a:rPr lang="en-US" sz="1200" i="0">
                    <a:latin typeface="Cambria Math" charset="0"/>
                  </a:rPr>
                  <a:t>⋆</a:t>
                </a:r>
                <a:r>
                  <a:rPr lang="zh-CN" altLang="en-US" dirty="0" smtClean="0"/>
                  <a:t>这么多的期望回报。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------</a:t>
                </a:r>
              </a:p>
              <a:p>
                <a:r>
                  <a:rPr lang="zh-CN" altLang="en-US" dirty="0" smtClean="0"/>
                  <a:t>最后是</a:t>
                </a:r>
                <a:r>
                  <a:rPr lang="en-US" dirty="0" smtClean="0"/>
                  <a:t>State-value function</a:t>
                </a:r>
                <a:r>
                  <a:rPr lang="zh-CN" altLang="en-US" dirty="0" smtClean="0"/>
                  <a:t>状态价值函数</a:t>
                </a:r>
                <a:r>
                  <a:rPr lang="en-US" sz="1200" i="0">
                    <a:latin typeface="Cambria Math" charset="0"/>
                  </a:rPr>
                  <a:t>𝑉</a:t>
                </a:r>
                <a:r>
                  <a:rPr lang="en-US" sz="1200" i="0" smtClean="0">
                    <a:latin typeface="Cambria Math" charset="0"/>
                  </a:rPr>
                  <a:t>_</a:t>
                </a:r>
                <a:r>
                  <a:rPr lang="en-US" sz="1200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它是再求一次期望，把</a:t>
                </a:r>
                <a:r>
                  <a:rPr lang="en-US" sz="1200" i="0">
                    <a:latin typeface="Cambria Math" charset="0"/>
                  </a:rPr>
                  <a:t>𝑄</a:t>
                </a:r>
                <a:r>
                  <a:rPr lang="en-US" sz="1200" i="0" smtClean="0">
                    <a:latin typeface="Cambria Math" charset="0"/>
                  </a:rPr>
                  <a:t>_</a:t>
                </a:r>
                <a:r>
                  <a:rPr lang="en-US" sz="1200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中的随机变量动作</a:t>
                </a:r>
                <a:r>
                  <a:rPr lang="en-US" altLang="zh-CN" dirty="0" smtClean="0"/>
                  <a:t>a</a:t>
                </a:r>
                <a:r>
                  <a:rPr lang="zh-CN" altLang="en-US" dirty="0" smtClean="0"/>
                  <a:t>也给去掉了。</a:t>
                </a:r>
                <a:endParaRPr lang="en-US" altLang="zh-CN" dirty="0" smtClean="0"/>
              </a:p>
              <a:p>
                <a:r>
                  <a:rPr lang="en-US" sz="1200" i="0">
                    <a:latin typeface="Cambria Math" charset="0"/>
                  </a:rPr>
                  <a:t>𝑉</a:t>
                </a:r>
                <a:r>
                  <a:rPr lang="en-US" sz="1200" i="0" smtClean="0">
                    <a:latin typeface="Cambria Math" charset="0"/>
                  </a:rPr>
                  <a:t>_</a:t>
                </a:r>
                <a:r>
                  <a:rPr lang="en-US" sz="1200" i="0">
                    <a:latin typeface="Cambria Math" charset="0"/>
                  </a:rPr>
                  <a:t>𝜋</a:t>
                </a:r>
                <a:r>
                  <a:rPr lang="zh-CN" altLang="en-US" sz="1200" i="0" smtClean="0">
                    <a:latin typeface="Cambria Math" charset="0"/>
                  </a:rPr>
                  <a:t> 可以</a:t>
                </a:r>
                <a:r>
                  <a:rPr lang="zh-CN" altLang="en-US" dirty="0" smtClean="0"/>
                  <a:t>评价如果使用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altLang="zh-CN" dirty="0" smtClean="0"/>
                  <a:t>pi</a:t>
                </a:r>
                <a:r>
                  <a:rPr lang="zh-CN" altLang="en-US" dirty="0" smtClean="0"/>
                  <a:t>，那么当前状态</a:t>
                </a:r>
                <a:r>
                  <a:rPr lang="en-US" altLang="zh-CN" dirty="0" err="1" smtClean="0"/>
                  <a:t>s_t</a:t>
                </a:r>
                <a:r>
                  <a:rPr lang="zh-CN" altLang="en-US" dirty="0" smtClean="0"/>
                  <a:t>是好是坏，我是快赢了 还是快输了。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306064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 smtClean="0"/>
                  <a:t>Let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action-value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function</a:t>
                </a:r>
                <a:r>
                  <a:rPr lang="zh-CN" altLang="en-US" sz="16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be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expectation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of</a:t>
                </a:r>
                <a:r>
                  <a:rPr lang="zh-CN" altLang="en-US" sz="16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1600" dirty="0" smtClean="0"/>
                  <a:t>.</a:t>
                </a:r>
              </a:p>
              <a:p>
                <a:r>
                  <a:rPr lang="en-US" altLang="zh-CN" sz="1600" dirty="0" smtClean="0"/>
                  <a:t>All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future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states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and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actions,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except</a:t>
                </a:r>
                <a:r>
                  <a:rPr lang="zh-CN" altLang="en-US" sz="16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zh-CN" altLang="en-US" sz="16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1600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charset="0"/>
                      </a:rPr>
                      <m:t>and</m:t>
                    </m:r>
                    <m:r>
                      <a:rPr lang="zh-CN" altLang="en-US" sz="16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1600" dirty="0" smtClean="0"/>
                  <a:t>,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are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integrated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out.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depends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policy</a:t>
                </a:r>
                <a:r>
                  <a:rPr lang="zh-CN" altLang="en-US" sz="1600" baseline="0" dirty="0" smtClean="0"/>
                  <a:t> 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 charset="0"/>
                      </a:rPr>
                      <m:t>𝜋</m:t>
                    </m:r>
                  </m:oMath>
                </a14:m>
                <a:r>
                  <a:rPr lang="en-US" altLang="zh-CN" sz="1600" dirty="0" smtClean="0"/>
                  <a:t>,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current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state</a:t>
                </a:r>
                <a:r>
                  <a:rPr lang="zh-CN" altLang="en-US" sz="16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1600" dirty="0" smtClean="0"/>
                  <a:t>,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and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action</a:t>
                </a:r>
                <a:r>
                  <a:rPr lang="zh-CN" altLang="en-US" sz="16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1600" dirty="0" smtClean="0"/>
                  <a:t>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/>
                  <a:t>===============================</a:t>
                </a:r>
              </a:p>
              <a:p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state-value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function</a:t>
                </a:r>
                <a:r>
                  <a:rPr lang="zh-CN" altLang="en-US" sz="16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charset="0"/>
                          </a:rPr>
                          <m:t>𝑉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eliminates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action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taking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expectation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of</a:t>
                </a:r>
                <a:r>
                  <a:rPr lang="zh-CN" altLang="en-US" sz="1600" baseline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 </a:t>
                </a:r>
                <a:r>
                  <a:rPr lang="en-US" altLang="zh-CN" sz="1600" dirty="0" err="1" smtClean="0"/>
                  <a:t>w.r.t</a:t>
                </a:r>
                <a:r>
                  <a:rPr lang="en-US" altLang="zh-CN" sz="1600" dirty="0" smtClean="0"/>
                  <a:t>.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charset="0"/>
                          </a:rPr>
                          <m:t>𝑉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evaluates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how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good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current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state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baseline="0" dirty="0" smtClean="0"/>
                  <a:t>is.</a:t>
                </a:r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r>
                  <a:rPr lang="en-US" altLang="zh-CN" sz="1600" dirty="0" smtClean="0"/>
                  <a:t>Action-value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function</a:t>
                </a:r>
                <a:r>
                  <a:rPr lang="zh-CN" altLang="en-US" sz="1600" dirty="0" smtClean="0"/>
                  <a:t>，动作价值函数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，就是对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的期望。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除了当前状态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和动作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，其余随机变量都被期望给消除了。</a:t>
                </a:r>
                <a:endParaRPr lang="en-US" altLang="zh-CN" sz="1600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跟状态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，动作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 ，还有</a:t>
                </a:r>
                <a:r>
                  <a:rPr lang="en-US" altLang="zh-CN" sz="1600" dirty="0" smtClean="0"/>
                  <a:t>policy</a:t>
                </a:r>
                <a:r>
                  <a:rPr lang="zh-CN" altLang="en-US" sz="1600" dirty="0" smtClean="0"/>
                  <a:t>函数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 charset="0"/>
                      </a:rPr>
                      <m:t>𝜋</m:t>
                    </m:r>
                  </m:oMath>
                </a14:m>
                <a:r>
                  <a:rPr lang="zh-CN" altLang="en-US" sz="1600" dirty="0" smtClean="0"/>
                  <a:t>有关。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如果使用</a:t>
                </a:r>
                <a:r>
                  <a:rPr lang="en-US" altLang="zh-CN" sz="1600" dirty="0" smtClean="0"/>
                  <a:t>policy</a:t>
                </a:r>
                <a:r>
                  <a:rPr lang="zh-CN" altLang="en-US" sz="1600" dirty="0" smtClean="0"/>
                  <a:t>函数</a:t>
                </a:r>
                <a:r>
                  <a:rPr lang="en-US" altLang="zh-CN" sz="1600" dirty="0" smtClean="0"/>
                  <a:t>pi</a:t>
                </a:r>
                <a:r>
                  <a:rPr lang="zh-CN" altLang="en-US" sz="1600" dirty="0" smtClean="0"/>
                  <a:t>，那么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 可以告诉我们，在状态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的情况下做出动作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是 好 还是 坏。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/>
                  <a:t>===============================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最后是</a:t>
                </a:r>
                <a:r>
                  <a:rPr lang="en-US" sz="1600" dirty="0" smtClean="0"/>
                  <a:t>State-value function</a:t>
                </a:r>
                <a:r>
                  <a:rPr lang="zh-CN" altLang="en-US" sz="1600" dirty="0" smtClean="0"/>
                  <a:t>状态价值函数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charset="0"/>
                          </a:rPr>
                          <m:t>𝑉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它是再求一次期望，把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中的动作</a:t>
                </a:r>
                <a:r>
                  <a:rPr lang="en-US" altLang="zh-CN" sz="1600" dirty="0" smtClean="0"/>
                  <a:t>a</a:t>
                </a:r>
                <a:r>
                  <a:rPr lang="zh-CN" altLang="en-US" sz="1600" dirty="0" smtClean="0"/>
                  <a:t>也给去掉了。</a:t>
                </a:r>
                <a:endParaRPr lang="en-US" altLang="zh-CN" sz="1600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charset="0"/>
                          </a:rPr>
                          <m:t>𝑉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𝜋</m:t>
                        </m:r>
                      </m:sub>
                    </m:sSub>
                    <m:r>
                      <a:rPr lang="zh-CN" altLang="en-US" sz="1600" i="1" smtClean="0">
                        <a:latin typeface="Cambria Math" charset="0"/>
                      </a:rPr>
                      <m:t>可以</m:t>
                    </m:r>
                  </m:oMath>
                </a14:m>
                <a:r>
                  <a:rPr lang="zh-CN" altLang="en-US" sz="1600" dirty="0" smtClean="0"/>
                  <a:t>评价状态</a:t>
                </a:r>
                <a:r>
                  <a:rPr lang="en-US" altLang="zh-CN" sz="1600" dirty="0" smtClean="0"/>
                  <a:t>s</a:t>
                </a:r>
                <a:r>
                  <a:rPr lang="zh-CN" altLang="en-US" sz="1600" dirty="0" smtClean="0"/>
                  <a:t>和</a:t>
                </a:r>
                <a:r>
                  <a:rPr lang="en-US" altLang="zh-CN" sz="1600" dirty="0" smtClean="0"/>
                  <a:t>policy</a:t>
                </a:r>
                <a:r>
                  <a:rPr lang="zh-CN" altLang="en-US" sz="1600" dirty="0" smtClean="0"/>
                  <a:t> 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 charset="0"/>
                      </a:rPr>
                      <m:t>𝜋</m:t>
                    </m:r>
                  </m:oMath>
                </a14:m>
                <a:r>
                  <a:rPr lang="zh-CN" altLang="en-US" sz="1600" dirty="0" smtClean="0"/>
                  <a:t>的好坏。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如果使用</a:t>
                </a:r>
                <a:r>
                  <a:rPr lang="en-US" altLang="zh-CN" sz="1600" dirty="0" smtClean="0"/>
                  <a:t>policy</a:t>
                </a:r>
                <a:r>
                  <a:rPr lang="zh-CN" altLang="en-US" sz="1600" dirty="0" smtClean="0"/>
                  <a:t>函数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 charset="0"/>
                      </a:rPr>
                      <m:t>𝜋</m:t>
                    </m:r>
                  </m:oMath>
                </a14:m>
                <a:r>
                  <a:rPr lang="zh-CN" altLang="en-US" sz="1600" dirty="0" smtClean="0"/>
                  <a:t>，那么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charset="0"/>
                          </a:rPr>
                          <m:t>𝑉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 可以告诉我们，当前状态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是好是坏，我是快赢了 还是快输了。</a:t>
                </a:r>
                <a:endParaRPr lang="en-US" altLang="zh-CN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然后是比较复杂的一些概念：</a:t>
                </a:r>
                <a:endParaRPr lang="en-US" altLang="zh-CN" dirty="0" smtClean="0"/>
              </a:p>
              <a:p>
                <a:r>
                  <a:rPr lang="en-US" altLang="zh-CN" dirty="0" smtClean="0"/>
                  <a:t>Return</a:t>
                </a:r>
                <a:r>
                  <a:rPr lang="zh-CN" altLang="en-US" dirty="0" smtClean="0"/>
                  <a:t>回报，就是把未来所有的奖励都加权求和。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我们当然希望</a:t>
                </a:r>
                <a:r>
                  <a:rPr lang="en-US" altLang="zh-CN" dirty="0" smtClean="0"/>
                  <a:t>return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U_T</a:t>
                </a:r>
                <a:r>
                  <a:rPr lang="zh-CN" altLang="en-US" dirty="0" smtClean="0"/>
                  <a:t>越大越好。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U_T</a:t>
                </a:r>
                <a:r>
                  <a:rPr lang="zh-CN" altLang="en-US" dirty="0" smtClean="0"/>
                  <a:t>是个随机变量，随机性来自于未来所有的状态和动作。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--------</a:t>
                </a:r>
              </a:p>
              <a:p>
                <a:r>
                  <a:rPr lang="zh-CN" altLang="en-US" dirty="0" smtClean="0"/>
                  <a:t>由于</a:t>
                </a:r>
                <a:r>
                  <a:rPr lang="en-US" altLang="zh-CN" dirty="0" smtClean="0"/>
                  <a:t>U_T</a:t>
                </a:r>
                <a:r>
                  <a:rPr lang="zh-CN" altLang="en-US" dirty="0" smtClean="0"/>
                  <a:t>的随机性，在</a:t>
                </a:r>
                <a:r>
                  <a:rPr lang="en-US" altLang="zh-CN" dirty="0" smtClean="0"/>
                  <a:t>T</a:t>
                </a:r>
                <a:r>
                  <a:rPr lang="zh-CN" altLang="en-US" dirty="0" smtClean="0"/>
                  <a:t>时刻我们并不知道</a:t>
                </a:r>
                <a:r>
                  <a:rPr lang="en-US" altLang="zh-CN" dirty="0" err="1" smtClean="0"/>
                  <a:t>U_t</a:t>
                </a:r>
                <a:r>
                  <a:rPr lang="zh-CN" altLang="en-US" dirty="0" smtClean="0"/>
                  <a:t>是什么，只有当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玩完游戏，</a:t>
                </a:r>
                <a:r>
                  <a:rPr lang="en-US" altLang="zh-CN" dirty="0" err="1" smtClean="0"/>
                  <a:t>U_t</a:t>
                </a:r>
                <a:r>
                  <a:rPr lang="zh-CN" altLang="en-US" dirty="0" smtClean="0"/>
                  <a:t>才能被观测到。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想要在当前就对</a:t>
                </a:r>
                <a:r>
                  <a:rPr lang="en-US" altLang="zh-CN" dirty="0" smtClean="0"/>
                  <a:t>return</a:t>
                </a:r>
                <a:r>
                  <a:rPr lang="zh-CN" altLang="en-US" dirty="0" smtClean="0"/>
                  <a:t>有一个预估的话，可以对</a:t>
                </a:r>
                <a:r>
                  <a:rPr lang="en-US" altLang="zh-CN" dirty="0" smtClean="0"/>
                  <a:t>U_T</a:t>
                </a:r>
                <a:r>
                  <a:rPr lang="zh-CN" altLang="en-US" dirty="0" smtClean="0"/>
                  <a:t>求期望，把其中的随机性给去掉。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</a:t>
                </a:r>
              </a:p>
              <a:p>
                <a:r>
                  <a:rPr lang="en-US" altLang="zh-CN" dirty="0" smtClean="0"/>
                  <a:t>Action-value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function</a:t>
                </a:r>
                <a:r>
                  <a:rPr lang="zh-CN" altLang="en-US" dirty="0" smtClean="0"/>
                  <a:t>，动作价值函数</a:t>
                </a:r>
                <a:r>
                  <a:rPr lang="en-US" sz="1200" i="0">
                    <a:latin typeface="Cambria Math" charset="0"/>
                  </a:rPr>
                  <a:t>𝑄</a:t>
                </a:r>
                <a:r>
                  <a:rPr lang="en-US" sz="1200" i="0" smtClean="0">
                    <a:latin typeface="Cambria Math" charset="0"/>
                  </a:rPr>
                  <a:t>_</a:t>
                </a:r>
                <a:r>
                  <a:rPr lang="en-US" sz="1200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，就是对</a:t>
                </a:r>
                <a:r>
                  <a:rPr lang="en-US" altLang="zh-CN" dirty="0" err="1" smtClean="0"/>
                  <a:t>U_t</a:t>
                </a:r>
                <a:r>
                  <a:rPr lang="zh-CN" altLang="en-US" dirty="0" smtClean="0"/>
                  <a:t>的期望。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除了当前状态</a:t>
                </a:r>
                <a:r>
                  <a:rPr lang="en-US" altLang="zh-CN" dirty="0" err="1" smtClean="0"/>
                  <a:t>s_t</a:t>
                </a:r>
                <a:r>
                  <a:rPr lang="zh-CN" altLang="en-US" dirty="0" smtClean="0"/>
                  <a:t>和动作</a:t>
                </a:r>
                <a:r>
                  <a:rPr lang="en-US" altLang="zh-CN" dirty="0" err="1" smtClean="0"/>
                  <a:t>a_t</a:t>
                </a:r>
                <a:r>
                  <a:rPr lang="zh-CN" altLang="en-US" dirty="0" smtClean="0"/>
                  <a:t>，其余随机变量都被期望给去掉了。</a:t>
                </a:r>
                <a:endParaRPr lang="en-US" altLang="zh-CN" dirty="0" smtClean="0"/>
              </a:p>
              <a:p>
                <a:r>
                  <a:rPr lang="en-US" sz="1200" i="0">
                    <a:latin typeface="Cambria Math" charset="0"/>
                  </a:rPr>
                  <a:t>𝑄</a:t>
                </a:r>
                <a:r>
                  <a:rPr lang="en-US" sz="1200" i="0" smtClean="0">
                    <a:latin typeface="Cambria Math" charset="0"/>
                  </a:rPr>
                  <a:t>_</a:t>
                </a:r>
                <a:r>
                  <a:rPr lang="en-US" sz="1200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跟状态</a:t>
                </a:r>
                <a:r>
                  <a:rPr lang="en-US" altLang="zh-CN" dirty="0" err="1" smtClean="0"/>
                  <a:t>s_t</a:t>
                </a:r>
                <a:r>
                  <a:rPr lang="zh-CN" altLang="en-US" dirty="0" smtClean="0"/>
                  <a:t>，动作</a:t>
                </a:r>
                <a:r>
                  <a:rPr lang="en-US" altLang="zh-CN" dirty="0" err="1" smtClean="0"/>
                  <a:t>a_t</a:t>
                </a:r>
                <a:r>
                  <a:rPr lang="zh-CN" altLang="en-US" dirty="0" smtClean="0"/>
                  <a:t>，还有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altLang="zh-CN" dirty="0" smtClean="0"/>
                  <a:t>pi</a:t>
                </a:r>
                <a:r>
                  <a:rPr lang="zh-CN" altLang="en-US" dirty="0" smtClean="0"/>
                  <a:t>有关。</a:t>
                </a:r>
                <a:endParaRPr lang="en-US" altLang="zh-CN" dirty="0" smtClean="0"/>
              </a:p>
              <a:p>
                <a:r>
                  <a:rPr lang="en-US" sz="1200" i="0">
                    <a:latin typeface="Cambria Math" charset="0"/>
                  </a:rPr>
                  <a:t>𝑄</a:t>
                </a:r>
                <a:r>
                  <a:rPr lang="en-US" sz="1200" i="0" smtClean="0">
                    <a:latin typeface="Cambria Math" charset="0"/>
                  </a:rPr>
                  <a:t>_</a:t>
                </a:r>
                <a:r>
                  <a:rPr lang="en-US" sz="1200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告诉我们，如果用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altLang="zh-CN" dirty="0" smtClean="0"/>
                  <a:t>pi</a:t>
                </a:r>
                <a:r>
                  <a:rPr lang="zh-CN" altLang="en-US" dirty="0" smtClean="0"/>
                  <a:t>，那么在状态</a:t>
                </a:r>
                <a:r>
                  <a:rPr lang="en-US" altLang="zh-CN" dirty="0" err="1" smtClean="0"/>
                  <a:t>s_t</a:t>
                </a:r>
                <a:r>
                  <a:rPr lang="zh-CN" altLang="en-US" dirty="0" smtClean="0"/>
                  <a:t>的情况下做出动作</a:t>
                </a:r>
                <a:r>
                  <a:rPr lang="en-US" altLang="zh-CN" dirty="0" err="1" smtClean="0"/>
                  <a:t>a_t</a:t>
                </a:r>
                <a:r>
                  <a:rPr lang="zh-CN" altLang="en-US" dirty="0" smtClean="0"/>
                  <a:t>是 好 还是 坏。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</a:t>
                </a:r>
              </a:p>
              <a:p>
                <a:r>
                  <a:rPr lang="en-US" dirty="0" smtClean="0"/>
                  <a:t>Optimal action-value function</a:t>
                </a:r>
                <a:r>
                  <a:rPr lang="zh-CN" altLang="en-US" dirty="0" smtClean="0"/>
                  <a:t>，最优动作价值函数</a:t>
                </a:r>
                <a:r>
                  <a:rPr lang="en-US" sz="1200" i="0">
                    <a:latin typeface="Cambria Math" charset="0"/>
                  </a:rPr>
                  <a:t>𝑄</a:t>
                </a:r>
                <a:r>
                  <a:rPr lang="en-US" sz="1200" i="0" smtClean="0">
                    <a:latin typeface="Cambria Math" charset="0"/>
                  </a:rPr>
                  <a:t>^</a:t>
                </a:r>
                <a:r>
                  <a:rPr lang="en-US" sz="1200" i="0">
                    <a:latin typeface="Cambria Math" charset="0"/>
                  </a:rPr>
                  <a:t>⋆</a:t>
                </a:r>
                <a:r>
                  <a:rPr lang="zh-CN" altLang="en-US" dirty="0" smtClean="0"/>
                  <a:t>是对</a:t>
                </a:r>
                <a:r>
                  <a:rPr lang="en-US" sz="1200" i="0">
                    <a:latin typeface="Cambria Math" charset="0"/>
                  </a:rPr>
                  <a:t>𝑄</a:t>
                </a:r>
                <a:r>
                  <a:rPr lang="en-US" sz="1200" i="0" smtClean="0">
                    <a:latin typeface="Cambria Math" charset="0"/>
                  </a:rPr>
                  <a:t>_</a:t>
                </a:r>
                <a:r>
                  <a:rPr lang="en-US" sz="1200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求最大化，把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altLang="zh-CN" dirty="0" smtClean="0"/>
                  <a:t>pi</a:t>
                </a:r>
                <a:r>
                  <a:rPr lang="zh-CN" altLang="en-US" dirty="0" smtClean="0"/>
                  <a:t>给去掉了。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意思就是说，无论用什么样的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函数控制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，在状态</a:t>
                </a:r>
                <a:r>
                  <a:rPr lang="en-US" altLang="zh-CN" dirty="0" err="1" smtClean="0"/>
                  <a:t>s_t</a:t>
                </a:r>
                <a:r>
                  <a:rPr lang="zh-CN" altLang="en-US" dirty="0" smtClean="0"/>
                  <a:t>做动作</a:t>
                </a:r>
                <a:r>
                  <a:rPr lang="en-US" altLang="zh-CN" dirty="0" err="1" smtClean="0"/>
                  <a:t>a_t</a:t>
                </a:r>
                <a:r>
                  <a:rPr lang="zh-CN" altLang="en-US" dirty="0" smtClean="0"/>
                  <a:t>，你顶多就能获得</a:t>
                </a:r>
                <a:r>
                  <a:rPr lang="en-US" sz="1200" i="0">
                    <a:latin typeface="Cambria Math" charset="0"/>
                  </a:rPr>
                  <a:t>𝑄</a:t>
                </a:r>
                <a:r>
                  <a:rPr lang="en-US" sz="1200" i="0" smtClean="0">
                    <a:latin typeface="Cambria Math" charset="0"/>
                  </a:rPr>
                  <a:t>^</a:t>
                </a:r>
                <a:r>
                  <a:rPr lang="en-US" sz="1200" i="0">
                    <a:latin typeface="Cambria Math" charset="0"/>
                  </a:rPr>
                  <a:t>⋆</a:t>
                </a:r>
                <a:r>
                  <a:rPr lang="zh-CN" altLang="en-US" dirty="0" smtClean="0"/>
                  <a:t>这么多的期望回报。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------</a:t>
                </a:r>
              </a:p>
              <a:p>
                <a:r>
                  <a:rPr lang="zh-CN" altLang="en-US" dirty="0" smtClean="0"/>
                  <a:t>最后是</a:t>
                </a:r>
                <a:r>
                  <a:rPr lang="en-US" dirty="0" smtClean="0"/>
                  <a:t>State-value function</a:t>
                </a:r>
                <a:r>
                  <a:rPr lang="zh-CN" altLang="en-US" dirty="0" smtClean="0"/>
                  <a:t>状态价值函数</a:t>
                </a:r>
                <a:r>
                  <a:rPr lang="en-US" sz="1200" i="0">
                    <a:latin typeface="Cambria Math" charset="0"/>
                  </a:rPr>
                  <a:t>𝑉</a:t>
                </a:r>
                <a:r>
                  <a:rPr lang="en-US" sz="1200" i="0" smtClean="0">
                    <a:latin typeface="Cambria Math" charset="0"/>
                  </a:rPr>
                  <a:t>_</a:t>
                </a:r>
                <a:r>
                  <a:rPr lang="en-US" sz="1200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它是再求一次期望，把</a:t>
                </a:r>
                <a:r>
                  <a:rPr lang="en-US" sz="1200" i="0">
                    <a:latin typeface="Cambria Math" charset="0"/>
                  </a:rPr>
                  <a:t>𝑄</a:t>
                </a:r>
                <a:r>
                  <a:rPr lang="en-US" sz="1200" i="0" smtClean="0">
                    <a:latin typeface="Cambria Math" charset="0"/>
                  </a:rPr>
                  <a:t>_</a:t>
                </a:r>
                <a:r>
                  <a:rPr lang="en-US" sz="1200" i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中的随机变量动作</a:t>
                </a:r>
                <a:r>
                  <a:rPr lang="en-US" altLang="zh-CN" dirty="0" smtClean="0"/>
                  <a:t>a</a:t>
                </a:r>
                <a:r>
                  <a:rPr lang="zh-CN" altLang="en-US" dirty="0" smtClean="0"/>
                  <a:t>也给去掉了。</a:t>
                </a:r>
                <a:endParaRPr lang="en-US" altLang="zh-CN" dirty="0" smtClean="0"/>
              </a:p>
              <a:p>
                <a:r>
                  <a:rPr lang="en-US" sz="1200" i="0">
                    <a:latin typeface="Cambria Math" charset="0"/>
                  </a:rPr>
                  <a:t>𝑉</a:t>
                </a:r>
                <a:r>
                  <a:rPr lang="en-US" sz="1200" i="0" smtClean="0">
                    <a:latin typeface="Cambria Math" charset="0"/>
                  </a:rPr>
                  <a:t>_</a:t>
                </a:r>
                <a:r>
                  <a:rPr lang="en-US" sz="1200" i="0">
                    <a:latin typeface="Cambria Math" charset="0"/>
                  </a:rPr>
                  <a:t>𝜋</a:t>
                </a:r>
                <a:r>
                  <a:rPr lang="zh-CN" altLang="en-US" sz="1200" i="0" smtClean="0">
                    <a:latin typeface="Cambria Math" charset="0"/>
                  </a:rPr>
                  <a:t> 可以</a:t>
                </a:r>
                <a:r>
                  <a:rPr lang="zh-CN" altLang="en-US" dirty="0" smtClean="0"/>
                  <a:t>评价如果使用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altLang="zh-CN" dirty="0" smtClean="0"/>
                  <a:t>pi</a:t>
                </a:r>
                <a:r>
                  <a:rPr lang="zh-CN" altLang="en-US" dirty="0" smtClean="0"/>
                  <a:t>，那么当前状态</a:t>
                </a:r>
                <a:r>
                  <a:rPr lang="en-US" altLang="zh-CN" dirty="0" err="1" smtClean="0"/>
                  <a:t>s_t</a:t>
                </a:r>
                <a:r>
                  <a:rPr lang="zh-CN" altLang="en-US" dirty="0" smtClean="0"/>
                  <a:t>是好是坏，我是快赢了 还是快输了。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696193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goal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reinforcement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learning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knowing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how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control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agent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collect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many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rewards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possible.</a:t>
                </a:r>
              </a:p>
              <a:p>
                <a:r>
                  <a:rPr lang="en-US" altLang="zh-CN" sz="1600" baseline="0" dirty="0" smtClean="0"/>
                  <a:t>This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procedure.</a:t>
                </a:r>
              </a:p>
              <a:p>
                <a:r>
                  <a:rPr lang="en-US" altLang="zh-CN" sz="1600" baseline="0" dirty="0" smtClean="0"/>
                  <a:t>====================</a:t>
                </a:r>
              </a:p>
              <a:p>
                <a:r>
                  <a:rPr lang="en-US" altLang="zh-CN" sz="1600" baseline="0" dirty="0" smtClean="0"/>
                  <a:t>At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time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observe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state</a:t>
                </a:r>
                <a:r>
                  <a:rPr lang="zh-CN" altLang="en-US" sz="1600" baseline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600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1600" baseline="0" dirty="0" smtClean="0"/>
                  <a:t>.</a:t>
                </a:r>
              </a:p>
              <a:p>
                <a:endParaRPr lang="en-US" altLang="zh-CN" sz="1600" baseline="0" dirty="0" smtClean="0"/>
              </a:p>
              <a:p>
                <a:endParaRPr lang="en-US" altLang="zh-CN" sz="1600" dirty="0" smtClean="0"/>
              </a:p>
              <a:p>
                <a:r>
                  <a:rPr lang="zh-CN" altLang="en-US" sz="1600" dirty="0" smtClean="0"/>
                  <a:t>强化学习的目的  就是学会  怎么样控制</a:t>
                </a:r>
                <a:r>
                  <a:rPr lang="en-US" altLang="zh-CN" sz="1600" dirty="0" smtClean="0"/>
                  <a:t>agent</a:t>
                </a:r>
                <a:r>
                  <a:rPr lang="zh-CN" altLang="en-US" sz="1600" dirty="0" smtClean="0"/>
                  <a:t>，让</a:t>
                </a:r>
                <a:r>
                  <a:rPr lang="en-US" altLang="zh-CN" sz="1600" dirty="0" smtClean="0"/>
                  <a:t>agent</a:t>
                </a:r>
                <a:r>
                  <a:rPr lang="zh-CN" altLang="en-US" sz="1600" dirty="0" smtClean="0"/>
                  <a:t>基于 当前状态</a:t>
                </a:r>
                <a:r>
                  <a:rPr lang="en-US" altLang="zh-CN" sz="1600" dirty="0" smtClean="0"/>
                  <a:t>s</a:t>
                </a:r>
                <a:r>
                  <a:rPr lang="zh-CN" altLang="en-US" sz="1600" dirty="0" smtClean="0"/>
                  <a:t>  来做出相应动作，争取能 在未来 得到尽量多的奖励。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流程是这样的。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/>
                  <a:t>====================</a:t>
                </a:r>
              </a:p>
              <a:p>
                <a:r>
                  <a:rPr lang="zh-CN" altLang="en-US" sz="1600" dirty="0" smtClean="0"/>
                  <a:t>在 </a:t>
                </a:r>
                <a:r>
                  <a:rPr lang="en-US" altLang="zh-CN" sz="1600" dirty="0" smtClean="0"/>
                  <a:t>t</a:t>
                </a:r>
                <a:r>
                  <a:rPr lang="zh-CN" altLang="en-US" sz="1600" dirty="0" smtClean="0"/>
                  <a:t> 时刻，我们观测到状态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600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强化学习的</a:t>
                </a:r>
                <a:r>
                  <a:rPr lang="zh-CN" altLang="en-US" dirty="0" smtClean="0"/>
                  <a:t>目的  就</a:t>
                </a:r>
                <a:r>
                  <a:rPr lang="zh-CN" altLang="en-US" dirty="0" smtClean="0"/>
                  <a:t>是</a:t>
                </a:r>
                <a:r>
                  <a:rPr lang="zh-CN" altLang="en-US" dirty="0" smtClean="0"/>
                  <a:t>学会  怎么样</a:t>
                </a:r>
                <a:r>
                  <a:rPr lang="zh-CN" altLang="en-US" dirty="0" smtClean="0"/>
                  <a:t>控制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，让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基于 当前状态</a:t>
                </a:r>
                <a:r>
                  <a:rPr lang="en-US" altLang="zh-CN" dirty="0" smtClean="0"/>
                  <a:t>s</a:t>
                </a:r>
                <a:r>
                  <a:rPr lang="zh-CN" altLang="en-US" dirty="0" smtClean="0"/>
                  <a:t>  来</a:t>
                </a:r>
                <a:r>
                  <a:rPr lang="zh-CN" altLang="en-US" dirty="0" smtClean="0"/>
                  <a:t>做出相应动作，争取</a:t>
                </a:r>
                <a:r>
                  <a:rPr lang="zh-CN" altLang="en-US" dirty="0" smtClean="0"/>
                  <a:t>能 在未来 得到</a:t>
                </a:r>
                <a:r>
                  <a:rPr lang="zh-CN" altLang="en-US" dirty="0" smtClean="0"/>
                  <a:t>尽量多的奖励。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流程是这样的。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观测到状态</a:t>
                </a:r>
                <a:r>
                  <a:rPr lang="en-US" altLang="zh-CN" i="0" dirty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𝑠</a:t>
                </a:r>
                <a:r>
                  <a:rPr lang="en-US" altLang="zh-CN" i="0" dirty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_</a:t>
                </a:r>
                <a:r>
                  <a:rPr lang="en-US" altLang="zh-CN" i="0" dirty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𝑡</a:t>
                </a:r>
                <a:r>
                  <a:rPr lang="zh-CN" altLang="en-US" dirty="0" smtClean="0"/>
                  <a:t>，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做出动作</a:t>
                </a:r>
                <a:r>
                  <a:rPr lang="en-US" altLang="zh-CN" i="0" dirty="0">
                    <a:solidFill>
                      <a:srgbClr val="FF0000"/>
                    </a:solidFill>
                    <a:latin typeface="Cambria Math" charset="0"/>
                  </a:rPr>
                  <a:t>𝑎</a:t>
                </a:r>
                <a:r>
                  <a:rPr lang="en-US" altLang="zh-CN" i="0" dirty="0" smtClean="0">
                    <a:solidFill>
                      <a:srgbClr val="FF0000"/>
                    </a:solidFill>
                    <a:latin typeface="Cambria Math" charset="0"/>
                  </a:rPr>
                  <a:t>_</a:t>
                </a:r>
                <a:r>
                  <a:rPr lang="en-US" altLang="zh-CN" i="0" dirty="0">
                    <a:solidFill>
                      <a:srgbClr val="FF0000"/>
                    </a:solidFill>
                    <a:latin typeface="Cambria Math" charset="0"/>
                  </a:rPr>
                  <a:t>𝑡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然后环境会根据</a:t>
                </a:r>
                <a:r>
                  <a:rPr lang="en-US" altLang="zh-CN" i="0" dirty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𝑠</a:t>
                </a:r>
                <a:r>
                  <a:rPr lang="en-US" altLang="zh-CN" i="0" dirty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_</a:t>
                </a:r>
                <a:r>
                  <a:rPr lang="en-US" altLang="zh-CN" i="0" dirty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𝑡</a:t>
                </a:r>
                <a:r>
                  <a:rPr lang="zh-CN" altLang="en-US" dirty="0" smtClean="0"/>
                  <a:t>和</a:t>
                </a:r>
                <a:r>
                  <a:rPr lang="en-US" altLang="zh-CN" i="0" dirty="0">
                    <a:solidFill>
                      <a:srgbClr val="FF0000"/>
                    </a:solidFill>
                    <a:latin typeface="Cambria Math" charset="0"/>
                  </a:rPr>
                  <a:t>𝑎</a:t>
                </a:r>
                <a:r>
                  <a:rPr lang="en-US" altLang="zh-CN" i="0" dirty="0" smtClean="0">
                    <a:solidFill>
                      <a:srgbClr val="FF0000"/>
                    </a:solidFill>
                    <a:latin typeface="Cambria Math" charset="0"/>
                  </a:rPr>
                  <a:t>_</a:t>
                </a:r>
                <a:r>
                  <a:rPr lang="en-US" altLang="zh-CN" i="0" dirty="0">
                    <a:solidFill>
                      <a:srgbClr val="FF0000"/>
                    </a:solidFill>
                    <a:latin typeface="Cambria Math" charset="0"/>
                  </a:rPr>
                  <a:t>𝑡</a:t>
                </a:r>
                <a:r>
                  <a:rPr lang="zh-CN" altLang="en-US" dirty="0" smtClean="0"/>
                  <a:t>来更新状态，给出新的状态</a:t>
                </a:r>
                <a:r>
                  <a:rPr lang="en-US" altLang="zh-CN" i="0" dirty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𝑠</a:t>
                </a:r>
                <a:r>
                  <a:rPr lang="en-US" altLang="zh-CN" i="0" dirty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_(</a:t>
                </a:r>
                <a:r>
                  <a:rPr lang="en-US" altLang="zh-CN" i="0" dirty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𝑡</a:t>
                </a:r>
                <a:r>
                  <a:rPr lang="en-US" altLang="zh-CN" b="0" i="0" dirty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+1</a:t>
                </a:r>
                <a:r>
                  <a:rPr lang="en-US" altLang="zh-CN" b="0" i="0" dirty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)</a:t>
                </a:r>
                <a:r>
                  <a:rPr lang="zh-CN" altLang="en-US" dirty="0" smtClean="0"/>
                  <a:t>以及奖励</a:t>
                </a:r>
                <a:r>
                  <a:rPr lang="en-US" altLang="zh-CN" b="0" i="0" smtClean="0">
                    <a:solidFill>
                      <a:srgbClr val="0070C0"/>
                    </a:solidFill>
                    <a:latin typeface="Cambria Math" charset="0"/>
                  </a:rPr>
                  <a:t>𝑟</a:t>
                </a:r>
                <a:r>
                  <a:rPr lang="en-US" altLang="zh-CN" b="0" i="0" smtClean="0">
                    <a:solidFill>
                      <a:srgbClr val="0070C0"/>
                    </a:solidFill>
                    <a:latin typeface="Cambria Math" charset="0"/>
                  </a:rPr>
                  <a:t>_</a:t>
                </a:r>
                <a:r>
                  <a:rPr lang="en-US" altLang="zh-CN" b="0" i="0" smtClean="0">
                    <a:solidFill>
                      <a:srgbClr val="0070C0"/>
                    </a:solidFill>
                    <a:latin typeface="Cambria Math" charset="0"/>
                  </a:rPr>
                  <a:t>𝑡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</a:t>
                </a:r>
              </a:p>
              <a:p>
                <a:r>
                  <a:rPr lang="zh-CN" altLang="en-US" dirty="0" smtClean="0"/>
                  <a:t>这就像是打游戏一样，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不断做动作，环境不断更新状态，一直到游戏结束。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025128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 smtClean="0">
                    <a:solidFill>
                      <a:schemeClr val="tx1"/>
                    </a:solidFill>
                  </a:rPr>
                  <a:t>Based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on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60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1600" dirty="0" smtClean="0">
                    <a:solidFill>
                      <a:schemeClr val="tx1"/>
                    </a:solidFill>
                  </a:rPr>
                  <a:t>,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the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policy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function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i="1" dirty="0" smtClean="0">
                    <a:solidFill>
                      <a:schemeClr val="tx1"/>
                    </a:solidFill>
                  </a:rPr>
                  <a:t>π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makes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a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decision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1600" dirty="0" smtClean="0">
                    <a:solidFill>
                      <a:schemeClr val="tx1"/>
                    </a:solidFill>
                  </a:rPr>
                  <a:t>.</a:t>
                </a:r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强化学习的</a:t>
                </a:r>
                <a:r>
                  <a:rPr lang="zh-CN" altLang="en-US" dirty="0" smtClean="0"/>
                  <a:t>目的  就</a:t>
                </a:r>
                <a:r>
                  <a:rPr lang="zh-CN" altLang="en-US" dirty="0" smtClean="0"/>
                  <a:t>是</a:t>
                </a:r>
                <a:r>
                  <a:rPr lang="zh-CN" altLang="en-US" dirty="0" smtClean="0"/>
                  <a:t>学会  怎么样</a:t>
                </a:r>
                <a:r>
                  <a:rPr lang="zh-CN" altLang="en-US" dirty="0" smtClean="0"/>
                  <a:t>控制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，让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基于 当前状态</a:t>
                </a:r>
                <a:r>
                  <a:rPr lang="en-US" altLang="zh-CN" dirty="0" smtClean="0"/>
                  <a:t>s</a:t>
                </a:r>
                <a:r>
                  <a:rPr lang="zh-CN" altLang="en-US" dirty="0" smtClean="0"/>
                  <a:t>  来</a:t>
                </a:r>
                <a:r>
                  <a:rPr lang="zh-CN" altLang="en-US" dirty="0" smtClean="0"/>
                  <a:t>做出相应动作，争取</a:t>
                </a:r>
                <a:r>
                  <a:rPr lang="zh-CN" altLang="en-US" dirty="0" smtClean="0"/>
                  <a:t>能 在未来 得到</a:t>
                </a:r>
                <a:r>
                  <a:rPr lang="zh-CN" altLang="en-US" dirty="0" smtClean="0"/>
                  <a:t>尽量多的奖励。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流程是这样的。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观测到状态</a:t>
                </a:r>
                <a:r>
                  <a:rPr lang="en-US" altLang="zh-CN" i="0" dirty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𝑠</a:t>
                </a:r>
                <a:r>
                  <a:rPr lang="en-US" altLang="zh-CN" i="0" dirty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_</a:t>
                </a:r>
                <a:r>
                  <a:rPr lang="en-US" altLang="zh-CN" i="0" dirty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𝑡</a:t>
                </a:r>
                <a:r>
                  <a:rPr lang="zh-CN" altLang="en-US" dirty="0" smtClean="0"/>
                  <a:t>，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做出动作</a:t>
                </a:r>
                <a:r>
                  <a:rPr lang="en-US" altLang="zh-CN" i="0" dirty="0">
                    <a:solidFill>
                      <a:srgbClr val="FF0000"/>
                    </a:solidFill>
                    <a:latin typeface="Cambria Math" charset="0"/>
                  </a:rPr>
                  <a:t>𝑎</a:t>
                </a:r>
                <a:r>
                  <a:rPr lang="en-US" altLang="zh-CN" i="0" dirty="0" smtClean="0">
                    <a:solidFill>
                      <a:srgbClr val="FF0000"/>
                    </a:solidFill>
                    <a:latin typeface="Cambria Math" charset="0"/>
                  </a:rPr>
                  <a:t>_</a:t>
                </a:r>
                <a:r>
                  <a:rPr lang="en-US" altLang="zh-CN" i="0" dirty="0">
                    <a:solidFill>
                      <a:srgbClr val="FF0000"/>
                    </a:solidFill>
                    <a:latin typeface="Cambria Math" charset="0"/>
                  </a:rPr>
                  <a:t>𝑡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然后环境会根据</a:t>
                </a:r>
                <a:r>
                  <a:rPr lang="en-US" altLang="zh-CN" i="0" dirty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𝑠</a:t>
                </a:r>
                <a:r>
                  <a:rPr lang="en-US" altLang="zh-CN" i="0" dirty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_</a:t>
                </a:r>
                <a:r>
                  <a:rPr lang="en-US" altLang="zh-CN" i="0" dirty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𝑡</a:t>
                </a:r>
                <a:r>
                  <a:rPr lang="zh-CN" altLang="en-US" dirty="0" smtClean="0"/>
                  <a:t>和</a:t>
                </a:r>
                <a:r>
                  <a:rPr lang="en-US" altLang="zh-CN" i="0" dirty="0">
                    <a:solidFill>
                      <a:srgbClr val="FF0000"/>
                    </a:solidFill>
                    <a:latin typeface="Cambria Math" charset="0"/>
                  </a:rPr>
                  <a:t>𝑎</a:t>
                </a:r>
                <a:r>
                  <a:rPr lang="en-US" altLang="zh-CN" i="0" dirty="0" smtClean="0">
                    <a:solidFill>
                      <a:srgbClr val="FF0000"/>
                    </a:solidFill>
                    <a:latin typeface="Cambria Math" charset="0"/>
                  </a:rPr>
                  <a:t>_</a:t>
                </a:r>
                <a:r>
                  <a:rPr lang="en-US" altLang="zh-CN" i="0" dirty="0">
                    <a:solidFill>
                      <a:srgbClr val="FF0000"/>
                    </a:solidFill>
                    <a:latin typeface="Cambria Math" charset="0"/>
                  </a:rPr>
                  <a:t>𝑡</a:t>
                </a:r>
                <a:r>
                  <a:rPr lang="zh-CN" altLang="en-US" dirty="0" smtClean="0"/>
                  <a:t>来更新状态，给出新的状态</a:t>
                </a:r>
                <a:r>
                  <a:rPr lang="en-US" altLang="zh-CN" i="0" dirty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𝑠</a:t>
                </a:r>
                <a:r>
                  <a:rPr lang="en-US" altLang="zh-CN" i="0" dirty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_(</a:t>
                </a:r>
                <a:r>
                  <a:rPr lang="en-US" altLang="zh-CN" i="0" dirty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𝑡</a:t>
                </a:r>
                <a:r>
                  <a:rPr lang="en-US" altLang="zh-CN" b="0" i="0" dirty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+1</a:t>
                </a:r>
                <a:r>
                  <a:rPr lang="en-US" altLang="zh-CN" b="0" i="0" dirty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)</a:t>
                </a:r>
                <a:r>
                  <a:rPr lang="zh-CN" altLang="en-US" dirty="0" smtClean="0"/>
                  <a:t>以及奖励</a:t>
                </a:r>
                <a:r>
                  <a:rPr lang="en-US" altLang="zh-CN" b="0" i="0" smtClean="0">
                    <a:solidFill>
                      <a:srgbClr val="0070C0"/>
                    </a:solidFill>
                    <a:latin typeface="Cambria Math" charset="0"/>
                  </a:rPr>
                  <a:t>𝑟</a:t>
                </a:r>
                <a:r>
                  <a:rPr lang="en-US" altLang="zh-CN" b="0" i="0" smtClean="0">
                    <a:solidFill>
                      <a:srgbClr val="0070C0"/>
                    </a:solidFill>
                    <a:latin typeface="Cambria Math" charset="0"/>
                  </a:rPr>
                  <a:t>_</a:t>
                </a:r>
                <a:r>
                  <a:rPr lang="en-US" altLang="zh-CN" b="0" i="0" smtClean="0">
                    <a:solidFill>
                      <a:srgbClr val="0070C0"/>
                    </a:solidFill>
                    <a:latin typeface="Cambria Math" charset="0"/>
                  </a:rPr>
                  <a:t>𝑡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</a:t>
                </a:r>
              </a:p>
              <a:p>
                <a:r>
                  <a:rPr lang="zh-CN" altLang="en-US" dirty="0" smtClean="0"/>
                  <a:t>这就像是打游戏一样，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不断做动作，环境不断更新状态，一直到游戏结束。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60829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 smtClean="0">
                    <a:solidFill>
                      <a:schemeClr val="tx1"/>
                    </a:solidFill>
                  </a:rPr>
                  <a:t>The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agent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executes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1600" dirty="0" smtClean="0">
                    <a:solidFill>
                      <a:schemeClr val="tx1"/>
                    </a:solidFill>
                  </a:rPr>
                  <a:t>.</a:t>
                </a:r>
              </a:p>
              <a:p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=======================</a:t>
                </a:r>
              </a:p>
              <a:p>
                <a:r>
                  <a:rPr lang="en-US" altLang="zh-CN" sz="1600" dirty="0" smtClean="0">
                    <a:solidFill>
                      <a:schemeClr val="tx1"/>
                    </a:solidFill>
                  </a:rPr>
                  <a:t>Then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the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environment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updates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the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state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to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altLang="zh-CN" sz="1600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according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to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the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state-transition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function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p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=======================</a:t>
                </a:r>
              </a:p>
              <a:p>
                <a:r>
                  <a:rPr lang="en-US" altLang="zh-CN" sz="1600" dirty="0" smtClean="0">
                    <a:solidFill>
                      <a:schemeClr val="tx1"/>
                    </a:solidFill>
                  </a:rPr>
                  <a:t>The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environment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also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provides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us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with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a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reward,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dirty="0" smtClean="0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𝑟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.</a:t>
                </a:r>
              </a:p>
              <a:p>
                <a:endParaRPr lang="en-US" sz="1600" baseline="0" dirty="0" smtClean="0">
                  <a:solidFill>
                    <a:schemeClr val="tx1"/>
                  </a:solidFill>
                </a:endParaRPr>
              </a:p>
              <a:p>
                <a:endParaRPr lang="en-US" sz="1600" baseline="0" dirty="0" smtClean="0">
                  <a:solidFill>
                    <a:schemeClr val="tx1"/>
                  </a:solidFill>
                </a:endParaRPr>
              </a:p>
              <a:p>
                <a:endParaRPr lang="en-US" sz="1600" baseline="0" dirty="0" smtClean="0">
                  <a:solidFill>
                    <a:schemeClr val="tx1"/>
                  </a:solidFill>
                </a:endParaRPr>
              </a:p>
              <a:p>
                <a:endParaRPr lang="en-US" sz="1600" baseline="0" dirty="0" smtClean="0">
                  <a:solidFill>
                    <a:schemeClr val="tx1"/>
                  </a:solidFill>
                </a:endParaRPr>
              </a:p>
              <a:p>
                <a:endParaRPr lang="en-US" sz="1600" baseline="0" dirty="0" smtClean="0">
                  <a:solidFill>
                    <a:schemeClr val="tx1"/>
                  </a:solidFill>
                </a:endParaRPr>
              </a:p>
              <a:p>
                <a:endParaRPr lang="en-US" sz="1600" baseline="0" dirty="0" smtClean="0">
                  <a:solidFill>
                    <a:schemeClr val="tx1"/>
                  </a:solidFill>
                </a:endParaRPr>
              </a:p>
              <a:p>
                <a:endParaRPr lang="en-US" sz="1600" baseline="0" dirty="0" smtClean="0">
                  <a:solidFill>
                    <a:schemeClr val="tx1"/>
                  </a:solidFill>
                </a:endParaRPr>
              </a:p>
              <a:p>
                <a:endParaRPr lang="en-US" sz="1600" baseline="0" dirty="0" smtClean="0">
                  <a:solidFill>
                    <a:schemeClr val="tx1"/>
                  </a:solidFill>
                </a:endParaRPr>
              </a:p>
              <a:p>
                <a:endParaRPr lang="en-US" sz="1600" baseline="0" dirty="0" smtClean="0">
                  <a:solidFill>
                    <a:schemeClr val="tx1"/>
                  </a:solidFill>
                </a:endParaRPr>
              </a:p>
              <a:p>
                <a:endParaRPr lang="en-US" sz="1600" baseline="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强化学习的</a:t>
                </a:r>
                <a:r>
                  <a:rPr lang="zh-CN" altLang="en-US" dirty="0" smtClean="0"/>
                  <a:t>目的  就</a:t>
                </a:r>
                <a:r>
                  <a:rPr lang="zh-CN" altLang="en-US" dirty="0" smtClean="0"/>
                  <a:t>是</a:t>
                </a:r>
                <a:r>
                  <a:rPr lang="zh-CN" altLang="en-US" dirty="0" smtClean="0"/>
                  <a:t>学会  怎么样</a:t>
                </a:r>
                <a:r>
                  <a:rPr lang="zh-CN" altLang="en-US" dirty="0" smtClean="0"/>
                  <a:t>控制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，让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基于 当前状态</a:t>
                </a:r>
                <a:r>
                  <a:rPr lang="en-US" altLang="zh-CN" dirty="0" smtClean="0"/>
                  <a:t>s</a:t>
                </a:r>
                <a:r>
                  <a:rPr lang="zh-CN" altLang="en-US" dirty="0" smtClean="0"/>
                  <a:t>  来</a:t>
                </a:r>
                <a:r>
                  <a:rPr lang="zh-CN" altLang="en-US" dirty="0" smtClean="0"/>
                  <a:t>做出相应动作，争取</a:t>
                </a:r>
                <a:r>
                  <a:rPr lang="zh-CN" altLang="en-US" dirty="0" smtClean="0"/>
                  <a:t>能 在未来 得到</a:t>
                </a:r>
                <a:r>
                  <a:rPr lang="zh-CN" altLang="en-US" dirty="0" smtClean="0"/>
                  <a:t>尽量多的奖励。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流程是这样的。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观测到状态</a:t>
                </a:r>
                <a:r>
                  <a:rPr lang="en-US" altLang="zh-CN" i="0" dirty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𝑠</a:t>
                </a:r>
                <a:r>
                  <a:rPr lang="en-US" altLang="zh-CN" i="0" dirty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_</a:t>
                </a:r>
                <a:r>
                  <a:rPr lang="en-US" altLang="zh-CN" i="0" dirty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𝑡</a:t>
                </a:r>
                <a:r>
                  <a:rPr lang="zh-CN" altLang="en-US" dirty="0" smtClean="0"/>
                  <a:t>，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做出动作</a:t>
                </a:r>
                <a:r>
                  <a:rPr lang="en-US" altLang="zh-CN" i="0" dirty="0">
                    <a:solidFill>
                      <a:srgbClr val="FF0000"/>
                    </a:solidFill>
                    <a:latin typeface="Cambria Math" charset="0"/>
                  </a:rPr>
                  <a:t>𝑎</a:t>
                </a:r>
                <a:r>
                  <a:rPr lang="en-US" altLang="zh-CN" i="0" dirty="0" smtClean="0">
                    <a:solidFill>
                      <a:srgbClr val="FF0000"/>
                    </a:solidFill>
                    <a:latin typeface="Cambria Math" charset="0"/>
                  </a:rPr>
                  <a:t>_</a:t>
                </a:r>
                <a:r>
                  <a:rPr lang="en-US" altLang="zh-CN" i="0" dirty="0">
                    <a:solidFill>
                      <a:srgbClr val="FF0000"/>
                    </a:solidFill>
                    <a:latin typeface="Cambria Math" charset="0"/>
                  </a:rPr>
                  <a:t>𝑡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然后环境会根据</a:t>
                </a:r>
                <a:r>
                  <a:rPr lang="en-US" altLang="zh-CN" i="0" dirty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𝑠</a:t>
                </a:r>
                <a:r>
                  <a:rPr lang="en-US" altLang="zh-CN" i="0" dirty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_</a:t>
                </a:r>
                <a:r>
                  <a:rPr lang="en-US" altLang="zh-CN" i="0" dirty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𝑡</a:t>
                </a:r>
                <a:r>
                  <a:rPr lang="zh-CN" altLang="en-US" dirty="0" smtClean="0"/>
                  <a:t>和</a:t>
                </a:r>
                <a:r>
                  <a:rPr lang="en-US" altLang="zh-CN" i="0" dirty="0">
                    <a:solidFill>
                      <a:srgbClr val="FF0000"/>
                    </a:solidFill>
                    <a:latin typeface="Cambria Math" charset="0"/>
                  </a:rPr>
                  <a:t>𝑎</a:t>
                </a:r>
                <a:r>
                  <a:rPr lang="en-US" altLang="zh-CN" i="0" dirty="0" smtClean="0">
                    <a:solidFill>
                      <a:srgbClr val="FF0000"/>
                    </a:solidFill>
                    <a:latin typeface="Cambria Math" charset="0"/>
                  </a:rPr>
                  <a:t>_</a:t>
                </a:r>
                <a:r>
                  <a:rPr lang="en-US" altLang="zh-CN" i="0" dirty="0">
                    <a:solidFill>
                      <a:srgbClr val="FF0000"/>
                    </a:solidFill>
                    <a:latin typeface="Cambria Math" charset="0"/>
                  </a:rPr>
                  <a:t>𝑡</a:t>
                </a:r>
                <a:r>
                  <a:rPr lang="zh-CN" altLang="en-US" dirty="0" smtClean="0"/>
                  <a:t>来更新状态，给出新的状态</a:t>
                </a:r>
                <a:r>
                  <a:rPr lang="en-US" altLang="zh-CN" i="0" dirty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𝑠</a:t>
                </a:r>
                <a:r>
                  <a:rPr lang="en-US" altLang="zh-CN" i="0" dirty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_(</a:t>
                </a:r>
                <a:r>
                  <a:rPr lang="en-US" altLang="zh-CN" i="0" dirty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𝑡</a:t>
                </a:r>
                <a:r>
                  <a:rPr lang="en-US" altLang="zh-CN" b="0" i="0" dirty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+1</a:t>
                </a:r>
                <a:r>
                  <a:rPr lang="en-US" altLang="zh-CN" b="0" i="0" dirty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)</a:t>
                </a:r>
                <a:r>
                  <a:rPr lang="zh-CN" altLang="en-US" dirty="0" smtClean="0"/>
                  <a:t>以及奖励</a:t>
                </a:r>
                <a:r>
                  <a:rPr lang="en-US" altLang="zh-CN" b="0" i="0" smtClean="0">
                    <a:solidFill>
                      <a:srgbClr val="0070C0"/>
                    </a:solidFill>
                    <a:latin typeface="Cambria Math" charset="0"/>
                  </a:rPr>
                  <a:t>𝑟</a:t>
                </a:r>
                <a:r>
                  <a:rPr lang="en-US" altLang="zh-CN" b="0" i="0" smtClean="0">
                    <a:solidFill>
                      <a:srgbClr val="0070C0"/>
                    </a:solidFill>
                    <a:latin typeface="Cambria Math" charset="0"/>
                  </a:rPr>
                  <a:t>_</a:t>
                </a:r>
                <a:r>
                  <a:rPr lang="en-US" altLang="zh-CN" b="0" i="0" smtClean="0">
                    <a:solidFill>
                      <a:srgbClr val="0070C0"/>
                    </a:solidFill>
                    <a:latin typeface="Cambria Math" charset="0"/>
                  </a:rPr>
                  <a:t>𝑡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</a:t>
                </a:r>
              </a:p>
              <a:p>
                <a:r>
                  <a:rPr lang="zh-CN" altLang="en-US" dirty="0" smtClean="0"/>
                  <a:t>这就像是打游戏一样，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不断做动作，环境不断更新状态，一直到游戏结束。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598555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 smtClean="0">
                    <a:solidFill>
                      <a:schemeClr val="tx1"/>
                    </a:solidFill>
                  </a:rPr>
                  <a:t>At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time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t+1,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we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observe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and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𝑟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1600" dirty="0" smtClean="0">
                    <a:solidFill>
                      <a:schemeClr val="tx1"/>
                    </a:solidFill>
                  </a:rPr>
                  <a:t>.</a:t>
                </a:r>
              </a:p>
              <a:p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=======================</a:t>
                </a:r>
              </a:p>
              <a:p>
                <a:r>
                  <a:rPr lang="en-US" altLang="zh-CN" sz="1600" dirty="0" smtClean="0">
                    <a:solidFill>
                      <a:schemeClr val="tx1"/>
                    </a:solidFill>
                  </a:rPr>
                  <a:t>We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can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continue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this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process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to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the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end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of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the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game.</a:t>
                </a:r>
              </a:p>
              <a:p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----------------------------------------</a:t>
                </a:r>
              </a:p>
              <a:p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What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is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reinforcement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learning?</a:t>
                </a:r>
              </a:p>
              <a:p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It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means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learning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a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policy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from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the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agent-environment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interactions.</a:t>
                </a:r>
              </a:p>
              <a:p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We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collect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trajectories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of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the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agent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and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use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the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trajectories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for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learning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the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policy.</a:t>
                </a:r>
                <a:endParaRPr lang="en-US" sz="1600" baseline="0" dirty="0" smtClean="0">
                  <a:solidFill>
                    <a:schemeClr val="tx1"/>
                  </a:solidFill>
                </a:endParaRPr>
              </a:p>
              <a:p>
                <a:endParaRPr lang="en-US" sz="1600" baseline="0" dirty="0" smtClean="0">
                  <a:solidFill>
                    <a:schemeClr val="tx1"/>
                  </a:solidFill>
                </a:endParaRPr>
              </a:p>
              <a:p>
                <a:endParaRPr lang="en-US" sz="1600" baseline="0" dirty="0" smtClean="0">
                  <a:solidFill>
                    <a:schemeClr val="tx1"/>
                  </a:solidFill>
                </a:endParaRPr>
              </a:p>
              <a:p>
                <a:endParaRPr lang="en-US" sz="1600" baseline="0" dirty="0" smtClean="0">
                  <a:solidFill>
                    <a:schemeClr val="tx1"/>
                  </a:solidFill>
                </a:endParaRPr>
              </a:p>
              <a:p>
                <a:endParaRPr lang="en-US" sz="1600" baseline="0" dirty="0" smtClean="0">
                  <a:solidFill>
                    <a:schemeClr val="tx1"/>
                  </a:solidFill>
                </a:endParaRPr>
              </a:p>
              <a:p>
                <a:endParaRPr lang="en-US" sz="1600" baseline="0" dirty="0" smtClean="0">
                  <a:solidFill>
                    <a:schemeClr val="tx1"/>
                  </a:solidFill>
                </a:endParaRPr>
              </a:p>
              <a:p>
                <a:endParaRPr lang="en-US" sz="1600" baseline="0" dirty="0" smtClean="0">
                  <a:solidFill>
                    <a:schemeClr val="tx1"/>
                  </a:solidFill>
                </a:endParaRPr>
              </a:p>
              <a:p>
                <a:endParaRPr lang="en-US" sz="1600" baseline="0" dirty="0" smtClean="0">
                  <a:solidFill>
                    <a:schemeClr val="tx1"/>
                  </a:solidFill>
                </a:endParaRPr>
              </a:p>
              <a:p>
                <a:endParaRPr lang="en-US" sz="1600" baseline="0" dirty="0" smtClean="0">
                  <a:solidFill>
                    <a:schemeClr val="tx1"/>
                  </a:solidFill>
                </a:endParaRPr>
              </a:p>
              <a:p>
                <a:endParaRPr lang="en-US" sz="1600" baseline="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强化学习的</a:t>
                </a:r>
                <a:r>
                  <a:rPr lang="zh-CN" altLang="en-US" dirty="0" smtClean="0"/>
                  <a:t>目的  就</a:t>
                </a:r>
                <a:r>
                  <a:rPr lang="zh-CN" altLang="en-US" dirty="0" smtClean="0"/>
                  <a:t>是</a:t>
                </a:r>
                <a:r>
                  <a:rPr lang="zh-CN" altLang="en-US" dirty="0" smtClean="0"/>
                  <a:t>学会  怎么样</a:t>
                </a:r>
                <a:r>
                  <a:rPr lang="zh-CN" altLang="en-US" dirty="0" smtClean="0"/>
                  <a:t>控制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，让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基于 当前状态</a:t>
                </a:r>
                <a:r>
                  <a:rPr lang="en-US" altLang="zh-CN" dirty="0" smtClean="0"/>
                  <a:t>s</a:t>
                </a:r>
                <a:r>
                  <a:rPr lang="zh-CN" altLang="en-US" dirty="0" smtClean="0"/>
                  <a:t>  来</a:t>
                </a:r>
                <a:r>
                  <a:rPr lang="zh-CN" altLang="en-US" dirty="0" smtClean="0"/>
                  <a:t>做出相应动作，争取</a:t>
                </a:r>
                <a:r>
                  <a:rPr lang="zh-CN" altLang="en-US" dirty="0" smtClean="0"/>
                  <a:t>能 在未来 得到</a:t>
                </a:r>
                <a:r>
                  <a:rPr lang="zh-CN" altLang="en-US" dirty="0" smtClean="0"/>
                  <a:t>尽量多的奖励。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流程是这样的。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观测到状态</a:t>
                </a:r>
                <a:r>
                  <a:rPr lang="en-US" altLang="zh-CN" i="0" dirty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𝑠</a:t>
                </a:r>
                <a:r>
                  <a:rPr lang="en-US" altLang="zh-CN" i="0" dirty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_</a:t>
                </a:r>
                <a:r>
                  <a:rPr lang="en-US" altLang="zh-CN" i="0" dirty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𝑡</a:t>
                </a:r>
                <a:r>
                  <a:rPr lang="zh-CN" altLang="en-US" dirty="0" smtClean="0"/>
                  <a:t>，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做出动作</a:t>
                </a:r>
                <a:r>
                  <a:rPr lang="en-US" altLang="zh-CN" i="0" dirty="0">
                    <a:solidFill>
                      <a:srgbClr val="FF0000"/>
                    </a:solidFill>
                    <a:latin typeface="Cambria Math" charset="0"/>
                  </a:rPr>
                  <a:t>𝑎</a:t>
                </a:r>
                <a:r>
                  <a:rPr lang="en-US" altLang="zh-CN" i="0" dirty="0" smtClean="0">
                    <a:solidFill>
                      <a:srgbClr val="FF0000"/>
                    </a:solidFill>
                    <a:latin typeface="Cambria Math" charset="0"/>
                  </a:rPr>
                  <a:t>_</a:t>
                </a:r>
                <a:r>
                  <a:rPr lang="en-US" altLang="zh-CN" i="0" dirty="0">
                    <a:solidFill>
                      <a:srgbClr val="FF0000"/>
                    </a:solidFill>
                    <a:latin typeface="Cambria Math" charset="0"/>
                  </a:rPr>
                  <a:t>𝑡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然后环境会根据</a:t>
                </a:r>
                <a:r>
                  <a:rPr lang="en-US" altLang="zh-CN" i="0" dirty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𝑠</a:t>
                </a:r>
                <a:r>
                  <a:rPr lang="en-US" altLang="zh-CN" i="0" dirty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_</a:t>
                </a:r>
                <a:r>
                  <a:rPr lang="en-US" altLang="zh-CN" i="0" dirty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𝑡</a:t>
                </a:r>
                <a:r>
                  <a:rPr lang="zh-CN" altLang="en-US" dirty="0" smtClean="0"/>
                  <a:t>和</a:t>
                </a:r>
                <a:r>
                  <a:rPr lang="en-US" altLang="zh-CN" i="0" dirty="0">
                    <a:solidFill>
                      <a:srgbClr val="FF0000"/>
                    </a:solidFill>
                    <a:latin typeface="Cambria Math" charset="0"/>
                  </a:rPr>
                  <a:t>𝑎</a:t>
                </a:r>
                <a:r>
                  <a:rPr lang="en-US" altLang="zh-CN" i="0" dirty="0" smtClean="0">
                    <a:solidFill>
                      <a:srgbClr val="FF0000"/>
                    </a:solidFill>
                    <a:latin typeface="Cambria Math" charset="0"/>
                  </a:rPr>
                  <a:t>_</a:t>
                </a:r>
                <a:r>
                  <a:rPr lang="en-US" altLang="zh-CN" i="0" dirty="0">
                    <a:solidFill>
                      <a:srgbClr val="FF0000"/>
                    </a:solidFill>
                    <a:latin typeface="Cambria Math" charset="0"/>
                  </a:rPr>
                  <a:t>𝑡</a:t>
                </a:r>
                <a:r>
                  <a:rPr lang="zh-CN" altLang="en-US" dirty="0" smtClean="0"/>
                  <a:t>来更新状态，给出新的状态</a:t>
                </a:r>
                <a:r>
                  <a:rPr lang="en-US" altLang="zh-CN" i="0" dirty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𝑠</a:t>
                </a:r>
                <a:r>
                  <a:rPr lang="en-US" altLang="zh-CN" i="0" dirty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_(</a:t>
                </a:r>
                <a:r>
                  <a:rPr lang="en-US" altLang="zh-CN" i="0" dirty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𝑡</a:t>
                </a:r>
                <a:r>
                  <a:rPr lang="en-US" altLang="zh-CN" b="0" i="0" dirty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+1</a:t>
                </a:r>
                <a:r>
                  <a:rPr lang="en-US" altLang="zh-CN" b="0" i="0" dirty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)</a:t>
                </a:r>
                <a:r>
                  <a:rPr lang="zh-CN" altLang="en-US" dirty="0" smtClean="0"/>
                  <a:t>以及奖励</a:t>
                </a:r>
                <a:r>
                  <a:rPr lang="en-US" altLang="zh-CN" b="0" i="0" smtClean="0">
                    <a:solidFill>
                      <a:srgbClr val="0070C0"/>
                    </a:solidFill>
                    <a:latin typeface="Cambria Math" charset="0"/>
                  </a:rPr>
                  <a:t>𝑟</a:t>
                </a:r>
                <a:r>
                  <a:rPr lang="en-US" altLang="zh-CN" b="0" i="0" smtClean="0">
                    <a:solidFill>
                      <a:srgbClr val="0070C0"/>
                    </a:solidFill>
                    <a:latin typeface="Cambria Math" charset="0"/>
                  </a:rPr>
                  <a:t>_</a:t>
                </a:r>
                <a:r>
                  <a:rPr lang="en-US" altLang="zh-CN" b="0" i="0" smtClean="0">
                    <a:solidFill>
                      <a:srgbClr val="0070C0"/>
                    </a:solidFill>
                    <a:latin typeface="Cambria Math" charset="0"/>
                  </a:rPr>
                  <a:t>𝑡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</a:t>
                </a:r>
              </a:p>
              <a:p>
                <a:r>
                  <a:rPr lang="zh-CN" altLang="en-US" dirty="0" smtClean="0"/>
                  <a:t>这就像是打游戏一样，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不断做动作，环境不断更新状态，一直到游戏结束。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888148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600" dirty="0" smtClean="0"/>
              <a:t>Thank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you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for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watching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this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video.</a:t>
            </a:r>
          </a:p>
          <a:p>
            <a:r>
              <a:rPr lang="en-US" altLang="zh-CN" sz="1600" baseline="0" dirty="0" smtClean="0"/>
              <a:t>This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lecture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about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very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basics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of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reinforcement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learning.</a:t>
            </a:r>
          </a:p>
          <a:p>
            <a:r>
              <a:rPr lang="en-US" altLang="zh-CN" sz="1600" baseline="0" dirty="0" smtClean="0"/>
              <a:t>You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have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learned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many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concepts.</a:t>
            </a:r>
          </a:p>
          <a:p>
            <a:r>
              <a:rPr lang="en-US" altLang="zh-CN" sz="1600" baseline="0" dirty="0" smtClean="0"/>
              <a:t>You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must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remember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concepts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after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understanding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them.</a:t>
            </a:r>
          </a:p>
          <a:p>
            <a:r>
              <a:rPr lang="en-US" altLang="zh-CN" sz="1600" baseline="0" dirty="0" smtClean="0"/>
              <a:t>This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is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what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you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have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to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do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before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you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can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actually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study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reinforcement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learning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methods.</a:t>
            </a:r>
            <a:endParaRPr lang="en-US" altLang="zh-CN" sz="160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r>
              <a:rPr lang="zh-CN" altLang="en-US" sz="1600" dirty="0" smtClean="0"/>
              <a:t>这节课就讲到这里。</a:t>
            </a:r>
            <a:endParaRPr lang="en-US" altLang="zh-CN" sz="1600" dirty="0" smtClean="0"/>
          </a:p>
          <a:p>
            <a:r>
              <a:rPr lang="zh-CN" altLang="en-US" sz="1600" dirty="0" smtClean="0"/>
              <a:t>这节课内容基本都是强化学习的基本概念，没什么意思。</a:t>
            </a:r>
            <a:endParaRPr lang="en-US" altLang="zh-CN" sz="1600" dirty="0" smtClean="0"/>
          </a:p>
          <a:p>
            <a:r>
              <a:rPr lang="zh-CN" altLang="en-US" sz="1600" dirty="0" smtClean="0"/>
              <a:t>但是这是入门强化学习的必经之路。</a:t>
            </a:r>
            <a:endParaRPr lang="en-US" altLang="zh-CN" sz="1600" dirty="0" smtClean="0"/>
          </a:p>
          <a:p>
            <a:r>
              <a:rPr lang="zh-CN" altLang="en-US" sz="1600" dirty="0" smtClean="0"/>
              <a:t>没有什么捷径可走；</a:t>
            </a:r>
            <a:endParaRPr lang="en-US" altLang="zh-CN" sz="1600" dirty="0" smtClean="0"/>
          </a:p>
          <a:p>
            <a:r>
              <a:rPr lang="zh-CN" altLang="en-US" sz="1600" dirty="0" smtClean="0"/>
              <a:t>你必须要理解这些概念，然后把概念全都记住。</a:t>
            </a:r>
            <a:endParaRPr lang="en-US" altLang="zh-CN" sz="1600" dirty="0" smtClean="0"/>
          </a:p>
          <a:p>
            <a:r>
              <a:rPr lang="zh-CN" altLang="en-US" sz="1600" dirty="0" smtClean="0"/>
              <a:t>如果你还没完全记住这些概念，请再看一下教科书或者是我的课件，否则接下来的课程可能会听不懂。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443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BEC6-6A63-824C-87BE-D4DB4459AFC0}" type="datetimeFigureOut">
              <a:rPr lang="en-US" smtClean="0"/>
              <a:t>5/16/21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7813-053C-4741-9A44-EFFF2EE8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499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BEC6-6A63-824C-87BE-D4DB4459AFC0}" type="datetimeFigureOut">
              <a:rPr lang="en-US" smtClean="0"/>
              <a:t>5/16/21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7813-053C-4741-9A44-EFFF2EE8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698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BEC6-6A63-824C-87BE-D4DB4459AFC0}" type="datetimeFigureOut">
              <a:rPr lang="en-US" smtClean="0"/>
              <a:t>5/16/21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7813-053C-4741-9A44-EFFF2EE8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68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BEC6-6A63-824C-87BE-D4DB4459AFC0}" type="datetimeFigureOut">
              <a:rPr lang="en-US" smtClean="0"/>
              <a:t>5/16/21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7813-053C-4741-9A44-EFFF2EE8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807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BEC6-6A63-824C-87BE-D4DB4459AFC0}" type="datetimeFigureOut">
              <a:rPr lang="en-US" smtClean="0"/>
              <a:t>5/16/21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7813-053C-4741-9A44-EFFF2EE8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324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BEC6-6A63-824C-87BE-D4DB4459AFC0}" type="datetimeFigureOut">
              <a:rPr lang="en-US" smtClean="0"/>
              <a:t>5/16/21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7813-053C-4741-9A44-EFFF2EE8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765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BEC6-6A63-824C-87BE-D4DB4459AFC0}" type="datetimeFigureOut">
              <a:rPr lang="en-US" smtClean="0"/>
              <a:t>5/16/21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7813-053C-4741-9A44-EFFF2EE8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751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BEC6-6A63-824C-87BE-D4DB4459AFC0}" type="datetimeFigureOut">
              <a:rPr lang="en-US" smtClean="0"/>
              <a:t>5/16/21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7813-053C-4741-9A44-EFFF2EE8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618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BEC6-6A63-824C-87BE-D4DB4459AFC0}" type="datetimeFigureOut">
              <a:rPr lang="en-US" smtClean="0"/>
              <a:t>5/16/21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7813-053C-4741-9A44-EFFF2EE8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50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BEC6-6A63-824C-87BE-D4DB4459AFC0}" type="datetimeFigureOut">
              <a:rPr lang="en-US" smtClean="0"/>
              <a:t>5/16/21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7813-053C-4741-9A44-EFFF2EE8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878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BEC6-6A63-824C-87BE-D4DB4459AFC0}" type="datetimeFigureOut">
              <a:rPr lang="en-US" smtClean="0"/>
              <a:t>5/16/21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7813-053C-4741-9A44-EFFF2EE8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45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41BEC6-6A63-824C-87BE-D4DB4459AFC0}" type="datetimeFigureOut">
              <a:rPr lang="en-US" smtClean="0"/>
              <a:t>5/16/21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F77813-053C-4741-9A44-EFFF2EE8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030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1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1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4" Type="http://schemas.openxmlformats.org/officeDocument/2006/relationships/image" Target="../media/image210.png"/><Relationship Id="rId5" Type="http://schemas.openxmlformats.org/officeDocument/2006/relationships/image" Target="../media/image311.png"/><Relationship Id="rId6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4" Type="http://schemas.openxmlformats.org/officeDocument/2006/relationships/image" Target="../media/image210.png"/><Relationship Id="rId5" Type="http://schemas.openxmlformats.org/officeDocument/2006/relationships/image" Target="../media/image310.png"/><Relationship Id="rId6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5" Type="http://schemas.openxmlformats.org/officeDocument/2006/relationships/image" Target="../media/image64.png"/><Relationship Id="rId6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5" Type="http://schemas.openxmlformats.org/officeDocument/2006/relationships/image" Target="../media/image64.png"/><Relationship Id="rId6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4" Type="http://schemas.openxmlformats.org/officeDocument/2006/relationships/image" Target="../media/image14.png"/><Relationship Id="rId5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4" Type="http://schemas.openxmlformats.org/officeDocument/2006/relationships/image" Target="../media/image5.png"/><Relationship Id="rId5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5" Type="http://schemas.openxmlformats.org/officeDocument/2006/relationships/image" Target="../media/image64.png"/><Relationship Id="rId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4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4" Type="http://schemas.openxmlformats.org/officeDocument/2006/relationships/image" Target="../media/image110.png"/><Relationship Id="rId5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4" Type="http://schemas.openxmlformats.org/officeDocument/2006/relationships/image" Target="../media/image120.png"/><Relationship Id="rId5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4" Type="http://schemas.openxmlformats.org/officeDocument/2006/relationships/image" Target="../media/image120.png"/><Relationship Id="rId5" Type="http://schemas.openxmlformats.org/officeDocument/2006/relationships/image" Target="../media/image14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4" Type="http://schemas.openxmlformats.org/officeDocument/2006/relationships/image" Target="../media/image151.png"/><Relationship Id="rId5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jpe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jpe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4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4" Type="http://schemas.openxmlformats.org/officeDocument/2006/relationships/image" Target="../media/image16.png"/><Relationship Id="rId5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4" Type="http://schemas.openxmlformats.org/officeDocument/2006/relationships/image" Target="../media/image100.png"/><Relationship Id="rId5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0" Type="http://schemas.openxmlformats.org/officeDocument/2006/relationships/image" Target="../media/image22.png"/><Relationship Id="rId11" Type="http://schemas.openxmlformats.org/officeDocument/2006/relationships/image" Target="../media/image23.png"/><Relationship Id="rId9" Type="http://schemas.openxmlformats.org/officeDocument/2006/relationships/image" Target="../media/image27.png"/><Relationship Id="rId7" Type="http://schemas.openxmlformats.org/officeDocument/2006/relationships/image" Target="../media/image220.png"/><Relationship Id="rId1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4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4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4" Type="http://schemas.openxmlformats.org/officeDocument/2006/relationships/image" Target="../media/image140.png"/><Relationship Id="rId5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4" Type="http://schemas.openxmlformats.org/officeDocument/2006/relationships/image" Target="../media/image150.png"/><Relationship Id="rId5" Type="http://schemas.openxmlformats.org/officeDocument/2006/relationships/image" Target="../media/image281.png"/><Relationship Id="rId6" Type="http://schemas.openxmlformats.org/officeDocument/2006/relationships/image" Target="../media/image29.png"/><Relationship Id="rId7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0.png"/><Relationship Id="rId7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1" Type="http://schemas.openxmlformats.org/officeDocument/2006/relationships/image" Target="../media/image39.png"/><Relationship Id="rId12" Type="http://schemas.openxmlformats.org/officeDocument/2006/relationships/image" Target="../media/image40.png"/><Relationship Id="rId13" Type="http://schemas.openxmlformats.org/officeDocument/2006/relationships/image" Target="../media/image41.png"/><Relationship Id="rId14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Relationship Id="rId9" Type="http://schemas.openxmlformats.org/officeDocument/2006/relationships/image" Target="../media/image38.png"/><Relationship Id="rId10" Type="http://schemas.openxmlformats.org/officeDocument/2006/relationships/image" Target="../media/image340.png"/></Relationships>
</file>

<file path=ppt/slides/_rels/slide46.xml.rels><?xml version="1.0" encoding="UTF-8" standalone="yes"?>
<Relationships xmlns="http://schemas.openxmlformats.org/package/2006/relationships"><Relationship Id="rId11" Type="http://schemas.openxmlformats.org/officeDocument/2006/relationships/image" Target="../media/image39.png"/><Relationship Id="rId12" Type="http://schemas.openxmlformats.org/officeDocument/2006/relationships/image" Target="../media/image40.png"/><Relationship Id="rId13" Type="http://schemas.openxmlformats.org/officeDocument/2006/relationships/image" Target="../media/image41.png"/><Relationship Id="rId14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Relationship Id="rId9" Type="http://schemas.openxmlformats.org/officeDocument/2006/relationships/image" Target="../media/image38.png"/><Relationship Id="rId10" Type="http://schemas.openxmlformats.org/officeDocument/2006/relationships/image" Target="../media/image340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3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5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4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4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4" Type="http://schemas.openxmlformats.org/officeDocument/2006/relationships/image" Target="../media/image44.png"/><Relationship Id="rId5" Type="http://schemas.openxmlformats.org/officeDocument/2006/relationships/image" Target="../media/image28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4" Type="http://schemas.openxmlformats.org/officeDocument/2006/relationships/image" Target="../media/image44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4" Type="http://schemas.openxmlformats.org/officeDocument/2006/relationships/image" Target="../media/image46.png"/><Relationship Id="rId5" Type="http://schemas.openxmlformats.org/officeDocument/2006/relationships/image" Target="../media/image48.png"/><Relationship Id="rId6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4" Type="http://schemas.openxmlformats.org/officeDocument/2006/relationships/image" Target="../media/image46.png"/><Relationship Id="rId5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4" Type="http://schemas.openxmlformats.org/officeDocument/2006/relationships/image" Target="../media/image46.png"/><Relationship Id="rId5" Type="http://schemas.openxmlformats.org/officeDocument/2006/relationships/image" Target="../media/image45.png"/><Relationship Id="rId6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4" Type="http://schemas.openxmlformats.org/officeDocument/2006/relationships/image" Target="../media/image46.png"/><Relationship Id="rId5" Type="http://schemas.openxmlformats.org/officeDocument/2006/relationships/image" Target="../media/image45.png"/><Relationship Id="rId6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62.png"/><Relationship Id="rId8" Type="http://schemas.openxmlformats.org/officeDocument/2006/relationships/image" Target="../media/image63.png"/><Relationship Id="rId9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0.png"/><Relationship Id="rId4" Type="http://schemas.openxmlformats.org/officeDocument/2006/relationships/image" Target="../media/image53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0.png"/><Relationship Id="rId4" Type="http://schemas.openxmlformats.org/officeDocument/2006/relationships/image" Target="../media/image540.png"/><Relationship Id="rId5" Type="http://schemas.openxmlformats.org/officeDocument/2006/relationships/image" Target="../media/image53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0.png"/><Relationship Id="rId4" Type="http://schemas.openxmlformats.org/officeDocument/2006/relationships/image" Target="../media/image540.png"/><Relationship Id="rId5" Type="http://schemas.openxmlformats.org/officeDocument/2006/relationships/image" Target="../media/image530.png"/><Relationship Id="rId6" Type="http://schemas.openxmlformats.org/officeDocument/2006/relationships/image" Target="../media/image55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0.png"/><Relationship Id="rId4" Type="http://schemas.openxmlformats.org/officeDocument/2006/relationships/image" Target="../media/image540.png"/><Relationship Id="rId5" Type="http://schemas.openxmlformats.org/officeDocument/2006/relationships/image" Target="../media/image530.png"/><Relationship Id="rId6" Type="http://schemas.openxmlformats.org/officeDocument/2006/relationships/image" Target="../media/image560.png"/><Relationship Id="rId7" Type="http://schemas.openxmlformats.org/officeDocument/2006/relationships/image" Target="../media/image57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0.png"/><Relationship Id="rId4" Type="http://schemas.openxmlformats.org/officeDocument/2006/relationships/image" Target="../media/image540.png"/><Relationship Id="rId5" Type="http://schemas.openxmlformats.org/officeDocument/2006/relationships/image" Target="../media/image530.png"/><Relationship Id="rId6" Type="http://schemas.openxmlformats.org/officeDocument/2006/relationships/image" Target="../media/image57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0.png"/><Relationship Id="rId4" Type="http://schemas.openxmlformats.org/officeDocument/2006/relationships/image" Target="../media/image540.png"/><Relationship Id="rId5" Type="http://schemas.openxmlformats.org/officeDocument/2006/relationships/image" Target="../media/image530.png"/><Relationship Id="rId6" Type="http://schemas.openxmlformats.org/officeDocument/2006/relationships/image" Target="../media/image581.png"/><Relationship Id="rId7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0.png"/><Relationship Id="rId4" Type="http://schemas.openxmlformats.org/officeDocument/2006/relationships/image" Target="../media/image540.png"/><Relationship Id="rId5" Type="http://schemas.openxmlformats.org/officeDocument/2006/relationships/image" Target="../media/image53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0.png"/><Relationship Id="rId4" Type="http://schemas.openxmlformats.org/officeDocument/2006/relationships/image" Target="../media/image540.png"/><Relationship Id="rId5" Type="http://schemas.openxmlformats.org/officeDocument/2006/relationships/image" Target="../media/image53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0.png"/><Relationship Id="rId4" Type="http://schemas.openxmlformats.org/officeDocument/2006/relationships/image" Target="../media/image540.png"/><Relationship Id="rId5" Type="http://schemas.openxmlformats.org/officeDocument/2006/relationships/image" Target="../media/image530.png"/><Relationship Id="rId6" Type="http://schemas.openxmlformats.org/officeDocument/2006/relationships/image" Target="../media/image600.png"/><Relationship Id="rId7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0.png"/><Relationship Id="rId4" Type="http://schemas.openxmlformats.org/officeDocument/2006/relationships/image" Target="../media/image530.png"/><Relationship Id="rId5" Type="http://schemas.openxmlformats.org/officeDocument/2006/relationships/image" Target="../media/image400.png"/><Relationship Id="rId6" Type="http://schemas.openxmlformats.org/officeDocument/2006/relationships/image" Target="../media/image54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0.png"/><Relationship Id="rId4" Type="http://schemas.openxmlformats.org/officeDocument/2006/relationships/image" Target="../media/image631.png"/><Relationship Id="rId5" Type="http://schemas.openxmlformats.org/officeDocument/2006/relationships/image" Target="../media/image630.png"/><Relationship Id="rId6" Type="http://schemas.openxmlformats.org/officeDocument/2006/relationships/image" Target="../media/image530.png"/><Relationship Id="rId7" Type="http://schemas.openxmlformats.org/officeDocument/2006/relationships/image" Target="../media/image54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0.png"/><Relationship Id="rId4" Type="http://schemas.openxmlformats.org/officeDocument/2006/relationships/image" Target="../media/image410.png"/><Relationship Id="rId5" Type="http://schemas.openxmlformats.org/officeDocument/2006/relationships/image" Target="../media/image630.png"/><Relationship Id="rId6" Type="http://schemas.openxmlformats.org/officeDocument/2006/relationships/image" Target="../media/image530.png"/><Relationship Id="rId7" Type="http://schemas.openxmlformats.org/officeDocument/2006/relationships/image" Target="../media/image54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0.png"/><Relationship Id="rId4" Type="http://schemas.openxmlformats.org/officeDocument/2006/relationships/image" Target="../media/image410.png"/><Relationship Id="rId10" Type="http://schemas.openxmlformats.org/officeDocument/2006/relationships/image" Target="../media/image540.png"/><Relationship Id="rId8" Type="http://schemas.openxmlformats.org/officeDocument/2006/relationships/image" Target="../media/image440.png"/><Relationship Id="rId9" Type="http://schemas.openxmlformats.org/officeDocument/2006/relationships/image" Target="../media/image53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650.png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660.png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hyperlink" Target="https://gym.openai.com/" TargetMode="External"/></Relationships>
</file>

<file path=ppt/slides/_rels/slide80.xml.rels><?xml version="1.0" encoding="UTF-8" standalone="yes"?>
<Relationships xmlns="http://schemas.openxmlformats.org/package/2006/relationships"><Relationship Id="rId3" Type="http://schemas.microsoft.com/office/2007/relationships/media" Target="../media/media2.mp4"/><Relationship Id="rId4" Type="http://schemas.openxmlformats.org/officeDocument/2006/relationships/video" Target="../media/media2.mp4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0.xml"/><Relationship Id="rId7" Type="http://schemas.openxmlformats.org/officeDocument/2006/relationships/image" Target="../media/image67.png"/><Relationship Id="rId8" Type="http://schemas.openxmlformats.org/officeDocument/2006/relationships/hyperlink" Target="https://gym.openai.com/" TargetMode="External"/><Relationship Id="rId9" Type="http://schemas.openxmlformats.org/officeDocument/2006/relationships/image" Target="../media/image68.png"/><Relationship Id="rId1" Type="http://schemas.microsoft.com/office/2007/relationships/media" Target="../media/media1.mp4"/><Relationship Id="rId2" Type="http://schemas.openxmlformats.org/officeDocument/2006/relationships/video" Target="../media/media1.mp4"/></Relationships>
</file>

<file path=ppt/slides/_rels/slide81.xml.rels><?xml version="1.0" encoding="UTF-8" standalone="yes"?>
<Relationships xmlns="http://schemas.openxmlformats.org/package/2006/relationships"><Relationship Id="rId11" Type="http://schemas.openxmlformats.org/officeDocument/2006/relationships/image" Target="../media/image70.png"/><Relationship Id="rId12" Type="http://schemas.openxmlformats.org/officeDocument/2006/relationships/image" Target="../media/image71.png"/><Relationship Id="rId1" Type="http://schemas.microsoft.com/office/2007/relationships/media" Target="../media/media3.mp4"/><Relationship Id="rId2" Type="http://schemas.openxmlformats.org/officeDocument/2006/relationships/video" Target="../media/media3.mp4"/><Relationship Id="rId3" Type="http://schemas.microsoft.com/office/2007/relationships/media" Target="../media/media4.mp4"/><Relationship Id="rId4" Type="http://schemas.openxmlformats.org/officeDocument/2006/relationships/video" Target="../media/media4.mp4"/><Relationship Id="rId5" Type="http://schemas.microsoft.com/office/2007/relationships/media" Target="../media/media5.mp4"/><Relationship Id="rId6" Type="http://schemas.openxmlformats.org/officeDocument/2006/relationships/video" Target="../media/media5.mp4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81.xml"/><Relationship Id="rId9" Type="http://schemas.openxmlformats.org/officeDocument/2006/relationships/hyperlink" Target="https://gym.openai.com/" TargetMode="External"/><Relationship Id="rId10" Type="http://schemas.openxmlformats.org/officeDocument/2006/relationships/image" Target="../media/image69.png"/></Relationships>
</file>

<file path=ppt/slides/_rels/slide82.xml.rels><?xml version="1.0" encoding="UTF-8" standalone="yes"?>
<Relationships xmlns="http://schemas.openxmlformats.org/package/2006/relationships"><Relationship Id="rId11" Type="http://schemas.openxmlformats.org/officeDocument/2006/relationships/image" Target="../media/image73.png"/><Relationship Id="rId12" Type="http://schemas.openxmlformats.org/officeDocument/2006/relationships/image" Target="../media/image74.png"/><Relationship Id="rId1" Type="http://schemas.microsoft.com/office/2007/relationships/media" Target="../media/media6.mp4"/><Relationship Id="rId2" Type="http://schemas.openxmlformats.org/officeDocument/2006/relationships/video" Target="../media/media6.mp4"/><Relationship Id="rId3" Type="http://schemas.microsoft.com/office/2007/relationships/media" Target="../media/media7.mp4"/><Relationship Id="rId4" Type="http://schemas.openxmlformats.org/officeDocument/2006/relationships/video" Target="../media/media7.mp4"/><Relationship Id="rId5" Type="http://schemas.microsoft.com/office/2007/relationships/media" Target="../media/media8.mp4"/><Relationship Id="rId6" Type="http://schemas.openxmlformats.org/officeDocument/2006/relationships/video" Target="../media/media8.mp4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82.xml"/><Relationship Id="rId9" Type="http://schemas.openxmlformats.org/officeDocument/2006/relationships/hyperlink" Target="https://gym.openai.com/" TargetMode="External"/><Relationship Id="rId10" Type="http://schemas.openxmlformats.org/officeDocument/2006/relationships/image" Target="../media/image72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3.xml"/><Relationship Id="rId5" Type="http://schemas.openxmlformats.org/officeDocument/2006/relationships/image" Target="../media/image75.png"/><Relationship Id="rId1" Type="http://schemas.microsoft.com/office/2007/relationships/media" Target="../media/media9.mp4"/><Relationship Id="rId2" Type="http://schemas.openxmlformats.org/officeDocument/2006/relationships/video" Target="../media/media9.mp4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4.xml"/><Relationship Id="rId5" Type="http://schemas.openxmlformats.org/officeDocument/2006/relationships/image" Target="../media/image68.png"/><Relationship Id="rId6" Type="http://schemas.openxmlformats.org/officeDocument/2006/relationships/image" Target="../media/image76.emf"/><Relationship Id="rId1" Type="http://schemas.microsoft.com/office/2007/relationships/media" Target="../media/media2.mp4"/><Relationship Id="rId2" Type="http://schemas.openxmlformats.org/officeDocument/2006/relationships/video" Target="../media/media2.mp4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77.emf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4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4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4" Type="http://schemas.openxmlformats.org/officeDocument/2006/relationships/image" Target="../media/image4.jpeg"/><Relationship Id="rId5" Type="http://schemas.openxmlformats.org/officeDocument/2006/relationships/image" Target="../media/image79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4" Type="http://schemas.openxmlformats.org/officeDocument/2006/relationships/image" Target="../media/image4.jpeg"/><Relationship Id="rId5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4" Type="http://schemas.openxmlformats.org/officeDocument/2006/relationships/image" Target="../media/image82.png"/><Relationship Id="rId5" Type="http://schemas.openxmlformats.org/officeDocument/2006/relationships/image" Target="../media/image83.png"/><Relationship Id="rId6" Type="http://schemas.openxmlformats.org/officeDocument/2006/relationships/image" Target="../media/image84.png"/><Relationship Id="rId7" Type="http://schemas.openxmlformats.org/officeDocument/2006/relationships/image" Target="../media/image85.png"/><Relationship Id="rId8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4" Type="http://schemas.openxmlformats.org/officeDocument/2006/relationships/image" Target="../media/image82.png"/><Relationship Id="rId5" Type="http://schemas.openxmlformats.org/officeDocument/2006/relationships/image" Target="../media/image83.png"/><Relationship Id="rId6" Type="http://schemas.openxmlformats.org/officeDocument/2006/relationships/image" Target="../media/image84.png"/><Relationship Id="rId7" Type="http://schemas.openxmlformats.org/officeDocument/2006/relationships/image" Target="../media/image85.png"/><Relationship Id="rId8" Type="http://schemas.openxmlformats.org/officeDocument/2006/relationships/image" Target="../media/image86.png"/><Relationship Id="rId9" Type="http://schemas.openxmlformats.org/officeDocument/2006/relationships/image" Target="../media/image87.png"/><Relationship Id="rId10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1" Type="http://schemas.openxmlformats.org/officeDocument/2006/relationships/image" Target="../media/image90.png"/><Relationship Id="rId1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81.png"/><Relationship Id="rId4" Type="http://schemas.openxmlformats.org/officeDocument/2006/relationships/image" Target="../media/image82.png"/><Relationship Id="rId5" Type="http://schemas.openxmlformats.org/officeDocument/2006/relationships/image" Target="../media/image83.png"/><Relationship Id="rId6" Type="http://schemas.openxmlformats.org/officeDocument/2006/relationships/image" Target="../media/image84.png"/><Relationship Id="rId7" Type="http://schemas.openxmlformats.org/officeDocument/2006/relationships/image" Target="../media/image85.png"/><Relationship Id="rId8" Type="http://schemas.openxmlformats.org/officeDocument/2006/relationships/image" Target="../media/image86.png"/><Relationship Id="rId9" Type="http://schemas.openxmlformats.org/officeDocument/2006/relationships/image" Target="../media/image87.png"/><Relationship Id="rId10" Type="http://schemas.openxmlformats.org/officeDocument/2006/relationships/image" Target="../media/image89.png"/></Relationships>
</file>

<file path=ppt/slides/_rels/slide94.xml.rels><?xml version="1.0" encoding="UTF-8" standalone="yes"?>
<Relationships xmlns="http://schemas.openxmlformats.org/package/2006/relationships"><Relationship Id="rId11" Type="http://schemas.openxmlformats.org/officeDocument/2006/relationships/image" Target="../media/image90.png"/><Relationship Id="rId12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81.png"/><Relationship Id="rId4" Type="http://schemas.openxmlformats.org/officeDocument/2006/relationships/image" Target="../media/image82.png"/><Relationship Id="rId5" Type="http://schemas.openxmlformats.org/officeDocument/2006/relationships/image" Target="../media/image83.png"/><Relationship Id="rId6" Type="http://schemas.openxmlformats.org/officeDocument/2006/relationships/image" Target="../media/image84.png"/><Relationship Id="rId7" Type="http://schemas.openxmlformats.org/officeDocument/2006/relationships/image" Target="../media/image85.png"/><Relationship Id="rId8" Type="http://schemas.openxmlformats.org/officeDocument/2006/relationships/image" Target="../media/image86.png"/><Relationship Id="rId9" Type="http://schemas.openxmlformats.org/officeDocument/2006/relationships/image" Target="../media/image87.png"/><Relationship Id="rId10" Type="http://schemas.openxmlformats.org/officeDocument/2006/relationships/image" Target="../media/image89.png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9106" y="1179513"/>
            <a:ext cx="11377612" cy="1963737"/>
          </a:xfrm>
        </p:spPr>
        <p:txBody>
          <a:bodyPr>
            <a:normAutofit/>
          </a:bodyPr>
          <a:lstStyle/>
          <a:p>
            <a:r>
              <a:rPr lang="en-US" altLang="zh-CN" sz="4400" b="1" dirty="0" smtClean="0">
                <a:latin typeface="Lucida Bright" charset="0"/>
                <a:ea typeface="Lucida Bright" charset="0"/>
                <a:cs typeface="Lucida Bright" charset="0"/>
              </a:rPr>
              <a:t>Reinforcement</a:t>
            </a:r>
            <a:r>
              <a:rPr lang="zh-CN" altLang="en-US" sz="4400" b="1" dirty="0" smtClean="0">
                <a:latin typeface="Lucida Bright" charset="0"/>
                <a:ea typeface="Lucida Bright" charset="0"/>
                <a:cs typeface="Lucida Bright" charset="0"/>
              </a:rPr>
              <a:t> </a:t>
            </a:r>
            <a:r>
              <a:rPr lang="en-US" altLang="zh-CN" sz="4400" b="1" dirty="0" smtClean="0">
                <a:latin typeface="Lucida Bright" charset="0"/>
                <a:ea typeface="Lucida Bright" charset="0"/>
                <a:cs typeface="Lucida Bright" charset="0"/>
              </a:rPr>
              <a:t>Learning</a:t>
            </a:r>
            <a:r>
              <a:rPr lang="zh-CN" altLang="en-US" sz="4400" b="1" dirty="0" smtClean="0">
                <a:latin typeface="Lucida Bright" charset="0"/>
                <a:ea typeface="Lucida Bright" charset="0"/>
                <a:cs typeface="Lucida Bright" charset="0"/>
              </a:rPr>
              <a:t> </a:t>
            </a:r>
            <a:r>
              <a:rPr lang="en-US" altLang="zh-CN" sz="4400" b="1" dirty="0" smtClean="0">
                <a:latin typeface="Lucida Bright" charset="0"/>
                <a:ea typeface="Lucida Bright" charset="0"/>
                <a:cs typeface="Lucida Bright" charset="0"/>
              </a:rPr>
              <a:t>Basics</a:t>
            </a:r>
            <a:endParaRPr lang="en-US" sz="4400" b="1" dirty="0">
              <a:latin typeface="Lucida Bright" charset="0"/>
              <a:ea typeface="Lucida Bright" charset="0"/>
              <a:cs typeface="Lucida Bright" charset="0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4883944" y="4268789"/>
            <a:ext cx="2547937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 smtClean="0">
                <a:latin typeface="Lucida Bright" charset="0"/>
                <a:ea typeface="Lucida Bright" charset="0"/>
                <a:cs typeface="Lucida Bright" charset="0"/>
              </a:rPr>
              <a:t>Shusen</a:t>
            </a:r>
            <a:r>
              <a:rPr lang="zh-CN" altLang="en-US" b="1" dirty="0" smtClean="0">
                <a:latin typeface="Lucida Bright" charset="0"/>
                <a:ea typeface="Lucida Bright" charset="0"/>
                <a:cs typeface="Lucida Bright" charset="0"/>
              </a:rPr>
              <a:t> </a:t>
            </a:r>
            <a:r>
              <a:rPr lang="en-US" altLang="zh-CN" b="1" dirty="0" smtClean="0">
                <a:latin typeface="Lucida Bright" charset="0"/>
                <a:ea typeface="Lucida Bright" charset="0"/>
                <a:cs typeface="Lucida Bright" charset="0"/>
              </a:rPr>
              <a:t>Wang</a:t>
            </a:r>
          </a:p>
          <a:p>
            <a:endParaRPr lang="en-US" sz="1800" dirty="0"/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3418284" y="4773616"/>
            <a:ext cx="5479256" cy="6892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Bright" charset="0"/>
                <a:ea typeface="Lucida Bright" charset="0"/>
                <a:cs typeface="Lucida Bright" charset="0"/>
              </a:rPr>
              <a:t>Stevens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Bright" charset="0"/>
                <a:ea typeface="Lucida Bright" charset="0"/>
                <a:cs typeface="Lucida Bright" charset="0"/>
              </a:rPr>
              <a:t> 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Bright" charset="0"/>
                <a:ea typeface="Lucida Bright" charset="0"/>
                <a:cs typeface="Lucida Bright" charset="0"/>
              </a:rPr>
              <a:t>Institute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Bright" charset="0"/>
                <a:ea typeface="Lucida Bright" charset="0"/>
                <a:cs typeface="Lucida Bright" charset="0"/>
              </a:rPr>
              <a:t> 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Bright" charset="0"/>
                <a:ea typeface="Lucida Bright" charset="0"/>
                <a:cs typeface="Lucida Bright" charset="0"/>
              </a:rPr>
              <a:t>of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Bright" charset="0"/>
                <a:ea typeface="Lucida Bright" charset="0"/>
                <a:cs typeface="Lucida Bright" charset="0"/>
              </a:rPr>
              <a:t> 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Bright" charset="0"/>
                <a:ea typeface="Lucida Bright" charset="0"/>
                <a:cs typeface="Lucida Bright" charset="0"/>
              </a:rPr>
              <a:t>Technology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3911143" y="6457890"/>
            <a:ext cx="449353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http://wangshusen.github.io/</a:t>
            </a:r>
            <a:endParaRPr 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Courier New" charset="0"/>
              <a:ea typeface="Courier New" charset="0"/>
              <a:cs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0574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0" y="2244725"/>
            <a:ext cx="11823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A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little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bit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probability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theory</a:t>
            </a:r>
            <a:r>
              <a:rPr lang="mr-IN" altLang="zh-CN" sz="3600" b="1" dirty="0" smtClean="0">
                <a:latin typeface="Lucida Bright" panose="02040602050505020304" pitchFamily="18" charset="0"/>
              </a:rPr>
              <a:t>…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710165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110232"/>
            <a:ext cx="10515600" cy="2468413"/>
          </a:xfrm>
        </p:spPr>
        <p:txBody>
          <a:bodyPr/>
          <a:lstStyle/>
          <a:p>
            <a:r>
              <a:rPr lang="en-US" altLang="zh-CN" dirty="0" smtClean="0">
                <a:solidFill>
                  <a:srgbClr val="C00000"/>
                </a:solidFill>
              </a:rPr>
              <a:t>Random</a:t>
            </a:r>
            <a:r>
              <a:rPr lang="zh-CN" altLang="en-US" dirty="0" smtClean="0">
                <a:solidFill>
                  <a:srgbClr val="C00000"/>
                </a:solidFill>
              </a:rPr>
              <a:t> </a:t>
            </a:r>
            <a:r>
              <a:rPr lang="en-US" altLang="zh-CN" dirty="0" smtClean="0">
                <a:solidFill>
                  <a:srgbClr val="C00000"/>
                </a:solidFill>
              </a:rPr>
              <a:t>variable</a:t>
            </a:r>
            <a:r>
              <a:rPr lang="en-US" altLang="zh-CN" dirty="0" smtClean="0"/>
              <a:t>:</a:t>
            </a:r>
            <a:r>
              <a:rPr lang="zh-CN" altLang="en-US" dirty="0" smtClean="0"/>
              <a:t> </a:t>
            </a:r>
            <a:r>
              <a:rPr lang="en-US" altLang="zh-CN" dirty="0" smtClean="0"/>
              <a:t>unknown;</a:t>
            </a:r>
            <a:r>
              <a:rPr lang="zh-CN" altLang="en-US" dirty="0" smtClean="0"/>
              <a:t> </a:t>
            </a:r>
            <a:r>
              <a:rPr lang="en-US" altLang="zh-CN" dirty="0" smtClean="0"/>
              <a:t>its</a:t>
            </a:r>
            <a:r>
              <a:rPr lang="zh-CN" altLang="en-US" dirty="0" smtClean="0"/>
              <a:t> </a:t>
            </a:r>
            <a:r>
              <a:rPr lang="en-US" altLang="zh-CN" dirty="0" smtClean="0"/>
              <a:t>values depend </a:t>
            </a:r>
            <a:r>
              <a:rPr lang="en-US" altLang="zh-CN" dirty="0"/>
              <a:t>on outcomes </a:t>
            </a:r>
            <a:r>
              <a:rPr lang="en-US" altLang="zh-CN" dirty="0" smtClean="0"/>
              <a:t>of </a:t>
            </a:r>
            <a:r>
              <a:rPr lang="en-US" altLang="zh-CN" dirty="0"/>
              <a:t>random </a:t>
            </a:r>
            <a:r>
              <a:rPr lang="en-US" altLang="zh-CN" dirty="0" smtClean="0"/>
              <a:t>events.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Random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Variable</a:t>
            </a:r>
            <a:endParaRPr lang="en-US" sz="3600" dirty="0">
              <a:solidFill>
                <a:srgbClr val="0070C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0870" y="3147123"/>
            <a:ext cx="5624947" cy="30468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53279" y="3367296"/>
            <a:ext cx="22541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i="1" dirty="0" smtClean="0">
                <a:latin typeface="Baghdad" charset="-78"/>
                <a:ea typeface="Baghdad" charset="-78"/>
                <a:cs typeface="Baghdad" charset="-78"/>
              </a:rPr>
              <a:t>Probabilities</a:t>
            </a:r>
            <a:endParaRPr lang="en-US" sz="3200" i="1" dirty="0">
              <a:latin typeface="Baghdad" charset="-78"/>
              <a:ea typeface="Baghdad" charset="-78"/>
              <a:cs typeface="Baghdad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467596" y="4378158"/>
                <a:ext cx="3025508" cy="584775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charset="0"/>
                          <a:ea typeface="Baghdad" charset="-78"/>
                          <a:cs typeface="Baghdad" charset="-78"/>
                        </a:rPr>
                        <m:t>ℙ</m:t>
                      </m:r>
                      <m:d>
                        <m:dPr>
                          <m:ctrlPr>
                            <a:rPr lang="en-US" altLang="zh-CN" sz="3200" b="0" i="1" smtClean="0">
                              <a:latin typeface="Cambria Math" charset="0"/>
                              <a:ea typeface="Baghdad" charset="-78"/>
                              <a:cs typeface="Baghdad" charset="-78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charset="0"/>
                              <a:ea typeface="Baghdad" charset="-78"/>
                              <a:cs typeface="Baghdad" charset="-78"/>
                            </a:rPr>
                            <m:t>𝑋</m:t>
                          </m:r>
                          <m:r>
                            <a:rPr lang="en-US" altLang="zh-CN" sz="3200" b="0" i="1" smtClean="0">
                              <a:latin typeface="Cambria Math" charset="0"/>
                              <a:ea typeface="Baghdad" charset="-78"/>
                              <a:cs typeface="Baghdad" charset="-78"/>
                            </a:rPr>
                            <m:t>=0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charset="0"/>
                          <a:ea typeface="Baghdad" charset="-78"/>
                          <a:cs typeface="Baghdad" charset="-78"/>
                        </a:rPr>
                        <m:t>=0.5</m:t>
                      </m:r>
                    </m:oMath>
                  </m:oMathPara>
                </a14:m>
                <a:endParaRPr lang="en-US" sz="3200" i="1" dirty="0">
                  <a:latin typeface="Baghdad" charset="-78"/>
                  <a:ea typeface="Baghdad" charset="-78"/>
                  <a:cs typeface="Baghdad" charset="-78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7596" y="4378158"/>
                <a:ext cx="3025508" cy="58477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467596" y="5250350"/>
                <a:ext cx="3025508" cy="584775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charset="0"/>
                          <a:ea typeface="Baghdad" charset="-78"/>
                          <a:cs typeface="Baghdad" charset="-78"/>
                        </a:rPr>
                        <m:t>ℙ</m:t>
                      </m:r>
                      <m:d>
                        <m:dPr>
                          <m:ctrlPr>
                            <a:rPr lang="en-US" altLang="zh-CN" sz="3200" b="0" i="1" smtClean="0">
                              <a:latin typeface="Cambria Math" charset="0"/>
                              <a:ea typeface="Baghdad" charset="-78"/>
                              <a:cs typeface="Baghdad" charset="-78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charset="0"/>
                              <a:ea typeface="Baghdad" charset="-78"/>
                              <a:cs typeface="Baghdad" charset="-78"/>
                            </a:rPr>
                            <m:t>𝑋</m:t>
                          </m:r>
                          <m:r>
                            <a:rPr lang="en-US" altLang="zh-CN" sz="3200" b="0" i="1" smtClean="0">
                              <a:latin typeface="Cambria Math" charset="0"/>
                              <a:ea typeface="Baghdad" charset="-78"/>
                              <a:cs typeface="Baghdad" charset="-78"/>
                            </a:rPr>
                            <m:t>=1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charset="0"/>
                          <a:ea typeface="Baghdad" charset="-78"/>
                          <a:cs typeface="Baghdad" charset="-78"/>
                        </a:rPr>
                        <m:t>=0.5</m:t>
                      </m:r>
                    </m:oMath>
                  </m:oMathPara>
                </a14:m>
                <a:endParaRPr lang="en-US" sz="3200" i="1" dirty="0">
                  <a:latin typeface="Baghdad" charset="-78"/>
                  <a:ea typeface="Baghdad" charset="-78"/>
                  <a:cs typeface="Baghdad" charset="-78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7596" y="5250350"/>
                <a:ext cx="3025508" cy="58477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39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5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35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35" presetClass="emph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5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35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35" presetClass="emph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6" grpId="1" animBg="1"/>
      <p:bldP spid="6" grpId="2" animBg="1"/>
      <p:bldP spid="6" grpId="3" animBg="1"/>
      <p:bldP spid="7" grpId="0" animBg="1"/>
      <p:bldP spid="7" grpId="1" animBg="1"/>
      <p:bldP spid="7" grpId="2" animBg="1"/>
      <p:bldP spid="7" grpId="3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1110232"/>
                <a:ext cx="10515600" cy="4750241"/>
              </a:xfrm>
            </p:spPr>
            <p:txBody>
              <a:bodyPr/>
              <a:lstStyle/>
              <a:p>
                <a:r>
                  <a:rPr lang="en-US" altLang="zh-CN" dirty="0">
                    <a:solidFill>
                      <a:srgbClr val="C00000"/>
                    </a:solidFill>
                  </a:rPr>
                  <a:t>Random</a:t>
                </a:r>
                <a:r>
                  <a:rPr lang="zh-CN" alt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dirty="0">
                    <a:solidFill>
                      <a:srgbClr val="C00000"/>
                    </a:solidFill>
                  </a:rPr>
                  <a:t>variable</a:t>
                </a:r>
                <a:r>
                  <a:rPr lang="en-US" altLang="zh-CN" dirty="0"/>
                  <a:t>: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unknown;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its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values </a:t>
                </a:r>
                <a:r>
                  <a:rPr lang="en-US" altLang="zh-CN" dirty="0" smtClean="0"/>
                  <a:t>depend </a:t>
                </a:r>
                <a:r>
                  <a:rPr lang="en-US" altLang="zh-CN" dirty="0"/>
                  <a:t>on outcomes </a:t>
                </a:r>
                <a:r>
                  <a:rPr lang="en-US" altLang="zh-CN" dirty="0" smtClean="0"/>
                  <a:t>of </a:t>
                </a:r>
                <a:r>
                  <a:rPr lang="en-US" altLang="zh-CN" dirty="0"/>
                  <a:t>random </a:t>
                </a:r>
                <a:r>
                  <a:rPr lang="en-US" altLang="zh-CN" dirty="0" smtClean="0"/>
                  <a:t>events.</a:t>
                </a:r>
                <a:endParaRPr lang="en-US" altLang="zh-CN" dirty="0"/>
              </a:p>
              <a:p>
                <a:r>
                  <a:rPr lang="en-US" altLang="zh-CN" dirty="0" smtClean="0"/>
                  <a:t>Uppercase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letter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𝑋</m:t>
                    </m:r>
                  </m:oMath>
                </a14:m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for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random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variable.</a:t>
                </a:r>
              </a:p>
              <a:p>
                <a:r>
                  <a:rPr lang="en-US" altLang="zh-CN" dirty="0" smtClean="0"/>
                  <a:t>Lowercase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letter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𝑥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for</a:t>
                </a:r>
                <a:r>
                  <a:rPr lang="zh-CN" altLang="en-US" dirty="0"/>
                  <a:t> </a:t>
                </a:r>
                <a:r>
                  <a:rPr lang="en-US" altLang="zh-CN" dirty="0" smtClean="0"/>
                  <a:t>an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observed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value.</a:t>
                </a:r>
              </a:p>
              <a:p>
                <a:r>
                  <a:rPr lang="en-US" altLang="zh-CN" dirty="0" smtClean="0"/>
                  <a:t>For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example,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I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flipped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coin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4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times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and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observed: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charset="0"/>
                      </a:rPr>
                      <m:t>=1</m:t>
                    </m:r>
                  </m:oMath>
                </a14:m>
                <a:r>
                  <a:rPr lang="en-US" altLang="zh-CN" dirty="0" smtClean="0"/>
                  <a:t>,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charset="0"/>
                      </a:rPr>
                      <m:t>=1</m:t>
                    </m:r>
                  </m:oMath>
                </a14:m>
                <a:r>
                  <a:rPr lang="en-US" altLang="zh-CN" dirty="0" smtClean="0"/>
                  <a:t>,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3</m:t>
                        </m:r>
                      </m:sub>
                    </m:sSub>
                    <m:r>
                      <a:rPr lang="en-US" altLang="zh-CN" i="1">
                        <a:latin typeface="Cambria Math" charset="0"/>
                      </a:rPr>
                      <m:t>=</m:t>
                    </m:r>
                    <m:r>
                      <a:rPr lang="en-US" altLang="zh-CN" b="0" i="1" smtClean="0">
                        <a:latin typeface="Cambria Math" charset="0"/>
                      </a:rPr>
                      <m:t>0</m:t>
                    </m:r>
                  </m:oMath>
                </a14:m>
                <a:r>
                  <a:rPr lang="en-US" altLang="zh-CN" dirty="0" smtClean="0"/>
                  <a:t>,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4</m:t>
                        </m:r>
                      </m:sub>
                    </m:sSub>
                    <m:r>
                      <a:rPr lang="en-US" altLang="zh-CN" i="1">
                        <a:latin typeface="Cambria Math" charset="0"/>
                      </a:rPr>
                      <m:t>=1</m:t>
                    </m:r>
                  </m:oMath>
                </a14:m>
                <a:r>
                  <a:rPr lang="en-US" altLang="zh-CN" dirty="0" smtClean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110232"/>
                <a:ext cx="10515600" cy="4750241"/>
              </a:xfrm>
              <a:blipFill rotWithShape="0">
                <a:blip r:embed="rId3"/>
                <a:stretch>
                  <a:fillRect l="-986" t="-20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Random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Variable</a:t>
            </a:r>
            <a:endParaRPr lang="en-US" sz="3600" dirty="0">
              <a:solidFill>
                <a:srgbClr val="0070C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45022" y="2422245"/>
            <a:ext cx="404408" cy="48581"/>
          </a:xfrm>
          <a:prstGeom prst="rect">
            <a:avLst/>
          </a:prstGeom>
          <a:noFill/>
          <a:ln w="57150">
            <a:solidFill>
              <a:srgbClr val="0B24FB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545022" y="2963751"/>
            <a:ext cx="404408" cy="48581"/>
          </a:xfrm>
          <a:prstGeom prst="rect">
            <a:avLst/>
          </a:prstGeom>
          <a:noFill/>
          <a:ln w="57150">
            <a:solidFill>
              <a:srgbClr val="0B24FB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414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250"/>
                            </p:stCondLst>
                            <p:childTnLst>
                              <p:par>
                                <p:cTn id="3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7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7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750"/>
                            </p:stCondLst>
                            <p:childTnLst>
                              <p:par>
                                <p:cTn id="4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75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500"/>
                            </p:stCondLst>
                            <p:childTnLst>
                              <p:par>
                                <p:cTn id="4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75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89903"/>
            <a:ext cx="10515600" cy="1678565"/>
          </a:xfrm>
        </p:spPr>
        <p:txBody>
          <a:bodyPr/>
          <a:lstStyle/>
          <a:p>
            <a:r>
              <a:rPr lang="en-US" altLang="zh-CN" dirty="0" smtClean="0"/>
              <a:t>PDF</a:t>
            </a:r>
            <a:r>
              <a:rPr lang="zh-CN" altLang="en-US" dirty="0" smtClean="0"/>
              <a:t> </a:t>
            </a:r>
            <a:r>
              <a:rPr lang="en-US" altLang="zh-CN" dirty="0" smtClean="0"/>
              <a:t>provides</a:t>
            </a:r>
            <a:r>
              <a:rPr lang="zh-CN" altLang="en-US" dirty="0" smtClean="0"/>
              <a:t> </a:t>
            </a:r>
            <a:r>
              <a:rPr lang="en-US" altLang="zh-CN" dirty="0" smtClean="0"/>
              <a:t>a</a:t>
            </a:r>
            <a:r>
              <a:rPr lang="zh-CN" altLang="en-US" dirty="0" smtClean="0"/>
              <a:t> </a:t>
            </a:r>
            <a:r>
              <a:rPr lang="en-US" altLang="zh-CN" dirty="0"/>
              <a:t>relative likelihood that the value of the random variable would equal that </a:t>
            </a:r>
            <a:r>
              <a:rPr lang="en-US" altLang="zh-CN" dirty="0" smtClean="0"/>
              <a:t>sample.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Probability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Density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Function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(PDF)</a:t>
            </a:r>
            <a:endParaRPr lang="en-US" sz="36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3786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108905" y="2490181"/>
            <a:ext cx="4810794" cy="3743462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8832715" y="3411995"/>
            <a:ext cx="933855" cy="2162047"/>
          </a:xfrm>
          <a:prstGeom prst="roundRect">
            <a:avLst/>
          </a:prstGeom>
          <a:solidFill>
            <a:srgbClr val="FFFF00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/>
          <p:cNvSpPr/>
          <p:nvPr/>
        </p:nvSpPr>
        <p:spPr>
          <a:xfrm>
            <a:off x="7421968" y="5061096"/>
            <a:ext cx="933855" cy="540132"/>
          </a:xfrm>
          <a:prstGeom prst="roundRect">
            <a:avLst/>
          </a:prstGeom>
          <a:solidFill>
            <a:srgbClr val="FFFF00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/>
          <p:cNvSpPr/>
          <p:nvPr/>
        </p:nvSpPr>
        <p:spPr>
          <a:xfrm>
            <a:off x="10339774" y="5061096"/>
            <a:ext cx="933855" cy="540132"/>
          </a:xfrm>
          <a:prstGeom prst="roundRect">
            <a:avLst/>
          </a:prstGeom>
          <a:solidFill>
            <a:srgbClr val="FFFF00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89903"/>
            <a:ext cx="10515600" cy="1678565"/>
          </a:xfrm>
        </p:spPr>
        <p:txBody>
          <a:bodyPr/>
          <a:lstStyle/>
          <a:p>
            <a:r>
              <a:rPr lang="en-US" altLang="zh-CN" dirty="0" smtClean="0"/>
              <a:t>PDF</a:t>
            </a:r>
            <a:r>
              <a:rPr lang="zh-CN" altLang="en-US" dirty="0" smtClean="0"/>
              <a:t> </a:t>
            </a:r>
            <a:r>
              <a:rPr lang="en-US" altLang="zh-CN" dirty="0" smtClean="0"/>
              <a:t>provides</a:t>
            </a:r>
            <a:r>
              <a:rPr lang="zh-CN" altLang="en-US" dirty="0" smtClean="0"/>
              <a:t> </a:t>
            </a:r>
            <a:r>
              <a:rPr lang="en-US" altLang="zh-CN" dirty="0" smtClean="0"/>
              <a:t>a</a:t>
            </a:r>
            <a:r>
              <a:rPr lang="zh-CN" altLang="en-US" dirty="0" smtClean="0"/>
              <a:t> </a:t>
            </a:r>
            <a:r>
              <a:rPr lang="en-US" altLang="zh-CN" dirty="0"/>
              <a:t>relative likelihood that the value of the random variable would equal that </a:t>
            </a:r>
            <a:r>
              <a:rPr lang="en-US" altLang="zh-CN" dirty="0" smtClean="0"/>
              <a:t>sample.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Probability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Density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Function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(PDF)</a:t>
            </a:r>
            <a:endParaRPr lang="en-US" sz="36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/>
              <p:cNvSpPr txBox="1">
                <a:spLocks/>
              </p:cNvSpPr>
              <p:nvPr/>
            </p:nvSpPr>
            <p:spPr>
              <a:xfrm>
                <a:off x="770233" y="3721059"/>
                <a:ext cx="5881255" cy="255369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dirty="0" smtClean="0"/>
                  <a:t>It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is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continuous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distribution.</a:t>
                </a:r>
              </a:p>
              <a:p>
                <a:r>
                  <a:rPr lang="en-US" altLang="zh-CN" dirty="0" smtClean="0"/>
                  <a:t>PDF:</a:t>
                </a:r>
                <a:r>
                  <a:rPr lang="zh-CN" altLang="en-US" dirty="0" smtClean="0"/>
                  <a:t>     </a:t>
                </a:r>
                <a:endParaRPr lang="en-US" altLang="zh-CN" dirty="0" smtClean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𝑝</m:t>
                    </m:r>
                    <m:d>
                      <m:d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b="0" i="1" smtClean="0">
                                <a:latin typeface="Cambria Math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2</m:t>
                            </m:r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𝜋</m:t>
                            </m:r>
                            <m:sSup>
                              <m:sSupPr>
                                <m:ctrlPr>
                                  <a:rPr lang="en-US" altLang="zh-CN" b="0" i="1" smtClean="0">
                                    <a:latin typeface="Cambria Math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smtClean="0">
                                    <a:latin typeface="Cambria Math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CN" b="0" i="1" smtClean="0">
                                    <a:latin typeface="Cambria Math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func>
                      <m:funcPr>
                        <m:ctrlPr>
                          <a:rPr lang="zh-CN" altLang="en-US" b="0" i="1" smtClean="0">
                            <a:latin typeface="Cambria Math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CN" b="0" i="1" smtClean="0">
                                    <a:latin typeface="Cambria Math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zh-CN" b="0" i="1" smtClean="0">
                                        <a:latin typeface="Cambria Math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zh-CN" b="0" i="1" smtClean="0">
                                            <a:latin typeface="Cambria Math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b="0" i="1" smtClean="0">
                                            <a:latin typeface="Cambria Math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altLang="zh-CN" b="0" i="1" smtClean="0">
                                            <a:latin typeface="Cambria Math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zh-CN" b="0" i="1" smtClean="0">
                                            <a:latin typeface="Cambria Math" charset="0"/>
                                          </a:rPr>
                                          <m:t>𝜇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zh-CN" b="0" i="1" smtClean="0">
                                        <a:latin typeface="Cambria Math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zh-CN" b="0" i="1" smtClean="0">
                                    <a:latin typeface="Cambria Math" charset="0"/>
                                  </a:rPr>
                                  <m:t>2</m:t>
                                </m:r>
                                <m:r>
                                  <a:rPr lang="zh-CN" altLang="en-US" b="0" i="1" smtClean="0">
                                    <a:latin typeface="Cambria Math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en-US" altLang="zh-CN" b="0" i="1" smtClean="0">
                                        <a:latin typeface="Cambria Math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b="0" i="1" smtClean="0">
                                        <a:latin typeface="Cambria Math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zh-CN" b="0" i="1" smtClean="0">
                                        <a:latin typeface="Cambria Math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US" altLang="zh-CN" dirty="0" smtClean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1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233" y="3721059"/>
                <a:ext cx="5881255" cy="2553699"/>
              </a:xfrm>
              <a:prstGeom prst="rect">
                <a:avLst/>
              </a:prstGeom>
              <a:blipFill rotWithShape="0">
                <a:blip r:embed="rId3"/>
                <a:stretch>
                  <a:fillRect l="-1865" t="-38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770233" y="2888775"/>
            <a:ext cx="5554372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anchor="ctr">
            <a:spAutoFit/>
          </a:bodyPr>
          <a:lstStyle/>
          <a:p>
            <a:pPr algn="ctr"/>
            <a:r>
              <a:rPr lang="en-US" altLang="zh-CN" sz="2800" b="1" dirty="0"/>
              <a:t>Example:</a:t>
            </a:r>
            <a:r>
              <a:rPr lang="zh-CN" altLang="en-US" sz="2800" b="1" dirty="0"/>
              <a:t> </a:t>
            </a:r>
            <a:r>
              <a:rPr lang="en-US" altLang="zh-CN" sz="2800" dirty="0" smtClean="0"/>
              <a:t>Gaussian</a:t>
            </a:r>
            <a:r>
              <a:rPr lang="zh-CN" altLang="en-US" sz="2800" dirty="0" smtClean="0"/>
              <a:t> </a:t>
            </a:r>
            <a:r>
              <a:rPr lang="en-US" altLang="zh-CN" sz="2800" dirty="0" smtClean="0"/>
              <a:t>distribution</a:t>
            </a:r>
            <a:endParaRPr lang="en-US" altLang="zh-CN" sz="2800" dirty="0"/>
          </a:p>
        </p:txBody>
      </p:sp>
      <p:cxnSp>
        <p:nvCxnSpPr>
          <p:cNvPr id="14" name="Straight Arrow Connector 13"/>
          <p:cNvCxnSpPr/>
          <p:nvPr/>
        </p:nvCxnSpPr>
        <p:spPr>
          <a:xfrm flipV="1">
            <a:off x="7275444" y="5605359"/>
            <a:ext cx="4195964" cy="1461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 flipV="1">
            <a:off x="9325670" y="3117004"/>
            <a:ext cx="699" cy="2489816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reeform 15"/>
          <p:cNvSpPr/>
          <p:nvPr/>
        </p:nvSpPr>
        <p:spPr>
          <a:xfrm>
            <a:off x="7438241" y="3652704"/>
            <a:ext cx="3774857" cy="1921339"/>
          </a:xfrm>
          <a:custGeom>
            <a:avLst/>
            <a:gdLst>
              <a:gd name="connsiteX0" fmla="*/ 0 w 4929962"/>
              <a:gd name="connsiteY0" fmla="*/ 1910563 h 1921339"/>
              <a:gd name="connsiteX1" fmla="*/ 290623 w 4929962"/>
              <a:gd name="connsiteY1" fmla="*/ 1907019 h 1921339"/>
              <a:gd name="connsiteX2" fmla="*/ 606055 w 4929962"/>
              <a:gd name="connsiteY2" fmla="*/ 1825502 h 1921339"/>
              <a:gd name="connsiteX3" fmla="*/ 1059711 w 4929962"/>
              <a:gd name="connsiteY3" fmla="*/ 1559688 h 1921339"/>
              <a:gd name="connsiteX4" fmla="*/ 1442483 w 4929962"/>
              <a:gd name="connsiteY4" fmla="*/ 1159195 h 1921339"/>
              <a:gd name="connsiteX5" fmla="*/ 1782725 w 4929962"/>
              <a:gd name="connsiteY5" fmla="*/ 663009 h 1921339"/>
              <a:gd name="connsiteX6" fmla="*/ 2076893 w 4929962"/>
              <a:gd name="connsiteY6" fmla="*/ 230619 h 1921339"/>
              <a:gd name="connsiteX7" fmla="*/ 2314353 w 4929962"/>
              <a:gd name="connsiteY7" fmla="*/ 35688 h 1921339"/>
              <a:gd name="connsiteX8" fmla="*/ 2463209 w 4929962"/>
              <a:gd name="connsiteY8" fmla="*/ 246 h 1921339"/>
              <a:gd name="connsiteX9" fmla="*/ 2633330 w 4929962"/>
              <a:gd name="connsiteY9" fmla="*/ 39232 h 1921339"/>
              <a:gd name="connsiteX10" fmla="*/ 2824716 w 4929962"/>
              <a:gd name="connsiteY10" fmla="*/ 198721 h 1921339"/>
              <a:gd name="connsiteX11" fmla="*/ 2970028 w 4929962"/>
              <a:gd name="connsiteY11" fmla="*/ 400739 h 1921339"/>
              <a:gd name="connsiteX12" fmla="*/ 3125972 w 4929962"/>
              <a:gd name="connsiteY12" fmla="*/ 634656 h 1921339"/>
              <a:gd name="connsiteX13" fmla="*/ 3377609 w 4929962"/>
              <a:gd name="connsiteY13" fmla="*/ 1052870 h 1921339"/>
              <a:gd name="connsiteX14" fmla="*/ 3710762 w 4929962"/>
              <a:gd name="connsiteY14" fmla="*/ 1449819 h 1921339"/>
              <a:gd name="connsiteX15" fmla="*/ 4082902 w 4929962"/>
              <a:gd name="connsiteY15" fmla="*/ 1722721 h 1921339"/>
              <a:gd name="connsiteX16" fmla="*/ 4423144 w 4929962"/>
              <a:gd name="connsiteY16" fmla="*/ 1868032 h 1921339"/>
              <a:gd name="connsiteX17" fmla="*/ 4827181 w 4929962"/>
              <a:gd name="connsiteY17" fmla="*/ 1914107 h 1921339"/>
              <a:gd name="connsiteX18" fmla="*/ 4929962 w 4929962"/>
              <a:gd name="connsiteY18" fmla="*/ 1921195 h 1921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929962" h="1921339">
                <a:moveTo>
                  <a:pt x="0" y="1910563"/>
                </a:moveTo>
                <a:cubicBezTo>
                  <a:pt x="94807" y="1915879"/>
                  <a:pt x="189614" y="1921196"/>
                  <a:pt x="290623" y="1907019"/>
                </a:cubicBezTo>
                <a:cubicBezTo>
                  <a:pt x="391632" y="1892842"/>
                  <a:pt x="477874" y="1883391"/>
                  <a:pt x="606055" y="1825502"/>
                </a:cubicBezTo>
                <a:cubicBezTo>
                  <a:pt x="734236" y="1767613"/>
                  <a:pt x="920306" y="1670739"/>
                  <a:pt x="1059711" y="1559688"/>
                </a:cubicBezTo>
                <a:cubicBezTo>
                  <a:pt x="1199116" y="1448637"/>
                  <a:pt x="1321981" y="1308642"/>
                  <a:pt x="1442483" y="1159195"/>
                </a:cubicBezTo>
                <a:cubicBezTo>
                  <a:pt x="1562985" y="1009748"/>
                  <a:pt x="1782725" y="663009"/>
                  <a:pt x="1782725" y="663009"/>
                </a:cubicBezTo>
                <a:cubicBezTo>
                  <a:pt x="1888460" y="508246"/>
                  <a:pt x="1988288" y="335172"/>
                  <a:pt x="2076893" y="230619"/>
                </a:cubicBezTo>
                <a:cubicBezTo>
                  <a:pt x="2165498" y="126066"/>
                  <a:pt x="2249967" y="74083"/>
                  <a:pt x="2314353" y="35688"/>
                </a:cubicBezTo>
                <a:cubicBezTo>
                  <a:pt x="2378739" y="-2708"/>
                  <a:pt x="2410046" y="-345"/>
                  <a:pt x="2463209" y="246"/>
                </a:cubicBezTo>
                <a:cubicBezTo>
                  <a:pt x="2516372" y="837"/>
                  <a:pt x="2573079" y="6153"/>
                  <a:pt x="2633330" y="39232"/>
                </a:cubicBezTo>
                <a:cubicBezTo>
                  <a:pt x="2693581" y="72311"/>
                  <a:pt x="2768600" y="138470"/>
                  <a:pt x="2824716" y="198721"/>
                </a:cubicBezTo>
                <a:cubicBezTo>
                  <a:pt x="2880832" y="258972"/>
                  <a:pt x="2919819" y="328083"/>
                  <a:pt x="2970028" y="400739"/>
                </a:cubicBezTo>
                <a:cubicBezTo>
                  <a:pt x="3020237" y="473395"/>
                  <a:pt x="3058042" y="525968"/>
                  <a:pt x="3125972" y="634656"/>
                </a:cubicBezTo>
                <a:cubicBezTo>
                  <a:pt x="3193902" y="743344"/>
                  <a:pt x="3280144" y="917010"/>
                  <a:pt x="3377609" y="1052870"/>
                </a:cubicBezTo>
                <a:cubicBezTo>
                  <a:pt x="3475074" y="1188730"/>
                  <a:pt x="3593213" y="1338177"/>
                  <a:pt x="3710762" y="1449819"/>
                </a:cubicBezTo>
                <a:cubicBezTo>
                  <a:pt x="3828311" y="1561461"/>
                  <a:pt x="3964172" y="1653019"/>
                  <a:pt x="4082902" y="1722721"/>
                </a:cubicBezTo>
                <a:cubicBezTo>
                  <a:pt x="4201632" y="1792423"/>
                  <a:pt x="4299098" y="1836134"/>
                  <a:pt x="4423144" y="1868032"/>
                </a:cubicBezTo>
                <a:cubicBezTo>
                  <a:pt x="4547190" y="1899930"/>
                  <a:pt x="4742711" y="1905247"/>
                  <a:pt x="4827181" y="1914107"/>
                </a:cubicBezTo>
                <a:cubicBezTo>
                  <a:pt x="4911651" y="1922967"/>
                  <a:pt x="4929962" y="1921195"/>
                  <a:pt x="4929962" y="1921195"/>
                </a:cubicBezTo>
              </a:path>
            </a:pathLst>
          </a:custGeom>
          <a:noFill/>
          <a:ln w="38100">
            <a:solidFill>
              <a:srgbClr val="0B24F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8250346" y="2715434"/>
            <a:ext cx="21506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dirty="0" smtClean="0"/>
              <a:t>Probability</a:t>
            </a:r>
            <a:r>
              <a:rPr lang="zh-CN" altLang="en-US" sz="2000" dirty="0" smtClean="0"/>
              <a:t> </a:t>
            </a:r>
            <a:r>
              <a:rPr lang="en-US" altLang="zh-CN" sz="2000" dirty="0" smtClean="0"/>
              <a:t>Density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11491414" y="5355717"/>
                <a:ext cx="46807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dirty="0" smtClean="0">
                          <a:latin typeface="Cambria Math" charset="0"/>
                          <a:ea typeface="Weibei SC" charset="-122"/>
                          <a:cs typeface="Weibei SC" charset="-122"/>
                        </a:rPr>
                        <m:t>𝑥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91414" y="5355717"/>
                <a:ext cx="468077" cy="52322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1559592" y="5528323"/>
            <a:ext cx="4205103" cy="45719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9156700" y="5531304"/>
                <a:ext cx="47320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dirty="0" smtClean="0">
                          <a:latin typeface="Cambria Math" charset="0"/>
                          <a:ea typeface="Weibei SC" charset="-122"/>
                          <a:cs typeface="Weibei SC" charset="-122"/>
                        </a:rPr>
                        <m:t>𝜇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6700" y="5531304"/>
                <a:ext cx="473206" cy="52322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8623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35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35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35" presetClass="emph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35" presetClass="emph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xit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750"/>
                            </p:stCondLst>
                            <p:childTnLst>
                              <p:par>
                                <p:cTn id="46" presetID="35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35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250"/>
                            </p:stCondLst>
                            <p:childTnLst>
                              <p:par>
                                <p:cTn id="51" presetID="35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35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750"/>
                            </p:stCondLst>
                            <p:childTnLst>
                              <p:par>
                                <p:cTn id="56" presetID="35" presetClass="emph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35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250"/>
                            </p:stCondLst>
                            <p:childTnLst>
                              <p:par>
                                <p:cTn id="61" presetID="35" presetClass="emph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35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xit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9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9" presetClass="exit" presetSubtype="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9" presetClass="entr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9" presetClass="entr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5" grpId="0" animBg="1"/>
      <p:bldP spid="5" grpId="1" animBg="1"/>
      <p:bldP spid="5" grpId="2" animBg="1"/>
      <p:bldP spid="5" grpId="3" animBg="1"/>
      <p:bldP spid="5" grpId="4" animBg="1"/>
      <p:bldP spid="5" grpId="5" animBg="1"/>
      <p:bldP spid="5" grpId="6" animBg="1"/>
      <p:bldP spid="5" grpId="7" animBg="1"/>
      <p:bldP spid="20" grpId="0" animBg="1"/>
      <p:bldP spid="20" grpId="1" animBg="1"/>
      <p:bldP spid="20" grpId="2" animBg="1"/>
      <p:bldP spid="20" grpId="3" animBg="1"/>
      <p:bldP spid="20" grpId="4" animBg="1"/>
      <p:bldP spid="20" grpId="5" animBg="1"/>
      <p:bldP spid="20" grpId="6" animBg="1"/>
      <p:bldP spid="21" grpId="0" animBg="1"/>
      <p:bldP spid="21" grpId="1" animBg="1"/>
      <p:bldP spid="21" grpId="2" animBg="1"/>
      <p:bldP spid="21" grpId="3" animBg="1"/>
      <p:bldP spid="21" grpId="4" animBg="1"/>
      <p:bldP spid="21" grpId="5" animBg="1"/>
      <p:bldP spid="21" grpId="6" animBg="1"/>
      <p:bldP spid="2" grpId="0" animBg="1"/>
      <p:bldP spid="2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89903"/>
            <a:ext cx="10515600" cy="1678565"/>
          </a:xfrm>
        </p:spPr>
        <p:txBody>
          <a:bodyPr/>
          <a:lstStyle/>
          <a:p>
            <a:r>
              <a:rPr lang="en-US" altLang="zh-CN" dirty="0" smtClean="0"/>
              <a:t>PMF </a:t>
            </a:r>
            <a:r>
              <a:rPr lang="en-US" altLang="zh-CN" dirty="0"/>
              <a:t>is a function that gives the probability that a discrete random variable is exactly equal to some </a:t>
            </a:r>
            <a:r>
              <a:rPr lang="en-US" altLang="zh-CN" dirty="0" smtClean="0"/>
              <a:t>value.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Probability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Mass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Function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(PMF)</a:t>
            </a:r>
            <a:endParaRPr lang="en-US" sz="36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683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89903"/>
            <a:ext cx="10515600" cy="1678565"/>
          </a:xfrm>
        </p:spPr>
        <p:txBody>
          <a:bodyPr/>
          <a:lstStyle/>
          <a:p>
            <a:r>
              <a:rPr lang="en-US" altLang="zh-CN" dirty="0" smtClean="0"/>
              <a:t>PMF </a:t>
            </a:r>
            <a:r>
              <a:rPr lang="en-US" altLang="zh-CN" dirty="0"/>
              <a:t>is a function that gives the probability that a discrete random variable is exactly equal to some </a:t>
            </a:r>
            <a:r>
              <a:rPr lang="en-US" altLang="zh-CN" dirty="0" smtClean="0"/>
              <a:t>value.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Probability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Mass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Function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(PMF)</a:t>
            </a:r>
            <a:endParaRPr lang="en-US" sz="36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/>
              <p:cNvSpPr txBox="1">
                <a:spLocks/>
              </p:cNvSpPr>
              <p:nvPr/>
            </p:nvSpPr>
            <p:spPr>
              <a:xfrm>
                <a:off x="770233" y="3579402"/>
                <a:ext cx="6170894" cy="255369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dirty="0" smtClean="0"/>
                  <a:t>Discrete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random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variable: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𝑋</m:t>
                    </m:r>
                    <m:r>
                      <a:rPr lang="en-US" altLang="zh-CN" b="0" i="1" smtClean="0">
                        <a:latin typeface="Cambria Math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1,</m:t>
                        </m:r>
                        <m:r>
                          <a:rPr lang="zh-CN" altLang="en-US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US" altLang="zh-CN" b="0" i="1" smtClean="0">
                            <a:latin typeface="Cambria Math" charset="0"/>
                          </a:rPr>
                          <m:t>3,</m:t>
                        </m:r>
                        <m:r>
                          <a:rPr lang="zh-CN" altLang="en-US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US" altLang="zh-CN" b="0" i="1" smtClean="0">
                            <a:latin typeface="Cambria Math" charset="0"/>
                          </a:rPr>
                          <m:t>7</m:t>
                        </m:r>
                      </m:e>
                    </m:d>
                  </m:oMath>
                </a14:m>
                <a:r>
                  <a:rPr lang="en-US" altLang="zh-CN" dirty="0" smtClean="0"/>
                  <a:t>.</a:t>
                </a:r>
              </a:p>
              <a:p>
                <a:r>
                  <a:rPr lang="en-US" altLang="zh-CN" dirty="0" smtClean="0"/>
                  <a:t>PDF:</a:t>
                </a:r>
                <a:r>
                  <a:rPr lang="zh-CN" altLang="en-US" dirty="0" smtClean="0"/>
                  <a:t>     </a:t>
                </a:r>
                <a:endParaRPr lang="en-US" altLang="zh-CN" sz="2400" dirty="0" smtClean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charset="0"/>
                      </a:rPr>
                      <m:t>𝑝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charset="0"/>
                          </a:rPr>
                          <m:t>1</m:t>
                        </m:r>
                      </m:e>
                    </m:d>
                    <m:r>
                      <a:rPr lang="en-US" altLang="zh-CN" sz="2400" b="0" i="1" smtClean="0">
                        <a:latin typeface="Cambria Math" charset="0"/>
                      </a:rPr>
                      <m:t>=0.2</m:t>
                    </m:r>
                  </m:oMath>
                </a14:m>
                <a:r>
                  <a:rPr lang="en-US" altLang="zh-CN" sz="2400" dirty="0" smtClean="0"/>
                  <a:t>,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charset="0"/>
                      </a:rPr>
                      <m:t>𝑝</m:t>
                    </m:r>
                    <m:d>
                      <m:dPr>
                        <m:ctrlPr>
                          <a:rPr lang="en-US" altLang="zh-CN" sz="24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charset="0"/>
                          </a:rPr>
                          <m:t>3</m:t>
                        </m:r>
                      </m:e>
                    </m:d>
                    <m:r>
                      <a:rPr lang="en-US" altLang="zh-CN" sz="2400" i="1">
                        <a:latin typeface="Cambria Math" charset="0"/>
                      </a:rPr>
                      <m:t>=0.</m:t>
                    </m:r>
                    <m:r>
                      <a:rPr lang="en-US" altLang="zh-CN" sz="2400" b="0" i="1" smtClean="0">
                        <a:latin typeface="Cambria Math" charset="0"/>
                      </a:rPr>
                      <m:t>5</m:t>
                    </m:r>
                  </m:oMath>
                </a14:m>
                <a:r>
                  <a:rPr lang="en-US" altLang="zh-CN" sz="2400" dirty="0" smtClean="0"/>
                  <a:t>,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charset="0"/>
                      </a:rPr>
                      <m:t>𝑝</m:t>
                    </m:r>
                    <m:d>
                      <m:dPr>
                        <m:ctrlPr>
                          <a:rPr lang="en-US" altLang="zh-CN" sz="24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charset="0"/>
                          </a:rPr>
                          <m:t>7</m:t>
                        </m:r>
                      </m:e>
                    </m:d>
                    <m:r>
                      <a:rPr lang="en-US" altLang="zh-CN" sz="2400" i="1">
                        <a:latin typeface="Cambria Math" charset="0"/>
                      </a:rPr>
                      <m:t>=0.</m:t>
                    </m:r>
                    <m:r>
                      <a:rPr lang="en-US" altLang="zh-CN" sz="2400" b="0" i="1" smtClean="0">
                        <a:latin typeface="Cambria Math" charset="0"/>
                      </a:rPr>
                      <m:t>3</m:t>
                    </m:r>
                  </m:oMath>
                </a14:m>
                <a:r>
                  <a:rPr lang="en-US" altLang="zh-CN" sz="2400" dirty="0" smtClean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1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233" y="3579402"/>
                <a:ext cx="6170894" cy="2553699"/>
              </a:xfrm>
              <a:prstGeom prst="rect">
                <a:avLst/>
              </a:prstGeom>
              <a:blipFill rotWithShape="0">
                <a:blip r:embed="rId3"/>
                <a:stretch>
                  <a:fillRect l="-1777" t="-3819" r="-5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770233" y="2888775"/>
            <a:ext cx="6170894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anchor="ctr">
            <a:spAutoFit/>
          </a:bodyPr>
          <a:lstStyle/>
          <a:p>
            <a:pPr algn="ctr"/>
            <a:r>
              <a:rPr lang="en-US" altLang="zh-CN" sz="2800" b="1" dirty="0" smtClean="0"/>
              <a:t>Example</a:t>
            </a:r>
            <a:endParaRPr lang="en-US" altLang="zh-CN" sz="2800" dirty="0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7979746" y="5762731"/>
            <a:ext cx="3601045" cy="0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 flipV="1">
            <a:off x="7994405" y="3274376"/>
            <a:ext cx="699" cy="2489816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 flipV="1">
            <a:off x="8706682" y="5036101"/>
            <a:ext cx="1" cy="726630"/>
          </a:xfrm>
          <a:prstGeom prst="line">
            <a:avLst/>
          </a:prstGeom>
          <a:ln w="38100">
            <a:solidFill>
              <a:srgbClr val="0432FF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 flipV="1">
            <a:off x="10734993" y="4667712"/>
            <a:ext cx="1" cy="1095019"/>
          </a:xfrm>
          <a:prstGeom prst="line">
            <a:avLst/>
          </a:prstGeom>
          <a:ln w="38100">
            <a:solidFill>
              <a:srgbClr val="0432FF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546222" y="5829066"/>
            <a:ext cx="3209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dirty="0" smtClean="0">
                <a:latin typeface="Weibei SC" charset="-122"/>
                <a:ea typeface="Weibei SC" charset="-122"/>
                <a:cs typeface="Weibei SC" charset="-122"/>
              </a:rPr>
              <a:t>1</a:t>
            </a:r>
            <a:endParaRPr lang="en-US" sz="2000" dirty="0"/>
          </a:p>
        </p:txBody>
      </p:sp>
      <p:sp>
        <p:nvSpPr>
          <p:cNvPr id="19" name="TextBox 18"/>
          <p:cNvSpPr txBox="1"/>
          <p:nvPr/>
        </p:nvSpPr>
        <p:spPr>
          <a:xfrm>
            <a:off x="10574533" y="5829066"/>
            <a:ext cx="3209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dirty="0" smtClean="0">
                <a:latin typeface="Weibei SC" charset="-122"/>
                <a:ea typeface="Weibei SC" charset="-122"/>
                <a:cs typeface="Weibei SC" charset="-122"/>
              </a:rPr>
              <a:t>7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11650438" y="5473330"/>
                <a:ext cx="46807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dirty="0" smtClean="0">
                          <a:latin typeface="Cambria Math" charset="0"/>
                          <a:ea typeface="Weibei SC" charset="-122"/>
                          <a:cs typeface="Weibei SC" charset="-122"/>
                        </a:rPr>
                        <m:t>𝑥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50438" y="5473330"/>
                <a:ext cx="468077" cy="52322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>
            <a:off x="7251336" y="2904670"/>
            <a:ext cx="19134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dirty="0" smtClean="0"/>
              <a:t>Probability</a:t>
            </a:r>
            <a:r>
              <a:rPr lang="zh-CN" altLang="en-US" sz="2000" dirty="0" smtClean="0"/>
              <a:t> </a:t>
            </a:r>
            <a:r>
              <a:rPr lang="en-US" altLang="zh-CN" sz="2000" dirty="0" smtClean="0"/>
              <a:t>Mass</a:t>
            </a:r>
            <a:endParaRPr lang="en-US" sz="2000" dirty="0"/>
          </a:p>
        </p:txBody>
      </p:sp>
      <p:cxnSp>
        <p:nvCxnSpPr>
          <p:cNvPr id="22" name="Straight Connector 21"/>
          <p:cNvCxnSpPr/>
          <p:nvPr/>
        </p:nvCxnSpPr>
        <p:spPr>
          <a:xfrm flipH="1" flipV="1">
            <a:off x="9730505" y="3922645"/>
            <a:ext cx="5872" cy="1840086"/>
          </a:xfrm>
          <a:prstGeom prst="line">
            <a:avLst/>
          </a:prstGeom>
          <a:ln w="38100">
            <a:solidFill>
              <a:srgbClr val="0432FF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570045" y="5829066"/>
            <a:ext cx="3209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dirty="0" smtClean="0">
                <a:latin typeface="Weibei SC" charset="-122"/>
                <a:ea typeface="Weibei SC" charset="-122"/>
                <a:cs typeface="Weibei SC" charset="-122"/>
              </a:rPr>
              <a:t>3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8416378" y="4569847"/>
                <a:ext cx="58060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smtClean="0">
                          <a:solidFill>
                            <a:srgbClr val="0B24FB"/>
                          </a:solidFill>
                          <a:latin typeface="Cambria Math" charset="0"/>
                        </a:rPr>
                        <m:t>0.2</m:t>
                      </m:r>
                    </m:oMath>
                  </m:oMathPara>
                </a14:m>
                <a:endParaRPr lang="en-US" sz="2000" dirty="0">
                  <a:solidFill>
                    <a:srgbClr val="0B24FB"/>
                  </a:solidFill>
                </a:endParaRPr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6378" y="4569847"/>
                <a:ext cx="580607" cy="40011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9435998" y="3431694"/>
                <a:ext cx="58060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smtClean="0">
                          <a:solidFill>
                            <a:srgbClr val="0B24FB"/>
                          </a:solidFill>
                          <a:latin typeface="Cambria Math" charset="0"/>
                        </a:rPr>
                        <m:t>0.</m:t>
                      </m:r>
                      <m:r>
                        <a:rPr lang="en-US" altLang="zh-CN" sz="2000" b="0" i="1" smtClean="0">
                          <a:solidFill>
                            <a:srgbClr val="0B24FB"/>
                          </a:solidFill>
                          <a:latin typeface="Cambria Math" charset="0"/>
                        </a:rPr>
                        <m:t>5</m:t>
                      </m:r>
                    </m:oMath>
                  </m:oMathPara>
                </a14:m>
                <a:endParaRPr lang="en-US" sz="2000" dirty="0">
                  <a:solidFill>
                    <a:srgbClr val="0B24FB"/>
                  </a:solidFill>
                </a:endParaRPr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5998" y="3431694"/>
                <a:ext cx="580607" cy="40011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10442082" y="4183633"/>
                <a:ext cx="58060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smtClean="0">
                          <a:solidFill>
                            <a:srgbClr val="0B24FB"/>
                          </a:solidFill>
                          <a:latin typeface="Cambria Math" charset="0"/>
                        </a:rPr>
                        <m:t>0.</m:t>
                      </m:r>
                      <m:r>
                        <a:rPr lang="en-US" altLang="zh-CN" sz="2000" b="0" i="1" smtClean="0">
                          <a:solidFill>
                            <a:srgbClr val="0B24FB"/>
                          </a:solidFill>
                          <a:latin typeface="Cambria Math" charset="0"/>
                        </a:rPr>
                        <m:t>3</m:t>
                      </m:r>
                    </m:oMath>
                  </m:oMathPara>
                </a14:m>
                <a:endParaRPr lang="en-US" sz="2000" dirty="0">
                  <a:solidFill>
                    <a:srgbClr val="0B24FB"/>
                  </a:solidFill>
                </a:endParaRPr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2082" y="4183633"/>
                <a:ext cx="580607" cy="40011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4791882" y="3459518"/>
            <a:ext cx="2149245" cy="724115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2741301" y="4383688"/>
            <a:ext cx="2307778" cy="1845488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96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7" grpId="1" animBg="1"/>
      <p:bldP spid="2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89903"/>
            <a:ext cx="10515600" cy="1678565"/>
          </a:xfrm>
        </p:spPr>
        <p:txBody>
          <a:bodyPr/>
          <a:lstStyle/>
          <a:p>
            <a:r>
              <a:rPr lang="en-US" altLang="zh-CN" dirty="0" smtClean="0"/>
              <a:t>PMF </a:t>
            </a:r>
            <a:r>
              <a:rPr lang="en-US" altLang="zh-CN" dirty="0"/>
              <a:t>is a function that gives the probability that a discrete random variable is exactly equal to some </a:t>
            </a:r>
            <a:r>
              <a:rPr lang="en-US" altLang="zh-CN" dirty="0" smtClean="0"/>
              <a:t>value.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Probability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Mass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Function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(PMF)</a:t>
            </a:r>
            <a:endParaRPr lang="en-US" sz="36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/>
              <p:cNvSpPr txBox="1">
                <a:spLocks/>
              </p:cNvSpPr>
              <p:nvPr/>
            </p:nvSpPr>
            <p:spPr>
              <a:xfrm>
                <a:off x="770233" y="3579402"/>
                <a:ext cx="6170894" cy="255369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dirty="0" smtClean="0"/>
                  <a:t>Discrete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random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variable: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𝑋</m:t>
                    </m:r>
                    <m:r>
                      <a:rPr lang="en-US" altLang="zh-CN" b="0" i="1" smtClean="0">
                        <a:latin typeface="Cambria Math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1,</m:t>
                        </m:r>
                        <m:r>
                          <a:rPr lang="zh-CN" altLang="en-US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US" altLang="zh-CN" b="0" i="1" smtClean="0">
                            <a:latin typeface="Cambria Math" charset="0"/>
                          </a:rPr>
                          <m:t>3,</m:t>
                        </m:r>
                        <m:r>
                          <a:rPr lang="zh-CN" altLang="en-US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US" altLang="zh-CN" b="0" i="1" smtClean="0">
                            <a:latin typeface="Cambria Math" charset="0"/>
                          </a:rPr>
                          <m:t>7</m:t>
                        </m:r>
                      </m:e>
                    </m:d>
                  </m:oMath>
                </a14:m>
                <a:r>
                  <a:rPr lang="en-US" altLang="zh-CN" dirty="0" smtClean="0"/>
                  <a:t>.</a:t>
                </a:r>
              </a:p>
              <a:p>
                <a:r>
                  <a:rPr lang="en-US" altLang="zh-CN" dirty="0" smtClean="0"/>
                  <a:t>PDF:</a:t>
                </a:r>
                <a:r>
                  <a:rPr lang="zh-CN" altLang="en-US" dirty="0" smtClean="0"/>
                  <a:t>     </a:t>
                </a:r>
                <a:endParaRPr lang="en-US" altLang="zh-CN" sz="2400" dirty="0" smtClean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charset="0"/>
                      </a:rPr>
                      <m:t>𝑝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charset="0"/>
                          </a:rPr>
                          <m:t>1</m:t>
                        </m:r>
                      </m:e>
                    </m:d>
                    <m:r>
                      <a:rPr lang="en-US" altLang="zh-CN" sz="2400" b="0" i="1" smtClean="0">
                        <a:latin typeface="Cambria Math" charset="0"/>
                      </a:rPr>
                      <m:t>=0.2</m:t>
                    </m:r>
                  </m:oMath>
                </a14:m>
                <a:r>
                  <a:rPr lang="en-US" altLang="zh-CN" sz="2400" dirty="0" smtClean="0"/>
                  <a:t>,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charset="0"/>
                      </a:rPr>
                      <m:t>𝑝</m:t>
                    </m:r>
                    <m:d>
                      <m:dPr>
                        <m:ctrlPr>
                          <a:rPr lang="en-US" altLang="zh-CN" sz="24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charset="0"/>
                          </a:rPr>
                          <m:t>3</m:t>
                        </m:r>
                      </m:e>
                    </m:d>
                    <m:r>
                      <a:rPr lang="en-US" altLang="zh-CN" sz="2400" i="1">
                        <a:latin typeface="Cambria Math" charset="0"/>
                      </a:rPr>
                      <m:t>=0.</m:t>
                    </m:r>
                    <m:r>
                      <a:rPr lang="en-US" altLang="zh-CN" sz="2400" b="0" i="1" smtClean="0">
                        <a:latin typeface="Cambria Math" charset="0"/>
                      </a:rPr>
                      <m:t>5</m:t>
                    </m:r>
                  </m:oMath>
                </a14:m>
                <a:r>
                  <a:rPr lang="en-US" altLang="zh-CN" sz="2400" dirty="0" smtClean="0"/>
                  <a:t>,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charset="0"/>
                      </a:rPr>
                      <m:t>𝑝</m:t>
                    </m:r>
                    <m:d>
                      <m:dPr>
                        <m:ctrlPr>
                          <a:rPr lang="en-US" altLang="zh-CN" sz="24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charset="0"/>
                          </a:rPr>
                          <m:t>7</m:t>
                        </m:r>
                      </m:e>
                    </m:d>
                    <m:r>
                      <a:rPr lang="en-US" altLang="zh-CN" sz="2400" i="1">
                        <a:latin typeface="Cambria Math" charset="0"/>
                      </a:rPr>
                      <m:t>=0.</m:t>
                    </m:r>
                    <m:r>
                      <a:rPr lang="en-US" altLang="zh-CN" sz="2400" b="0" i="1" smtClean="0">
                        <a:latin typeface="Cambria Math" charset="0"/>
                      </a:rPr>
                      <m:t>3</m:t>
                    </m:r>
                  </m:oMath>
                </a14:m>
                <a:r>
                  <a:rPr lang="en-US" altLang="zh-CN" sz="2400" dirty="0" smtClean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1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233" y="3579402"/>
                <a:ext cx="6170894" cy="2553699"/>
              </a:xfrm>
              <a:prstGeom prst="rect">
                <a:avLst/>
              </a:prstGeom>
              <a:blipFill rotWithShape="0">
                <a:blip r:embed="rId3"/>
                <a:stretch>
                  <a:fillRect l="-1777" t="-3819" r="-5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770233" y="2888775"/>
            <a:ext cx="6170894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anchor="ctr">
            <a:spAutoFit/>
          </a:bodyPr>
          <a:lstStyle/>
          <a:p>
            <a:pPr algn="ctr"/>
            <a:r>
              <a:rPr lang="en-US" altLang="zh-CN" sz="2800" b="1" dirty="0" smtClean="0"/>
              <a:t>Example</a:t>
            </a:r>
            <a:endParaRPr lang="en-US" altLang="zh-CN" sz="2800" dirty="0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7979746" y="5762731"/>
            <a:ext cx="3601045" cy="0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 flipV="1">
            <a:off x="7994405" y="3274376"/>
            <a:ext cx="699" cy="2489816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 flipV="1">
            <a:off x="8706682" y="5036101"/>
            <a:ext cx="1" cy="726630"/>
          </a:xfrm>
          <a:prstGeom prst="line">
            <a:avLst/>
          </a:prstGeom>
          <a:ln w="38100">
            <a:solidFill>
              <a:srgbClr val="0432FF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 flipV="1">
            <a:off x="10734993" y="4667712"/>
            <a:ext cx="1" cy="1095019"/>
          </a:xfrm>
          <a:prstGeom prst="line">
            <a:avLst/>
          </a:prstGeom>
          <a:ln w="38100">
            <a:solidFill>
              <a:srgbClr val="0432FF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546222" y="5829066"/>
            <a:ext cx="3209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dirty="0" smtClean="0">
                <a:latin typeface="Weibei SC" charset="-122"/>
                <a:ea typeface="Weibei SC" charset="-122"/>
                <a:cs typeface="Weibei SC" charset="-122"/>
              </a:rPr>
              <a:t>1</a:t>
            </a:r>
            <a:endParaRPr lang="en-US" sz="2000" dirty="0"/>
          </a:p>
        </p:txBody>
      </p:sp>
      <p:sp>
        <p:nvSpPr>
          <p:cNvPr id="19" name="TextBox 18"/>
          <p:cNvSpPr txBox="1"/>
          <p:nvPr/>
        </p:nvSpPr>
        <p:spPr>
          <a:xfrm>
            <a:off x="10574533" y="5829066"/>
            <a:ext cx="3209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dirty="0" smtClean="0">
                <a:latin typeface="Weibei SC" charset="-122"/>
                <a:ea typeface="Weibei SC" charset="-122"/>
                <a:cs typeface="Weibei SC" charset="-122"/>
              </a:rPr>
              <a:t>7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11650438" y="5473330"/>
                <a:ext cx="46807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dirty="0" smtClean="0">
                          <a:latin typeface="Cambria Math" charset="0"/>
                          <a:ea typeface="Weibei SC" charset="-122"/>
                          <a:cs typeface="Weibei SC" charset="-122"/>
                        </a:rPr>
                        <m:t>𝑥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50438" y="5473330"/>
                <a:ext cx="468077" cy="52322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Connector 21"/>
          <p:cNvCxnSpPr/>
          <p:nvPr/>
        </p:nvCxnSpPr>
        <p:spPr>
          <a:xfrm flipH="1" flipV="1">
            <a:off x="9730505" y="3922645"/>
            <a:ext cx="5872" cy="1840086"/>
          </a:xfrm>
          <a:prstGeom prst="line">
            <a:avLst/>
          </a:prstGeom>
          <a:ln w="38100">
            <a:solidFill>
              <a:srgbClr val="0432FF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570045" y="5829066"/>
            <a:ext cx="3209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dirty="0" smtClean="0">
                <a:latin typeface="Weibei SC" charset="-122"/>
                <a:ea typeface="Weibei SC" charset="-122"/>
                <a:cs typeface="Weibei SC" charset="-122"/>
              </a:rPr>
              <a:t>3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8416378" y="4569847"/>
                <a:ext cx="58060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smtClean="0">
                          <a:solidFill>
                            <a:srgbClr val="0B24FB"/>
                          </a:solidFill>
                          <a:latin typeface="Cambria Math" charset="0"/>
                        </a:rPr>
                        <m:t>0.2</m:t>
                      </m:r>
                    </m:oMath>
                  </m:oMathPara>
                </a14:m>
                <a:endParaRPr lang="en-US" sz="2000" dirty="0">
                  <a:solidFill>
                    <a:srgbClr val="0B24FB"/>
                  </a:solidFill>
                </a:endParaRPr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6378" y="4569847"/>
                <a:ext cx="580607" cy="40011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9435998" y="3431694"/>
                <a:ext cx="58060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smtClean="0">
                          <a:solidFill>
                            <a:srgbClr val="0B24FB"/>
                          </a:solidFill>
                          <a:latin typeface="Cambria Math" charset="0"/>
                        </a:rPr>
                        <m:t>0.</m:t>
                      </m:r>
                      <m:r>
                        <a:rPr lang="en-US" altLang="zh-CN" sz="2000" b="0" i="1" smtClean="0">
                          <a:solidFill>
                            <a:srgbClr val="0B24FB"/>
                          </a:solidFill>
                          <a:latin typeface="Cambria Math" charset="0"/>
                        </a:rPr>
                        <m:t>5</m:t>
                      </m:r>
                    </m:oMath>
                  </m:oMathPara>
                </a14:m>
                <a:endParaRPr lang="en-US" sz="2000" dirty="0">
                  <a:solidFill>
                    <a:srgbClr val="0B24FB"/>
                  </a:solidFill>
                </a:endParaRPr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5998" y="3431694"/>
                <a:ext cx="580607" cy="40011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10442082" y="4183633"/>
                <a:ext cx="58060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smtClean="0">
                          <a:solidFill>
                            <a:srgbClr val="0B24FB"/>
                          </a:solidFill>
                          <a:latin typeface="Cambria Math" charset="0"/>
                        </a:rPr>
                        <m:t>0.</m:t>
                      </m:r>
                      <m:r>
                        <a:rPr lang="en-US" altLang="zh-CN" sz="2000" b="0" i="1" smtClean="0">
                          <a:solidFill>
                            <a:srgbClr val="0B24FB"/>
                          </a:solidFill>
                          <a:latin typeface="Cambria Math" charset="0"/>
                        </a:rPr>
                        <m:t>3</m:t>
                      </m:r>
                    </m:oMath>
                  </m:oMathPara>
                </a14:m>
                <a:endParaRPr lang="en-US" sz="2000" dirty="0">
                  <a:solidFill>
                    <a:srgbClr val="0B24FB"/>
                  </a:solidFill>
                </a:endParaRPr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2082" y="4183633"/>
                <a:ext cx="580607" cy="40011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8290427" y="4295030"/>
            <a:ext cx="757956" cy="2105770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9292891" y="3331938"/>
            <a:ext cx="871137" cy="3068861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10294772" y="3938900"/>
            <a:ext cx="850727" cy="2461900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7251336" y="2904670"/>
            <a:ext cx="19134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dirty="0" smtClean="0"/>
              <a:t>Probability</a:t>
            </a:r>
            <a:r>
              <a:rPr lang="zh-CN" altLang="en-US" sz="2000" dirty="0" smtClean="0"/>
              <a:t> </a:t>
            </a:r>
            <a:r>
              <a:rPr lang="en-US" altLang="zh-CN" sz="2000" dirty="0" smtClean="0"/>
              <a:t>Mass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62378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7" grpId="1" animBg="1"/>
      <p:bldP spid="28" grpId="0" animBg="1"/>
      <p:bldP spid="28" grpId="1" animBg="1"/>
      <p:bldP spid="2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Properties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of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PDF/PMF</a:t>
            </a:r>
            <a:endParaRPr lang="en-US" sz="36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 txBox="1">
                <a:spLocks/>
              </p:cNvSpPr>
              <p:nvPr/>
            </p:nvSpPr>
            <p:spPr>
              <a:xfrm>
                <a:off x="838200" y="1343891"/>
                <a:ext cx="10515600" cy="428105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1600"/>
                  </a:spcBef>
                </a:pPr>
                <a:r>
                  <a:rPr lang="en-US" altLang="zh-CN" dirty="0" smtClean="0"/>
                  <a:t>Random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variable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𝑋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in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domain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charset="0"/>
                      </a:rPr>
                      <m:t>𝒳</m:t>
                    </m:r>
                  </m:oMath>
                </a14:m>
                <a:r>
                  <a:rPr lang="en-US" altLang="zh-CN" dirty="0" smtClean="0"/>
                  <a:t>.</a:t>
                </a:r>
              </a:p>
              <a:p>
                <a:pPr>
                  <a:spcBef>
                    <a:spcPts val="1600"/>
                  </a:spcBef>
                </a:pPr>
                <a:r>
                  <a:rPr lang="en-US" altLang="zh-CN" dirty="0"/>
                  <a:t>For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continuous</a:t>
                </a:r>
                <a:r>
                  <a:rPr lang="zh-CN" altLang="en-US" dirty="0"/>
                  <a:t> </a:t>
                </a:r>
                <a:r>
                  <a:rPr lang="en-US" altLang="zh-CN" dirty="0" smtClean="0"/>
                  <a:t>distributions,</a:t>
                </a:r>
                <a:r>
                  <a:rPr lang="zh-CN" altLang="en-US" dirty="0" smtClean="0"/>
                  <a:t> </a:t>
                </a:r>
                <a:endParaRPr lang="en-US" altLang="zh-CN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nary>
                      <m:naryPr>
                        <m:supHide m:val="on"/>
                        <m:ctrlPr>
                          <a:rPr lang="en-US" altLang="zh-CN" i="1">
                            <a:latin typeface="Cambria Math" charset="0"/>
                          </a:rPr>
                        </m:ctrlPr>
                      </m:naryPr>
                      <m:sub>
                        <m:r>
                          <a:rPr lang="zh-CN" altLang="en-US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𝒳</m:t>
                        </m:r>
                      </m:sub>
                      <m:sup/>
                      <m:e>
                        <m:r>
                          <a:rPr lang="zh-CN" altLang="en-US" i="1"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charset="0"/>
                          </a:rPr>
                          <m:t>𝑝</m:t>
                        </m:r>
                        <m:d>
                          <m:dPr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charset="0"/>
                              </a:rPr>
                              <m:t>𝑥</m:t>
                            </m:r>
                          </m:e>
                        </m:d>
                        <m:r>
                          <a:rPr lang="zh-CN" altLang="en-US" i="1"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charset="0"/>
                          </a:rPr>
                          <m:t>𝑑𝑥</m:t>
                        </m:r>
                      </m:e>
                    </m:nary>
                    <m:r>
                      <a:rPr lang="zh-CN" altLang="en-US" i="1">
                        <a:latin typeface="Cambria Math" charset="0"/>
                      </a:rPr>
                      <m:t>  </m:t>
                    </m:r>
                    <m:r>
                      <a:rPr lang="en-US" altLang="zh-CN" i="1">
                        <a:latin typeface="Cambria Math" charset="0"/>
                      </a:rPr>
                      <m:t>=</m:t>
                    </m:r>
                    <m:r>
                      <a:rPr lang="zh-CN" altLang="en-US" i="1">
                        <a:latin typeface="Cambria Math" charset="0"/>
                      </a:rPr>
                      <m:t>  </m:t>
                    </m:r>
                    <m:r>
                      <a:rPr lang="en-US" altLang="zh-CN" i="1">
                        <a:latin typeface="Cambria Math" charset="0"/>
                      </a:rPr>
                      <m:t>1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>
                  <a:spcBef>
                    <a:spcPts val="2800"/>
                  </a:spcBef>
                </a:pPr>
                <a:r>
                  <a:rPr lang="en-US" altLang="zh-CN" dirty="0"/>
                  <a:t>For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discrete</a:t>
                </a:r>
                <a:r>
                  <a:rPr lang="zh-CN" altLang="en-US" dirty="0"/>
                  <a:t> </a:t>
                </a:r>
                <a:r>
                  <a:rPr lang="en-US" altLang="zh-CN" dirty="0" smtClean="0"/>
                  <a:t>distributions,</a:t>
                </a:r>
                <a:endParaRPr lang="en-US" altLang="zh-CN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zh-CN" i="1">
                            <a:latin typeface="Cambria Math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charset="0"/>
                          </a:rPr>
                          <m:t>∈</m:t>
                        </m:r>
                        <m:r>
                          <a:rPr lang="zh-CN" altLang="en-US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𝒳</m:t>
                        </m:r>
                      </m:sub>
                      <m:sup/>
                      <m:e>
                        <m:r>
                          <a:rPr lang="en-US" altLang="zh-CN" i="1">
                            <a:latin typeface="Cambria Math" charset="0"/>
                          </a:rPr>
                          <m:t>𝑝</m:t>
                        </m:r>
                        <m:d>
                          <m:dPr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charset="0"/>
                              </a:rPr>
                              <m:t>𝑥</m:t>
                            </m:r>
                          </m:e>
                        </m:d>
                      </m:e>
                    </m:nary>
                    <m:r>
                      <a:rPr lang="zh-CN" altLang="en-US" i="1">
                        <a:latin typeface="Cambria Math" charset="0"/>
                      </a:rPr>
                      <m:t>  </m:t>
                    </m:r>
                    <m:r>
                      <a:rPr lang="en-US" altLang="zh-CN" i="1">
                        <a:latin typeface="Cambria Math" charset="0"/>
                      </a:rPr>
                      <m:t>=</m:t>
                    </m:r>
                    <m:r>
                      <a:rPr lang="zh-CN" altLang="en-US" i="1">
                        <a:latin typeface="Cambria Math" charset="0"/>
                      </a:rPr>
                      <m:t>  </m:t>
                    </m:r>
                    <m:r>
                      <a:rPr lang="en-US" altLang="zh-CN" i="1">
                        <a:latin typeface="Cambria Math" charset="0"/>
                      </a:rPr>
                      <m:t>1</m:t>
                    </m:r>
                  </m:oMath>
                </a14:m>
                <a:r>
                  <a:rPr lang="en-US" altLang="zh-CN" dirty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5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343891"/>
                <a:ext cx="10515600" cy="4281055"/>
              </a:xfrm>
              <a:prstGeom prst="rect">
                <a:avLst/>
              </a:prstGeom>
              <a:blipFill rotWithShape="0">
                <a:blip r:embed="rId3"/>
                <a:stretch>
                  <a:fillRect l="-1043" t="-22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6183332" y="1790369"/>
            <a:ext cx="813816" cy="45719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7" name="TextBox 6"/>
          <p:cNvSpPr txBox="1"/>
          <p:nvPr/>
        </p:nvSpPr>
        <p:spPr>
          <a:xfrm flipV="1">
            <a:off x="4745470" y="3030111"/>
            <a:ext cx="2708877" cy="45719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 flipV="1">
            <a:off x="4745470" y="4360710"/>
            <a:ext cx="2708877" cy="45719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05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75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5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75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75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50"/>
                            </p:stCondLst>
                            <p:childTnLst>
                              <p:par>
                                <p:cTn id="3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75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3891"/>
                <a:ext cx="10515600" cy="428105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600"/>
                  </a:spcBef>
                </a:pPr>
                <a:r>
                  <a:rPr lang="en-US" altLang="zh-CN" dirty="0" smtClean="0"/>
                  <a:t>Random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variable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𝑋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in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domain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charset="0"/>
                      </a:rPr>
                      <m:t>𝒳</m:t>
                    </m:r>
                  </m:oMath>
                </a14:m>
                <a:r>
                  <a:rPr lang="en-US" altLang="zh-CN" dirty="0" smtClean="0"/>
                  <a:t>.</a:t>
                </a:r>
              </a:p>
              <a:p>
                <a:pPr>
                  <a:spcBef>
                    <a:spcPts val="2800"/>
                  </a:spcBef>
                </a:pPr>
                <a:r>
                  <a:rPr lang="en-US" altLang="zh-CN" dirty="0"/>
                  <a:t>For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continuous</a:t>
                </a:r>
                <a:r>
                  <a:rPr lang="zh-CN" altLang="en-US" dirty="0"/>
                  <a:t> </a:t>
                </a:r>
                <a:r>
                  <a:rPr lang="en-US" altLang="zh-CN" dirty="0" smtClean="0"/>
                  <a:t>distributions,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the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expectation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of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𝑓</m:t>
                    </m:r>
                    <m:r>
                      <a:rPr lang="en-US" altLang="zh-CN" b="0" i="1" smtClean="0">
                        <a:latin typeface="Cambria Math" charset="0"/>
                      </a:rPr>
                      <m:t>(</m:t>
                    </m:r>
                    <m:r>
                      <a:rPr lang="en-US" altLang="zh-CN" b="0" i="1" smtClean="0">
                        <a:latin typeface="Cambria Math" charset="0"/>
                      </a:rPr>
                      <m:t>𝑋</m:t>
                    </m:r>
                    <m:r>
                      <a:rPr lang="en-US" altLang="zh-CN" b="0" i="1" smtClean="0">
                        <a:latin typeface="Cambria Math" charset="0"/>
                      </a:rPr>
                      <m:t>)</m:t>
                    </m:r>
                  </m:oMath>
                </a14:m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is: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zh-CN" altLang="en-US" i="1">
                        <a:latin typeface="Cambria Math" charset="0"/>
                      </a:rPr>
                      <m:t>𝔼</m:t>
                    </m:r>
                    <m:r>
                      <a:rPr lang="zh-CN" altLang="en-US" b="0" i="1" smtClean="0">
                        <a:latin typeface="Cambria Math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𝑋</m:t>
                            </m:r>
                          </m:e>
                        </m:d>
                      </m:e>
                    </m:d>
                    <m:r>
                      <a:rPr lang="zh-CN" altLang="en-US" b="0" i="1" smtClean="0">
                        <a:latin typeface="Cambria Math" charset="0"/>
                      </a:rPr>
                      <m:t> </m:t>
                    </m:r>
                    <m:r>
                      <a:rPr lang="en-US" altLang="zh-CN" b="0" i="1" smtClean="0">
                        <a:latin typeface="Cambria Math" charset="0"/>
                      </a:rPr>
                      <m:t>=</m:t>
                    </m:r>
                    <m:r>
                      <a:rPr lang="zh-CN" altLang="en-US" b="0" i="1" smtClean="0">
                        <a:latin typeface="Cambria Math" charset="0"/>
                      </a:rPr>
                      <m:t> </m:t>
                    </m:r>
                    <m:nary>
                      <m:naryPr>
                        <m:supHide m:val="on"/>
                        <m:ctrlPr>
                          <a:rPr lang="en-US" altLang="zh-CN" i="1">
                            <a:latin typeface="Cambria Math" charset="0"/>
                          </a:rPr>
                        </m:ctrlPr>
                      </m:naryPr>
                      <m:sub>
                        <m:r>
                          <a:rPr lang="zh-CN" altLang="en-US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𝒳</m:t>
                        </m:r>
                      </m:sub>
                      <m:sup/>
                      <m:e>
                        <m:r>
                          <a:rPr lang="zh-CN" altLang="en-US" i="1"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charset="0"/>
                          </a:rPr>
                          <m:t>𝑝</m:t>
                        </m:r>
                        <m:d>
                          <m:dPr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charset="0"/>
                          </a:rPr>
                          <m:t>⋅</m:t>
                        </m:r>
                        <m:r>
                          <a:rPr lang="en-US" altLang="zh-CN" b="0" i="1" smtClean="0">
                            <a:latin typeface="Cambria Math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𝑥</m:t>
                            </m:r>
                          </m:e>
                        </m:d>
                        <m:r>
                          <a:rPr lang="zh-CN" altLang="en-US" i="1"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US" altLang="zh-CN" dirty="0" smtClean="0"/>
                  <a:t>.</a:t>
                </a:r>
              </a:p>
              <a:p>
                <a:pPr>
                  <a:spcBef>
                    <a:spcPts val="2800"/>
                  </a:spcBef>
                </a:pPr>
                <a:r>
                  <a:rPr lang="en-US" altLang="zh-CN" dirty="0"/>
                  <a:t>For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discrete</a:t>
                </a:r>
                <a:r>
                  <a:rPr lang="zh-CN" altLang="en-US" dirty="0"/>
                  <a:t> </a:t>
                </a:r>
                <a:r>
                  <a:rPr lang="en-US" altLang="zh-CN" dirty="0" smtClean="0"/>
                  <a:t>distributions,</a:t>
                </a:r>
                <a:r>
                  <a:rPr lang="zh-CN" altLang="en-US" dirty="0" smtClean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expectation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of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𝑓</m:t>
                    </m:r>
                    <m:r>
                      <a:rPr lang="en-US" altLang="zh-CN" i="1">
                        <a:latin typeface="Cambria Math" charset="0"/>
                      </a:rPr>
                      <m:t>(</m:t>
                    </m:r>
                    <m:r>
                      <a:rPr lang="en-US" altLang="zh-CN" i="1">
                        <a:latin typeface="Cambria Math" charset="0"/>
                      </a:rPr>
                      <m:t>𝑋</m:t>
                    </m:r>
                    <m:r>
                      <a:rPr lang="en-US" altLang="zh-CN" i="1">
                        <a:latin typeface="Cambria Math" charset="0"/>
                      </a:rPr>
                      <m:t>)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 smtClean="0"/>
                  <a:t>is: </a:t>
                </a:r>
              </a:p>
              <a:p>
                <a:pPr marL="0" indent="0" algn="ctr">
                  <a:spcBef>
                    <a:spcPts val="1600"/>
                  </a:spcBef>
                  <a:buNone/>
                </a:pPr>
                <a14:m>
                  <m:oMath xmlns:m="http://schemas.openxmlformats.org/officeDocument/2006/math">
                    <m:r>
                      <a:rPr lang="zh-CN" altLang="en-US" i="1">
                        <a:latin typeface="Cambria Math" charset="0"/>
                      </a:rPr>
                      <m:t>𝔼</m:t>
                    </m:r>
                    <m:r>
                      <a:rPr lang="zh-CN" altLang="en-US" b="0" i="1" smtClean="0">
                        <a:latin typeface="Cambria Math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charset="0"/>
                              </a:rPr>
                              <m:t>𝑋</m:t>
                            </m:r>
                          </m:e>
                        </m:d>
                      </m:e>
                    </m:d>
                    <m:r>
                      <a:rPr lang="zh-CN" altLang="en-US" b="0" i="1" smtClean="0">
                        <a:latin typeface="Cambria Math" charset="0"/>
                      </a:rPr>
                      <m:t> </m:t>
                    </m:r>
                    <m:r>
                      <a:rPr lang="en-US" altLang="zh-CN" b="0" i="1" smtClean="0">
                        <a:latin typeface="Cambria Math" charset="0"/>
                      </a:rPr>
                      <m:t>=</m:t>
                    </m:r>
                    <m:r>
                      <a:rPr lang="zh-CN" altLang="en-US" b="0" i="1" smtClean="0">
                        <a:latin typeface="Cambria Math" charset="0"/>
                      </a:rPr>
                      <m:t> 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naryPr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charset="0"/>
                          </a:rPr>
                          <m:t>∈</m:t>
                        </m:r>
                        <m:r>
                          <a:rPr lang="zh-CN" altLang="en-US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𝒳</m:t>
                        </m:r>
                      </m:sub>
                      <m:sup/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𝑝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𝑥</m:t>
                            </m:r>
                          </m:e>
                        </m:d>
                      </m:e>
                    </m:nary>
                    <m:r>
                      <a:rPr lang="en-US" altLang="zh-CN" b="0" i="1" smtClean="0">
                        <a:latin typeface="Cambria Math" charset="0"/>
                      </a:rPr>
                      <m:t>⋅</m:t>
                    </m:r>
                    <m:r>
                      <a:rPr lang="en-US" altLang="zh-CN" b="0" i="1" smtClean="0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𝑥</m:t>
                        </m:r>
                      </m:e>
                    </m:d>
                    <m:r>
                      <a:rPr lang="zh-CN" altLang="en-US" b="0" i="1" smtClean="0">
                        <a:latin typeface="Cambria Math" charset="0"/>
                      </a:rPr>
                      <m:t> </m:t>
                    </m:r>
                  </m:oMath>
                </a14:m>
                <a:r>
                  <a:rPr lang="en-US" altLang="zh-CN" dirty="0" smtClean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3891"/>
                <a:ext cx="10515600" cy="4281055"/>
              </a:xfrm>
              <a:blipFill rotWithShape="0">
                <a:blip r:embed="rId3"/>
                <a:stretch>
                  <a:fillRect l="-1043" t="-22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Expectation</a:t>
            </a:r>
            <a:endParaRPr lang="en-US" sz="3600" dirty="0">
              <a:solidFill>
                <a:srgbClr val="0070C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797941" y="3142091"/>
            <a:ext cx="1330650" cy="45719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530065" y="3167932"/>
            <a:ext cx="2838682" cy="45719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530065" y="4552784"/>
            <a:ext cx="2838682" cy="45719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102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61012"/>
            <a:ext cx="10515600" cy="2305502"/>
          </a:xfrm>
        </p:spPr>
        <p:txBody>
          <a:bodyPr>
            <a:normAutofit/>
          </a:bodyPr>
          <a:lstStyle/>
          <a:p>
            <a:pPr>
              <a:spcBef>
                <a:spcPts val="1600"/>
              </a:spcBef>
            </a:pPr>
            <a:r>
              <a:rPr lang="en-US" altLang="zh-CN" dirty="0" smtClean="0"/>
              <a:t>There</a:t>
            </a:r>
            <a:r>
              <a:rPr lang="zh-CN" altLang="en-US" dirty="0" smtClean="0"/>
              <a:t> </a:t>
            </a:r>
            <a:r>
              <a:rPr lang="en-US" altLang="zh-CN" dirty="0" smtClean="0"/>
              <a:t>are</a:t>
            </a:r>
            <a:r>
              <a:rPr lang="zh-CN" altLang="en-US" dirty="0" smtClean="0"/>
              <a:t> </a:t>
            </a:r>
            <a:r>
              <a:rPr lang="en-US" altLang="zh-CN" dirty="0" smtClean="0"/>
              <a:t>10</a:t>
            </a:r>
            <a:r>
              <a:rPr lang="zh-CN" altLang="en-US" dirty="0" smtClean="0"/>
              <a:t> </a:t>
            </a:r>
            <a:r>
              <a:rPr lang="en-US" altLang="zh-CN" dirty="0" smtClean="0"/>
              <a:t>balls</a:t>
            </a:r>
            <a:r>
              <a:rPr lang="zh-CN" altLang="en-US" dirty="0" smtClean="0"/>
              <a:t> </a:t>
            </a:r>
            <a:r>
              <a:rPr lang="en-US" altLang="zh-CN" dirty="0" smtClean="0"/>
              <a:t>in</a:t>
            </a:r>
            <a:r>
              <a:rPr lang="zh-CN" altLang="en-US" dirty="0" smtClean="0"/>
              <a:t> </a:t>
            </a:r>
            <a:r>
              <a:rPr lang="en-US" altLang="zh-CN" dirty="0" smtClean="0"/>
              <a:t>the</a:t>
            </a:r>
            <a:r>
              <a:rPr lang="zh-CN" altLang="en-US" dirty="0" smtClean="0"/>
              <a:t> </a:t>
            </a:r>
            <a:r>
              <a:rPr lang="en-US" altLang="zh-CN" dirty="0" smtClean="0"/>
              <a:t>bin:</a:t>
            </a:r>
            <a:r>
              <a:rPr lang="zh-CN" altLang="en-US" dirty="0" smtClean="0"/>
              <a:t> </a:t>
            </a:r>
            <a:r>
              <a:rPr lang="en-US" altLang="zh-CN" dirty="0" smtClean="0">
                <a:solidFill>
                  <a:srgbClr val="FF0000"/>
                </a:solidFill>
              </a:rPr>
              <a:t>2</a:t>
            </a:r>
            <a:r>
              <a:rPr lang="zh-CN" altLang="en-US" dirty="0" smtClean="0">
                <a:solidFill>
                  <a:srgbClr val="FF0000"/>
                </a:solidFill>
              </a:rPr>
              <a:t> </a:t>
            </a:r>
            <a:r>
              <a:rPr lang="en-US" altLang="zh-CN" dirty="0" smtClean="0">
                <a:solidFill>
                  <a:srgbClr val="FF0000"/>
                </a:solidFill>
              </a:rPr>
              <a:t>are</a:t>
            </a:r>
            <a:r>
              <a:rPr lang="zh-CN" altLang="en-US" dirty="0" smtClean="0">
                <a:solidFill>
                  <a:srgbClr val="FF0000"/>
                </a:solidFill>
              </a:rPr>
              <a:t> </a:t>
            </a:r>
            <a:r>
              <a:rPr lang="en-US" altLang="zh-CN" dirty="0" smtClean="0">
                <a:solidFill>
                  <a:srgbClr val="FF0000"/>
                </a:solidFill>
              </a:rPr>
              <a:t>red</a:t>
            </a:r>
            <a:r>
              <a:rPr lang="en-US" altLang="zh-CN" dirty="0" smtClean="0"/>
              <a:t>,</a:t>
            </a:r>
            <a:r>
              <a:rPr lang="zh-CN" altLang="en-US" dirty="0" smtClean="0"/>
              <a:t> </a:t>
            </a:r>
            <a:r>
              <a:rPr lang="en-US" altLang="zh-CN" dirty="0" smtClean="0">
                <a:solidFill>
                  <a:schemeClr val="accent6">
                    <a:lumMod val="75000"/>
                  </a:schemeClr>
                </a:solidFill>
              </a:rPr>
              <a:t>5</a:t>
            </a:r>
            <a:r>
              <a:rPr lang="zh-CN" altLang="en-US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altLang="zh-CN" dirty="0" smtClean="0">
                <a:solidFill>
                  <a:schemeClr val="accent6">
                    <a:lumMod val="75000"/>
                  </a:schemeClr>
                </a:solidFill>
              </a:rPr>
              <a:t>are</a:t>
            </a:r>
            <a:r>
              <a:rPr lang="zh-CN" altLang="en-US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altLang="zh-CN" dirty="0" smtClean="0">
                <a:solidFill>
                  <a:schemeClr val="accent6">
                    <a:lumMod val="75000"/>
                  </a:schemeClr>
                </a:solidFill>
              </a:rPr>
              <a:t>green</a:t>
            </a:r>
            <a:r>
              <a:rPr lang="en-US" altLang="zh-CN" dirty="0" smtClean="0"/>
              <a:t>,</a:t>
            </a:r>
            <a:r>
              <a:rPr lang="zh-CN" altLang="en-US" dirty="0" smtClean="0"/>
              <a:t> </a:t>
            </a:r>
            <a:r>
              <a:rPr lang="en-US" altLang="zh-CN" dirty="0" smtClean="0"/>
              <a:t>and</a:t>
            </a:r>
            <a:r>
              <a:rPr lang="zh-CN" altLang="en-US" dirty="0" smtClean="0"/>
              <a:t> </a:t>
            </a:r>
            <a:r>
              <a:rPr lang="en-US" altLang="zh-CN" dirty="0" smtClean="0">
                <a:solidFill>
                  <a:srgbClr val="0B24FB"/>
                </a:solidFill>
              </a:rPr>
              <a:t>3</a:t>
            </a:r>
            <a:r>
              <a:rPr lang="zh-CN" altLang="en-US" dirty="0" smtClean="0">
                <a:solidFill>
                  <a:srgbClr val="0B24FB"/>
                </a:solidFill>
              </a:rPr>
              <a:t> </a:t>
            </a:r>
            <a:r>
              <a:rPr lang="en-US" altLang="zh-CN" dirty="0" smtClean="0">
                <a:solidFill>
                  <a:srgbClr val="0B24FB"/>
                </a:solidFill>
              </a:rPr>
              <a:t>are</a:t>
            </a:r>
            <a:r>
              <a:rPr lang="zh-CN" altLang="en-US" dirty="0" smtClean="0">
                <a:solidFill>
                  <a:srgbClr val="0B24FB"/>
                </a:solidFill>
              </a:rPr>
              <a:t> </a:t>
            </a:r>
            <a:r>
              <a:rPr lang="en-US" altLang="zh-CN" dirty="0" smtClean="0">
                <a:solidFill>
                  <a:srgbClr val="0B24FB"/>
                </a:solidFill>
              </a:rPr>
              <a:t>blue</a:t>
            </a:r>
            <a:r>
              <a:rPr lang="en-US" altLang="zh-CN" dirty="0" smtClean="0"/>
              <a:t>.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Random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Sampling</a:t>
            </a:r>
            <a:endParaRPr lang="en-US" sz="3600" dirty="0">
              <a:solidFill>
                <a:srgbClr val="0070C0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25974" y="3703470"/>
            <a:ext cx="7283248" cy="2315120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88"/>
          </a:p>
        </p:txBody>
      </p:sp>
      <p:sp>
        <p:nvSpPr>
          <p:cNvPr id="19" name="Oval 18"/>
          <p:cNvSpPr/>
          <p:nvPr/>
        </p:nvSpPr>
        <p:spPr>
          <a:xfrm>
            <a:off x="2401072" y="3995524"/>
            <a:ext cx="741861" cy="741861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88"/>
          </a:p>
        </p:txBody>
      </p:sp>
      <p:sp>
        <p:nvSpPr>
          <p:cNvPr id="20" name="Oval 19"/>
          <p:cNvSpPr/>
          <p:nvPr/>
        </p:nvSpPr>
        <p:spPr>
          <a:xfrm>
            <a:off x="1055915" y="3995524"/>
            <a:ext cx="741861" cy="74186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88"/>
          </a:p>
        </p:txBody>
      </p:sp>
      <p:sp>
        <p:nvSpPr>
          <p:cNvPr id="21" name="Oval 20"/>
          <p:cNvSpPr/>
          <p:nvPr/>
        </p:nvSpPr>
        <p:spPr>
          <a:xfrm>
            <a:off x="1055915" y="5077404"/>
            <a:ext cx="741861" cy="74186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88"/>
          </a:p>
        </p:txBody>
      </p:sp>
      <p:sp>
        <p:nvSpPr>
          <p:cNvPr id="22" name="Oval 21"/>
          <p:cNvSpPr/>
          <p:nvPr/>
        </p:nvSpPr>
        <p:spPr>
          <a:xfrm>
            <a:off x="5091387" y="3995524"/>
            <a:ext cx="741861" cy="741861"/>
          </a:xfrm>
          <a:prstGeom prst="ellipse">
            <a:avLst/>
          </a:prstGeom>
          <a:solidFill>
            <a:srgbClr val="0B24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88"/>
          </a:p>
        </p:txBody>
      </p:sp>
      <p:sp>
        <p:nvSpPr>
          <p:cNvPr id="23" name="Oval 22"/>
          <p:cNvSpPr/>
          <p:nvPr/>
        </p:nvSpPr>
        <p:spPr>
          <a:xfrm>
            <a:off x="2401072" y="5077404"/>
            <a:ext cx="741861" cy="741861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88"/>
          </a:p>
        </p:txBody>
      </p:sp>
      <p:sp>
        <p:nvSpPr>
          <p:cNvPr id="24" name="Oval 23"/>
          <p:cNvSpPr/>
          <p:nvPr/>
        </p:nvSpPr>
        <p:spPr>
          <a:xfrm>
            <a:off x="3746230" y="3995524"/>
            <a:ext cx="741861" cy="741861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88"/>
          </a:p>
        </p:txBody>
      </p:sp>
      <p:sp>
        <p:nvSpPr>
          <p:cNvPr id="25" name="Oval 24"/>
          <p:cNvSpPr/>
          <p:nvPr/>
        </p:nvSpPr>
        <p:spPr>
          <a:xfrm>
            <a:off x="3746230" y="5077404"/>
            <a:ext cx="741861" cy="741861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88"/>
          </a:p>
        </p:txBody>
      </p:sp>
      <p:sp>
        <p:nvSpPr>
          <p:cNvPr id="26" name="Oval 25"/>
          <p:cNvSpPr/>
          <p:nvPr/>
        </p:nvSpPr>
        <p:spPr>
          <a:xfrm>
            <a:off x="5091387" y="5077404"/>
            <a:ext cx="741861" cy="741861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88"/>
          </a:p>
        </p:txBody>
      </p:sp>
      <p:sp>
        <p:nvSpPr>
          <p:cNvPr id="27" name="Oval 26"/>
          <p:cNvSpPr/>
          <p:nvPr/>
        </p:nvSpPr>
        <p:spPr>
          <a:xfrm>
            <a:off x="6436544" y="3995524"/>
            <a:ext cx="741861" cy="741861"/>
          </a:xfrm>
          <a:prstGeom prst="ellipse">
            <a:avLst/>
          </a:prstGeom>
          <a:solidFill>
            <a:srgbClr val="0B24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88"/>
          </a:p>
        </p:txBody>
      </p:sp>
      <p:sp>
        <p:nvSpPr>
          <p:cNvPr id="28" name="Oval 27"/>
          <p:cNvSpPr/>
          <p:nvPr/>
        </p:nvSpPr>
        <p:spPr>
          <a:xfrm>
            <a:off x="6455731" y="5077404"/>
            <a:ext cx="741861" cy="741861"/>
          </a:xfrm>
          <a:prstGeom prst="ellipse">
            <a:avLst/>
          </a:prstGeom>
          <a:solidFill>
            <a:srgbClr val="0B24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88"/>
          </a:p>
        </p:txBody>
      </p:sp>
      <p:sp>
        <p:nvSpPr>
          <p:cNvPr id="30" name="Oval 29"/>
          <p:cNvSpPr/>
          <p:nvPr/>
        </p:nvSpPr>
        <p:spPr>
          <a:xfrm>
            <a:off x="9914818" y="4164695"/>
            <a:ext cx="741861" cy="741861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88"/>
          </a:p>
        </p:txBody>
      </p:sp>
      <p:grpSp>
        <p:nvGrpSpPr>
          <p:cNvPr id="34" name="Group 33"/>
          <p:cNvGrpSpPr/>
          <p:nvPr/>
        </p:nvGrpSpPr>
        <p:grpSpPr>
          <a:xfrm>
            <a:off x="3998315" y="2428163"/>
            <a:ext cx="5916505" cy="1688147"/>
            <a:chOff x="3998315" y="2428163"/>
            <a:chExt cx="5916505" cy="1688147"/>
          </a:xfrm>
        </p:grpSpPr>
        <p:sp>
          <p:nvSpPr>
            <p:cNvPr id="29" name="Freeform 28"/>
            <p:cNvSpPr/>
            <p:nvPr/>
          </p:nvSpPr>
          <p:spPr>
            <a:xfrm>
              <a:off x="3998315" y="2918134"/>
              <a:ext cx="5916505" cy="1198176"/>
            </a:xfrm>
            <a:custGeom>
              <a:avLst/>
              <a:gdLst>
                <a:gd name="connsiteX0" fmla="*/ 0 w 6953250"/>
                <a:gd name="connsiteY0" fmla="*/ 1146172 h 1908172"/>
                <a:gd name="connsiteX1" fmla="*/ 3695700 w 6953250"/>
                <a:gd name="connsiteY1" fmla="*/ 3172 h 1908172"/>
                <a:gd name="connsiteX2" fmla="*/ 5905500 w 6953250"/>
                <a:gd name="connsiteY2" fmla="*/ 841372 h 1908172"/>
                <a:gd name="connsiteX3" fmla="*/ 6953250 w 6953250"/>
                <a:gd name="connsiteY3" fmla="*/ 1908172 h 1908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53250" h="1908172">
                  <a:moveTo>
                    <a:pt x="0" y="1146172"/>
                  </a:moveTo>
                  <a:cubicBezTo>
                    <a:pt x="1355725" y="600072"/>
                    <a:pt x="2711450" y="53972"/>
                    <a:pt x="3695700" y="3172"/>
                  </a:cubicBezTo>
                  <a:cubicBezTo>
                    <a:pt x="4679950" y="-47628"/>
                    <a:pt x="5362575" y="523872"/>
                    <a:pt x="5905500" y="841372"/>
                  </a:cubicBezTo>
                  <a:cubicBezTo>
                    <a:pt x="6448425" y="1158872"/>
                    <a:pt x="6953250" y="1908172"/>
                    <a:pt x="6953250" y="1908172"/>
                  </a:cubicBezTo>
                </a:path>
              </a:pathLst>
            </a:custGeom>
            <a:noFill/>
            <a:ln w="57150">
              <a:solidFill>
                <a:schemeClr val="tx1">
                  <a:lumMod val="50000"/>
                  <a:lumOff val="50000"/>
                </a:schemeClr>
              </a:solidFill>
              <a:tailEnd type="stealth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3140" tIns="41570" rIns="83140" bIns="415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88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072224" y="2428163"/>
              <a:ext cx="2427395" cy="5400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800" dirty="0" smtClean="0">
                  <a:latin typeface="Abadi MT Condensed Light" charset="0"/>
                  <a:ea typeface="Abadi MT Condensed Light" charset="0"/>
                  <a:cs typeface="Abadi MT Condensed Light" charset="0"/>
                </a:rPr>
                <a:t>Random</a:t>
              </a:r>
              <a:r>
                <a:rPr lang="zh-CN" altLang="en-US" sz="2800" dirty="0" smtClean="0">
                  <a:latin typeface="Abadi MT Condensed Light" charset="0"/>
                  <a:ea typeface="Abadi MT Condensed Light" charset="0"/>
                  <a:cs typeface="Abadi MT Condensed Light" charset="0"/>
                </a:rPr>
                <a:t> </a:t>
              </a:r>
              <a:r>
                <a:rPr lang="en-US" altLang="zh-CN" sz="2800" dirty="0" smtClean="0">
                  <a:latin typeface="Abadi MT Condensed Light" charset="0"/>
                  <a:ea typeface="Abadi MT Condensed Light" charset="0"/>
                  <a:cs typeface="Abadi MT Condensed Light" charset="0"/>
                </a:rPr>
                <a:t>Sampling</a:t>
              </a:r>
              <a:endParaRPr lang="en-US" sz="2800" dirty="0">
                <a:latin typeface="Abadi MT Condensed Light" charset="0"/>
                <a:ea typeface="Abadi MT Condensed Light" charset="0"/>
                <a:cs typeface="Abadi MT Condensed Light" charset="0"/>
              </a:endParaRP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9122613" y="5077404"/>
            <a:ext cx="23262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800" dirty="0" smtClean="0">
                <a:latin typeface="Abadi MT Condensed Light" charset="0"/>
                <a:ea typeface="Abadi MT Condensed Light" charset="0"/>
                <a:cs typeface="Abadi MT Condensed Light" charset="0"/>
              </a:rPr>
              <a:t>What</a:t>
            </a:r>
            <a:r>
              <a:rPr lang="zh-CN" altLang="en-US" sz="2800" dirty="0" smtClean="0">
                <a:latin typeface="Abadi MT Condensed Light" charset="0"/>
                <a:ea typeface="Abadi MT Condensed Light" charset="0"/>
                <a:cs typeface="Abadi MT Condensed Light" charset="0"/>
              </a:rPr>
              <a:t> </a:t>
            </a:r>
            <a:r>
              <a:rPr lang="en-US" altLang="zh-CN" sz="2800" dirty="0" smtClean="0">
                <a:latin typeface="Abadi MT Condensed Light" charset="0"/>
                <a:ea typeface="Abadi MT Condensed Light" charset="0"/>
                <a:cs typeface="Abadi MT Condensed Light" charset="0"/>
              </a:rPr>
              <a:t>is</a:t>
            </a:r>
            <a:r>
              <a:rPr lang="zh-CN" altLang="en-US" sz="2800" dirty="0" smtClean="0">
                <a:latin typeface="Abadi MT Condensed Light" charset="0"/>
                <a:ea typeface="Abadi MT Condensed Light" charset="0"/>
                <a:cs typeface="Abadi MT Condensed Light" charset="0"/>
              </a:rPr>
              <a:t> </a:t>
            </a:r>
            <a:r>
              <a:rPr lang="en-US" altLang="zh-CN" sz="2800" dirty="0" smtClean="0">
                <a:latin typeface="Abadi MT Condensed Light" charset="0"/>
                <a:ea typeface="Abadi MT Condensed Light" charset="0"/>
                <a:cs typeface="Abadi MT Condensed Light" charset="0"/>
              </a:rPr>
              <a:t>the</a:t>
            </a:r>
            <a:r>
              <a:rPr lang="zh-CN" altLang="en-US" sz="2800" dirty="0" smtClean="0">
                <a:latin typeface="Abadi MT Condensed Light" charset="0"/>
                <a:ea typeface="Abadi MT Condensed Light" charset="0"/>
                <a:cs typeface="Abadi MT Condensed Light" charset="0"/>
              </a:rPr>
              <a:t> </a:t>
            </a:r>
            <a:r>
              <a:rPr lang="en-US" altLang="zh-CN" sz="2800" dirty="0" smtClean="0">
                <a:latin typeface="Abadi MT Condensed Light" charset="0"/>
                <a:ea typeface="Abadi MT Condensed Light" charset="0"/>
                <a:cs typeface="Abadi MT Condensed Light" charset="0"/>
              </a:rPr>
              <a:t>color?</a:t>
            </a:r>
            <a:endParaRPr lang="en-US" sz="2800" dirty="0">
              <a:latin typeface="Abadi MT Condensed Light" charset="0"/>
              <a:ea typeface="Abadi MT Condensed Light" charset="0"/>
              <a:cs typeface="Abadi MT Condensed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485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Random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Sampling</a:t>
            </a:r>
            <a:endParaRPr lang="en-US" sz="3600" dirty="0">
              <a:solidFill>
                <a:srgbClr val="0070C0"/>
              </a:solidFill>
            </a:endParaRPr>
          </a:p>
        </p:txBody>
      </p:sp>
      <p:sp>
        <p:nvSpPr>
          <p:cNvPr id="21" name="Content Placeholder 2"/>
          <p:cNvSpPr txBox="1">
            <a:spLocks/>
          </p:cNvSpPr>
          <p:nvPr/>
        </p:nvSpPr>
        <p:spPr>
          <a:xfrm>
            <a:off x="838200" y="1161012"/>
            <a:ext cx="10515600" cy="2305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600"/>
              </a:spcBef>
            </a:pPr>
            <a:r>
              <a:rPr lang="en-US" altLang="zh-CN" dirty="0" smtClean="0"/>
              <a:t>Sample</a:t>
            </a:r>
            <a:r>
              <a:rPr lang="zh-CN" altLang="en-US" dirty="0" smtClean="0"/>
              <a:t> </a:t>
            </a:r>
            <a:r>
              <a:rPr lang="en-US" altLang="zh-CN" dirty="0" smtClean="0">
                <a:solidFill>
                  <a:srgbClr val="FF0000"/>
                </a:solidFill>
              </a:rPr>
              <a:t>red</a:t>
            </a:r>
            <a:r>
              <a:rPr lang="zh-CN" altLang="en-US" dirty="0" smtClean="0">
                <a:solidFill>
                  <a:srgbClr val="FF0000"/>
                </a:solidFill>
              </a:rPr>
              <a:t> </a:t>
            </a:r>
            <a:r>
              <a:rPr lang="en-US" altLang="zh-CN" dirty="0" smtClean="0">
                <a:solidFill>
                  <a:srgbClr val="FF0000"/>
                </a:solidFill>
              </a:rPr>
              <a:t>ball</a:t>
            </a:r>
            <a:r>
              <a:rPr lang="zh-CN" altLang="en-US" dirty="0" smtClean="0">
                <a:solidFill>
                  <a:srgbClr val="FF0000"/>
                </a:solidFill>
              </a:rPr>
              <a:t> </a:t>
            </a:r>
            <a:r>
              <a:rPr lang="en-US" altLang="zh-CN" dirty="0" err="1" smtClean="0">
                <a:solidFill>
                  <a:srgbClr val="FF0000"/>
                </a:solidFill>
              </a:rPr>
              <a:t>w.p</a:t>
            </a:r>
            <a:r>
              <a:rPr lang="en-US" altLang="zh-CN" dirty="0" smtClean="0">
                <a:solidFill>
                  <a:srgbClr val="FF0000"/>
                </a:solidFill>
              </a:rPr>
              <a:t>.</a:t>
            </a:r>
            <a:r>
              <a:rPr lang="zh-CN" altLang="en-US" dirty="0" smtClean="0">
                <a:solidFill>
                  <a:srgbClr val="FF0000"/>
                </a:solidFill>
              </a:rPr>
              <a:t> </a:t>
            </a:r>
            <a:r>
              <a:rPr lang="en-US" altLang="zh-CN" dirty="0" smtClean="0">
                <a:solidFill>
                  <a:srgbClr val="FF0000"/>
                </a:solidFill>
              </a:rPr>
              <a:t>0.2</a:t>
            </a:r>
            <a:r>
              <a:rPr lang="en-US" altLang="zh-CN" dirty="0" smtClean="0"/>
              <a:t>,</a:t>
            </a:r>
            <a:r>
              <a:rPr lang="zh-CN" altLang="en-US" dirty="0" smtClean="0"/>
              <a:t> </a:t>
            </a:r>
            <a:r>
              <a:rPr lang="en-US" altLang="zh-CN" dirty="0" smtClean="0">
                <a:solidFill>
                  <a:schemeClr val="accent6">
                    <a:lumMod val="75000"/>
                  </a:schemeClr>
                </a:solidFill>
              </a:rPr>
              <a:t>green</a:t>
            </a:r>
            <a:r>
              <a:rPr lang="zh-CN" altLang="en-US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altLang="zh-CN" dirty="0" smtClean="0">
                <a:solidFill>
                  <a:schemeClr val="accent6">
                    <a:lumMod val="75000"/>
                  </a:schemeClr>
                </a:solidFill>
              </a:rPr>
              <a:t>ball</a:t>
            </a:r>
            <a:r>
              <a:rPr lang="zh-CN" altLang="en-US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altLang="zh-CN" dirty="0" err="1" smtClean="0">
                <a:solidFill>
                  <a:schemeClr val="accent6">
                    <a:lumMod val="75000"/>
                  </a:schemeClr>
                </a:solidFill>
              </a:rPr>
              <a:t>w.p</a:t>
            </a:r>
            <a:r>
              <a:rPr lang="en-US" altLang="zh-CN" dirty="0" smtClean="0">
                <a:solidFill>
                  <a:schemeClr val="accent6">
                    <a:lumMod val="75000"/>
                  </a:schemeClr>
                </a:solidFill>
              </a:rPr>
              <a:t>.</a:t>
            </a:r>
            <a:r>
              <a:rPr lang="zh-CN" altLang="en-US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altLang="zh-CN" dirty="0" smtClean="0">
                <a:solidFill>
                  <a:schemeClr val="accent6">
                    <a:lumMod val="75000"/>
                  </a:schemeClr>
                </a:solidFill>
              </a:rPr>
              <a:t>0.5</a:t>
            </a:r>
            <a:r>
              <a:rPr lang="en-US" altLang="zh-CN" dirty="0" smtClean="0"/>
              <a:t>,</a:t>
            </a:r>
            <a:r>
              <a:rPr lang="zh-CN" altLang="en-US" dirty="0" smtClean="0"/>
              <a:t> </a:t>
            </a:r>
            <a:r>
              <a:rPr lang="en-US" altLang="zh-CN" dirty="0" smtClean="0"/>
              <a:t>and</a:t>
            </a:r>
            <a:r>
              <a:rPr lang="zh-CN" altLang="en-US" dirty="0" smtClean="0"/>
              <a:t> </a:t>
            </a:r>
            <a:r>
              <a:rPr lang="en-US" altLang="zh-CN" dirty="0" smtClean="0">
                <a:solidFill>
                  <a:srgbClr val="0B24FB"/>
                </a:solidFill>
              </a:rPr>
              <a:t>blue</a:t>
            </a:r>
            <a:r>
              <a:rPr lang="zh-CN" altLang="en-US" dirty="0" smtClean="0">
                <a:solidFill>
                  <a:srgbClr val="0B24FB"/>
                </a:solidFill>
              </a:rPr>
              <a:t> </a:t>
            </a:r>
            <a:r>
              <a:rPr lang="en-US" altLang="zh-CN" dirty="0" smtClean="0">
                <a:solidFill>
                  <a:srgbClr val="0B24FB"/>
                </a:solidFill>
              </a:rPr>
              <a:t>ball</a:t>
            </a:r>
            <a:r>
              <a:rPr lang="zh-CN" altLang="en-US" dirty="0" smtClean="0">
                <a:solidFill>
                  <a:srgbClr val="0B24FB"/>
                </a:solidFill>
              </a:rPr>
              <a:t> </a:t>
            </a:r>
            <a:r>
              <a:rPr lang="en-US" altLang="zh-CN" dirty="0" err="1" smtClean="0">
                <a:solidFill>
                  <a:srgbClr val="0B24FB"/>
                </a:solidFill>
              </a:rPr>
              <a:t>w.p</a:t>
            </a:r>
            <a:r>
              <a:rPr lang="en-US" altLang="zh-CN" dirty="0" smtClean="0">
                <a:solidFill>
                  <a:srgbClr val="0B24FB"/>
                </a:solidFill>
              </a:rPr>
              <a:t>.</a:t>
            </a:r>
            <a:r>
              <a:rPr lang="zh-CN" altLang="en-US" dirty="0" smtClean="0">
                <a:solidFill>
                  <a:srgbClr val="0B24FB"/>
                </a:solidFill>
              </a:rPr>
              <a:t> </a:t>
            </a:r>
            <a:r>
              <a:rPr lang="en-US" altLang="zh-CN" dirty="0" smtClean="0">
                <a:solidFill>
                  <a:srgbClr val="0B24FB"/>
                </a:solidFill>
              </a:rPr>
              <a:t>0.3</a:t>
            </a:r>
            <a:r>
              <a:rPr lang="en-US" altLang="zh-CN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4776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Random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Sampling</a:t>
            </a:r>
            <a:endParaRPr lang="en-US" sz="3600" dirty="0">
              <a:solidFill>
                <a:srgbClr val="0070C0"/>
              </a:solidFill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792" y="3221502"/>
            <a:ext cx="10711118" cy="3348111"/>
          </a:xfrm>
          <a:prstGeom prst="rect">
            <a:avLst/>
          </a:prstGeom>
        </p:spPr>
      </p:pic>
      <p:sp>
        <p:nvSpPr>
          <p:cNvPr id="21" name="Content Placeholder 2"/>
          <p:cNvSpPr txBox="1">
            <a:spLocks/>
          </p:cNvSpPr>
          <p:nvPr/>
        </p:nvSpPr>
        <p:spPr>
          <a:xfrm>
            <a:off x="838200" y="1161012"/>
            <a:ext cx="10515600" cy="2305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600"/>
              </a:spcBef>
            </a:pPr>
            <a:r>
              <a:rPr lang="en-US" altLang="zh-CN" dirty="0" smtClean="0"/>
              <a:t>Sample</a:t>
            </a:r>
            <a:r>
              <a:rPr lang="zh-CN" altLang="en-US" dirty="0" smtClean="0"/>
              <a:t> </a:t>
            </a:r>
            <a:r>
              <a:rPr lang="en-US" altLang="zh-CN" dirty="0" smtClean="0">
                <a:solidFill>
                  <a:srgbClr val="FF0000"/>
                </a:solidFill>
              </a:rPr>
              <a:t>red</a:t>
            </a:r>
            <a:r>
              <a:rPr lang="zh-CN" altLang="en-US" dirty="0" smtClean="0">
                <a:solidFill>
                  <a:srgbClr val="FF0000"/>
                </a:solidFill>
              </a:rPr>
              <a:t> </a:t>
            </a:r>
            <a:r>
              <a:rPr lang="en-US" altLang="zh-CN" dirty="0" smtClean="0">
                <a:solidFill>
                  <a:srgbClr val="FF0000"/>
                </a:solidFill>
              </a:rPr>
              <a:t>ball</a:t>
            </a:r>
            <a:r>
              <a:rPr lang="zh-CN" altLang="en-US" dirty="0" smtClean="0">
                <a:solidFill>
                  <a:srgbClr val="FF0000"/>
                </a:solidFill>
              </a:rPr>
              <a:t> </a:t>
            </a:r>
            <a:r>
              <a:rPr lang="en-US" altLang="zh-CN" dirty="0" err="1" smtClean="0">
                <a:solidFill>
                  <a:srgbClr val="FF0000"/>
                </a:solidFill>
              </a:rPr>
              <a:t>w.p</a:t>
            </a:r>
            <a:r>
              <a:rPr lang="en-US" altLang="zh-CN" dirty="0" smtClean="0">
                <a:solidFill>
                  <a:srgbClr val="FF0000"/>
                </a:solidFill>
              </a:rPr>
              <a:t>.</a:t>
            </a:r>
            <a:r>
              <a:rPr lang="zh-CN" altLang="en-US" dirty="0" smtClean="0">
                <a:solidFill>
                  <a:srgbClr val="FF0000"/>
                </a:solidFill>
              </a:rPr>
              <a:t> </a:t>
            </a:r>
            <a:r>
              <a:rPr lang="en-US" altLang="zh-CN" dirty="0" smtClean="0">
                <a:solidFill>
                  <a:srgbClr val="FF0000"/>
                </a:solidFill>
              </a:rPr>
              <a:t>0.2</a:t>
            </a:r>
            <a:r>
              <a:rPr lang="en-US" altLang="zh-CN" dirty="0" smtClean="0"/>
              <a:t>,</a:t>
            </a:r>
            <a:r>
              <a:rPr lang="zh-CN" altLang="en-US" dirty="0" smtClean="0"/>
              <a:t> </a:t>
            </a:r>
            <a:r>
              <a:rPr lang="en-US" altLang="zh-CN" dirty="0" smtClean="0">
                <a:solidFill>
                  <a:schemeClr val="accent6">
                    <a:lumMod val="75000"/>
                  </a:schemeClr>
                </a:solidFill>
              </a:rPr>
              <a:t>green</a:t>
            </a:r>
            <a:r>
              <a:rPr lang="zh-CN" altLang="en-US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altLang="zh-CN" dirty="0" smtClean="0">
                <a:solidFill>
                  <a:schemeClr val="accent6">
                    <a:lumMod val="75000"/>
                  </a:schemeClr>
                </a:solidFill>
              </a:rPr>
              <a:t>ball</a:t>
            </a:r>
            <a:r>
              <a:rPr lang="zh-CN" altLang="en-US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altLang="zh-CN" dirty="0" err="1" smtClean="0">
                <a:solidFill>
                  <a:schemeClr val="accent6">
                    <a:lumMod val="75000"/>
                  </a:schemeClr>
                </a:solidFill>
              </a:rPr>
              <a:t>w.p</a:t>
            </a:r>
            <a:r>
              <a:rPr lang="en-US" altLang="zh-CN" dirty="0" smtClean="0">
                <a:solidFill>
                  <a:schemeClr val="accent6">
                    <a:lumMod val="75000"/>
                  </a:schemeClr>
                </a:solidFill>
              </a:rPr>
              <a:t>.</a:t>
            </a:r>
            <a:r>
              <a:rPr lang="zh-CN" altLang="en-US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altLang="zh-CN" dirty="0" smtClean="0">
                <a:solidFill>
                  <a:schemeClr val="accent6">
                    <a:lumMod val="75000"/>
                  </a:schemeClr>
                </a:solidFill>
              </a:rPr>
              <a:t>0.5</a:t>
            </a:r>
            <a:r>
              <a:rPr lang="en-US" altLang="zh-CN" dirty="0" smtClean="0"/>
              <a:t>,</a:t>
            </a:r>
            <a:r>
              <a:rPr lang="zh-CN" altLang="en-US" dirty="0" smtClean="0"/>
              <a:t> </a:t>
            </a:r>
            <a:r>
              <a:rPr lang="en-US" altLang="zh-CN" dirty="0" smtClean="0"/>
              <a:t>and</a:t>
            </a:r>
            <a:r>
              <a:rPr lang="zh-CN" altLang="en-US" dirty="0" smtClean="0"/>
              <a:t> </a:t>
            </a:r>
            <a:r>
              <a:rPr lang="en-US" altLang="zh-CN" dirty="0" smtClean="0">
                <a:solidFill>
                  <a:srgbClr val="0B24FB"/>
                </a:solidFill>
              </a:rPr>
              <a:t>blue</a:t>
            </a:r>
            <a:r>
              <a:rPr lang="zh-CN" altLang="en-US" dirty="0" smtClean="0">
                <a:solidFill>
                  <a:srgbClr val="0B24FB"/>
                </a:solidFill>
              </a:rPr>
              <a:t> </a:t>
            </a:r>
            <a:r>
              <a:rPr lang="en-US" altLang="zh-CN" dirty="0" smtClean="0">
                <a:solidFill>
                  <a:srgbClr val="0B24FB"/>
                </a:solidFill>
              </a:rPr>
              <a:t>ball</a:t>
            </a:r>
            <a:r>
              <a:rPr lang="zh-CN" altLang="en-US" dirty="0" smtClean="0">
                <a:solidFill>
                  <a:srgbClr val="0B24FB"/>
                </a:solidFill>
              </a:rPr>
              <a:t> </a:t>
            </a:r>
            <a:r>
              <a:rPr lang="en-US" altLang="zh-CN" dirty="0" err="1" smtClean="0">
                <a:solidFill>
                  <a:srgbClr val="0B24FB"/>
                </a:solidFill>
              </a:rPr>
              <a:t>w.p</a:t>
            </a:r>
            <a:r>
              <a:rPr lang="en-US" altLang="zh-CN" dirty="0" smtClean="0">
                <a:solidFill>
                  <a:srgbClr val="0B24FB"/>
                </a:solidFill>
              </a:rPr>
              <a:t>.</a:t>
            </a:r>
            <a:r>
              <a:rPr lang="zh-CN" altLang="en-US" dirty="0" smtClean="0">
                <a:solidFill>
                  <a:srgbClr val="0B24FB"/>
                </a:solidFill>
              </a:rPr>
              <a:t> </a:t>
            </a:r>
            <a:r>
              <a:rPr lang="en-US" altLang="zh-CN" dirty="0" smtClean="0">
                <a:solidFill>
                  <a:srgbClr val="0B24FB"/>
                </a:solidFill>
              </a:rPr>
              <a:t>0.3</a:t>
            </a:r>
            <a:r>
              <a:rPr lang="en-US" altLang="zh-CN" dirty="0" smtClean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00374" y="4235396"/>
            <a:ext cx="1954141" cy="4571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270009" y="4267328"/>
            <a:ext cx="2470339" cy="4571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772513" y="4264550"/>
            <a:ext cx="1243749" cy="4571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53792" y="3805235"/>
            <a:ext cx="1174399" cy="43016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744847" y="4171121"/>
            <a:ext cx="10864057" cy="252785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716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5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5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00"/>
                            </p:stCondLst>
                            <p:childTnLst>
                              <p:par>
                                <p:cTn id="17" presetID="35" presetClass="emph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8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35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9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900"/>
                            </p:stCondLst>
                            <p:childTnLst>
                              <p:par>
                                <p:cTn id="31" presetID="35" presetClass="emph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2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35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3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"/>
                            </p:stCondLst>
                            <p:childTnLst>
                              <p:par>
                                <p:cTn id="45" presetID="35" presetClass="emph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6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35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00"/>
                            </p:stCondLst>
                            <p:childTnLst>
                              <p:par>
                                <p:cTn id="59" presetID="35" presetClass="emph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35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71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900"/>
                            </p:stCondLst>
                            <p:childTnLst>
                              <p:par>
                                <p:cTn id="73" presetID="35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74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5" grpId="2" animBg="1"/>
      <p:bldP spid="5" grpId="4" animBg="1"/>
      <p:bldP spid="6" grpId="0" animBg="1"/>
      <p:bldP spid="6" grpId="1" animBg="1"/>
      <p:bldP spid="6" grpId="2" animBg="1"/>
      <p:bldP spid="6" grpId="4" animBg="1"/>
      <p:bldP spid="7" grpId="0" animBg="1"/>
      <p:bldP spid="7" grpId="1" animBg="1"/>
      <p:bldP spid="7" grpId="2" animBg="1"/>
      <p:bldP spid="7" grpId="4" animBg="1"/>
      <p:bldP spid="8" grpId="0" animBg="1"/>
      <p:bldP spid="8" grpId="1" animBg="1"/>
      <p:bldP spid="8" grpId="2" animBg="1"/>
      <p:bldP spid="8" grpId="4" animBg="1"/>
      <p:bldP spid="10" grpId="0" animBg="1"/>
      <p:bldP spid="10" grpId="1" animBg="1"/>
      <p:bldP spid="10" grpId="2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0" y="2244725"/>
            <a:ext cx="11823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Terminologies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981977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90" y="2143131"/>
            <a:ext cx="5593557" cy="3729038"/>
          </a:xfrm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Terminology: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solidFill>
                  <a:schemeClr val="accent6">
                    <a:lumMod val="75000"/>
                  </a:schemeClr>
                </a:solidFill>
                <a:latin typeface="Lucida Bright" panose="02040602050505020304" pitchFamily="18" charset="0"/>
              </a:rPr>
              <a:t>state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and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solidFill>
                  <a:srgbClr val="FF0000"/>
                </a:solidFill>
                <a:latin typeface="Lucida Bright" panose="02040602050505020304" pitchFamily="18" charset="0"/>
              </a:rPr>
              <a:t>action</a:t>
            </a:r>
            <a:endParaRPr lang="en-US" sz="36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78591" y="1273751"/>
                <a:ext cx="5593556" cy="58477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3200" b="1" dirty="0" smtClean="0">
                    <a:solidFill>
                      <a:schemeClr val="tx1"/>
                    </a:solidFill>
                    <a:latin typeface="Courier New" charset="0"/>
                    <a:ea typeface="Courier New" charset="0"/>
                    <a:cs typeface="Courier New" charset="0"/>
                  </a:rPr>
                  <a:t>state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charset="0"/>
                        <a:ea typeface="Courier New" charset="0"/>
                        <a:cs typeface="Courier New" charset="0"/>
                      </a:rPr>
                      <m:t>𝑠</m:t>
                    </m:r>
                  </m:oMath>
                </a14:m>
                <a:r>
                  <a:rPr lang="zh-CN" altLang="en-US" sz="3200" b="1" dirty="0" smtClean="0">
                    <a:solidFill>
                      <a:schemeClr val="tx1"/>
                    </a:solidFill>
                    <a:latin typeface="Courier New" charset="0"/>
                    <a:ea typeface="Courier New" charset="0"/>
                    <a:cs typeface="Courier New" charset="0"/>
                  </a:rPr>
                  <a:t> </a:t>
                </a:r>
                <a:r>
                  <a:rPr lang="en-US" altLang="zh-CN" sz="3200" b="1" dirty="0" smtClean="0">
                    <a:latin typeface="Courier New" charset="0"/>
                    <a:ea typeface="Courier New" charset="0"/>
                    <a:cs typeface="Courier New" charset="0"/>
                  </a:rPr>
                  <a:t>(this</a:t>
                </a:r>
                <a:r>
                  <a:rPr lang="zh-CN" altLang="en-US" sz="3200" b="1" dirty="0" smtClean="0">
                    <a:latin typeface="Courier New" charset="0"/>
                    <a:ea typeface="Courier New" charset="0"/>
                    <a:cs typeface="Courier New" charset="0"/>
                  </a:rPr>
                  <a:t> </a:t>
                </a:r>
                <a:r>
                  <a:rPr lang="en-US" altLang="zh-CN" sz="3200" b="1" dirty="0" smtClean="0">
                    <a:latin typeface="Courier New" charset="0"/>
                    <a:ea typeface="Courier New" charset="0"/>
                    <a:cs typeface="Courier New" charset="0"/>
                  </a:rPr>
                  <a:t>frame)</a:t>
                </a:r>
                <a:endParaRPr lang="en-US" sz="3200" b="1" dirty="0">
                  <a:latin typeface="Courier New" charset="0"/>
                  <a:ea typeface="Courier New" charset="0"/>
                  <a:cs typeface="Courier New" charset="0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591" y="1273751"/>
                <a:ext cx="5593556" cy="584775"/>
              </a:xfrm>
              <a:prstGeom prst="rect">
                <a:avLst/>
              </a:prstGeom>
              <a:blipFill rotWithShape="0">
                <a:blip r:embed="rId4"/>
                <a:stretch>
                  <a:fillRect t="-12500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2"/>
              <p:cNvSpPr txBox="1">
                <a:spLocks/>
              </p:cNvSpPr>
              <p:nvPr/>
            </p:nvSpPr>
            <p:spPr>
              <a:xfrm>
                <a:off x="6218924" y="1274342"/>
                <a:ext cx="5868301" cy="56893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altLang="zh-CN" sz="3200" dirty="0" smtClean="0"/>
                  <a:t>Action</a:t>
                </a:r>
                <a:r>
                  <a:rPr lang="zh-CN" altLang="en-US" sz="3200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𝑎</m:t>
                    </m:r>
                    <m:r>
                      <a:rPr lang="zh-CN" altLang="en-US" sz="3200" b="0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 </m:t>
                    </m:r>
                    <m:r>
                      <a:rPr lang="en-US" altLang="zh-CN" sz="3200" i="1" smtClean="0">
                        <a:latin typeface="Cambria Math" charset="0"/>
                      </a:rPr>
                      <m:t>∈</m:t>
                    </m:r>
                    <m:r>
                      <a:rPr lang="zh-CN" altLang="en-US" sz="3200" b="0" i="0" smtClean="0">
                        <a:latin typeface="Cambria Math" charset="0"/>
                      </a:rPr>
                      <m:t> </m:t>
                    </m:r>
                    <m:r>
                      <a:rPr lang="en-US" altLang="zh-CN" sz="3200" smtClean="0">
                        <a:latin typeface="Cambria Math" charset="0"/>
                      </a:rPr>
                      <m:t>{</m:t>
                    </m:r>
                    <m:r>
                      <m:rPr>
                        <m:sty m:val="p"/>
                      </m:rPr>
                      <a:rPr lang="en-US" altLang="zh-CN" sz="3200" smtClean="0">
                        <a:latin typeface="Cambria Math" charset="0"/>
                      </a:rPr>
                      <m:t>left</m:t>
                    </m:r>
                    <m:r>
                      <a:rPr lang="en-US" altLang="zh-CN" sz="3200" smtClean="0">
                        <a:latin typeface="Cambria Math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altLang="zh-CN" sz="3200" smtClean="0">
                        <a:latin typeface="Cambria Math" charset="0"/>
                      </a:rPr>
                      <m:t>right</m:t>
                    </m:r>
                    <m:r>
                      <a:rPr lang="en-US" altLang="zh-CN" sz="3200" smtClean="0">
                        <a:latin typeface="Cambria Math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altLang="zh-CN" sz="3200" smtClean="0">
                        <a:latin typeface="Cambria Math" charset="0"/>
                      </a:rPr>
                      <m:t>up</m:t>
                    </m:r>
                    <m:r>
                      <a:rPr lang="en-US" altLang="zh-CN" sz="3200" smtClean="0">
                        <a:latin typeface="Cambria Math" charset="0"/>
                      </a:rPr>
                      <m:t>}</m:t>
                    </m:r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14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8924" y="1274342"/>
                <a:ext cx="5868301" cy="568935"/>
              </a:xfrm>
              <a:prstGeom prst="rect">
                <a:avLst/>
              </a:prstGeom>
              <a:blipFill rotWithShape="0">
                <a:blip r:embed="rId5"/>
                <a:stretch>
                  <a:fillRect l="-2596" t="-21505" b="-30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937" y="3893805"/>
            <a:ext cx="1168400" cy="1219947"/>
          </a:xfrm>
          <a:prstGeom prst="rect">
            <a:avLst/>
          </a:prstGeom>
        </p:spPr>
      </p:pic>
      <p:cxnSp>
        <p:nvCxnSpPr>
          <p:cNvPr id="17" name="Straight Arrow Connector 16"/>
          <p:cNvCxnSpPr/>
          <p:nvPr/>
        </p:nvCxnSpPr>
        <p:spPr>
          <a:xfrm>
            <a:off x="9558337" y="4508557"/>
            <a:ext cx="1271587" cy="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>
            <a:off x="7095530" y="4503778"/>
            <a:ext cx="1271587" cy="1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V="1">
            <a:off x="8969969" y="2907776"/>
            <a:ext cx="4168" cy="962401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6218924" y="4266321"/>
            <a:ext cx="92204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latin typeface="Courier New" charset="0"/>
                <a:ea typeface="Courier New" charset="0"/>
                <a:cs typeface="Courier New" charset="0"/>
              </a:rPr>
              <a:t>left</a:t>
            </a:r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10833350" y="4266320"/>
            <a:ext cx="11063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smtClean="0">
                <a:latin typeface="Courier New" charset="0"/>
                <a:ea typeface="Courier New" charset="0"/>
                <a:cs typeface="Courier New" charset="0"/>
              </a:rPr>
              <a:t>right</a:t>
            </a:r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8693290" y="2446111"/>
            <a:ext cx="5533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smtClean="0">
                <a:latin typeface="Courier New" charset="0"/>
                <a:ea typeface="Courier New" charset="0"/>
                <a:cs typeface="Courier New" charset="0"/>
              </a:rPr>
              <a:t>up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8367117" y="5113752"/>
            <a:ext cx="1191220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latin typeface="Courier New" charset="0"/>
                <a:ea typeface="Courier New" charset="0"/>
                <a:cs typeface="Courier New" charset="0"/>
              </a:rPr>
              <a:t>Agent</a:t>
            </a:r>
            <a:endParaRPr lang="en-US" sz="2400" b="1" dirty="0">
              <a:latin typeface="Courier New" charset="0"/>
              <a:ea typeface="Courier New" charset="0"/>
              <a:cs typeface="Courier New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092312" y="1000784"/>
            <a:ext cx="6021819" cy="5741212"/>
          </a:xfrm>
          <a:prstGeom prst="rect">
            <a:avLst/>
          </a:prstGeom>
          <a:solidFill>
            <a:schemeClr val="bg1">
              <a:alpha val="87000"/>
            </a:schemeClr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583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90" y="2143131"/>
            <a:ext cx="5593557" cy="3729038"/>
          </a:xfrm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Terminology: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solidFill>
                  <a:schemeClr val="accent6">
                    <a:lumMod val="75000"/>
                  </a:schemeClr>
                </a:solidFill>
                <a:latin typeface="Lucida Bright" panose="02040602050505020304" pitchFamily="18" charset="0"/>
              </a:rPr>
              <a:t>state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and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solidFill>
                  <a:srgbClr val="FF0000"/>
                </a:solidFill>
                <a:latin typeface="Lucida Bright" panose="02040602050505020304" pitchFamily="18" charset="0"/>
              </a:rPr>
              <a:t>action</a:t>
            </a:r>
            <a:endParaRPr lang="en-US" sz="36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78591" y="1273751"/>
                <a:ext cx="5593556" cy="58477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3200" b="1" dirty="0" smtClean="0">
                    <a:solidFill>
                      <a:schemeClr val="tx1"/>
                    </a:solidFill>
                    <a:latin typeface="Courier New" charset="0"/>
                    <a:ea typeface="Courier New" charset="0"/>
                    <a:cs typeface="Courier New" charset="0"/>
                  </a:rPr>
                  <a:t>state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charset="0"/>
                        <a:ea typeface="Courier New" charset="0"/>
                        <a:cs typeface="Courier New" charset="0"/>
                      </a:rPr>
                      <m:t>𝑠</m:t>
                    </m:r>
                  </m:oMath>
                </a14:m>
                <a:r>
                  <a:rPr lang="zh-CN" altLang="en-US" sz="3200" b="1" dirty="0" smtClean="0">
                    <a:solidFill>
                      <a:schemeClr val="tx1"/>
                    </a:solidFill>
                    <a:latin typeface="Courier New" charset="0"/>
                    <a:ea typeface="Courier New" charset="0"/>
                    <a:cs typeface="Courier New" charset="0"/>
                  </a:rPr>
                  <a:t> </a:t>
                </a:r>
                <a:r>
                  <a:rPr lang="en-US" altLang="zh-CN" sz="3200" b="1" dirty="0" smtClean="0">
                    <a:latin typeface="Courier New" charset="0"/>
                    <a:ea typeface="Courier New" charset="0"/>
                    <a:cs typeface="Courier New" charset="0"/>
                  </a:rPr>
                  <a:t>(this</a:t>
                </a:r>
                <a:r>
                  <a:rPr lang="zh-CN" altLang="en-US" sz="3200" b="1" dirty="0" smtClean="0">
                    <a:latin typeface="Courier New" charset="0"/>
                    <a:ea typeface="Courier New" charset="0"/>
                    <a:cs typeface="Courier New" charset="0"/>
                  </a:rPr>
                  <a:t> </a:t>
                </a:r>
                <a:r>
                  <a:rPr lang="en-US" altLang="zh-CN" sz="3200" b="1" dirty="0" smtClean="0">
                    <a:latin typeface="Courier New" charset="0"/>
                    <a:ea typeface="Courier New" charset="0"/>
                    <a:cs typeface="Courier New" charset="0"/>
                  </a:rPr>
                  <a:t>frame)</a:t>
                </a:r>
                <a:endParaRPr lang="en-US" sz="3200" b="1" dirty="0">
                  <a:latin typeface="Courier New" charset="0"/>
                  <a:ea typeface="Courier New" charset="0"/>
                  <a:cs typeface="Courier New" charset="0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591" y="1273751"/>
                <a:ext cx="5593556" cy="584775"/>
              </a:xfrm>
              <a:prstGeom prst="rect">
                <a:avLst/>
              </a:prstGeom>
              <a:blipFill rotWithShape="0">
                <a:blip r:embed="rId4"/>
                <a:stretch>
                  <a:fillRect t="-12500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2"/>
              <p:cNvSpPr txBox="1">
                <a:spLocks/>
              </p:cNvSpPr>
              <p:nvPr/>
            </p:nvSpPr>
            <p:spPr>
              <a:xfrm>
                <a:off x="6218924" y="1274342"/>
                <a:ext cx="5868301" cy="56893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altLang="zh-CN" sz="3200" dirty="0" smtClean="0"/>
                  <a:t>Action</a:t>
                </a:r>
                <a:r>
                  <a:rPr lang="zh-CN" altLang="en-US" sz="3200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𝑎</m:t>
                    </m:r>
                    <m:r>
                      <a:rPr lang="zh-CN" altLang="en-US" sz="3200" b="0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 </m:t>
                    </m:r>
                    <m:r>
                      <a:rPr lang="en-US" altLang="zh-CN" sz="3200" i="1" smtClean="0">
                        <a:latin typeface="Cambria Math" charset="0"/>
                      </a:rPr>
                      <m:t>∈</m:t>
                    </m:r>
                    <m:r>
                      <a:rPr lang="zh-CN" altLang="en-US" sz="3200" b="0" i="0" smtClean="0">
                        <a:latin typeface="Cambria Math" charset="0"/>
                      </a:rPr>
                      <m:t> </m:t>
                    </m:r>
                    <m:r>
                      <a:rPr lang="en-US" altLang="zh-CN" sz="3200" smtClean="0">
                        <a:latin typeface="Cambria Math" charset="0"/>
                      </a:rPr>
                      <m:t>{</m:t>
                    </m:r>
                    <m:r>
                      <m:rPr>
                        <m:sty m:val="p"/>
                      </m:rPr>
                      <a:rPr lang="en-US" altLang="zh-CN" sz="3200" smtClean="0">
                        <a:latin typeface="Cambria Math" charset="0"/>
                      </a:rPr>
                      <m:t>left</m:t>
                    </m:r>
                    <m:r>
                      <a:rPr lang="en-US" altLang="zh-CN" sz="3200" smtClean="0">
                        <a:latin typeface="Cambria Math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altLang="zh-CN" sz="3200" smtClean="0">
                        <a:latin typeface="Cambria Math" charset="0"/>
                      </a:rPr>
                      <m:t>right</m:t>
                    </m:r>
                    <m:r>
                      <a:rPr lang="en-US" altLang="zh-CN" sz="3200" smtClean="0">
                        <a:latin typeface="Cambria Math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altLang="zh-CN" sz="3200" smtClean="0">
                        <a:latin typeface="Cambria Math" charset="0"/>
                      </a:rPr>
                      <m:t>up</m:t>
                    </m:r>
                    <m:r>
                      <a:rPr lang="en-US" altLang="zh-CN" sz="3200" smtClean="0">
                        <a:latin typeface="Cambria Math" charset="0"/>
                      </a:rPr>
                      <m:t>}</m:t>
                    </m:r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14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8924" y="1274342"/>
                <a:ext cx="5868301" cy="568935"/>
              </a:xfrm>
              <a:prstGeom prst="rect">
                <a:avLst/>
              </a:prstGeom>
              <a:blipFill rotWithShape="0">
                <a:blip r:embed="rId5"/>
                <a:stretch>
                  <a:fillRect l="-2596" t="-21505" b="-30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/>
          <p:cNvCxnSpPr/>
          <p:nvPr/>
        </p:nvCxnSpPr>
        <p:spPr>
          <a:xfrm>
            <a:off x="9558337" y="4508557"/>
            <a:ext cx="1271587" cy="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>
            <a:off x="7095530" y="4503778"/>
            <a:ext cx="1271587" cy="1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V="1">
            <a:off x="8969969" y="2907776"/>
            <a:ext cx="4168" cy="962401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6218924" y="4266321"/>
            <a:ext cx="92204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latin typeface="Courier New" charset="0"/>
                <a:ea typeface="Courier New" charset="0"/>
                <a:cs typeface="Courier New" charset="0"/>
              </a:rPr>
              <a:t>left</a:t>
            </a:r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10833350" y="4266320"/>
            <a:ext cx="11063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smtClean="0">
                <a:latin typeface="Courier New" charset="0"/>
                <a:ea typeface="Courier New" charset="0"/>
                <a:cs typeface="Courier New" charset="0"/>
              </a:rPr>
              <a:t>right</a:t>
            </a:r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8693290" y="2446111"/>
            <a:ext cx="5533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smtClean="0">
                <a:latin typeface="Courier New" charset="0"/>
                <a:ea typeface="Courier New" charset="0"/>
                <a:cs typeface="Courier New" charset="0"/>
              </a:rPr>
              <a:t>up</a:t>
            </a:r>
            <a:endParaRPr lang="en-US" dirty="0"/>
          </a:p>
        </p:txBody>
      </p:sp>
      <p:grpSp>
        <p:nvGrpSpPr>
          <p:cNvPr id="2" name="Group 1"/>
          <p:cNvGrpSpPr/>
          <p:nvPr/>
        </p:nvGrpSpPr>
        <p:grpSpPr>
          <a:xfrm>
            <a:off x="8367117" y="3893805"/>
            <a:ext cx="1191220" cy="1681612"/>
            <a:chOff x="8367117" y="3893805"/>
            <a:chExt cx="1191220" cy="1681612"/>
          </a:xfrm>
        </p:grpSpPr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9937" y="3893805"/>
              <a:ext cx="1168400" cy="1219947"/>
            </a:xfrm>
            <a:prstGeom prst="rect">
              <a:avLst/>
            </a:prstGeom>
          </p:spPr>
        </p:pic>
        <p:sp>
          <p:nvSpPr>
            <p:cNvPr id="25" name="TextBox 24"/>
            <p:cNvSpPr txBox="1"/>
            <p:nvPr/>
          </p:nvSpPr>
          <p:spPr>
            <a:xfrm>
              <a:off x="8367117" y="5113752"/>
              <a:ext cx="1191220" cy="46166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smtClean="0">
                  <a:latin typeface="Courier New" charset="0"/>
                  <a:ea typeface="Courier New" charset="0"/>
                  <a:cs typeface="Courier New" charset="0"/>
                </a:rPr>
                <a:t>Agent</a:t>
              </a:r>
              <a:endParaRPr lang="en-US" sz="2400" b="1" dirty="0">
                <a:latin typeface="Courier New" charset="0"/>
                <a:ea typeface="Courier New" charset="0"/>
                <a:cs typeface="Courier New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2910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90" y="2143131"/>
            <a:ext cx="5593557" cy="3729038"/>
          </a:xfrm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Terminology: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solidFill>
                  <a:srgbClr val="7030A0"/>
                </a:solidFill>
                <a:latin typeface="Lucida Bright" panose="02040602050505020304" pitchFamily="18" charset="0"/>
              </a:rPr>
              <a:t>policy</a:t>
            </a:r>
            <a:endParaRPr lang="en-US" sz="3600" dirty="0">
              <a:solidFill>
                <a:srgbClr val="7030A0"/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0" y="2728974"/>
            <a:ext cx="4463956" cy="1768179"/>
            <a:chOff x="0" y="2728974"/>
            <a:chExt cx="4463956" cy="1768179"/>
          </a:xfrm>
        </p:grpSpPr>
        <p:cxnSp>
          <p:nvCxnSpPr>
            <p:cNvPr id="17" name="Straight Arrow Connector 16"/>
            <p:cNvCxnSpPr/>
            <p:nvPr/>
          </p:nvCxnSpPr>
          <p:spPr>
            <a:xfrm flipV="1">
              <a:off x="2443162" y="4266320"/>
              <a:ext cx="914401" cy="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 flipH="1">
              <a:off x="846448" y="4266321"/>
              <a:ext cx="901020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 flipH="1" flipV="1">
              <a:off x="2166483" y="3240072"/>
              <a:ext cx="1" cy="64476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1"/>
            <p:cNvSpPr/>
            <p:nvPr/>
          </p:nvSpPr>
          <p:spPr>
            <a:xfrm>
              <a:off x="0" y="4035488"/>
              <a:ext cx="922047" cy="461665"/>
            </a:xfrm>
            <a:prstGeom prst="rect">
              <a:avLst/>
            </a:prstGeom>
            <a:solidFill>
              <a:srgbClr val="F6DCDD"/>
            </a:solidFill>
          </p:spPr>
          <p:txBody>
            <a:bodyPr wrap="none">
              <a:spAutoFit/>
            </a:bodyPr>
            <a:lstStyle/>
            <a:p>
              <a:r>
                <a:rPr lang="en-US" altLang="zh-CN" sz="2400" b="1" dirty="0" smtClean="0">
                  <a:latin typeface="Courier New" charset="0"/>
                  <a:ea typeface="Courier New" charset="0"/>
                  <a:cs typeface="Courier New" charset="0"/>
                </a:rPr>
                <a:t>left</a:t>
              </a:r>
              <a:endParaRPr lang="en-US" dirty="0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3357563" y="4035488"/>
              <a:ext cx="1106393" cy="461665"/>
            </a:xfrm>
            <a:prstGeom prst="rect">
              <a:avLst/>
            </a:prstGeom>
            <a:solidFill>
              <a:srgbClr val="F6DCDD"/>
            </a:solidFill>
          </p:spPr>
          <p:txBody>
            <a:bodyPr wrap="none">
              <a:spAutoFit/>
            </a:bodyPr>
            <a:lstStyle/>
            <a:p>
              <a:r>
                <a:rPr lang="en-US" altLang="zh-CN" sz="2400" b="1" dirty="0" smtClean="0">
                  <a:latin typeface="Courier New" charset="0"/>
                  <a:ea typeface="Courier New" charset="0"/>
                  <a:cs typeface="Courier New" charset="0"/>
                </a:rPr>
                <a:t>right</a:t>
              </a:r>
              <a:endParaRPr lang="en-US" dirty="0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889804" y="2728974"/>
              <a:ext cx="553357" cy="461665"/>
            </a:xfrm>
            <a:prstGeom prst="rect">
              <a:avLst/>
            </a:prstGeom>
            <a:solidFill>
              <a:srgbClr val="F6DCDD"/>
            </a:solidFill>
          </p:spPr>
          <p:txBody>
            <a:bodyPr wrap="none">
              <a:spAutoFit/>
            </a:bodyPr>
            <a:lstStyle/>
            <a:p>
              <a:r>
                <a:rPr lang="en-US" altLang="zh-CN" sz="2400" b="1" smtClean="0">
                  <a:latin typeface="Courier New" charset="0"/>
                  <a:ea typeface="Courier New" charset="0"/>
                  <a:cs typeface="Courier New" charset="0"/>
                </a:rPr>
                <a:t>up</a:t>
              </a:r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6074051" y="1273750"/>
                <a:ext cx="5593556" cy="58477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3200" b="1" dirty="0" smtClean="0">
                    <a:solidFill>
                      <a:srgbClr val="7030A0"/>
                    </a:solidFill>
                    <a:latin typeface="Courier New" charset="0"/>
                    <a:ea typeface="Courier New" charset="0"/>
                    <a:cs typeface="Courier New" charset="0"/>
                  </a:rPr>
                  <a:t>policy </a:t>
                </a:r>
                <a14:m>
                  <m:oMath xmlns:m="http://schemas.openxmlformats.org/officeDocument/2006/math">
                    <m:r>
                      <a:rPr lang="en-US" altLang="zh-CN" sz="3200" b="1" i="1" smtClean="0">
                        <a:solidFill>
                          <a:srgbClr val="7030A0"/>
                        </a:solidFill>
                        <a:latin typeface="Cambria Math" charset="0"/>
                        <a:ea typeface="Courier New" charset="0"/>
                        <a:cs typeface="Courier New" charset="0"/>
                      </a:rPr>
                      <m:t>𝝅</m:t>
                    </m:r>
                  </m:oMath>
                </a14:m>
                <a:endParaRPr lang="en-US" sz="3200" b="1" dirty="0">
                  <a:latin typeface="Courier New" charset="0"/>
                  <a:ea typeface="Courier New" charset="0"/>
                  <a:cs typeface="Courier New" charset="0"/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4051" y="1273750"/>
                <a:ext cx="5593556" cy="584775"/>
              </a:xfrm>
              <a:prstGeom prst="rect">
                <a:avLst/>
              </a:prstGeom>
              <a:blipFill rotWithShape="0">
                <a:blip r:embed="rId5"/>
                <a:stretch>
                  <a:fillRect t="-12500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2"/>
              <p:cNvSpPr txBox="1">
                <a:spLocks/>
              </p:cNvSpPr>
              <p:nvPr/>
            </p:nvSpPr>
            <p:spPr>
              <a:xfrm>
                <a:off x="6074051" y="2343150"/>
                <a:ext cx="5784574" cy="40005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Aft>
                    <a:spcPts val="1200"/>
                  </a:spcAft>
                </a:pPr>
                <a:r>
                  <a:rPr lang="en-US" altLang="zh-CN" dirty="0"/>
                  <a:t>Policy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function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7030A0"/>
                        </a:solidFill>
                        <a:latin typeface="Cambria Math" charset="0"/>
                      </a:rPr>
                      <m:t>𝜋</m:t>
                    </m:r>
                    <m:r>
                      <a:rPr lang="en-US" altLang="zh-CN" i="1">
                        <a:latin typeface="Cambria Math" charset="0"/>
                      </a:rPr>
                      <m:t>:</m:t>
                    </m:r>
                    <m:d>
                      <m:d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  <m:r>
                          <a:rPr lang="en-US" altLang="zh-CN" i="1">
                            <a:latin typeface="Cambria Math" charset="0"/>
                          </a:rPr>
                          <m:t>,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</m:d>
                    <m:r>
                      <a:rPr lang="en-US" altLang="zh-CN" i="1">
                        <a:latin typeface="Cambria Math" charset="0"/>
                      </a:rPr>
                      <m:t>↦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altLang="zh-CN" dirty="0"/>
                  <a:t>:</a:t>
                </a:r>
                <a:r>
                  <a:rPr lang="zh-CN" altLang="en-US" dirty="0"/>
                  <a:t> </a:t>
                </a:r>
                <a:endParaRPr lang="en-US" altLang="zh-CN" dirty="0"/>
              </a:p>
              <a:p>
                <a:pPr marL="0" indent="0" algn="ctr">
                  <a:spcAft>
                    <a:spcPts val="12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7030A0"/>
                        </a:solidFill>
                        <a:latin typeface="Cambria Math" charset="0"/>
                      </a:rPr>
                      <m:t>𝜋</m:t>
                    </m:r>
                    <m:d>
                      <m:d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  <m:r>
                          <a:rPr lang="zh-CN" altLang="en-US" i="1"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charset="0"/>
                          </a:rPr>
                          <m:t>|</m:t>
                        </m:r>
                        <m:r>
                          <a:rPr lang="zh-CN" altLang="en-US" i="1"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e>
                    </m:d>
                    <m:r>
                      <a:rPr lang="en-US" altLang="zh-CN" i="1">
                        <a:latin typeface="Cambria Math" charset="0"/>
                      </a:rPr>
                      <m:t> = </m:t>
                    </m:r>
                    <m:r>
                      <m:rPr>
                        <m:nor/>
                      </m:rPr>
                      <a:rPr lang="en-US" altLang="zh-CN" dirty="0">
                        <a:latin typeface="Cambria Math" charset="0"/>
                        <a:ea typeface="Cambria Math" charset="0"/>
                        <a:cs typeface="Cambria Math" charset="0"/>
                      </a:rPr>
                      <m:t>ℙ</m:t>
                    </m:r>
                    <m:d>
                      <m:d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charset="0"/>
                          </a:rPr>
                          <m:t>𝐴</m:t>
                        </m:r>
                        <m:r>
                          <a:rPr lang="en-US" altLang="zh-CN" i="1">
                            <a:latin typeface="Cambria Math" charset="0"/>
                          </a:rPr>
                          <m:t>=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  <m:r>
                          <a:rPr lang="en-US" altLang="zh-CN" i="1">
                            <a:latin typeface="Cambria Math" charset="0"/>
                          </a:rPr>
                          <m:t>| </m:t>
                        </m:r>
                        <m:r>
                          <a:rPr lang="en-US" altLang="zh-CN" i="1">
                            <a:latin typeface="Cambria Math" charset="0"/>
                          </a:rPr>
                          <m:t>𝑆</m:t>
                        </m:r>
                        <m:r>
                          <a:rPr lang="en-US" altLang="zh-CN" i="1">
                            <a:latin typeface="Cambria Math" charset="0"/>
                          </a:rPr>
                          <m:t>=</m:t>
                        </m:r>
                        <m: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dirty="0" smtClean="0">
                    <a:latin typeface="Cambria Math" charset="0"/>
                    <a:ea typeface="Cambria Math" charset="0"/>
                    <a:cs typeface="Cambria Math" charset="0"/>
                  </a:rPr>
                  <a:t>.</a:t>
                </a:r>
                <a:endParaRPr lang="en-US" dirty="0">
                  <a:latin typeface="Cambria Math" charset="0"/>
                  <a:ea typeface="Cambria Math" charset="0"/>
                  <a:cs typeface="Cambria Math" charset="0"/>
                </a:endParaRPr>
              </a:p>
            </p:txBody>
          </p:sp>
        </mc:Choice>
        <mc:Fallback xmlns="">
          <p:sp>
            <p:nvSpPr>
              <p:cNvPr id="14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4051" y="2343150"/>
                <a:ext cx="5784574" cy="4000500"/>
              </a:xfrm>
              <a:prstGeom prst="rect">
                <a:avLst/>
              </a:prstGeom>
              <a:blipFill rotWithShape="0">
                <a:blip r:embed="rId6"/>
                <a:stretch>
                  <a:fillRect l="-1897" t="-2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6074051" y="2143132"/>
            <a:ext cx="5784574" cy="2416018"/>
          </a:xfrm>
          <a:prstGeom prst="rect">
            <a:avLst/>
          </a:prstGeom>
          <a:solidFill>
            <a:schemeClr val="bg1">
              <a:alpha val="87000"/>
            </a:schemeClr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703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750"/>
                            </p:stCondLst>
                            <p:childTnLst>
                              <p:par>
                                <p:cTn id="19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250"/>
                            </p:stCondLst>
                            <p:childTnLst>
                              <p:par>
                                <p:cTn id="22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750"/>
                            </p:stCondLst>
                            <p:childTnLst>
                              <p:par>
                                <p:cTn id="25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250"/>
                            </p:stCondLst>
                            <p:childTnLst>
                              <p:par>
                                <p:cTn id="28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90" y="2143131"/>
            <a:ext cx="5593557" cy="3729038"/>
          </a:xfrm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Terminology: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solidFill>
                  <a:srgbClr val="7030A0"/>
                </a:solidFill>
                <a:latin typeface="Lucida Bright" panose="02040602050505020304" pitchFamily="18" charset="0"/>
              </a:rPr>
              <a:t>policy</a:t>
            </a:r>
            <a:endParaRPr lang="en-US" sz="3600" dirty="0">
              <a:solidFill>
                <a:srgbClr val="7030A0"/>
              </a:solidFill>
            </a:endParaRPr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2443162" y="4266320"/>
            <a:ext cx="914401" cy="1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>
            <a:off x="846448" y="4266321"/>
            <a:ext cx="901020" cy="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 flipV="1">
            <a:off x="2166483" y="3240072"/>
            <a:ext cx="1" cy="64476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0" y="4035488"/>
            <a:ext cx="922047" cy="461665"/>
          </a:xfrm>
          <a:prstGeom prst="rect">
            <a:avLst/>
          </a:prstGeom>
          <a:solidFill>
            <a:srgbClr val="F6DCDD"/>
          </a:solidFill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latin typeface="Courier New" charset="0"/>
                <a:ea typeface="Courier New" charset="0"/>
                <a:cs typeface="Courier New" charset="0"/>
              </a:rPr>
              <a:t>left</a:t>
            </a:r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3357563" y="4035488"/>
            <a:ext cx="1106393" cy="461665"/>
          </a:xfrm>
          <a:prstGeom prst="rect">
            <a:avLst/>
          </a:prstGeom>
          <a:solidFill>
            <a:srgbClr val="F6DCDD"/>
          </a:solidFill>
        </p:spPr>
        <p:txBody>
          <a:bodyPr wrap="none">
            <a:spAutoFit/>
          </a:bodyPr>
          <a:lstStyle/>
          <a:p>
            <a:r>
              <a:rPr lang="en-US" altLang="zh-CN" sz="2400" b="1" smtClean="0">
                <a:latin typeface="Courier New" charset="0"/>
                <a:ea typeface="Courier New" charset="0"/>
                <a:cs typeface="Courier New" charset="0"/>
              </a:rPr>
              <a:t>right</a:t>
            </a:r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1889804" y="2728974"/>
            <a:ext cx="553357" cy="461665"/>
          </a:xfrm>
          <a:prstGeom prst="rect">
            <a:avLst/>
          </a:prstGeom>
          <a:solidFill>
            <a:srgbClr val="F6DCDD"/>
          </a:solidFill>
        </p:spPr>
        <p:txBody>
          <a:bodyPr wrap="none">
            <a:spAutoFit/>
          </a:bodyPr>
          <a:lstStyle/>
          <a:p>
            <a:r>
              <a:rPr lang="en-US" altLang="zh-CN" sz="2400" b="1" smtClean="0">
                <a:latin typeface="Courier New" charset="0"/>
                <a:ea typeface="Courier New" charset="0"/>
                <a:cs typeface="Courier New" charset="0"/>
              </a:rPr>
              <a:t>up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6074051" y="1273750"/>
                <a:ext cx="5593556" cy="58477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3200" b="1" dirty="0" smtClean="0">
                    <a:solidFill>
                      <a:srgbClr val="7030A0"/>
                    </a:solidFill>
                    <a:latin typeface="Courier New" charset="0"/>
                    <a:ea typeface="Courier New" charset="0"/>
                    <a:cs typeface="Courier New" charset="0"/>
                  </a:rPr>
                  <a:t>policy </a:t>
                </a:r>
                <a14:m>
                  <m:oMath xmlns:m="http://schemas.openxmlformats.org/officeDocument/2006/math">
                    <m:r>
                      <a:rPr lang="en-US" altLang="zh-CN" sz="3200" b="1" i="1" smtClean="0">
                        <a:solidFill>
                          <a:srgbClr val="7030A0"/>
                        </a:solidFill>
                        <a:latin typeface="Cambria Math" charset="0"/>
                        <a:ea typeface="Courier New" charset="0"/>
                        <a:cs typeface="Courier New" charset="0"/>
                      </a:rPr>
                      <m:t>𝝅</m:t>
                    </m:r>
                  </m:oMath>
                </a14:m>
                <a:endParaRPr lang="en-US" sz="3200" b="1" dirty="0">
                  <a:latin typeface="Courier New" charset="0"/>
                  <a:ea typeface="Courier New" charset="0"/>
                  <a:cs typeface="Courier New" charset="0"/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4051" y="1273750"/>
                <a:ext cx="5593556" cy="584775"/>
              </a:xfrm>
              <a:prstGeom prst="rect">
                <a:avLst/>
              </a:prstGeom>
              <a:blipFill rotWithShape="0">
                <a:blip r:embed="rId5"/>
                <a:stretch>
                  <a:fillRect t="-12500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2"/>
              <p:cNvSpPr txBox="1">
                <a:spLocks/>
              </p:cNvSpPr>
              <p:nvPr/>
            </p:nvSpPr>
            <p:spPr>
              <a:xfrm>
                <a:off x="6074051" y="2343150"/>
                <a:ext cx="5784574" cy="40005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Aft>
                    <a:spcPts val="1200"/>
                  </a:spcAft>
                </a:pPr>
                <a:r>
                  <a:rPr lang="en-US" altLang="zh-CN" dirty="0"/>
                  <a:t>Policy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function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7030A0"/>
                        </a:solidFill>
                        <a:latin typeface="Cambria Math" charset="0"/>
                      </a:rPr>
                      <m:t>𝜋</m:t>
                    </m:r>
                    <m:r>
                      <a:rPr lang="en-US" altLang="zh-CN" i="1">
                        <a:latin typeface="Cambria Math" charset="0"/>
                      </a:rPr>
                      <m:t>:</m:t>
                    </m:r>
                    <m:d>
                      <m:d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  <m:r>
                          <a:rPr lang="en-US" altLang="zh-CN" i="1">
                            <a:latin typeface="Cambria Math" charset="0"/>
                          </a:rPr>
                          <m:t>,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</m:d>
                    <m:r>
                      <a:rPr lang="en-US" altLang="zh-CN" i="1">
                        <a:latin typeface="Cambria Math" charset="0"/>
                      </a:rPr>
                      <m:t>↦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altLang="zh-CN" dirty="0"/>
                  <a:t>:</a:t>
                </a:r>
                <a:r>
                  <a:rPr lang="zh-CN" altLang="en-US" dirty="0"/>
                  <a:t> </a:t>
                </a:r>
                <a:endParaRPr lang="en-US" altLang="zh-CN" dirty="0"/>
              </a:p>
              <a:p>
                <a:pPr marL="0" indent="0" algn="ctr">
                  <a:spcAft>
                    <a:spcPts val="12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7030A0"/>
                        </a:solidFill>
                        <a:latin typeface="Cambria Math" charset="0"/>
                      </a:rPr>
                      <m:t>𝜋</m:t>
                    </m:r>
                    <m:d>
                      <m:d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  <m:r>
                          <a:rPr lang="zh-CN" altLang="en-US" i="1"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charset="0"/>
                          </a:rPr>
                          <m:t>|</m:t>
                        </m:r>
                        <m:r>
                          <a:rPr lang="zh-CN" altLang="en-US" i="1"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e>
                    </m:d>
                    <m:r>
                      <a:rPr lang="en-US" altLang="zh-CN" i="1">
                        <a:latin typeface="Cambria Math" charset="0"/>
                      </a:rPr>
                      <m:t> = </m:t>
                    </m:r>
                    <m:r>
                      <m:rPr>
                        <m:nor/>
                      </m:rPr>
                      <a:rPr lang="en-US" altLang="zh-CN" dirty="0">
                        <a:latin typeface="Cambria Math" charset="0"/>
                        <a:ea typeface="Cambria Math" charset="0"/>
                        <a:cs typeface="Cambria Math" charset="0"/>
                      </a:rPr>
                      <m:t>ℙ</m:t>
                    </m:r>
                    <m:d>
                      <m:d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charset="0"/>
                          </a:rPr>
                          <m:t>𝐴</m:t>
                        </m:r>
                        <m:r>
                          <a:rPr lang="en-US" altLang="zh-CN" i="1">
                            <a:latin typeface="Cambria Math" charset="0"/>
                          </a:rPr>
                          <m:t>=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  <m:r>
                          <a:rPr lang="en-US" altLang="zh-CN" i="1">
                            <a:latin typeface="Cambria Math" charset="0"/>
                          </a:rPr>
                          <m:t>| </m:t>
                        </m:r>
                        <m:r>
                          <a:rPr lang="en-US" altLang="zh-CN" i="1">
                            <a:latin typeface="Cambria Math" charset="0"/>
                          </a:rPr>
                          <m:t>𝑆</m:t>
                        </m:r>
                        <m:r>
                          <a:rPr lang="en-US" altLang="zh-CN" i="1">
                            <a:latin typeface="Cambria Math" charset="0"/>
                          </a:rPr>
                          <m:t>=</m:t>
                        </m:r>
                        <m: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dirty="0" smtClean="0">
                    <a:latin typeface="Cambria Math" charset="0"/>
                    <a:ea typeface="Cambria Math" charset="0"/>
                    <a:cs typeface="Cambria Math" charset="0"/>
                  </a:rPr>
                  <a:t>.</a:t>
                </a:r>
                <a:endParaRPr lang="en-US" dirty="0">
                  <a:latin typeface="Cambria Math" charset="0"/>
                  <a:ea typeface="Cambria Math" charset="0"/>
                  <a:cs typeface="Cambria Math" charset="0"/>
                </a:endParaRPr>
              </a:p>
            </p:txBody>
          </p:sp>
        </mc:Choice>
        <mc:Fallback xmlns="">
          <p:sp>
            <p:nvSpPr>
              <p:cNvPr id="15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4051" y="2343150"/>
                <a:ext cx="5784574" cy="4000500"/>
              </a:xfrm>
              <a:prstGeom prst="rect">
                <a:avLst/>
              </a:prstGeom>
              <a:blipFill rotWithShape="0">
                <a:blip r:embed="rId6"/>
                <a:stretch>
                  <a:fillRect l="-1897" t="-2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>
            <a:off x="8407162" y="2848514"/>
            <a:ext cx="2659703" cy="4571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6074051" y="2955432"/>
            <a:ext cx="6068218" cy="1603717"/>
          </a:xfrm>
          <a:prstGeom prst="rect">
            <a:avLst/>
          </a:prstGeom>
          <a:solidFill>
            <a:schemeClr val="bg1">
              <a:alpha val="87000"/>
            </a:schemeClr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245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90" y="2143131"/>
            <a:ext cx="5593557" cy="3729038"/>
          </a:xfrm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Terminology: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solidFill>
                  <a:srgbClr val="7030A0"/>
                </a:solidFill>
                <a:latin typeface="Lucida Bright" panose="02040602050505020304" pitchFamily="18" charset="0"/>
              </a:rPr>
              <a:t>policy</a:t>
            </a:r>
            <a:endParaRPr lang="en-US" sz="3600" dirty="0">
              <a:solidFill>
                <a:srgbClr val="7030A0"/>
              </a:solidFill>
            </a:endParaRPr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2443162" y="4266320"/>
            <a:ext cx="914401" cy="1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>
            <a:off x="846448" y="4266321"/>
            <a:ext cx="901020" cy="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 flipV="1">
            <a:off x="2166483" y="3240072"/>
            <a:ext cx="1" cy="64476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0" y="4035488"/>
            <a:ext cx="922047" cy="461665"/>
          </a:xfrm>
          <a:prstGeom prst="rect">
            <a:avLst/>
          </a:prstGeom>
          <a:solidFill>
            <a:srgbClr val="F6DCDD"/>
          </a:solidFill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latin typeface="Courier New" charset="0"/>
                <a:ea typeface="Courier New" charset="0"/>
                <a:cs typeface="Courier New" charset="0"/>
              </a:rPr>
              <a:t>left</a:t>
            </a:r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3357563" y="4035488"/>
            <a:ext cx="1106393" cy="461665"/>
          </a:xfrm>
          <a:prstGeom prst="rect">
            <a:avLst/>
          </a:prstGeom>
          <a:solidFill>
            <a:srgbClr val="F6DCDD"/>
          </a:solidFill>
        </p:spPr>
        <p:txBody>
          <a:bodyPr wrap="none">
            <a:spAutoFit/>
          </a:bodyPr>
          <a:lstStyle/>
          <a:p>
            <a:r>
              <a:rPr lang="en-US" altLang="zh-CN" sz="2400" b="1" smtClean="0">
                <a:latin typeface="Courier New" charset="0"/>
                <a:ea typeface="Courier New" charset="0"/>
                <a:cs typeface="Courier New" charset="0"/>
              </a:rPr>
              <a:t>right</a:t>
            </a:r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1889804" y="2728974"/>
            <a:ext cx="553357" cy="461665"/>
          </a:xfrm>
          <a:prstGeom prst="rect">
            <a:avLst/>
          </a:prstGeom>
          <a:solidFill>
            <a:srgbClr val="F6DCDD"/>
          </a:solidFill>
        </p:spPr>
        <p:txBody>
          <a:bodyPr wrap="none">
            <a:spAutoFit/>
          </a:bodyPr>
          <a:lstStyle/>
          <a:p>
            <a:r>
              <a:rPr lang="en-US" altLang="zh-CN" sz="2400" b="1" smtClean="0">
                <a:latin typeface="Courier New" charset="0"/>
                <a:ea typeface="Courier New" charset="0"/>
                <a:cs typeface="Courier New" charset="0"/>
              </a:rPr>
              <a:t>up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2"/>
              <p:cNvSpPr txBox="1">
                <a:spLocks/>
              </p:cNvSpPr>
              <p:nvPr/>
            </p:nvSpPr>
            <p:spPr>
              <a:xfrm>
                <a:off x="6074051" y="2343150"/>
                <a:ext cx="5784574" cy="40005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Aft>
                    <a:spcPts val="1200"/>
                  </a:spcAft>
                </a:pPr>
                <a:r>
                  <a:rPr lang="en-US" altLang="zh-CN" dirty="0"/>
                  <a:t>Policy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function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7030A0"/>
                        </a:solidFill>
                        <a:latin typeface="Cambria Math" charset="0"/>
                      </a:rPr>
                      <m:t>𝜋</m:t>
                    </m:r>
                    <m:r>
                      <a:rPr lang="en-US" altLang="zh-CN" i="1">
                        <a:latin typeface="Cambria Math" charset="0"/>
                      </a:rPr>
                      <m:t>:</m:t>
                    </m:r>
                    <m:d>
                      <m:d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  <m:r>
                          <a:rPr lang="en-US" altLang="zh-CN" i="1">
                            <a:latin typeface="Cambria Math" charset="0"/>
                          </a:rPr>
                          <m:t>,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</m:d>
                    <m:r>
                      <a:rPr lang="en-US" altLang="zh-CN" i="1">
                        <a:latin typeface="Cambria Math" charset="0"/>
                      </a:rPr>
                      <m:t>↦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altLang="zh-CN" dirty="0"/>
                  <a:t>:</a:t>
                </a:r>
                <a:r>
                  <a:rPr lang="zh-CN" altLang="en-US" dirty="0"/>
                  <a:t> </a:t>
                </a:r>
                <a:endParaRPr lang="en-US" altLang="zh-CN" dirty="0"/>
              </a:p>
              <a:p>
                <a:pPr marL="0" indent="0" algn="ctr">
                  <a:spcAft>
                    <a:spcPts val="12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7030A0"/>
                        </a:solidFill>
                        <a:latin typeface="Cambria Math" charset="0"/>
                      </a:rPr>
                      <m:t>𝜋</m:t>
                    </m:r>
                    <m:d>
                      <m:d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  <m:r>
                          <a:rPr lang="zh-CN" altLang="en-US" i="1"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charset="0"/>
                          </a:rPr>
                          <m:t>|</m:t>
                        </m:r>
                        <m:r>
                          <a:rPr lang="zh-CN" altLang="en-US" i="1"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e>
                    </m:d>
                    <m:r>
                      <a:rPr lang="en-US" altLang="zh-CN" i="1">
                        <a:latin typeface="Cambria Math" charset="0"/>
                      </a:rPr>
                      <m:t> = </m:t>
                    </m:r>
                    <m:r>
                      <m:rPr>
                        <m:nor/>
                      </m:rPr>
                      <a:rPr lang="en-US" altLang="zh-CN" dirty="0">
                        <a:latin typeface="Cambria Math" charset="0"/>
                        <a:ea typeface="Cambria Math" charset="0"/>
                        <a:cs typeface="Cambria Math" charset="0"/>
                      </a:rPr>
                      <m:t>ℙ</m:t>
                    </m:r>
                    <m:d>
                      <m:d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charset="0"/>
                          </a:rPr>
                          <m:t>𝐴</m:t>
                        </m:r>
                        <m:r>
                          <a:rPr lang="en-US" altLang="zh-CN" i="1">
                            <a:latin typeface="Cambria Math" charset="0"/>
                          </a:rPr>
                          <m:t>=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  <m:r>
                          <a:rPr lang="en-US" altLang="zh-CN" i="1">
                            <a:latin typeface="Cambria Math" charset="0"/>
                          </a:rPr>
                          <m:t>| </m:t>
                        </m:r>
                        <m:r>
                          <a:rPr lang="en-US" altLang="zh-CN" i="1">
                            <a:latin typeface="Cambria Math" charset="0"/>
                          </a:rPr>
                          <m:t>𝑆</m:t>
                        </m:r>
                        <m:r>
                          <a:rPr lang="en-US" altLang="zh-CN" i="1">
                            <a:latin typeface="Cambria Math" charset="0"/>
                          </a:rPr>
                          <m:t>=</m:t>
                        </m:r>
                        <m: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dirty="0" smtClean="0">
                    <a:latin typeface="Cambria Math" charset="0"/>
                    <a:ea typeface="Cambria Math" charset="0"/>
                    <a:cs typeface="Cambria Math" charset="0"/>
                  </a:rPr>
                  <a:t>.</a:t>
                </a:r>
                <a:endParaRPr lang="en-US" dirty="0">
                  <a:latin typeface="Cambria Math" charset="0"/>
                  <a:ea typeface="Cambria Math" charset="0"/>
                  <a:cs typeface="Cambria Math" charset="0"/>
                </a:endParaRPr>
              </a:p>
            </p:txBody>
          </p:sp>
        </mc:Choice>
        <mc:Fallback xmlns="">
          <p:sp>
            <p:nvSpPr>
              <p:cNvPr id="16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4051" y="2343150"/>
                <a:ext cx="5784574" cy="4000500"/>
              </a:xfrm>
              <a:prstGeom prst="rect">
                <a:avLst/>
              </a:prstGeom>
              <a:blipFill rotWithShape="0">
                <a:blip r:embed="rId4"/>
                <a:stretch>
                  <a:fillRect l="-1897" t="-2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6074051" y="1273750"/>
                <a:ext cx="5593556" cy="58477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3200" b="1" dirty="0" smtClean="0">
                    <a:solidFill>
                      <a:srgbClr val="7030A0"/>
                    </a:solidFill>
                    <a:latin typeface="Courier New" charset="0"/>
                    <a:ea typeface="Courier New" charset="0"/>
                    <a:cs typeface="Courier New" charset="0"/>
                  </a:rPr>
                  <a:t>policy </a:t>
                </a:r>
                <a14:m>
                  <m:oMath xmlns:m="http://schemas.openxmlformats.org/officeDocument/2006/math">
                    <m:r>
                      <a:rPr lang="en-US" altLang="zh-CN" sz="3200" b="1" i="1" smtClean="0">
                        <a:solidFill>
                          <a:srgbClr val="7030A0"/>
                        </a:solidFill>
                        <a:latin typeface="Cambria Math" charset="0"/>
                        <a:ea typeface="Courier New" charset="0"/>
                        <a:cs typeface="Courier New" charset="0"/>
                      </a:rPr>
                      <m:t>𝝅</m:t>
                    </m:r>
                  </m:oMath>
                </a14:m>
                <a:endParaRPr lang="en-US" sz="3200" b="1" dirty="0">
                  <a:latin typeface="Courier New" charset="0"/>
                  <a:ea typeface="Courier New" charset="0"/>
                  <a:cs typeface="Courier New" charset="0"/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4051" y="1273750"/>
                <a:ext cx="5593556" cy="584775"/>
              </a:xfrm>
              <a:prstGeom prst="rect">
                <a:avLst/>
              </a:prstGeom>
              <a:blipFill rotWithShape="0">
                <a:blip r:embed="rId5"/>
                <a:stretch>
                  <a:fillRect t="-12500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6828073" y="3562454"/>
            <a:ext cx="4276529" cy="4571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68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90" y="2143131"/>
            <a:ext cx="5593557" cy="3729038"/>
          </a:xfrm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Terminology: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solidFill>
                  <a:srgbClr val="7030A0"/>
                </a:solidFill>
                <a:latin typeface="Lucida Bright" panose="02040602050505020304" pitchFamily="18" charset="0"/>
              </a:rPr>
              <a:t>policy</a:t>
            </a:r>
            <a:endParaRPr lang="en-US" sz="3600" dirty="0">
              <a:solidFill>
                <a:srgbClr val="7030A0"/>
              </a:solidFill>
            </a:endParaRPr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2443162" y="4266320"/>
            <a:ext cx="914401" cy="1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>
            <a:off x="846448" y="4266321"/>
            <a:ext cx="901020" cy="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 flipV="1">
            <a:off x="2166483" y="3240072"/>
            <a:ext cx="1" cy="64476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0" y="4035488"/>
            <a:ext cx="922047" cy="461665"/>
          </a:xfrm>
          <a:prstGeom prst="rect">
            <a:avLst/>
          </a:prstGeom>
          <a:solidFill>
            <a:srgbClr val="F6DCDD"/>
          </a:solidFill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latin typeface="Courier New" charset="0"/>
                <a:ea typeface="Courier New" charset="0"/>
                <a:cs typeface="Courier New" charset="0"/>
              </a:rPr>
              <a:t>left</a:t>
            </a:r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3357563" y="4035488"/>
            <a:ext cx="1106393" cy="461665"/>
          </a:xfrm>
          <a:prstGeom prst="rect">
            <a:avLst/>
          </a:prstGeom>
          <a:solidFill>
            <a:srgbClr val="F6DCDD"/>
          </a:solidFill>
        </p:spPr>
        <p:txBody>
          <a:bodyPr wrap="none">
            <a:spAutoFit/>
          </a:bodyPr>
          <a:lstStyle/>
          <a:p>
            <a:r>
              <a:rPr lang="en-US" altLang="zh-CN" sz="2400" b="1" smtClean="0">
                <a:latin typeface="Courier New" charset="0"/>
                <a:ea typeface="Courier New" charset="0"/>
                <a:cs typeface="Courier New" charset="0"/>
              </a:rPr>
              <a:t>right</a:t>
            </a:r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1889804" y="2728974"/>
            <a:ext cx="553357" cy="461665"/>
          </a:xfrm>
          <a:prstGeom prst="rect">
            <a:avLst/>
          </a:prstGeom>
          <a:solidFill>
            <a:srgbClr val="F6DCDD"/>
          </a:solidFill>
        </p:spPr>
        <p:txBody>
          <a:bodyPr wrap="none">
            <a:spAutoFit/>
          </a:bodyPr>
          <a:lstStyle/>
          <a:p>
            <a:r>
              <a:rPr lang="en-US" altLang="zh-CN" sz="2400" b="1" smtClean="0">
                <a:latin typeface="Courier New" charset="0"/>
                <a:ea typeface="Courier New" charset="0"/>
                <a:cs typeface="Courier New" charset="0"/>
              </a:rPr>
              <a:t>up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2"/>
              <p:cNvSpPr txBox="1">
                <a:spLocks/>
              </p:cNvSpPr>
              <p:nvPr/>
            </p:nvSpPr>
            <p:spPr>
              <a:xfrm>
                <a:off x="6074051" y="2214571"/>
                <a:ext cx="5784574" cy="420051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7030A0"/>
                        </a:solidFill>
                        <a:latin typeface="Cambria Math" charset="0"/>
                      </a:rPr>
                      <m:t>𝜋</m:t>
                    </m:r>
                    <m:d>
                      <m:d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  <m:r>
                          <a:rPr lang="zh-CN" altLang="en-US" i="1"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charset="0"/>
                          </a:rPr>
                          <m:t>|</m:t>
                        </m:r>
                        <m:r>
                          <a:rPr lang="zh-CN" altLang="en-US" i="1"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is</a:t>
                </a:r>
                <a:r>
                  <a:rPr lang="zh-CN" altLang="en-US" dirty="0" smtClean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probability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of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taking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action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charset="0"/>
                      </a:rPr>
                      <m:t>𝐴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charset="0"/>
                      </a:rPr>
                      <m:t>=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charset="0"/>
                      </a:rPr>
                      <m:t>𝑎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given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state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charset="0"/>
                      </a:rPr>
                      <m:t>𝑠</m:t>
                    </m:r>
                  </m:oMath>
                </a14:m>
                <a:r>
                  <a:rPr lang="en-US" dirty="0"/>
                  <a:t> , e.g.,</a:t>
                </a:r>
              </a:p>
              <a:p>
                <a:pPr lvl="1">
                  <a:spcAft>
                    <a:spcPts val="600"/>
                  </a:spcAft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7030A0"/>
                        </a:solidFill>
                        <a:latin typeface="Cambria Math" charset="0"/>
                      </a:rPr>
                      <m:t>𝜋</m:t>
                    </m:r>
                    <m:d>
                      <m:d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charset="0"/>
                          </a:rPr>
                          <m:t>left</m:t>
                        </m:r>
                        <m:r>
                          <a:rPr lang="en-US" altLang="zh-CN" i="1">
                            <a:latin typeface="Cambria Math" charset="0"/>
                          </a:rPr>
                          <m:t> </m:t>
                        </m:r>
                        <m:r>
                          <a:rPr lang="zh-CN" altLang="en-US" i="1"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charset="0"/>
                          </a:rPr>
                          <m:t>| </m:t>
                        </m:r>
                        <m:r>
                          <a:rPr lang="zh-CN" altLang="en-US" i="1"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e>
                    </m:d>
                    <m:r>
                      <a:rPr lang="en-US" altLang="zh-CN" b="1" i="1">
                        <a:latin typeface="Cambria Math" charset="0"/>
                      </a:rPr>
                      <m:t>=</m:t>
                    </m:r>
                    <m:r>
                      <a:rPr lang="en-US" altLang="zh-CN" i="1">
                        <a:latin typeface="Cambria Math" charset="0"/>
                      </a:rPr>
                      <m:t>0.2,</m:t>
                    </m:r>
                  </m:oMath>
                </a14:m>
                <a:endParaRPr lang="en-US" altLang="zh-CN" dirty="0"/>
              </a:p>
              <a:p>
                <a:pPr lvl="1">
                  <a:spcAft>
                    <a:spcPts val="600"/>
                  </a:spcAft>
                </a:pP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7030A0"/>
                        </a:solidFill>
                        <a:latin typeface="Cambria Math" charset="0"/>
                      </a:rPr>
                      <m:t>𝜋</m:t>
                    </m:r>
                    <m:d>
                      <m:d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charset="0"/>
                          </a:rPr>
                          <m:t>right</m:t>
                        </m:r>
                        <m:r>
                          <a:rPr lang="en-US" altLang="zh-CN" i="1">
                            <a:latin typeface="Cambria Math" charset="0"/>
                          </a:rPr>
                          <m:t>|</m:t>
                        </m:r>
                        <m:r>
                          <a:rPr lang="zh-CN" altLang="en-US">
                            <a:latin typeface="Cambria Math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s</m:t>
                        </m:r>
                      </m:e>
                    </m:d>
                    <m:r>
                      <a:rPr lang="en-US" altLang="zh-CN" b="1" i="1">
                        <a:latin typeface="Cambria Math" charset="0"/>
                      </a:rPr>
                      <m:t>=</m:t>
                    </m:r>
                    <m:r>
                      <a:rPr lang="en-US" altLang="zh-CN" i="1">
                        <a:latin typeface="Cambria Math" charset="0"/>
                      </a:rPr>
                      <m:t>0.1,</m:t>
                    </m:r>
                  </m:oMath>
                </a14:m>
                <a:endParaRPr lang="en-US" dirty="0"/>
              </a:p>
              <a:p>
                <a:pPr lvl="1">
                  <a:spcAft>
                    <a:spcPts val="600"/>
                  </a:spcAft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7030A0"/>
                        </a:solidFill>
                        <a:latin typeface="Cambria Math" charset="0"/>
                      </a:rPr>
                      <m:t>𝜋</m:t>
                    </m:r>
                    <m:d>
                      <m:d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charset="0"/>
                          </a:rPr>
                          <m:t>up</m:t>
                        </m:r>
                        <m:r>
                          <a:rPr lang="en-US" altLang="zh-CN"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charset="0"/>
                          </a:rPr>
                          <m:t> | </m:t>
                        </m:r>
                        <m:r>
                          <a:rPr lang="zh-CN" altLang="en-US" i="1"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e>
                    </m:d>
                    <m:r>
                      <a:rPr lang="en-US" altLang="zh-CN" b="1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charset="0"/>
                      </a:rPr>
                      <m:t> </m:t>
                    </m:r>
                    <m:r>
                      <a:rPr lang="en-US" altLang="zh-CN" b="1" i="1">
                        <a:latin typeface="Cambria Math" charset="0"/>
                      </a:rPr>
                      <m:t>=</m:t>
                    </m:r>
                    <m:r>
                      <a:rPr lang="en-US" altLang="zh-CN" i="1">
                        <a:latin typeface="Cambria Math" charset="0"/>
                      </a:rPr>
                      <m:t>0.7</m:t>
                    </m:r>
                  </m:oMath>
                </a14:m>
                <a:r>
                  <a:rPr lang="en-US" dirty="0" smtClean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16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4051" y="2214571"/>
                <a:ext cx="5784574" cy="4200519"/>
              </a:xfrm>
              <a:prstGeom prst="rect">
                <a:avLst/>
              </a:prstGeom>
              <a:blipFill rotWithShape="0">
                <a:blip r:embed="rId4"/>
                <a:stretch>
                  <a:fillRect t="-23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6074051" y="1273750"/>
                <a:ext cx="5593556" cy="58477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3200" b="1" dirty="0" smtClean="0">
                    <a:solidFill>
                      <a:srgbClr val="7030A0"/>
                    </a:solidFill>
                    <a:latin typeface="Courier New" charset="0"/>
                    <a:ea typeface="Courier New" charset="0"/>
                    <a:cs typeface="Courier New" charset="0"/>
                  </a:rPr>
                  <a:t>policy </a:t>
                </a:r>
                <a14:m>
                  <m:oMath xmlns:m="http://schemas.openxmlformats.org/officeDocument/2006/math">
                    <m:r>
                      <a:rPr lang="en-US" altLang="zh-CN" sz="3200" b="1" i="1" smtClean="0">
                        <a:solidFill>
                          <a:srgbClr val="7030A0"/>
                        </a:solidFill>
                        <a:latin typeface="Cambria Math" charset="0"/>
                        <a:ea typeface="Courier New" charset="0"/>
                        <a:cs typeface="Courier New" charset="0"/>
                      </a:rPr>
                      <m:t>𝝅</m:t>
                    </m:r>
                  </m:oMath>
                </a14:m>
                <a:endParaRPr lang="en-US" sz="3200" b="1" dirty="0">
                  <a:latin typeface="Courier New" charset="0"/>
                  <a:ea typeface="Courier New" charset="0"/>
                  <a:cs typeface="Courier New" charset="0"/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4051" y="1273750"/>
                <a:ext cx="5593556" cy="584775"/>
              </a:xfrm>
              <a:prstGeom prst="rect">
                <a:avLst/>
              </a:prstGeom>
              <a:blipFill rotWithShape="0">
                <a:blip r:embed="rId5"/>
                <a:stretch>
                  <a:fillRect t="-12500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ight Arrow 1"/>
          <p:cNvSpPr/>
          <p:nvPr/>
        </p:nvSpPr>
        <p:spPr>
          <a:xfrm>
            <a:off x="6092311" y="3111086"/>
            <a:ext cx="472440" cy="381484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Arrow 13"/>
          <p:cNvSpPr/>
          <p:nvPr/>
        </p:nvSpPr>
        <p:spPr>
          <a:xfrm>
            <a:off x="6092311" y="3586352"/>
            <a:ext cx="472440" cy="381484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Arrow 14"/>
          <p:cNvSpPr/>
          <p:nvPr/>
        </p:nvSpPr>
        <p:spPr>
          <a:xfrm>
            <a:off x="6074051" y="4061779"/>
            <a:ext cx="472440" cy="381484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442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10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10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10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9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2" grpId="2" animBg="1"/>
      <p:bldP spid="2" grpId="3" animBg="1"/>
      <p:bldP spid="14" grpId="0" animBg="1"/>
      <p:bldP spid="14" grpId="1" animBg="1"/>
      <p:bldP spid="14" grpId="2" animBg="1"/>
      <p:bldP spid="14" grpId="3" animBg="1"/>
      <p:bldP spid="15" grpId="0" animBg="1"/>
      <p:bldP spid="15" grpId="1" animBg="1"/>
      <p:bldP spid="15" grpId="2" animBg="1"/>
      <p:bldP spid="15" grpId="3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90" y="2143131"/>
            <a:ext cx="5593557" cy="3729038"/>
          </a:xfrm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Terminology: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solidFill>
                  <a:srgbClr val="7030A0"/>
                </a:solidFill>
                <a:latin typeface="Lucida Bright" panose="02040602050505020304" pitchFamily="18" charset="0"/>
              </a:rPr>
              <a:t>policy</a:t>
            </a:r>
            <a:endParaRPr lang="en-US" sz="3600" dirty="0">
              <a:solidFill>
                <a:srgbClr val="7030A0"/>
              </a:solidFill>
            </a:endParaRPr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2443162" y="4266320"/>
            <a:ext cx="914401" cy="1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>
            <a:off x="846448" y="4266321"/>
            <a:ext cx="901020" cy="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 flipV="1">
            <a:off x="2166483" y="3240072"/>
            <a:ext cx="1" cy="64476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0" y="4035488"/>
            <a:ext cx="922047" cy="461665"/>
          </a:xfrm>
          <a:prstGeom prst="rect">
            <a:avLst/>
          </a:prstGeom>
          <a:solidFill>
            <a:srgbClr val="F6DCDD"/>
          </a:solidFill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latin typeface="Courier New" charset="0"/>
                <a:ea typeface="Courier New" charset="0"/>
                <a:cs typeface="Courier New" charset="0"/>
              </a:rPr>
              <a:t>left</a:t>
            </a:r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3357563" y="4035488"/>
            <a:ext cx="1106393" cy="461665"/>
          </a:xfrm>
          <a:prstGeom prst="rect">
            <a:avLst/>
          </a:prstGeom>
          <a:solidFill>
            <a:srgbClr val="F6DCDD"/>
          </a:solidFill>
        </p:spPr>
        <p:txBody>
          <a:bodyPr wrap="none">
            <a:spAutoFit/>
          </a:bodyPr>
          <a:lstStyle/>
          <a:p>
            <a:r>
              <a:rPr lang="en-US" altLang="zh-CN" sz="2400" b="1" smtClean="0">
                <a:latin typeface="Courier New" charset="0"/>
                <a:ea typeface="Courier New" charset="0"/>
                <a:cs typeface="Courier New" charset="0"/>
              </a:rPr>
              <a:t>right</a:t>
            </a:r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1889804" y="2728974"/>
            <a:ext cx="553357" cy="461665"/>
          </a:xfrm>
          <a:prstGeom prst="rect">
            <a:avLst/>
          </a:prstGeom>
          <a:solidFill>
            <a:srgbClr val="F6DCDD"/>
          </a:solidFill>
        </p:spPr>
        <p:txBody>
          <a:bodyPr wrap="none">
            <a:spAutoFit/>
          </a:bodyPr>
          <a:lstStyle/>
          <a:p>
            <a:r>
              <a:rPr lang="en-US" altLang="zh-CN" sz="2400" b="1" smtClean="0">
                <a:latin typeface="Courier New" charset="0"/>
                <a:ea typeface="Courier New" charset="0"/>
                <a:cs typeface="Courier New" charset="0"/>
              </a:rPr>
              <a:t>up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6074051" y="1273750"/>
                <a:ext cx="5593556" cy="58477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3200" b="1" dirty="0" smtClean="0">
                    <a:solidFill>
                      <a:srgbClr val="7030A0"/>
                    </a:solidFill>
                    <a:latin typeface="Courier New" charset="0"/>
                    <a:ea typeface="Courier New" charset="0"/>
                    <a:cs typeface="Courier New" charset="0"/>
                  </a:rPr>
                  <a:t>policy </a:t>
                </a:r>
                <a14:m>
                  <m:oMath xmlns:m="http://schemas.openxmlformats.org/officeDocument/2006/math">
                    <m:r>
                      <a:rPr lang="en-US" altLang="zh-CN" sz="3200" b="1" i="1" smtClean="0">
                        <a:solidFill>
                          <a:srgbClr val="7030A0"/>
                        </a:solidFill>
                        <a:latin typeface="Cambria Math" charset="0"/>
                        <a:ea typeface="Courier New" charset="0"/>
                        <a:cs typeface="Courier New" charset="0"/>
                      </a:rPr>
                      <m:t>𝝅</m:t>
                    </m:r>
                  </m:oMath>
                </a14:m>
                <a:endParaRPr lang="en-US" sz="3200" b="1" dirty="0">
                  <a:latin typeface="Courier New" charset="0"/>
                  <a:ea typeface="Courier New" charset="0"/>
                  <a:cs typeface="Courier New" charset="0"/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4051" y="1273750"/>
                <a:ext cx="5593556" cy="584775"/>
              </a:xfrm>
              <a:prstGeom prst="rect">
                <a:avLst/>
              </a:prstGeom>
              <a:blipFill rotWithShape="0">
                <a:blip r:embed="rId5"/>
                <a:stretch>
                  <a:fillRect t="-12500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2"/>
              <p:cNvSpPr txBox="1">
                <a:spLocks/>
              </p:cNvSpPr>
              <p:nvPr/>
            </p:nvSpPr>
            <p:spPr>
              <a:xfrm>
                <a:off x="6074051" y="2214571"/>
                <a:ext cx="5784574" cy="420051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7030A0"/>
                        </a:solidFill>
                        <a:latin typeface="Cambria Math" charset="0"/>
                      </a:rPr>
                      <m:t>𝜋</m:t>
                    </m:r>
                    <m:d>
                      <m:d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  <m:r>
                          <a:rPr lang="zh-CN" altLang="en-US" i="1"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charset="0"/>
                          </a:rPr>
                          <m:t>|</m:t>
                        </m:r>
                        <m:r>
                          <a:rPr lang="zh-CN" altLang="en-US" i="1"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is</a:t>
                </a:r>
                <a:r>
                  <a:rPr lang="zh-CN" altLang="en-US" dirty="0" smtClean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probability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of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taking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action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charset="0"/>
                      </a:rPr>
                      <m:t>𝐴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charset="0"/>
                      </a:rPr>
                      <m:t>=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charset="0"/>
                      </a:rPr>
                      <m:t>𝑎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given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state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charset="0"/>
                      </a:rPr>
                      <m:t>𝑠</m:t>
                    </m:r>
                  </m:oMath>
                </a14:m>
                <a:r>
                  <a:rPr lang="en-US" dirty="0"/>
                  <a:t> , e.g.,</a:t>
                </a:r>
              </a:p>
              <a:p>
                <a:pPr lvl="1">
                  <a:spcAft>
                    <a:spcPts val="600"/>
                  </a:spcAft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7030A0"/>
                        </a:solidFill>
                        <a:latin typeface="Cambria Math" charset="0"/>
                      </a:rPr>
                      <m:t>𝜋</m:t>
                    </m:r>
                    <m:d>
                      <m:d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charset="0"/>
                          </a:rPr>
                          <m:t>left</m:t>
                        </m:r>
                        <m:r>
                          <a:rPr lang="en-US" altLang="zh-CN" i="1">
                            <a:latin typeface="Cambria Math" charset="0"/>
                          </a:rPr>
                          <m:t> </m:t>
                        </m:r>
                        <m:r>
                          <a:rPr lang="zh-CN" altLang="en-US" i="1"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charset="0"/>
                          </a:rPr>
                          <m:t>| </m:t>
                        </m:r>
                        <m:r>
                          <a:rPr lang="zh-CN" altLang="en-US" i="1"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e>
                    </m:d>
                    <m:r>
                      <a:rPr lang="en-US" altLang="zh-CN" b="1" i="1">
                        <a:latin typeface="Cambria Math" charset="0"/>
                      </a:rPr>
                      <m:t>=</m:t>
                    </m:r>
                    <m:r>
                      <a:rPr lang="en-US" altLang="zh-CN" i="1">
                        <a:latin typeface="Cambria Math" charset="0"/>
                      </a:rPr>
                      <m:t>0.2,</m:t>
                    </m:r>
                  </m:oMath>
                </a14:m>
                <a:endParaRPr lang="en-US" altLang="zh-CN" dirty="0"/>
              </a:p>
              <a:p>
                <a:pPr lvl="1">
                  <a:spcAft>
                    <a:spcPts val="600"/>
                  </a:spcAft>
                </a:pP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7030A0"/>
                        </a:solidFill>
                        <a:latin typeface="Cambria Math" charset="0"/>
                      </a:rPr>
                      <m:t>𝜋</m:t>
                    </m:r>
                    <m:d>
                      <m:d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charset="0"/>
                          </a:rPr>
                          <m:t>right</m:t>
                        </m:r>
                        <m:r>
                          <a:rPr lang="en-US" altLang="zh-CN" i="1">
                            <a:latin typeface="Cambria Math" charset="0"/>
                          </a:rPr>
                          <m:t>|</m:t>
                        </m:r>
                        <m:r>
                          <a:rPr lang="zh-CN" altLang="en-US">
                            <a:latin typeface="Cambria Math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s</m:t>
                        </m:r>
                      </m:e>
                    </m:d>
                    <m:r>
                      <a:rPr lang="en-US" altLang="zh-CN" b="1" i="1">
                        <a:latin typeface="Cambria Math" charset="0"/>
                      </a:rPr>
                      <m:t>=</m:t>
                    </m:r>
                    <m:r>
                      <a:rPr lang="en-US" altLang="zh-CN" i="1">
                        <a:latin typeface="Cambria Math" charset="0"/>
                      </a:rPr>
                      <m:t>0.1,</m:t>
                    </m:r>
                  </m:oMath>
                </a14:m>
                <a:endParaRPr lang="en-US" dirty="0"/>
              </a:p>
              <a:p>
                <a:pPr lvl="1">
                  <a:spcAft>
                    <a:spcPts val="600"/>
                  </a:spcAft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7030A0"/>
                        </a:solidFill>
                        <a:latin typeface="Cambria Math" charset="0"/>
                      </a:rPr>
                      <m:t>𝜋</m:t>
                    </m:r>
                    <m:d>
                      <m:d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charset="0"/>
                          </a:rPr>
                          <m:t>up</m:t>
                        </m:r>
                        <m:r>
                          <a:rPr lang="en-US" altLang="zh-CN"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charset="0"/>
                          </a:rPr>
                          <m:t> | </m:t>
                        </m:r>
                        <m:r>
                          <a:rPr lang="zh-CN" altLang="en-US" i="1"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e>
                    </m:d>
                    <m:r>
                      <a:rPr lang="en-US" altLang="zh-CN" b="1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charset="0"/>
                      </a:rPr>
                      <m:t> </m:t>
                    </m:r>
                    <m:r>
                      <a:rPr lang="en-US" altLang="zh-CN" b="1" i="1">
                        <a:latin typeface="Cambria Math" charset="0"/>
                      </a:rPr>
                      <m:t>=</m:t>
                    </m:r>
                    <m:r>
                      <a:rPr lang="en-US" altLang="zh-CN" i="1">
                        <a:latin typeface="Cambria Math" charset="0"/>
                      </a:rPr>
                      <m:t>0.7</m:t>
                    </m:r>
                  </m:oMath>
                </a14:m>
                <a:r>
                  <a:rPr lang="en-US" dirty="0" smtClean="0"/>
                  <a:t>.</a:t>
                </a:r>
                <a:endParaRPr lang="en-US" dirty="0"/>
              </a:p>
              <a:p>
                <a:pPr>
                  <a:spcBef>
                    <a:spcPts val="1600"/>
                  </a:spcBef>
                  <a:spcAft>
                    <a:spcPts val="600"/>
                  </a:spcAft>
                </a:pPr>
                <a:r>
                  <a:rPr lang="en-US" dirty="0"/>
                  <a:t>Upon observing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state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charset="0"/>
                      </a:rPr>
                      <m:t>𝑆</m:t>
                    </m:r>
                    <m:r>
                      <a:rPr lang="en-US" altLang="zh-CN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charset="0"/>
                      </a:rPr>
                      <m:t>=</m:t>
                    </m:r>
                    <m:r>
                      <a:rPr lang="en-US" altLang="zh-CN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charset="0"/>
                      </a:rPr>
                      <m:t>𝑠</m:t>
                    </m:r>
                  </m:oMath>
                </a14:m>
                <a:r>
                  <a:rPr lang="en-US" dirty="0"/>
                  <a:t>, the agent’s </a:t>
                </a:r>
                <a:r>
                  <a:rPr lang="en-US" dirty="0">
                    <a:solidFill>
                      <a:srgbClr val="FF0000"/>
                    </a:solidFill>
                  </a:rPr>
                  <a:t>action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charset="0"/>
                      </a:rPr>
                      <m:t>𝐴</m:t>
                    </m:r>
                  </m:oMath>
                </a14:m>
                <a:r>
                  <a:rPr lang="en-US" dirty="0"/>
                  <a:t> can be random</a:t>
                </a:r>
                <a:r>
                  <a:rPr lang="en-US" altLang="zh-CN" dirty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14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4051" y="2214571"/>
                <a:ext cx="5784574" cy="4200519"/>
              </a:xfrm>
              <a:prstGeom prst="rect">
                <a:avLst/>
              </a:prstGeom>
              <a:blipFill rotWithShape="0">
                <a:blip r:embed="rId6"/>
                <a:stretch>
                  <a:fillRect l="-1897" t="-23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6777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90" y="2143131"/>
            <a:ext cx="5593557" cy="3729038"/>
          </a:xfrm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Terminology: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solidFill>
                  <a:srgbClr val="7030A0"/>
                </a:solidFill>
                <a:latin typeface="Lucida Bright" panose="02040602050505020304" pitchFamily="18" charset="0"/>
              </a:rPr>
              <a:t>policy</a:t>
            </a:r>
            <a:endParaRPr lang="en-US" sz="3600" dirty="0">
              <a:solidFill>
                <a:srgbClr val="7030A0"/>
              </a:solidFill>
            </a:endParaRPr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2443162" y="4266320"/>
            <a:ext cx="914401" cy="1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>
            <a:off x="846448" y="4266321"/>
            <a:ext cx="901020" cy="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 flipV="1">
            <a:off x="2166483" y="3240072"/>
            <a:ext cx="1" cy="64476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0" y="4035488"/>
            <a:ext cx="922047" cy="461665"/>
          </a:xfrm>
          <a:prstGeom prst="rect">
            <a:avLst/>
          </a:prstGeom>
          <a:solidFill>
            <a:srgbClr val="F6DCDD"/>
          </a:solidFill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latin typeface="Courier New" charset="0"/>
                <a:ea typeface="Courier New" charset="0"/>
                <a:cs typeface="Courier New" charset="0"/>
              </a:rPr>
              <a:t>left</a:t>
            </a:r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3357563" y="4035488"/>
            <a:ext cx="1106393" cy="461665"/>
          </a:xfrm>
          <a:prstGeom prst="rect">
            <a:avLst/>
          </a:prstGeom>
          <a:solidFill>
            <a:srgbClr val="F6DCDD"/>
          </a:solidFill>
        </p:spPr>
        <p:txBody>
          <a:bodyPr wrap="none">
            <a:spAutoFit/>
          </a:bodyPr>
          <a:lstStyle/>
          <a:p>
            <a:r>
              <a:rPr lang="en-US" altLang="zh-CN" sz="2400" b="1" smtClean="0">
                <a:latin typeface="Courier New" charset="0"/>
                <a:ea typeface="Courier New" charset="0"/>
                <a:cs typeface="Courier New" charset="0"/>
              </a:rPr>
              <a:t>right</a:t>
            </a:r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1889804" y="2728974"/>
            <a:ext cx="553357" cy="461665"/>
          </a:xfrm>
          <a:prstGeom prst="rect">
            <a:avLst/>
          </a:prstGeom>
          <a:solidFill>
            <a:srgbClr val="F6DCDD"/>
          </a:solidFill>
        </p:spPr>
        <p:txBody>
          <a:bodyPr wrap="none">
            <a:spAutoFit/>
          </a:bodyPr>
          <a:lstStyle/>
          <a:p>
            <a:r>
              <a:rPr lang="en-US" altLang="zh-CN" sz="2400" b="1" smtClean="0">
                <a:latin typeface="Courier New" charset="0"/>
                <a:ea typeface="Courier New" charset="0"/>
                <a:cs typeface="Courier New" charset="0"/>
              </a:rPr>
              <a:t>up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178590" y="1273750"/>
            <a:ext cx="11825342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 smtClean="0">
                <a:solidFill>
                  <a:srgbClr val="7030A0"/>
                </a:solidFill>
                <a:latin typeface="Courier New" charset="0"/>
                <a:ea typeface="Courier New" charset="0"/>
                <a:cs typeface="Courier New" charset="0"/>
              </a:rPr>
              <a:t>Random</a:t>
            </a:r>
            <a:r>
              <a:rPr lang="zh-CN" altLang="en-US" sz="3200" b="1" dirty="0" smtClean="0">
                <a:solidFill>
                  <a:srgbClr val="7030A0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altLang="zh-CN" sz="3200" b="1" dirty="0" smtClean="0">
                <a:solidFill>
                  <a:srgbClr val="7030A0"/>
                </a:solidFill>
                <a:latin typeface="Courier New" charset="0"/>
                <a:ea typeface="Courier New" charset="0"/>
                <a:cs typeface="Courier New" charset="0"/>
              </a:rPr>
              <a:t>or</a:t>
            </a:r>
            <a:r>
              <a:rPr lang="zh-CN" altLang="en-US" sz="3200" b="1" dirty="0" smtClean="0">
                <a:solidFill>
                  <a:srgbClr val="7030A0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altLang="zh-CN" sz="3200" b="1" dirty="0" smtClean="0">
                <a:solidFill>
                  <a:srgbClr val="7030A0"/>
                </a:solidFill>
                <a:latin typeface="Courier New" charset="0"/>
                <a:ea typeface="Courier New" charset="0"/>
                <a:cs typeface="Courier New" charset="0"/>
              </a:rPr>
              <a:t>deterministic</a:t>
            </a:r>
            <a:r>
              <a:rPr lang="zh-CN" altLang="en-US" sz="3200" b="1" dirty="0" smtClean="0">
                <a:solidFill>
                  <a:srgbClr val="7030A0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altLang="zh-CN" sz="3200" b="1" dirty="0" smtClean="0">
                <a:solidFill>
                  <a:srgbClr val="7030A0"/>
                </a:solidFill>
                <a:latin typeface="Courier New" charset="0"/>
                <a:ea typeface="Courier New" charset="0"/>
                <a:cs typeface="Courier New" charset="0"/>
              </a:rPr>
              <a:t>policy?</a:t>
            </a:r>
            <a:endParaRPr lang="en-US" sz="3200" b="1" dirty="0">
              <a:latin typeface="Courier New" charset="0"/>
              <a:ea typeface="Courier New" charset="0"/>
              <a:cs typeface="Courier New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994" y="2324943"/>
            <a:ext cx="6081938" cy="3421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509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90" y="2143131"/>
            <a:ext cx="5593557" cy="3729038"/>
          </a:xfrm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Terminology: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solidFill>
                  <a:srgbClr val="0070C0"/>
                </a:solidFill>
                <a:latin typeface="Lucida Bright" panose="02040602050505020304" pitchFamily="18" charset="0"/>
              </a:rPr>
              <a:t>reward</a:t>
            </a:r>
            <a:endParaRPr lang="en-US" sz="36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/>
              <p:cNvSpPr txBox="1">
                <a:spLocks/>
              </p:cNvSpPr>
              <p:nvPr/>
            </p:nvSpPr>
            <p:spPr>
              <a:xfrm>
                <a:off x="5957889" y="2143131"/>
                <a:ext cx="5957886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dirty="0" smtClean="0"/>
                  <a:t>Collect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coin:</a:t>
                </a:r>
                <a:r>
                  <a:rPr lang="zh-CN" altLang="en-US" dirty="0"/>
                  <a:t>      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solidFill>
                          <a:srgbClr val="0070C0"/>
                        </a:solidFill>
                        <a:latin typeface="Cambria Math" charset="0"/>
                      </a:rPr>
                      <m:t>𝑅</m:t>
                    </m:r>
                    <m:r>
                      <a:rPr lang="en-US" altLang="zh-CN" i="1" dirty="0">
                        <a:solidFill>
                          <a:srgbClr val="0070C0"/>
                        </a:solidFill>
                        <a:latin typeface="Cambria Math" charset="0"/>
                      </a:rPr>
                      <m:t>=+1</m:t>
                    </m:r>
                  </m:oMath>
                </a14:m>
                <a:endParaRPr lang="en-US" altLang="zh-CN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7889" y="2143131"/>
                <a:ext cx="5957886" cy="4351338"/>
              </a:xfrm>
              <a:prstGeom prst="rect">
                <a:avLst/>
              </a:prstGeom>
              <a:blipFill rotWithShape="0">
                <a:blip r:embed="rId4"/>
                <a:stretch>
                  <a:fillRect l="-1840"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6074051" y="1273750"/>
                <a:ext cx="5593556" cy="58477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3200" b="1" dirty="0" smtClean="0">
                    <a:solidFill>
                      <a:srgbClr val="0070C0"/>
                    </a:solidFill>
                    <a:latin typeface="Lucida Bright" panose="02040602050505020304" pitchFamily="18" charset="0"/>
                  </a:rPr>
                  <a:t>reward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0070C0"/>
                        </a:solidFill>
                        <a:latin typeface="Cambria Math" charset="0"/>
                        <a:ea typeface="Courier New" charset="0"/>
                        <a:cs typeface="Courier New" charset="0"/>
                      </a:rPr>
                      <m:t>𝑅</m:t>
                    </m:r>
                  </m:oMath>
                </a14:m>
                <a:endParaRPr lang="en-US" sz="3200" dirty="0">
                  <a:latin typeface="Courier New" charset="0"/>
                  <a:ea typeface="Courier New" charset="0"/>
                  <a:cs typeface="Courier New" charset="0"/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4051" y="1273750"/>
                <a:ext cx="5593556" cy="584775"/>
              </a:xfrm>
              <a:prstGeom prst="rect">
                <a:avLst/>
              </a:prstGeom>
              <a:blipFill rotWithShape="0">
                <a:blip r:embed="rId5"/>
                <a:stretch>
                  <a:fillRect t="-19792" b="-270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9164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90" y="2143131"/>
            <a:ext cx="5593557" cy="3729038"/>
          </a:xfrm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Terminology: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solidFill>
                  <a:srgbClr val="0070C0"/>
                </a:solidFill>
                <a:latin typeface="Lucida Bright" panose="02040602050505020304" pitchFamily="18" charset="0"/>
              </a:rPr>
              <a:t>reward</a:t>
            </a:r>
            <a:endParaRPr lang="en-US" sz="36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074051" y="1273750"/>
                <a:ext cx="5593556" cy="58477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3200" b="1" dirty="0" smtClean="0">
                    <a:solidFill>
                      <a:srgbClr val="0070C0"/>
                    </a:solidFill>
                    <a:latin typeface="Lucida Bright" panose="02040602050505020304" pitchFamily="18" charset="0"/>
                  </a:rPr>
                  <a:t>reward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0070C0"/>
                        </a:solidFill>
                        <a:latin typeface="Cambria Math" charset="0"/>
                        <a:ea typeface="Courier New" charset="0"/>
                        <a:cs typeface="Courier New" charset="0"/>
                      </a:rPr>
                      <m:t>𝑅</m:t>
                    </m:r>
                  </m:oMath>
                </a14:m>
                <a:endParaRPr lang="en-US" sz="3200" dirty="0">
                  <a:latin typeface="Courier New" charset="0"/>
                  <a:ea typeface="Courier New" charset="0"/>
                  <a:cs typeface="Courier New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4051" y="1273750"/>
                <a:ext cx="5593556" cy="584775"/>
              </a:xfrm>
              <a:prstGeom prst="rect">
                <a:avLst/>
              </a:prstGeom>
              <a:blipFill rotWithShape="0">
                <a:blip r:embed="rId4"/>
                <a:stretch>
                  <a:fillRect t="-19792" b="-270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 txBox="1">
                <a:spLocks/>
              </p:cNvSpPr>
              <p:nvPr/>
            </p:nvSpPr>
            <p:spPr>
              <a:xfrm>
                <a:off x="5957889" y="2143131"/>
                <a:ext cx="5709718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dirty="0"/>
                  <a:t>Collect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coin:</a:t>
                </a:r>
                <a:r>
                  <a:rPr lang="zh-CN" altLang="en-US" dirty="0"/>
                  <a:t>      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solidFill>
                          <a:srgbClr val="0070C0"/>
                        </a:solidFill>
                        <a:latin typeface="Cambria Math" charset="0"/>
                      </a:rPr>
                      <m:t>𝑅</m:t>
                    </m:r>
                    <m:r>
                      <a:rPr lang="en-US" altLang="zh-CN" i="1" dirty="0">
                        <a:solidFill>
                          <a:srgbClr val="0070C0"/>
                        </a:solidFill>
                        <a:latin typeface="Cambria Math" charset="0"/>
                      </a:rPr>
                      <m:t>=+1</m:t>
                    </m:r>
                  </m:oMath>
                </a14:m>
                <a:endParaRPr lang="en-US" altLang="zh-CN" dirty="0">
                  <a:solidFill>
                    <a:srgbClr val="0070C0"/>
                  </a:solidFill>
                </a:endParaRPr>
              </a:p>
              <a:p>
                <a:r>
                  <a:rPr lang="en-US" altLang="zh-CN" dirty="0"/>
                  <a:t>Win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game:</a:t>
                </a:r>
                <a:r>
                  <a:rPr lang="zh-CN" altLang="en-US" dirty="0"/>
                  <a:t>     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solidFill>
                          <a:srgbClr val="0070C0"/>
                        </a:solidFill>
                        <a:latin typeface="Cambria Math" charset="0"/>
                      </a:rPr>
                      <m:t>𝑅</m:t>
                    </m:r>
                    <m:r>
                      <a:rPr lang="en-US" altLang="zh-CN" i="1" dirty="0">
                        <a:solidFill>
                          <a:srgbClr val="0070C0"/>
                        </a:solidFill>
                        <a:latin typeface="Cambria Math" charset="0"/>
                      </a:rPr>
                      <m:t>=+10000</m:t>
                    </m:r>
                  </m:oMath>
                </a14:m>
                <a:endParaRPr lang="en-US" altLang="zh-CN" dirty="0">
                  <a:solidFill>
                    <a:srgbClr val="0070C0"/>
                  </a:solidFill>
                </a:endParaRPr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7889" y="2143131"/>
                <a:ext cx="5709718" cy="4351338"/>
              </a:xfrm>
              <a:prstGeom prst="rect">
                <a:avLst/>
              </a:prstGeom>
              <a:blipFill rotWithShape="0">
                <a:blip r:embed="rId5"/>
                <a:stretch>
                  <a:fillRect l="-1921"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8005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90" y="2143131"/>
            <a:ext cx="5593557" cy="3729038"/>
          </a:xfrm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Terminology: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solidFill>
                  <a:srgbClr val="0070C0"/>
                </a:solidFill>
                <a:latin typeface="Lucida Bright" panose="02040602050505020304" pitchFamily="18" charset="0"/>
              </a:rPr>
              <a:t>reward</a:t>
            </a:r>
            <a:endParaRPr lang="en-US" sz="3600" dirty="0">
              <a:solidFill>
                <a:srgbClr val="0070C0"/>
              </a:solidFill>
            </a:endParaRPr>
          </a:p>
        </p:txBody>
      </p:sp>
      <p:sp>
        <p:nvSpPr>
          <p:cNvPr id="2" name="Freeform 1"/>
          <p:cNvSpPr/>
          <p:nvPr/>
        </p:nvSpPr>
        <p:spPr>
          <a:xfrm>
            <a:off x="2643140" y="3943350"/>
            <a:ext cx="1143048" cy="1000125"/>
          </a:xfrm>
          <a:custGeom>
            <a:avLst/>
            <a:gdLst>
              <a:gd name="connsiteX0" fmla="*/ 528686 w 785861"/>
              <a:gd name="connsiteY0" fmla="*/ 0 h 671513"/>
              <a:gd name="connsiteX1" fmla="*/ 385811 w 785861"/>
              <a:gd name="connsiteY1" fmla="*/ 0 h 671513"/>
              <a:gd name="connsiteX2" fmla="*/ 185786 w 785861"/>
              <a:gd name="connsiteY2" fmla="*/ 14288 h 671513"/>
              <a:gd name="connsiteX3" fmla="*/ 100061 w 785861"/>
              <a:gd name="connsiteY3" fmla="*/ 42863 h 671513"/>
              <a:gd name="connsiteX4" fmla="*/ 57198 w 785861"/>
              <a:gd name="connsiteY4" fmla="*/ 57150 h 671513"/>
              <a:gd name="connsiteX5" fmla="*/ 48 w 785861"/>
              <a:gd name="connsiteY5" fmla="*/ 142875 h 671513"/>
              <a:gd name="connsiteX6" fmla="*/ 14336 w 785861"/>
              <a:gd name="connsiteY6" fmla="*/ 442913 h 671513"/>
              <a:gd name="connsiteX7" fmla="*/ 71486 w 785861"/>
              <a:gd name="connsiteY7" fmla="*/ 528638 h 671513"/>
              <a:gd name="connsiteX8" fmla="*/ 100061 w 785861"/>
              <a:gd name="connsiteY8" fmla="*/ 571500 h 671513"/>
              <a:gd name="connsiteX9" fmla="*/ 185786 w 785861"/>
              <a:gd name="connsiteY9" fmla="*/ 628650 h 671513"/>
              <a:gd name="connsiteX10" fmla="*/ 428673 w 785861"/>
              <a:gd name="connsiteY10" fmla="*/ 671513 h 671513"/>
              <a:gd name="connsiteX11" fmla="*/ 642986 w 785861"/>
              <a:gd name="connsiteY11" fmla="*/ 657225 h 671513"/>
              <a:gd name="connsiteX12" fmla="*/ 685848 w 785861"/>
              <a:gd name="connsiteY12" fmla="*/ 642938 h 671513"/>
              <a:gd name="connsiteX13" fmla="*/ 728711 w 785861"/>
              <a:gd name="connsiteY13" fmla="*/ 600075 h 671513"/>
              <a:gd name="connsiteX14" fmla="*/ 742998 w 785861"/>
              <a:gd name="connsiteY14" fmla="*/ 557213 h 671513"/>
              <a:gd name="connsiteX15" fmla="*/ 771573 w 785861"/>
              <a:gd name="connsiteY15" fmla="*/ 514350 h 671513"/>
              <a:gd name="connsiteX16" fmla="*/ 785861 w 785861"/>
              <a:gd name="connsiteY16" fmla="*/ 442913 h 671513"/>
              <a:gd name="connsiteX17" fmla="*/ 771573 w 785861"/>
              <a:gd name="connsiteY17" fmla="*/ 200025 h 671513"/>
              <a:gd name="connsiteX18" fmla="*/ 757286 w 785861"/>
              <a:gd name="connsiteY18" fmla="*/ 142875 h 671513"/>
              <a:gd name="connsiteX19" fmla="*/ 700136 w 785861"/>
              <a:gd name="connsiteY19" fmla="*/ 57150 h 671513"/>
              <a:gd name="connsiteX20" fmla="*/ 614411 w 785861"/>
              <a:gd name="connsiteY20" fmla="*/ 0 h 671513"/>
              <a:gd name="connsiteX21" fmla="*/ 528686 w 785861"/>
              <a:gd name="connsiteY21" fmla="*/ 0 h 671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785861" h="671513">
                <a:moveTo>
                  <a:pt x="528686" y="0"/>
                </a:moveTo>
                <a:cubicBezTo>
                  <a:pt x="395941" y="33187"/>
                  <a:pt x="560968" y="0"/>
                  <a:pt x="385811" y="0"/>
                </a:cubicBezTo>
                <a:cubicBezTo>
                  <a:pt x="318966" y="0"/>
                  <a:pt x="252461" y="9525"/>
                  <a:pt x="185786" y="14288"/>
                </a:cubicBezTo>
                <a:lnTo>
                  <a:pt x="100061" y="42863"/>
                </a:lnTo>
                <a:lnTo>
                  <a:pt x="57198" y="57150"/>
                </a:lnTo>
                <a:cubicBezTo>
                  <a:pt x="38148" y="85725"/>
                  <a:pt x="-1586" y="108571"/>
                  <a:pt x="48" y="142875"/>
                </a:cubicBezTo>
                <a:cubicBezTo>
                  <a:pt x="4811" y="242888"/>
                  <a:pt x="-3896" y="344461"/>
                  <a:pt x="14336" y="442913"/>
                </a:cubicBezTo>
                <a:cubicBezTo>
                  <a:pt x="20590" y="476682"/>
                  <a:pt x="52436" y="500063"/>
                  <a:pt x="71486" y="528638"/>
                </a:cubicBezTo>
                <a:cubicBezTo>
                  <a:pt x="81011" y="542925"/>
                  <a:pt x="85774" y="561975"/>
                  <a:pt x="100061" y="571500"/>
                </a:cubicBezTo>
                <a:cubicBezTo>
                  <a:pt x="128636" y="590550"/>
                  <a:pt x="153205" y="617790"/>
                  <a:pt x="185786" y="628650"/>
                </a:cubicBezTo>
                <a:cubicBezTo>
                  <a:pt x="321415" y="673860"/>
                  <a:pt x="241514" y="654498"/>
                  <a:pt x="428673" y="671513"/>
                </a:cubicBezTo>
                <a:cubicBezTo>
                  <a:pt x="500111" y="666750"/>
                  <a:pt x="571828" y="665131"/>
                  <a:pt x="642986" y="657225"/>
                </a:cubicBezTo>
                <a:cubicBezTo>
                  <a:pt x="657954" y="655562"/>
                  <a:pt x="673317" y="651292"/>
                  <a:pt x="685848" y="642938"/>
                </a:cubicBezTo>
                <a:cubicBezTo>
                  <a:pt x="702660" y="631730"/>
                  <a:pt x="714423" y="614363"/>
                  <a:pt x="728711" y="600075"/>
                </a:cubicBezTo>
                <a:cubicBezTo>
                  <a:pt x="733473" y="585788"/>
                  <a:pt x="736263" y="570683"/>
                  <a:pt x="742998" y="557213"/>
                </a:cubicBezTo>
                <a:cubicBezTo>
                  <a:pt x="750677" y="541854"/>
                  <a:pt x="765544" y="530428"/>
                  <a:pt x="771573" y="514350"/>
                </a:cubicBezTo>
                <a:cubicBezTo>
                  <a:pt x="780100" y="491612"/>
                  <a:pt x="781098" y="466725"/>
                  <a:pt x="785861" y="442913"/>
                </a:cubicBezTo>
                <a:cubicBezTo>
                  <a:pt x="781098" y="361950"/>
                  <a:pt x="779262" y="280762"/>
                  <a:pt x="771573" y="200025"/>
                </a:cubicBezTo>
                <a:cubicBezTo>
                  <a:pt x="769711" y="180477"/>
                  <a:pt x="766068" y="160438"/>
                  <a:pt x="757286" y="142875"/>
                </a:cubicBezTo>
                <a:cubicBezTo>
                  <a:pt x="741927" y="112158"/>
                  <a:pt x="728711" y="76200"/>
                  <a:pt x="700136" y="57150"/>
                </a:cubicBezTo>
                <a:cubicBezTo>
                  <a:pt x="671561" y="38100"/>
                  <a:pt x="648754" y="0"/>
                  <a:pt x="614411" y="0"/>
                </a:cubicBezTo>
                <a:lnTo>
                  <a:pt x="528686" y="0"/>
                </a:lnTo>
                <a:close/>
              </a:path>
            </a:pathLst>
          </a:cu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074051" y="1273750"/>
                <a:ext cx="5593556" cy="58477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3200" b="1" dirty="0" smtClean="0">
                    <a:solidFill>
                      <a:srgbClr val="0070C0"/>
                    </a:solidFill>
                    <a:latin typeface="Lucida Bright" panose="02040602050505020304" pitchFamily="18" charset="0"/>
                  </a:rPr>
                  <a:t>reward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0070C0"/>
                        </a:solidFill>
                        <a:latin typeface="Cambria Math" charset="0"/>
                        <a:ea typeface="Courier New" charset="0"/>
                        <a:cs typeface="Courier New" charset="0"/>
                      </a:rPr>
                      <m:t>𝑅</m:t>
                    </m:r>
                  </m:oMath>
                </a14:m>
                <a:endParaRPr lang="en-US" sz="3200" dirty="0">
                  <a:latin typeface="Courier New" charset="0"/>
                  <a:ea typeface="Courier New" charset="0"/>
                  <a:cs typeface="Courier New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4051" y="1273750"/>
                <a:ext cx="5593556" cy="584775"/>
              </a:xfrm>
              <a:prstGeom prst="rect">
                <a:avLst/>
              </a:prstGeom>
              <a:blipFill rotWithShape="0">
                <a:blip r:embed="rId4"/>
                <a:stretch>
                  <a:fillRect t="-19792" b="-270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 txBox="1">
                <a:spLocks/>
              </p:cNvSpPr>
              <p:nvPr/>
            </p:nvSpPr>
            <p:spPr>
              <a:xfrm>
                <a:off x="5957889" y="2143131"/>
                <a:ext cx="5709718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dirty="0"/>
                  <a:t>Collect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coin:</a:t>
                </a:r>
                <a:r>
                  <a:rPr lang="zh-CN" altLang="en-US" dirty="0"/>
                  <a:t>      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solidFill>
                          <a:srgbClr val="0070C0"/>
                        </a:solidFill>
                        <a:latin typeface="Cambria Math" charset="0"/>
                      </a:rPr>
                      <m:t>𝑅</m:t>
                    </m:r>
                    <m:r>
                      <a:rPr lang="en-US" altLang="zh-CN" i="1" dirty="0">
                        <a:solidFill>
                          <a:srgbClr val="0070C0"/>
                        </a:solidFill>
                        <a:latin typeface="Cambria Math" charset="0"/>
                      </a:rPr>
                      <m:t>=+1</m:t>
                    </m:r>
                  </m:oMath>
                </a14:m>
                <a:endParaRPr lang="en-US" altLang="zh-CN" dirty="0">
                  <a:solidFill>
                    <a:srgbClr val="0070C0"/>
                  </a:solidFill>
                </a:endParaRPr>
              </a:p>
              <a:p>
                <a:r>
                  <a:rPr lang="en-US" altLang="zh-CN" dirty="0"/>
                  <a:t>Win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game:</a:t>
                </a:r>
                <a:r>
                  <a:rPr lang="zh-CN" altLang="en-US" dirty="0"/>
                  <a:t>     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solidFill>
                          <a:srgbClr val="0070C0"/>
                        </a:solidFill>
                        <a:latin typeface="Cambria Math" charset="0"/>
                      </a:rPr>
                      <m:t>𝑅</m:t>
                    </m:r>
                    <m:r>
                      <a:rPr lang="en-US" altLang="zh-CN" i="1" dirty="0">
                        <a:solidFill>
                          <a:srgbClr val="0070C0"/>
                        </a:solidFill>
                        <a:latin typeface="Cambria Math" charset="0"/>
                      </a:rPr>
                      <m:t>=+10000</m:t>
                    </m:r>
                  </m:oMath>
                </a14:m>
                <a:endParaRPr lang="en-US" altLang="zh-CN" dirty="0">
                  <a:solidFill>
                    <a:srgbClr val="0070C0"/>
                  </a:solidFill>
                </a:endParaRPr>
              </a:p>
              <a:p>
                <a:r>
                  <a:rPr lang="en-US" altLang="zh-CN" dirty="0"/>
                  <a:t>Touch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 </a:t>
                </a:r>
                <a:r>
                  <a:rPr lang="en-US" altLang="zh-CN" dirty="0" err="1"/>
                  <a:t>Goomba</a:t>
                </a:r>
                <a:r>
                  <a:rPr lang="en-US" altLang="zh-CN" dirty="0"/>
                  <a:t>: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solidFill>
                          <a:srgbClr val="0070C0"/>
                        </a:solidFill>
                        <a:latin typeface="Cambria Math" charset="0"/>
                      </a:rPr>
                      <m:t>𝑅</m:t>
                    </m:r>
                    <m:r>
                      <a:rPr lang="en-US" altLang="zh-CN" i="1" dirty="0">
                        <a:solidFill>
                          <a:srgbClr val="0070C0"/>
                        </a:solidFill>
                        <a:latin typeface="Cambria Math" charset="0"/>
                      </a:rPr>
                      <m:t>=−10000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(game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over).</a:t>
                </a:r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7889" y="2143131"/>
                <a:ext cx="5709718" cy="4351338"/>
              </a:xfrm>
              <a:prstGeom prst="rect">
                <a:avLst/>
              </a:prstGeom>
              <a:blipFill rotWithShape="0">
                <a:blip r:embed="rId5"/>
                <a:stretch>
                  <a:fillRect l="-1921"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77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5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" presetID="35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35" presetClass="emph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0"/>
                            </p:stCondLst>
                            <p:childTnLst>
                              <p:par>
                                <p:cTn id="18" presetID="35" presetClass="emph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2" grpId="2" animBg="1"/>
      <p:bldP spid="2" grpId="3" animBg="1"/>
      <p:bldP spid="2" grpId="4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90" y="2143131"/>
            <a:ext cx="5593557" cy="3729038"/>
          </a:xfrm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Terminology: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solidFill>
                  <a:srgbClr val="0070C0"/>
                </a:solidFill>
                <a:latin typeface="Lucida Bright" panose="02040602050505020304" pitchFamily="18" charset="0"/>
              </a:rPr>
              <a:t>reward</a:t>
            </a:r>
            <a:endParaRPr lang="en-US" sz="36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2"/>
              <p:cNvSpPr txBox="1">
                <a:spLocks/>
              </p:cNvSpPr>
              <p:nvPr/>
            </p:nvSpPr>
            <p:spPr>
              <a:xfrm>
                <a:off x="5957889" y="2143131"/>
                <a:ext cx="5709718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dirty="0"/>
                  <a:t>Collect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coin:</a:t>
                </a:r>
                <a:r>
                  <a:rPr lang="zh-CN" altLang="en-US" dirty="0"/>
                  <a:t>      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solidFill>
                          <a:srgbClr val="0070C0"/>
                        </a:solidFill>
                        <a:latin typeface="Cambria Math" charset="0"/>
                      </a:rPr>
                      <m:t>𝑅</m:t>
                    </m:r>
                    <m:r>
                      <a:rPr lang="en-US" altLang="zh-CN" i="1" dirty="0">
                        <a:solidFill>
                          <a:srgbClr val="0070C0"/>
                        </a:solidFill>
                        <a:latin typeface="Cambria Math" charset="0"/>
                      </a:rPr>
                      <m:t>=+1</m:t>
                    </m:r>
                  </m:oMath>
                </a14:m>
                <a:endParaRPr lang="en-US" altLang="zh-CN" dirty="0">
                  <a:solidFill>
                    <a:srgbClr val="0070C0"/>
                  </a:solidFill>
                </a:endParaRPr>
              </a:p>
              <a:p>
                <a:r>
                  <a:rPr lang="en-US" altLang="zh-CN" dirty="0"/>
                  <a:t>Win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game:</a:t>
                </a:r>
                <a:r>
                  <a:rPr lang="zh-CN" altLang="en-US" dirty="0"/>
                  <a:t>     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solidFill>
                          <a:srgbClr val="0070C0"/>
                        </a:solidFill>
                        <a:latin typeface="Cambria Math" charset="0"/>
                      </a:rPr>
                      <m:t>𝑅</m:t>
                    </m:r>
                    <m:r>
                      <a:rPr lang="en-US" altLang="zh-CN" i="1" dirty="0">
                        <a:solidFill>
                          <a:srgbClr val="0070C0"/>
                        </a:solidFill>
                        <a:latin typeface="Cambria Math" charset="0"/>
                      </a:rPr>
                      <m:t>=+10000</m:t>
                    </m:r>
                  </m:oMath>
                </a14:m>
                <a:endParaRPr lang="en-US" altLang="zh-CN" dirty="0">
                  <a:solidFill>
                    <a:srgbClr val="0070C0"/>
                  </a:solidFill>
                </a:endParaRPr>
              </a:p>
              <a:p>
                <a:r>
                  <a:rPr lang="en-US" altLang="zh-CN" dirty="0"/>
                  <a:t>Touch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 </a:t>
                </a:r>
                <a:r>
                  <a:rPr lang="en-US" altLang="zh-CN" dirty="0" err="1"/>
                  <a:t>Goomba</a:t>
                </a:r>
                <a:r>
                  <a:rPr lang="en-US" altLang="zh-CN" dirty="0"/>
                  <a:t>: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solidFill>
                          <a:srgbClr val="0070C0"/>
                        </a:solidFill>
                        <a:latin typeface="Cambria Math" charset="0"/>
                      </a:rPr>
                      <m:t>𝑅</m:t>
                    </m:r>
                    <m:r>
                      <a:rPr lang="en-US" altLang="zh-CN" i="1" dirty="0">
                        <a:solidFill>
                          <a:srgbClr val="0070C0"/>
                        </a:solidFill>
                        <a:latin typeface="Cambria Math" charset="0"/>
                      </a:rPr>
                      <m:t>=−10000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(game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over).</a:t>
                </a:r>
              </a:p>
              <a:p>
                <a:r>
                  <a:rPr lang="en-US" altLang="zh-CN" dirty="0" smtClean="0"/>
                  <a:t>Nothing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happens: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solidFill>
                          <a:srgbClr val="0070C0"/>
                        </a:solidFill>
                        <a:latin typeface="Cambria Math" charset="0"/>
                      </a:rPr>
                      <m:t>𝑅</m:t>
                    </m:r>
                    <m:r>
                      <a:rPr lang="en-US" altLang="zh-CN" i="1" dirty="0">
                        <a:solidFill>
                          <a:srgbClr val="0070C0"/>
                        </a:solidFill>
                        <a:latin typeface="Cambria Math" charset="0"/>
                      </a:rPr>
                      <m:t>=0</m:t>
                    </m:r>
                  </m:oMath>
                </a14:m>
                <a:endParaRPr lang="en-US" altLang="zh-CN" dirty="0">
                  <a:solidFill>
                    <a:srgbClr val="0070C0"/>
                  </a:solidFill>
                </a:endParaRPr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16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7889" y="2143131"/>
                <a:ext cx="5709718" cy="4351338"/>
              </a:xfrm>
              <a:prstGeom prst="rect">
                <a:avLst/>
              </a:prstGeom>
              <a:blipFill rotWithShape="0">
                <a:blip r:embed="rId4"/>
                <a:stretch>
                  <a:fillRect l="-1921"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074051" y="1273750"/>
                <a:ext cx="5593556" cy="58477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3200" b="1" dirty="0" smtClean="0">
                    <a:solidFill>
                      <a:srgbClr val="0070C0"/>
                    </a:solidFill>
                    <a:latin typeface="Lucida Bright" panose="02040602050505020304" pitchFamily="18" charset="0"/>
                  </a:rPr>
                  <a:t>reward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0070C0"/>
                        </a:solidFill>
                        <a:latin typeface="Cambria Math" charset="0"/>
                        <a:ea typeface="Courier New" charset="0"/>
                        <a:cs typeface="Courier New" charset="0"/>
                      </a:rPr>
                      <m:t>𝑅</m:t>
                    </m:r>
                  </m:oMath>
                </a14:m>
                <a:endParaRPr lang="en-US" sz="3200" dirty="0">
                  <a:latin typeface="Courier New" charset="0"/>
                  <a:ea typeface="Courier New" charset="0"/>
                  <a:cs typeface="Courier New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4051" y="1273750"/>
                <a:ext cx="5593556" cy="584775"/>
              </a:xfrm>
              <a:prstGeom prst="rect">
                <a:avLst/>
              </a:prstGeom>
              <a:blipFill rotWithShape="0">
                <a:blip r:embed="rId5"/>
                <a:stretch>
                  <a:fillRect t="-19792" b="-270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643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90" y="2143131"/>
            <a:ext cx="5593557" cy="3729038"/>
          </a:xfrm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Terminology: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state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transition</a:t>
            </a:r>
            <a:endParaRPr lang="en-US" sz="3600" dirty="0">
              <a:solidFill>
                <a:srgbClr val="0070C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74051" y="1273750"/>
            <a:ext cx="5593556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 smtClean="0">
                <a:latin typeface="Lucida Bright" panose="02040602050505020304" pitchFamily="18" charset="0"/>
              </a:rPr>
              <a:t>state transition</a:t>
            </a:r>
            <a:endParaRPr lang="en-US" sz="3200" dirty="0">
              <a:latin typeface="Courier New" charset="0"/>
              <a:ea typeface="Courier New" charset="0"/>
              <a:cs typeface="Courier New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323352" y="2387573"/>
            <a:ext cx="1442383" cy="523220"/>
          </a:xfrm>
          <a:prstGeom prst="rect">
            <a:avLst/>
          </a:prstGeom>
          <a:solidFill>
            <a:schemeClr val="bg2"/>
          </a:solidFill>
        </p:spPr>
        <p:txBody>
          <a:bodyPr wrap="none">
            <a:spAutoFit/>
          </a:bodyPr>
          <a:lstStyle/>
          <a:p>
            <a:r>
              <a:rPr lang="en-US" altLang="zh-CN" sz="2800" dirty="0" smtClean="0">
                <a:solidFill>
                  <a:schemeClr val="accent6">
                    <a:lumMod val="75000"/>
                  </a:schemeClr>
                </a:solidFill>
              </a:rPr>
              <a:t>old</a:t>
            </a:r>
            <a:r>
              <a:rPr lang="zh-CN" altLang="en-US" sz="2800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altLang="zh-CN" sz="2800" dirty="0" smtClean="0">
                <a:solidFill>
                  <a:schemeClr val="accent6">
                    <a:lumMod val="75000"/>
                  </a:schemeClr>
                </a:solidFill>
              </a:rPr>
              <a:t>state</a:t>
            </a:r>
            <a:endParaRPr lang="en-US" sz="2800" dirty="0"/>
          </a:p>
        </p:txBody>
      </p:sp>
      <p:cxnSp>
        <p:nvCxnSpPr>
          <p:cNvPr id="14" name="Straight Connector 13"/>
          <p:cNvCxnSpPr/>
          <p:nvPr/>
        </p:nvCxnSpPr>
        <p:spPr>
          <a:xfrm flipH="1">
            <a:off x="7765735" y="2633825"/>
            <a:ext cx="2126121" cy="0"/>
          </a:xfrm>
          <a:prstGeom prst="line">
            <a:avLst/>
          </a:prstGeom>
          <a:ln w="38100">
            <a:solidFill>
              <a:schemeClr val="tx1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9928798" y="2381182"/>
            <a:ext cx="1604478" cy="523220"/>
          </a:xfrm>
          <a:prstGeom prst="rect">
            <a:avLst/>
          </a:prstGeom>
          <a:solidFill>
            <a:schemeClr val="bg2"/>
          </a:solidFill>
        </p:spPr>
        <p:txBody>
          <a:bodyPr wrap="none">
            <a:spAutoFit/>
          </a:bodyPr>
          <a:lstStyle/>
          <a:p>
            <a:r>
              <a:rPr lang="en-US" altLang="zh-CN" sz="2800" dirty="0" smtClean="0">
                <a:solidFill>
                  <a:schemeClr val="accent6">
                    <a:lumMod val="75000"/>
                  </a:schemeClr>
                </a:solidFill>
              </a:rPr>
              <a:t>new</a:t>
            </a:r>
            <a:r>
              <a:rPr lang="zh-CN" altLang="en-US" sz="2800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altLang="zh-CN" sz="2800" dirty="0" smtClean="0">
                <a:solidFill>
                  <a:schemeClr val="accent6">
                    <a:lumMod val="75000"/>
                  </a:schemeClr>
                </a:solidFill>
              </a:rPr>
              <a:t>state</a:t>
            </a:r>
            <a:endParaRPr lang="en-US" sz="2800" dirty="0"/>
          </a:p>
        </p:txBody>
      </p:sp>
      <p:sp>
        <p:nvSpPr>
          <p:cNvPr id="17" name="Rectangle 16"/>
          <p:cNvSpPr/>
          <p:nvPr/>
        </p:nvSpPr>
        <p:spPr>
          <a:xfrm>
            <a:off x="8288833" y="2125963"/>
            <a:ext cx="108876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2800" dirty="0" smtClean="0">
                <a:solidFill>
                  <a:srgbClr val="FF0000"/>
                </a:solidFill>
              </a:rPr>
              <a:t>action</a:t>
            </a:r>
            <a:endParaRPr 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7426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35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5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0"/>
                            </p:stCondLst>
                            <p:childTnLst>
                              <p:par>
                                <p:cTn id="2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500"/>
                            </p:stCondLst>
                            <p:childTnLst>
                              <p:par>
                                <p:cTn id="2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" grpId="0" animBg="1"/>
      <p:bldP spid="2" grpId="1" animBg="1"/>
      <p:bldP spid="2" grpId="2" animBg="1"/>
      <p:bldP spid="15" grpId="0" animBg="1"/>
      <p:bldP spid="1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90" y="2143131"/>
            <a:ext cx="5593557" cy="3729038"/>
          </a:xfrm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Terminology: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state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transition</a:t>
            </a:r>
            <a:endParaRPr lang="en-US" sz="3600" dirty="0">
              <a:solidFill>
                <a:srgbClr val="0070C0"/>
              </a:solidFill>
            </a:endParaRP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5957889" y="3328587"/>
            <a:ext cx="6234111" cy="25657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 smtClean="0"/>
              <a:t>E.g., </a:t>
            </a:r>
            <a:r>
              <a:rPr lang="en-US" altLang="zh-CN" dirty="0" smtClean="0">
                <a:solidFill>
                  <a:srgbClr val="FF0000"/>
                </a:solidFill>
              </a:rPr>
              <a:t>“up” action </a:t>
            </a:r>
            <a:r>
              <a:rPr lang="en-US" altLang="zh-CN" dirty="0" smtClean="0"/>
              <a:t>leads to a new </a:t>
            </a:r>
            <a:r>
              <a:rPr lang="en-US" altLang="zh-CN" dirty="0" smtClean="0">
                <a:solidFill>
                  <a:schemeClr val="accent6">
                    <a:lumMod val="75000"/>
                  </a:schemeClr>
                </a:solidFill>
              </a:rPr>
              <a:t>state</a:t>
            </a:r>
            <a:r>
              <a:rPr lang="en-US" altLang="zh-CN" dirty="0" smtClean="0"/>
              <a:t>.</a:t>
            </a:r>
            <a:endParaRPr lang="en-US" altLang="zh-CN" dirty="0"/>
          </a:p>
        </p:txBody>
      </p:sp>
      <p:sp>
        <p:nvSpPr>
          <p:cNvPr id="6" name="TextBox 5"/>
          <p:cNvSpPr txBox="1"/>
          <p:nvPr/>
        </p:nvSpPr>
        <p:spPr>
          <a:xfrm>
            <a:off x="6074051" y="1273750"/>
            <a:ext cx="5593556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 smtClean="0">
                <a:latin typeface="Lucida Bright" panose="02040602050505020304" pitchFamily="18" charset="0"/>
              </a:rPr>
              <a:t>state transition</a:t>
            </a:r>
            <a:endParaRPr lang="en-US" sz="3200" dirty="0">
              <a:latin typeface="Courier New" charset="0"/>
              <a:ea typeface="Courier New" charset="0"/>
              <a:cs typeface="Courier New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1889804" y="2728974"/>
            <a:ext cx="553357" cy="1155862"/>
            <a:chOff x="1889804" y="2728974"/>
            <a:chExt cx="553357" cy="1155862"/>
          </a:xfrm>
        </p:grpSpPr>
        <p:cxnSp>
          <p:nvCxnSpPr>
            <p:cNvPr id="8" name="Straight Arrow Connector 7"/>
            <p:cNvCxnSpPr/>
            <p:nvPr/>
          </p:nvCxnSpPr>
          <p:spPr>
            <a:xfrm flipH="1" flipV="1">
              <a:off x="2166483" y="3240072"/>
              <a:ext cx="1" cy="64476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 8"/>
            <p:cNvSpPr/>
            <p:nvPr/>
          </p:nvSpPr>
          <p:spPr>
            <a:xfrm>
              <a:off x="1889804" y="2728974"/>
              <a:ext cx="553357" cy="461665"/>
            </a:xfrm>
            <a:prstGeom prst="rect">
              <a:avLst/>
            </a:prstGeom>
            <a:solidFill>
              <a:srgbClr val="F6DCDD"/>
            </a:solidFill>
          </p:spPr>
          <p:txBody>
            <a:bodyPr wrap="none">
              <a:spAutoFit/>
            </a:bodyPr>
            <a:lstStyle/>
            <a:p>
              <a:r>
                <a:rPr lang="en-US" altLang="zh-CN" sz="2400" b="1" dirty="0" smtClean="0">
                  <a:latin typeface="Courier New" charset="0"/>
                  <a:ea typeface="Courier New" charset="0"/>
                  <a:cs typeface="Courier New" charset="0"/>
                </a:rPr>
                <a:t>up</a:t>
              </a:r>
              <a:endParaRPr lang="en-US" dirty="0"/>
            </a:p>
          </p:txBody>
        </p:sp>
      </p:grpSp>
      <p:sp>
        <p:nvSpPr>
          <p:cNvPr id="2" name="Rectangle 1"/>
          <p:cNvSpPr/>
          <p:nvPr/>
        </p:nvSpPr>
        <p:spPr>
          <a:xfrm>
            <a:off x="6323352" y="2387573"/>
            <a:ext cx="1442383" cy="523220"/>
          </a:xfrm>
          <a:prstGeom prst="rect">
            <a:avLst/>
          </a:prstGeom>
          <a:solidFill>
            <a:schemeClr val="bg2"/>
          </a:solidFill>
        </p:spPr>
        <p:txBody>
          <a:bodyPr wrap="none">
            <a:spAutoFit/>
          </a:bodyPr>
          <a:lstStyle/>
          <a:p>
            <a:r>
              <a:rPr lang="en-US" altLang="zh-CN" sz="2800" dirty="0" smtClean="0">
                <a:solidFill>
                  <a:schemeClr val="accent6">
                    <a:lumMod val="75000"/>
                  </a:schemeClr>
                </a:solidFill>
              </a:rPr>
              <a:t>old</a:t>
            </a:r>
            <a:r>
              <a:rPr lang="zh-CN" altLang="en-US" sz="2800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altLang="zh-CN" sz="2800" dirty="0" smtClean="0">
                <a:solidFill>
                  <a:schemeClr val="accent6">
                    <a:lumMod val="75000"/>
                  </a:schemeClr>
                </a:solidFill>
              </a:rPr>
              <a:t>state</a:t>
            </a:r>
            <a:endParaRPr lang="en-US" sz="2800" dirty="0"/>
          </a:p>
        </p:txBody>
      </p:sp>
      <p:cxnSp>
        <p:nvCxnSpPr>
          <p:cNvPr id="14" name="Straight Connector 13"/>
          <p:cNvCxnSpPr/>
          <p:nvPr/>
        </p:nvCxnSpPr>
        <p:spPr>
          <a:xfrm flipH="1">
            <a:off x="7765735" y="2633825"/>
            <a:ext cx="2126121" cy="0"/>
          </a:xfrm>
          <a:prstGeom prst="line">
            <a:avLst/>
          </a:prstGeom>
          <a:ln w="38100">
            <a:solidFill>
              <a:schemeClr val="tx1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9928798" y="2381182"/>
            <a:ext cx="1604478" cy="523220"/>
          </a:xfrm>
          <a:prstGeom prst="rect">
            <a:avLst/>
          </a:prstGeom>
          <a:solidFill>
            <a:schemeClr val="bg2"/>
          </a:solidFill>
        </p:spPr>
        <p:txBody>
          <a:bodyPr wrap="none">
            <a:spAutoFit/>
          </a:bodyPr>
          <a:lstStyle/>
          <a:p>
            <a:r>
              <a:rPr lang="en-US" altLang="zh-CN" sz="2800" dirty="0" smtClean="0">
                <a:solidFill>
                  <a:schemeClr val="accent6">
                    <a:lumMod val="75000"/>
                  </a:schemeClr>
                </a:solidFill>
              </a:rPr>
              <a:t>new</a:t>
            </a:r>
            <a:r>
              <a:rPr lang="zh-CN" altLang="en-US" sz="2800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altLang="zh-CN" sz="2800" dirty="0" smtClean="0">
                <a:solidFill>
                  <a:schemeClr val="accent6">
                    <a:lumMod val="75000"/>
                  </a:schemeClr>
                </a:solidFill>
              </a:rPr>
              <a:t>state</a:t>
            </a:r>
            <a:endParaRPr lang="en-US" sz="2800" dirty="0"/>
          </a:p>
        </p:txBody>
      </p:sp>
      <p:sp>
        <p:nvSpPr>
          <p:cNvPr id="17" name="Rectangle 16"/>
          <p:cNvSpPr/>
          <p:nvPr/>
        </p:nvSpPr>
        <p:spPr>
          <a:xfrm>
            <a:off x="8288833" y="2125963"/>
            <a:ext cx="108876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2800" dirty="0" smtClean="0">
                <a:solidFill>
                  <a:srgbClr val="FF0000"/>
                </a:solidFill>
              </a:rPr>
              <a:t>action</a:t>
            </a:r>
            <a:endParaRPr 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152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750"/>
                            </p:stCondLst>
                            <p:childTnLst>
                              <p:par>
                                <p:cTn id="13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250"/>
                            </p:stCondLst>
                            <p:childTnLst>
                              <p:par>
                                <p:cTn id="16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750"/>
                            </p:stCondLst>
                            <p:childTnLst>
                              <p:par>
                                <p:cTn id="19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250"/>
                            </p:stCondLst>
                            <p:childTnLst>
                              <p:par>
                                <p:cTn id="22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90" y="2143131"/>
            <a:ext cx="5593557" cy="3729038"/>
          </a:xfrm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Terminology: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state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transition</a:t>
            </a:r>
            <a:endParaRPr lang="en-US" sz="3600" dirty="0">
              <a:solidFill>
                <a:srgbClr val="0070C0"/>
              </a:solidFill>
            </a:endParaRP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5957889" y="3328587"/>
            <a:ext cx="6234111" cy="31003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 smtClean="0"/>
              <a:t>E.g., </a:t>
            </a:r>
            <a:r>
              <a:rPr lang="en-US" altLang="zh-CN" dirty="0" smtClean="0">
                <a:solidFill>
                  <a:srgbClr val="FF0000"/>
                </a:solidFill>
              </a:rPr>
              <a:t>“up” action </a:t>
            </a:r>
            <a:r>
              <a:rPr lang="en-US" altLang="zh-CN" dirty="0" smtClean="0"/>
              <a:t>leads to a new </a:t>
            </a:r>
            <a:r>
              <a:rPr lang="en-US" altLang="zh-CN" dirty="0" smtClean="0">
                <a:solidFill>
                  <a:schemeClr val="accent6">
                    <a:lumMod val="75000"/>
                  </a:schemeClr>
                </a:solidFill>
              </a:rPr>
              <a:t>state</a:t>
            </a:r>
            <a:r>
              <a:rPr lang="en-US" altLang="zh-CN" dirty="0" smtClean="0"/>
              <a:t>.</a:t>
            </a:r>
            <a:endParaRPr lang="en-US" altLang="zh-CN" dirty="0"/>
          </a:p>
          <a:p>
            <a:endParaRPr lang="en-US" altLang="zh-CN" dirty="0" smtClean="0"/>
          </a:p>
          <a:p>
            <a:r>
              <a:rPr lang="en-US" altLang="zh-CN" dirty="0" smtClean="0"/>
              <a:t>State transition can be random.</a:t>
            </a:r>
          </a:p>
          <a:p>
            <a:r>
              <a:rPr lang="en-US" altLang="zh-CN" dirty="0" smtClean="0"/>
              <a:t>Randomness</a:t>
            </a:r>
            <a:r>
              <a:rPr lang="zh-CN" altLang="en-US" dirty="0" smtClean="0"/>
              <a:t> </a:t>
            </a:r>
            <a:r>
              <a:rPr lang="en-US" altLang="zh-CN" dirty="0" smtClean="0"/>
              <a:t>is</a:t>
            </a:r>
            <a:r>
              <a:rPr lang="zh-CN" altLang="en-US" dirty="0" smtClean="0"/>
              <a:t> </a:t>
            </a:r>
            <a:r>
              <a:rPr lang="en-US" altLang="zh-CN" dirty="0" smtClean="0"/>
              <a:t>from</a:t>
            </a:r>
            <a:r>
              <a:rPr lang="zh-CN" altLang="en-US" dirty="0" smtClean="0"/>
              <a:t> </a:t>
            </a:r>
            <a:r>
              <a:rPr lang="en-US" altLang="zh-CN" dirty="0" smtClean="0"/>
              <a:t>the</a:t>
            </a:r>
            <a:r>
              <a:rPr lang="zh-CN" altLang="en-US" dirty="0" smtClean="0"/>
              <a:t> </a:t>
            </a:r>
            <a:r>
              <a:rPr lang="en-US" altLang="zh-CN" dirty="0" smtClean="0">
                <a:solidFill>
                  <a:schemeClr val="accent5">
                    <a:lumMod val="50000"/>
                  </a:schemeClr>
                </a:solidFill>
              </a:rPr>
              <a:t>environment</a:t>
            </a:r>
            <a:r>
              <a:rPr lang="en-US" altLang="zh-CN" dirty="0" smtClean="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74051" y="1273750"/>
            <a:ext cx="5593556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 smtClean="0">
                <a:latin typeface="Lucida Bright" panose="02040602050505020304" pitchFamily="18" charset="0"/>
              </a:rPr>
              <a:t>state transition</a:t>
            </a:r>
            <a:endParaRPr lang="en-US" sz="3200" dirty="0">
              <a:latin typeface="Courier New" charset="0"/>
              <a:ea typeface="Courier New" charset="0"/>
              <a:cs typeface="Courier New" charset="0"/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 flipH="1" flipV="1">
            <a:off x="2166483" y="3240072"/>
            <a:ext cx="1" cy="64476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889804" y="2728974"/>
            <a:ext cx="553357" cy="461665"/>
          </a:xfrm>
          <a:prstGeom prst="rect">
            <a:avLst/>
          </a:prstGeom>
          <a:solidFill>
            <a:srgbClr val="F6DCDD"/>
          </a:solidFill>
        </p:spPr>
        <p:txBody>
          <a:bodyPr wrap="none">
            <a:spAutoFit/>
          </a:bodyPr>
          <a:lstStyle/>
          <a:p>
            <a:r>
              <a:rPr lang="en-US" altLang="zh-CN" sz="2400" b="1" smtClean="0">
                <a:latin typeface="Courier New" charset="0"/>
                <a:ea typeface="Courier New" charset="0"/>
                <a:cs typeface="Courier New" charset="0"/>
              </a:rPr>
              <a:t>up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6323352" y="2387573"/>
            <a:ext cx="1442383" cy="523220"/>
          </a:xfrm>
          <a:prstGeom prst="rect">
            <a:avLst/>
          </a:prstGeom>
          <a:solidFill>
            <a:schemeClr val="bg2"/>
          </a:solidFill>
        </p:spPr>
        <p:txBody>
          <a:bodyPr wrap="none">
            <a:spAutoFit/>
          </a:bodyPr>
          <a:lstStyle/>
          <a:p>
            <a:r>
              <a:rPr lang="en-US" altLang="zh-CN" sz="2800" dirty="0" smtClean="0">
                <a:solidFill>
                  <a:schemeClr val="accent6">
                    <a:lumMod val="75000"/>
                  </a:schemeClr>
                </a:solidFill>
              </a:rPr>
              <a:t>old</a:t>
            </a:r>
            <a:r>
              <a:rPr lang="zh-CN" altLang="en-US" sz="2800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altLang="zh-CN" sz="2800" dirty="0" smtClean="0">
                <a:solidFill>
                  <a:schemeClr val="accent6">
                    <a:lumMod val="75000"/>
                  </a:schemeClr>
                </a:solidFill>
              </a:rPr>
              <a:t>state</a:t>
            </a:r>
            <a:endParaRPr lang="en-US" sz="2800" dirty="0"/>
          </a:p>
        </p:txBody>
      </p:sp>
      <p:cxnSp>
        <p:nvCxnSpPr>
          <p:cNvPr id="14" name="Straight Connector 13"/>
          <p:cNvCxnSpPr/>
          <p:nvPr/>
        </p:nvCxnSpPr>
        <p:spPr>
          <a:xfrm flipH="1">
            <a:off x="7765735" y="2633825"/>
            <a:ext cx="2126121" cy="0"/>
          </a:xfrm>
          <a:prstGeom prst="line">
            <a:avLst/>
          </a:prstGeom>
          <a:ln w="38100">
            <a:solidFill>
              <a:schemeClr val="tx1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9928798" y="2381182"/>
            <a:ext cx="1604478" cy="523220"/>
          </a:xfrm>
          <a:prstGeom prst="rect">
            <a:avLst/>
          </a:prstGeom>
          <a:solidFill>
            <a:schemeClr val="bg2"/>
          </a:solidFill>
        </p:spPr>
        <p:txBody>
          <a:bodyPr wrap="none">
            <a:spAutoFit/>
          </a:bodyPr>
          <a:lstStyle/>
          <a:p>
            <a:r>
              <a:rPr lang="en-US" altLang="zh-CN" sz="2800" dirty="0" smtClean="0">
                <a:solidFill>
                  <a:schemeClr val="accent6">
                    <a:lumMod val="75000"/>
                  </a:schemeClr>
                </a:solidFill>
              </a:rPr>
              <a:t>new</a:t>
            </a:r>
            <a:r>
              <a:rPr lang="zh-CN" altLang="en-US" sz="2800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altLang="zh-CN" sz="2800" dirty="0" smtClean="0">
                <a:solidFill>
                  <a:schemeClr val="accent6">
                    <a:lumMod val="75000"/>
                  </a:schemeClr>
                </a:solidFill>
              </a:rPr>
              <a:t>state</a:t>
            </a:r>
            <a:endParaRPr lang="en-US" sz="2800" dirty="0"/>
          </a:p>
        </p:txBody>
      </p:sp>
      <p:sp>
        <p:nvSpPr>
          <p:cNvPr id="17" name="Rectangle 16"/>
          <p:cNvSpPr/>
          <p:nvPr/>
        </p:nvSpPr>
        <p:spPr>
          <a:xfrm>
            <a:off x="8288833" y="2125963"/>
            <a:ext cx="108876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2800" dirty="0" smtClean="0">
                <a:solidFill>
                  <a:srgbClr val="FF0000"/>
                </a:solidFill>
              </a:rPr>
              <a:t>action</a:t>
            </a:r>
            <a:endParaRPr 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0426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90" y="2143131"/>
            <a:ext cx="5593557" cy="3729038"/>
          </a:xfrm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Terminology: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state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transition</a:t>
            </a:r>
            <a:endParaRPr lang="en-US" sz="3600" dirty="0">
              <a:solidFill>
                <a:srgbClr val="0070C0"/>
              </a:solidFill>
            </a:endParaRP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5957889" y="3328587"/>
            <a:ext cx="6234111" cy="31003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 smtClean="0"/>
              <a:t>E.g., </a:t>
            </a:r>
            <a:r>
              <a:rPr lang="en-US" altLang="zh-CN" dirty="0" smtClean="0">
                <a:solidFill>
                  <a:srgbClr val="FF0000"/>
                </a:solidFill>
              </a:rPr>
              <a:t>“up” action </a:t>
            </a:r>
            <a:r>
              <a:rPr lang="en-US" altLang="zh-CN" dirty="0" smtClean="0"/>
              <a:t>leads to a new </a:t>
            </a:r>
            <a:r>
              <a:rPr lang="en-US" altLang="zh-CN" dirty="0" smtClean="0">
                <a:solidFill>
                  <a:schemeClr val="accent6">
                    <a:lumMod val="75000"/>
                  </a:schemeClr>
                </a:solidFill>
              </a:rPr>
              <a:t>state</a:t>
            </a:r>
            <a:r>
              <a:rPr lang="en-US" altLang="zh-CN" dirty="0" smtClean="0"/>
              <a:t>.</a:t>
            </a:r>
            <a:endParaRPr lang="en-US" altLang="zh-CN" dirty="0"/>
          </a:p>
          <a:p>
            <a:endParaRPr lang="en-US" altLang="zh-CN" dirty="0" smtClean="0"/>
          </a:p>
          <a:p>
            <a:r>
              <a:rPr lang="en-US" altLang="zh-CN" dirty="0" smtClean="0"/>
              <a:t>State transition can be random.</a:t>
            </a:r>
          </a:p>
          <a:p>
            <a:r>
              <a:rPr lang="en-US" altLang="zh-CN" dirty="0" smtClean="0"/>
              <a:t>Randomness</a:t>
            </a:r>
            <a:r>
              <a:rPr lang="zh-CN" altLang="en-US" dirty="0" smtClean="0"/>
              <a:t> </a:t>
            </a:r>
            <a:r>
              <a:rPr lang="en-US" altLang="zh-CN" dirty="0" smtClean="0"/>
              <a:t>is</a:t>
            </a:r>
            <a:r>
              <a:rPr lang="zh-CN" altLang="en-US" dirty="0" smtClean="0"/>
              <a:t> </a:t>
            </a:r>
            <a:r>
              <a:rPr lang="en-US" altLang="zh-CN" dirty="0" smtClean="0"/>
              <a:t>from</a:t>
            </a:r>
            <a:r>
              <a:rPr lang="zh-CN" altLang="en-US" dirty="0" smtClean="0"/>
              <a:t> </a:t>
            </a:r>
            <a:r>
              <a:rPr lang="en-US" altLang="zh-CN" dirty="0" smtClean="0"/>
              <a:t>the</a:t>
            </a:r>
            <a:r>
              <a:rPr lang="zh-CN" altLang="en-US" dirty="0" smtClean="0"/>
              <a:t> </a:t>
            </a:r>
            <a:r>
              <a:rPr lang="en-US" altLang="zh-CN" dirty="0" smtClean="0"/>
              <a:t>environment.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74051" y="1273750"/>
            <a:ext cx="5593556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 smtClean="0">
                <a:latin typeface="Lucida Bright" panose="02040602050505020304" pitchFamily="18" charset="0"/>
              </a:rPr>
              <a:t>state transition</a:t>
            </a:r>
            <a:endParaRPr lang="en-US" sz="3200" dirty="0">
              <a:latin typeface="Courier New" charset="0"/>
              <a:ea typeface="Courier New" charset="0"/>
              <a:cs typeface="Courier New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1889804" y="2728974"/>
            <a:ext cx="553357" cy="1155862"/>
            <a:chOff x="1889804" y="2728974"/>
            <a:chExt cx="553357" cy="1155862"/>
          </a:xfrm>
        </p:grpSpPr>
        <p:cxnSp>
          <p:nvCxnSpPr>
            <p:cNvPr id="8" name="Straight Arrow Connector 7"/>
            <p:cNvCxnSpPr/>
            <p:nvPr/>
          </p:nvCxnSpPr>
          <p:spPr>
            <a:xfrm flipH="1" flipV="1">
              <a:off x="2166483" y="3240072"/>
              <a:ext cx="1" cy="64476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 8"/>
            <p:cNvSpPr/>
            <p:nvPr/>
          </p:nvSpPr>
          <p:spPr>
            <a:xfrm>
              <a:off x="1889804" y="2728974"/>
              <a:ext cx="553357" cy="461665"/>
            </a:xfrm>
            <a:prstGeom prst="rect">
              <a:avLst/>
            </a:prstGeom>
            <a:solidFill>
              <a:srgbClr val="F6DCDD"/>
            </a:solidFill>
          </p:spPr>
          <p:txBody>
            <a:bodyPr wrap="none">
              <a:spAutoFit/>
            </a:bodyPr>
            <a:lstStyle/>
            <a:p>
              <a:r>
                <a:rPr lang="en-US" altLang="zh-CN" sz="2400" b="1" dirty="0" smtClean="0">
                  <a:latin typeface="Courier New" charset="0"/>
                  <a:ea typeface="Courier New" charset="0"/>
                  <a:cs typeface="Courier New" charset="0"/>
                </a:rPr>
                <a:t>up</a:t>
              </a:r>
              <a:endParaRPr lang="en-US" dirty="0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2255775" y="4471988"/>
            <a:ext cx="2256014" cy="571729"/>
            <a:chOff x="2255775" y="4471988"/>
            <a:chExt cx="2256014" cy="571729"/>
          </a:xfrm>
        </p:grpSpPr>
        <p:cxnSp>
          <p:nvCxnSpPr>
            <p:cNvPr id="10" name="Straight Arrow Connector 9"/>
            <p:cNvCxnSpPr/>
            <p:nvPr/>
          </p:nvCxnSpPr>
          <p:spPr>
            <a:xfrm flipV="1">
              <a:off x="3519035" y="4471988"/>
              <a:ext cx="621054" cy="462"/>
            </a:xfrm>
            <a:prstGeom prst="straightConnector1">
              <a:avLst/>
            </a:prstGeom>
            <a:ln w="38100">
              <a:solidFill>
                <a:schemeClr val="accent6">
                  <a:lumMod val="75000"/>
                </a:schemeClr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 flipH="1" flipV="1">
              <a:off x="2443161" y="4471988"/>
              <a:ext cx="579605" cy="462"/>
            </a:xfrm>
            <a:prstGeom prst="straightConnector1">
              <a:avLst/>
            </a:prstGeom>
            <a:ln w="38100">
              <a:solidFill>
                <a:schemeClr val="accent6">
                  <a:lumMod val="75000"/>
                </a:schemeClr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4"/>
            <p:cNvSpPr txBox="1"/>
            <p:nvPr/>
          </p:nvSpPr>
          <p:spPr>
            <a:xfrm>
              <a:off x="2255775" y="4643607"/>
              <a:ext cx="995657" cy="40011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sz="2000" dirty="0" err="1" smtClean="0"/>
                <a:t>w.p</a:t>
              </a:r>
              <a:r>
                <a:rPr lang="en-US" sz="2000" dirty="0" smtClean="0"/>
                <a:t>. 0.8</a:t>
              </a:r>
              <a:endParaRPr lang="en-US" sz="2000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516132" y="4643607"/>
              <a:ext cx="995657" cy="40011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sz="2000" dirty="0" err="1" smtClean="0"/>
                <a:t>w.p</a:t>
              </a:r>
              <a:r>
                <a:rPr lang="en-US" sz="2000" dirty="0" smtClean="0"/>
                <a:t>. 0.2</a:t>
              </a:r>
              <a:endParaRPr lang="en-US" sz="2000" dirty="0"/>
            </a:p>
          </p:txBody>
        </p:sp>
      </p:grpSp>
      <p:sp>
        <p:nvSpPr>
          <p:cNvPr id="2" name="Rectangle 1"/>
          <p:cNvSpPr/>
          <p:nvPr/>
        </p:nvSpPr>
        <p:spPr>
          <a:xfrm>
            <a:off x="6323352" y="2387573"/>
            <a:ext cx="1442383" cy="523220"/>
          </a:xfrm>
          <a:prstGeom prst="rect">
            <a:avLst/>
          </a:prstGeom>
          <a:solidFill>
            <a:schemeClr val="bg2"/>
          </a:solidFill>
        </p:spPr>
        <p:txBody>
          <a:bodyPr wrap="none">
            <a:spAutoFit/>
          </a:bodyPr>
          <a:lstStyle/>
          <a:p>
            <a:r>
              <a:rPr lang="en-US" altLang="zh-CN" sz="2800" dirty="0" smtClean="0">
                <a:solidFill>
                  <a:schemeClr val="accent6">
                    <a:lumMod val="75000"/>
                  </a:schemeClr>
                </a:solidFill>
              </a:rPr>
              <a:t>old</a:t>
            </a:r>
            <a:r>
              <a:rPr lang="zh-CN" altLang="en-US" sz="2800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altLang="zh-CN" sz="2800" dirty="0" smtClean="0">
                <a:solidFill>
                  <a:schemeClr val="accent6">
                    <a:lumMod val="75000"/>
                  </a:schemeClr>
                </a:solidFill>
              </a:rPr>
              <a:t>state</a:t>
            </a:r>
            <a:endParaRPr lang="en-US" sz="2800" dirty="0"/>
          </a:p>
        </p:txBody>
      </p:sp>
      <p:cxnSp>
        <p:nvCxnSpPr>
          <p:cNvPr id="14" name="Straight Connector 13"/>
          <p:cNvCxnSpPr/>
          <p:nvPr/>
        </p:nvCxnSpPr>
        <p:spPr>
          <a:xfrm flipH="1">
            <a:off x="7765735" y="2633825"/>
            <a:ext cx="2126121" cy="0"/>
          </a:xfrm>
          <a:prstGeom prst="line">
            <a:avLst/>
          </a:prstGeom>
          <a:ln w="38100">
            <a:solidFill>
              <a:schemeClr val="tx1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9928798" y="2381182"/>
            <a:ext cx="1604478" cy="523220"/>
          </a:xfrm>
          <a:prstGeom prst="rect">
            <a:avLst/>
          </a:prstGeom>
          <a:solidFill>
            <a:schemeClr val="bg2"/>
          </a:solidFill>
        </p:spPr>
        <p:txBody>
          <a:bodyPr wrap="none">
            <a:spAutoFit/>
          </a:bodyPr>
          <a:lstStyle/>
          <a:p>
            <a:r>
              <a:rPr lang="en-US" altLang="zh-CN" sz="2800" dirty="0" smtClean="0">
                <a:solidFill>
                  <a:schemeClr val="accent6">
                    <a:lumMod val="75000"/>
                  </a:schemeClr>
                </a:solidFill>
              </a:rPr>
              <a:t>new</a:t>
            </a:r>
            <a:r>
              <a:rPr lang="zh-CN" altLang="en-US" sz="2800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altLang="zh-CN" sz="2800" dirty="0" smtClean="0">
                <a:solidFill>
                  <a:schemeClr val="accent6">
                    <a:lumMod val="75000"/>
                  </a:schemeClr>
                </a:solidFill>
              </a:rPr>
              <a:t>state</a:t>
            </a:r>
            <a:endParaRPr lang="en-US" sz="2800" dirty="0"/>
          </a:p>
        </p:txBody>
      </p:sp>
      <p:sp>
        <p:nvSpPr>
          <p:cNvPr id="17" name="Rectangle 16"/>
          <p:cNvSpPr/>
          <p:nvPr/>
        </p:nvSpPr>
        <p:spPr>
          <a:xfrm>
            <a:off x="8288833" y="2125963"/>
            <a:ext cx="108876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2800" dirty="0" smtClean="0">
                <a:solidFill>
                  <a:srgbClr val="FF0000"/>
                </a:solidFill>
              </a:rPr>
              <a:t>action</a:t>
            </a:r>
            <a:endParaRPr lang="en-US" sz="2800" dirty="0">
              <a:solidFill>
                <a:srgbClr val="FF0000"/>
              </a:solidFill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0642" y="2922805"/>
            <a:ext cx="690277" cy="720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593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750"/>
                            </p:stCondLst>
                            <p:childTnLst>
                              <p:par>
                                <p:cTn id="12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3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6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250"/>
                            </p:stCondLst>
                            <p:childTnLst>
                              <p:par>
                                <p:cTn id="18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"/>
                            </p:stCondLst>
                            <p:childTnLst>
                              <p:par>
                                <p:cTn id="33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4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250"/>
                            </p:stCondLst>
                            <p:childTnLst>
                              <p:par>
                                <p:cTn id="39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0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90" y="2143131"/>
            <a:ext cx="5593557" cy="3729038"/>
          </a:xfrm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Terminology: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state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transition</a:t>
            </a:r>
            <a:endParaRPr lang="en-US" sz="36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2"/>
              <p:cNvSpPr txBox="1">
                <a:spLocks/>
              </p:cNvSpPr>
              <p:nvPr/>
            </p:nvSpPr>
            <p:spPr>
              <a:xfrm>
                <a:off x="5957889" y="3328587"/>
                <a:ext cx="6234111" cy="310034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dirty="0" smtClean="0"/>
                  <a:t>E.g., </a:t>
                </a:r>
                <a:r>
                  <a:rPr lang="en-US" altLang="zh-CN" dirty="0" smtClean="0">
                    <a:solidFill>
                      <a:srgbClr val="FF0000"/>
                    </a:solidFill>
                  </a:rPr>
                  <a:t>“up” action </a:t>
                </a:r>
                <a:r>
                  <a:rPr lang="en-US" altLang="zh-CN" dirty="0" smtClean="0"/>
                  <a:t>leads to a new </a:t>
                </a:r>
                <a:r>
                  <a:rPr lang="en-US" altLang="zh-CN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state</a:t>
                </a:r>
                <a:r>
                  <a:rPr lang="en-US" altLang="zh-CN" dirty="0" smtClean="0"/>
                  <a:t>.</a:t>
                </a:r>
                <a:endParaRPr lang="en-US" altLang="zh-CN" dirty="0"/>
              </a:p>
              <a:p>
                <a:endParaRPr lang="en-US" altLang="zh-CN" dirty="0" smtClean="0"/>
              </a:p>
              <a:p>
                <a:r>
                  <a:rPr lang="en-US" altLang="zh-CN" dirty="0" smtClean="0"/>
                  <a:t>State transition can be random.</a:t>
                </a:r>
              </a:p>
              <a:p>
                <a:r>
                  <a:rPr lang="en-US" altLang="zh-CN" dirty="0" smtClean="0"/>
                  <a:t>Randomness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is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from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the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environment.</a:t>
                </a:r>
              </a:p>
              <a:p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charset="0"/>
                      </a:rPr>
                      <m:t>𝑝</m:t>
                    </m:r>
                    <m:d>
                      <m:dPr>
                        <m:ctrlPr>
                          <a:rPr lang="en-US" altLang="zh-CN" b="0" i="1" dirty="0" smtClean="0">
                            <a:latin typeface="Cambria Math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b="0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zh-CN" b="0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′</m:t>
                            </m:r>
                          </m:sup>
                        </m:sSup>
                      </m:e>
                      <m:e>
                        <m:r>
                          <a:rPr lang="en-US" altLang="zh-CN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  <m:r>
                          <a:rPr lang="en-US" altLang="zh-CN" b="0" i="1" dirty="0" smtClean="0">
                            <a:latin typeface="Cambria Math" charset="0"/>
                          </a:rPr>
                          <m:t>,</m:t>
                        </m:r>
                        <m:r>
                          <a:rPr lang="en-US" altLang="zh-CN" b="0" i="1" dirty="0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</m:d>
                    <m:r>
                      <a:rPr lang="en-US" altLang="zh-CN" b="0" i="1" dirty="0" smtClean="0">
                        <a:latin typeface="Cambria Math" charset="0"/>
                      </a:rPr>
                      <m:t>=</m:t>
                    </m:r>
                    <m:r>
                      <a:rPr lang="en-US" altLang="zh-CN" b="0" i="1" dirty="0" smtClean="0">
                        <a:latin typeface="Cambria Math" charset="0"/>
                      </a:rPr>
                      <m:t>ℙ</m:t>
                    </m:r>
                    <m:d>
                      <m:dPr>
                        <m:ctrlPr>
                          <a:rPr lang="en-US" altLang="zh-CN" b="0" i="1" dirty="0" smtClean="0">
                            <a:latin typeface="Cambria Math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b="0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n-US" altLang="zh-CN" b="0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CN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altLang="zh-CN" b="0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b="0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zh-CN" b="0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′</m:t>
                            </m:r>
                          </m:sup>
                        </m:sSup>
                      </m:e>
                      <m:e>
                        <m:r>
                          <a:rPr lang="en-US" altLang="zh-CN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𝑆</m:t>
                        </m:r>
                        <m:r>
                          <a:rPr lang="en-US" altLang="zh-CN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=</m:t>
                        </m:r>
                        <m:r>
                          <a:rPr lang="en-US" altLang="zh-CN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  <m:r>
                          <a:rPr lang="en-US" altLang="zh-CN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,</m:t>
                        </m:r>
                        <m:r>
                          <a:rPr lang="en-US" altLang="zh-CN" b="0" i="1" dirty="0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𝐴</m:t>
                        </m:r>
                        <m:r>
                          <a:rPr lang="en-US" altLang="zh-CN" b="0" i="1" dirty="0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=</m:t>
                        </m:r>
                        <m:r>
                          <a:rPr lang="en-US" altLang="zh-CN" b="0" i="1" dirty="0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altLang="zh-CN" dirty="0" smtClean="0"/>
                  <a:t>.</a:t>
                </a:r>
              </a:p>
            </p:txBody>
          </p:sp>
        </mc:Choice>
        <mc:Fallback xmlns="">
          <p:sp>
            <p:nvSpPr>
              <p:cNvPr id="16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7889" y="3328587"/>
                <a:ext cx="6234111" cy="3100348"/>
              </a:xfrm>
              <a:prstGeom prst="rect">
                <a:avLst/>
              </a:prstGeom>
              <a:blipFill rotWithShape="0">
                <a:blip r:embed="rId4"/>
                <a:stretch>
                  <a:fillRect l="-1760" t="-3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6074051" y="1273750"/>
            <a:ext cx="5593556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 smtClean="0">
                <a:latin typeface="Lucida Bright" panose="02040602050505020304" pitchFamily="18" charset="0"/>
              </a:rPr>
              <a:t>state transition</a:t>
            </a:r>
            <a:endParaRPr lang="en-US" sz="3200" dirty="0">
              <a:latin typeface="Courier New" charset="0"/>
              <a:ea typeface="Courier New" charset="0"/>
              <a:cs typeface="Courier New" charset="0"/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3519035" y="4471988"/>
            <a:ext cx="621054" cy="462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 flipV="1">
            <a:off x="2443161" y="4471988"/>
            <a:ext cx="579605" cy="462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255775" y="4643607"/>
            <a:ext cx="995657" cy="4001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dirty="0" err="1" smtClean="0"/>
              <a:t>w.p</a:t>
            </a:r>
            <a:r>
              <a:rPr lang="en-US" sz="2000" dirty="0" smtClean="0"/>
              <a:t>. 0.8</a:t>
            </a:r>
            <a:endParaRPr lang="en-US" sz="2000" dirty="0"/>
          </a:p>
        </p:txBody>
      </p:sp>
      <p:sp>
        <p:nvSpPr>
          <p:cNvPr id="13" name="TextBox 12"/>
          <p:cNvSpPr txBox="1"/>
          <p:nvPr/>
        </p:nvSpPr>
        <p:spPr>
          <a:xfrm>
            <a:off x="3516132" y="4643607"/>
            <a:ext cx="995657" cy="4001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dirty="0" err="1" smtClean="0"/>
              <a:t>w.p</a:t>
            </a:r>
            <a:r>
              <a:rPr lang="en-US" sz="2000" dirty="0" smtClean="0"/>
              <a:t>. 0.2</a:t>
            </a:r>
            <a:endParaRPr lang="en-US" sz="2000" dirty="0"/>
          </a:p>
        </p:txBody>
      </p:sp>
      <p:sp>
        <p:nvSpPr>
          <p:cNvPr id="2" name="Rectangle 1"/>
          <p:cNvSpPr/>
          <p:nvPr/>
        </p:nvSpPr>
        <p:spPr>
          <a:xfrm>
            <a:off x="6323352" y="2387573"/>
            <a:ext cx="1442383" cy="523220"/>
          </a:xfrm>
          <a:prstGeom prst="rect">
            <a:avLst/>
          </a:prstGeom>
          <a:solidFill>
            <a:schemeClr val="bg2"/>
          </a:solidFill>
        </p:spPr>
        <p:txBody>
          <a:bodyPr wrap="none">
            <a:spAutoFit/>
          </a:bodyPr>
          <a:lstStyle/>
          <a:p>
            <a:r>
              <a:rPr lang="en-US" altLang="zh-CN" sz="2800" dirty="0" smtClean="0">
                <a:solidFill>
                  <a:schemeClr val="accent6">
                    <a:lumMod val="75000"/>
                  </a:schemeClr>
                </a:solidFill>
              </a:rPr>
              <a:t>old</a:t>
            </a:r>
            <a:r>
              <a:rPr lang="zh-CN" altLang="en-US" sz="2800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altLang="zh-CN" sz="2800" dirty="0" smtClean="0">
                <a:solidFill>
                  <a:schemeClr val="accent6">
                    <a:lumMod val="75000"/>
                  </a:schemeClr>
                </a:solidFill>
              </a:rPr>
              <a:t>state</a:t>
            </a:r>
            <a:endParaRPr lang="en-US" sz="2800" dirty="0"/>
          </a:p>
        </p:txBody>
      </p:sp>
      <p:cxnSp>
        <p:nvCxnSpPr>
          <p:cNvPr id="14" name="Straight Connector 13"/>
          <p:cNvCxnSpPr/>
          <p:nvPr/>
        </p:nvCxnSpPr>
        <p:spPr>
          <a:xfrm flipH="1">
            <a:off x="7765735" y="2633825"/>
            <a:ext cx="2126121" cy="0"/>
          </a:xfrm>
          <a:prstGeom prst="line">
            <a:avLst/>
          </a:prstGeom>
          <a:ln w="38100">
            <a:solidFill>
              <a:schemeClr val="tx1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9928798" y="2381182"/>
            <a:ext cx="1604478" cy="523220"/>
          </a:xfrm>
          <a:prstGeom prst="rect">
            <a:avLst/>
          </a:prstGeom>
          <a:solidFill>
            <a:schemeClr val="bg2"/>
          </a:solidFill>
        </p:spPr>
        <p:txBody>
          <a:bodyPr wrap="none">
            <a:spAutoFit/>
          </a:bodyPr>
          <a:lstStyle/>
          <a:p>
            <a:r>
              <a:rPr lang="en-US" altLang="zh-CN" sz="2800" dirty="0" smtClean="0">
                <a:solidFill>
                  <a:schemeClr val="accent6">
                    <a:lumMod val="75000"/>
                  </a:schemeClr>
                </a:solidFill>
              </a:rPr>
              <a:t>new</a:t>
            </a:r>
            <a:r>
              <a:rPr lang="zh-CN" altLang="en-US" sz="2800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altLang="zh-CN" sz="2800" dirty="0" smtClean="0">
                <a:solidFill>
                  <a:schemeClr val="accent6">
                    <a:lumMod val="75000"/>
                  </a:schemeClr>
                </a:solidFill>
              </a:rPr>
              <a:t>state</a:t>
            </a:r>
            <a:endParaRPr lang="en-US" sz="2800" dirty="0"/>
          </a:p>
        </p:txBody>
      </p:sp>
      <p:sp>
        <p:nvSpPr>
          <p:cNvPr id="17" name="Rectangle 16"/>
          <p:cNvSpPr/>
          <p:nvPr/>
        </p:nvSpPr>
        <p:spPr>
          <a:xfrm>
            <a:off x="8288833" y="2125963"/>
            <a:ext cx="108876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2800" dirty="0" smtClean="0">
                <a:solidFill>
                  <a:srgbClr val="FF0000"/>
                </a:solidFill>
              </a:rPr>
              <a:t>action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250054" y="5902649"/>
            <a:ext cx="1469432" cy="4571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0642" y="2922805"/>
            <a:ext cx="690277" cy="720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662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0" y="2244725"/>
            <a:ext cx="11823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Two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Sources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of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Randomness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66706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stCxn id="12" idx="0"/>
          </p:cNvCxnSpPr>
          <p:nvPr/>
        </p:nvCxnSpPr>
        <p:spPr>
          <a:xfrm flipV="1">
            <a:off x="710092" y="2888013"/>
            <a:ext cx="935829" cy="616720"/>
          </a:xfrm>
          <a:prstGeom prst="line">
            <a:avLst/>
          </a:prstGeom>
          <a:ln w="38100">
            <a:solidFill>
              <a:schemeClr val="tx1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stCxn id="14" idx="1"/>
          </p:cNvCxnSpPr>
          <p:nvPr/>
        </p:nvCxnSpPr>
        <p:spPr>
          <a:xfrm flipH="1" flipV="1">
            <a:off x="1974535" y="2888014"/>
            <a:ext cx="834798" cy="691910"/>
          </a:xfrm>
          <a:prstGeom prst="line">
            <a:avLst/>
          </a:prstGeom>
          <a:ln w="38100">
            <a:solidFill>
              <a:schemeClr val="tx1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1810227" y="2888014"/>
            <a:ext cx="1" cy="592928"/>
          </a:xfrm>
          <a:prstGeom prst="line">
            <a:avLst/>
          </a:prstGeom>
          <a:ln w="38100">
            <a:solidFill>
              <a:schemeClr val="tx1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/>
          <p:cNvGrpSpPr/>
          <p:nvPr/>
        </p:nvGrpSpPr>
        <p:grpSpPr>
          <a:xfrm>
            <a:off x="1645921" y="2322780"/>
            <a:ext cx="803806" cy="584775"/>
            <a:chOff x="1645921" y="2322780"/>
            <a:chExt cx="803806" cy="584775"/>
          </a:xfrm>
        </p:grpSpPr>
        <p:sp>
          <p:nvSpPr>
            <p:cNvPr id="4" name="Rectangle 3"/>
            <p:cNvSpPr/>
            <p:nvPr/>
          </p:nvSpPr>
          <p:spPr>
            <a:xfrm>
              <a:off x="1645921" y="2514160"/>
              <a:ext cx="328612" cy="32861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/>
                <p:cNvSpPr txBox="1"/>
                <p:nvPr/>
              </p:nvSpPr>
              <p:spPr>
                <a:xfrm>
                  <a:off x="1974532" y="2322780"/>
                  <a:ext cx="475195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2" name="Text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4532" y="2322780"/>
                  <a:ext cx="475195" cy="584775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Group 10"/>
          <p:cNvGrpSpPr/>
          <p:nvPr/>
        </p:nvGrpSpPr>
        <p:grpSpPr>
          <a:xfrm>
            <a:off x="460792" y="3504733"/>
            <a:ext cx="2687775" cy="1073608"/>
            <a:chOff x="460792" y="3504733"/>
            <a:chExt cx="2687775" cy="1073608"/>
          </a:xfrm>
        </p:grpSpPr>
        <p:grpSp>
          <p:nvGrpSpPr>
            <p:cNvPr id="3" name="Group 2"/>
            <p:cNvGrpSpPr/>
            <p:nvPr/>
          </p:nvGrpSpPr>
          <p:grpSpPr>
            <a:xfrm>
              <a:off x="460792" y="3504733"/>
              <a:ext cx="498598" cy="1073608"/>
              <a:chOff x="460792" y="3504733"/>
              <a:chExt cx="498598" cy="1073608"/>
            </a:xfrm>
          </p:grpSpPr>
          <p:sp>
            <p:nvSpPr>
              <p:cNvPr id="12" name="Oval 11"/>
              <p:cNvSpPr/>
              <p:nvPr/>
            </p:nvSpPr>
            <p:spPr>
              <a:xfrm>
                <a:off x="567216" y="3504733"/>
                <a:ext cx="285751" cy="28575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" name="TextBox 1"/>
              <p:cNvSpPr txBox="1"/>
              <p:nvPr/>
            </p:nvSpPr>
            <p:spPr>
              <a:xfrm>
                <a:off x="460792" y="3932010"/>
                <a:ext cx="49859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rgbClr val="FF0000"/>
                    </a:solidFill>
                  </a:rPr>
                  <a:t>left</a:t>
                </a:r>
              </a:p>
              <a:p>
                <a:pPr algn="ctr"/>
                <a:r>
                  <a:rPr lang="en-US" altLang="zh-CN" dirty="0" smtClean="0">
                    <a:solidFill>
                      <a:srgbClr val="FF0000"/>
                    </a:solidFill>
                  </a:rPr>
                  <a:t>0.2</a:t>
                </a:r>
                <a:endParaRPr lang="en-US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6" name="Group 5"/>
            <p:cNvGrpSpPr/>
            <p:nvPr/>
          </p:nvGrpSpPr>
          <p:grpSpPr>
            <a:xfrm>
              <a:off x="1498506" y="3538077"/>
              <a:ext cx="623439" cy="1040264"/>
              <a:chOff x="1498506" y="3538077"/>
              <a:chExt cx="623439" cy="1040264"/>
            </a:xfrm>
          </p:grpSpPr>
          <p:sp>
            <p:nvSpPr>
              <p:cNvPr id="13" name="Oval 12"/>
              <p:cNvSpPr/>
              <p:nvPr/>
            </p:nvSpPr>
            <p:spPr>
              <a:xfrm>
                <a:off x="1667351" y="3538077"/>
                <a:ext cx="285751" cy="28575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1498506" y="3932010"/>
                <a:ext cx="62343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dirty="0" smtClean="0">
                    <a:solidFill>
                      <a:srgbClr val="FF0000"/>
                    </a:solidFill>
                  </a:rPr>
                  <a:t>right</a:t>
                </a:r>
              </a:p>
              <a:p>
                <a:pPr algn="ctr"/>
                <a:r>
                  <a:rPr lang="en-US" altLang="zh-CN" dirty="0" smtClean="0">
                    <a:solidFill>
                      <a:srgbClr val="FF0000"/>
                    </a:solidFill>
                  </a:rPr>
                  <a:t>0.1</a:t>
                </a:r>
                <a:endParaRPr lang="en-US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8" name="Group 7"/>
            <p:cNvGrpSpPr/>
            <p:nvPr/>
          </p:nvGrpSpPr>
          <p:grpSpPr>
            <a:xfrm>
              <a:off x="2672155" y="3538077"/>
              <a:ext cx="476412" cy="1040264"/>
              <a:chOff x="2672155" y="3538077"/>
              <a:chExt cx="476412" cy="1040264"/>
            </a:xfrm>
          </p:grpSpPr>
          <p:sp>
            <p:nvSpPr>
              <p:cNvPr id="14" name="Oval 13"/>
              <p:cNvSpPr/>
              <p:nvPr/>
            </p:nvSpPr>
            <p:spPr>
              <a:xfrm>
                <a:off x="2767486" y="3538077"/>
                <a:ext cx="285751" cy="28575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2672155" y="3932010"/>
                <a:ext cx="47641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dirty="0" smtClean="0">
                    <a:solidFill>
                      <a:srgbClr val="FF0000"/>
                    </a:solidFill>
                  </a:rPr>
                  <a:t>up</a:t>
                </a:r>
              </a:p>
              <a:p>
                <a:pPr algn="ctr"/>
                <a:r>
                  <a:rPr lang="en-US" altLang="zh-CN" dirty="0" smtClean="0">
                    <a:solidFill>
                      <a:srgbClr val="FF0000"/>
                    </a:solidFill>
                  </a:rPr>
                  <a:t>0.7</a:t>
                </a:r>
                <a:endParaRPr lang="en-US" dirty="0">
                  <a:solidFill>
                    <a:srgbClr val="FF0000"/>
                  </a:solidFill>
                </a:endParaRPr>
              </a:p>
            </p:txBody>
          </p:sp>
        </p:grpSp>
      </p:grpSp>
      <p:sp>
        <p:nvSpPr>
          <p:cNvPr id="20" name="Title 1"/>
          <p:cNvSpPr txBox="1">
            <a:spLocks/>
          </p:cNvSpPr>
          <p:nvPr/>
        </p:nvSpPr>
        <p:spPr>
          <a:xfrm>
            <a:off x="0" y="7931"/>
            <a:ext cx="12192000" cy="10350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600" b="1" smtClean="0">
                <a:latin typeface="Lucida Bright" panose="02040602050505020304" pitchFamily="18" charset="0"/>
              </a:rPr>
              <a:t>Randomness in Actions</a:t>
            </a:r>
            <a:endParaRPr lang="en-US" sz="36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6755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900"/>
                            </p:stCondLst>
                            <p:childTnLst>
                              <p:par>
                                <p:cTn id="11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350"/>
                            </p:stCondLst>
                            <p:childTnLst>
                              <p:par>
                                <p:cTn id="14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850"/>
                            </p:stCondLst>
                            <p:childTnLst>
                              <p:par>
                                <p:cTn id="17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350"/>
                            </p:stCondLst>
                            <p:childTnLst>
                              <p:par>
                                <p:cTn id="20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850"/>
                            </p:stCondLst>
                            <p:childTnLst>
                              <p:par>
                                <p:cTn id="23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645921" y="2514160"/>
            <a:ext cx="328612" cy="32861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/>
          <p:cNvCxnSpPr>
            <a:stCxn id="12" idx="0"/>
          </p:cNvCxnSpPr>
          <p:nvPr/>
        </p:nvCxnSpPr>
        <p:spPr>
          <a:xfrm flipV="1">
            <a:off x="710092" y="2888013"/>
            <a:ext cx="935829" cy="616720"/>
          </a:xfrm>
          <a:prstGeom prst="line">
            <a:avLst/>
          </a:prstGeom>
          <a:ln w="38100">
            <a:solidFill>
              <a:schemeClr val="tx1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stCxn id="14" idx="1"/>
          </p:cNvCxnSpPr>
          <p:nvPr/>
        </p:nvCxnSpPr>
        <p:spPr>
          <a:xfrm flipH="1" flipV="1">
            <a:off x="1974535" y="2888014"/>
            <a:ext cx="834798" cy="691910"/>
          </a:xfrm>
          <a:prstGeom prst="line">
            <a:avLst/>
          </a:prstGeom>
          <a:ln w="38100">
            <a:solidFill>
              <a:schemeClr val="tx1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1810227" y="2888014"/>
            <a:ext cx="1" cy="592928"/>
          </a:xfrm>
          <a:prstGeom prst="line">
            <a:avLst/>
          </a:prstGeom>
          <a:ln w="38100">
            <a:solidFill>
              <a:schemeClr val="tx1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1974532" y="2322780"/>
                <a:ext cx="475195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charset="0"/>
                        </a:rPr>
                        <m:t>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4532" y="2322780"/>
                <a:ext cx="475195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3003228" y="3347235"/>
                <a:ext cx="195944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dirty="0" smtClean="0">
                          <a:solidFill>
                            <a:srgbClr val="FF0000"/>
                          </a:solidFill>
                          <a:latin typeface="Cambria Math" charset="0"/>
                        </a:rPr>
                        <m:t>𝐴</m:t>
                      </m:r>
                      <m:r>
                        <a:rPr lang="en-US" sz="32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~</m:t>
                      </m:r>
                      <m:r>
                        <a:rPr lang="en-US" sz="32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𝜋</m:t>
                      </m:r>
                      <m:r>
                        <a:rPr lang="en-US" sz="32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(⋅|</m:t>
                      </m:r>
                      <m:r>
                        <a:rPr lang="en-US" sz="3200" b="0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charset="0"/>
                        </a:rPr>
                        <m:t>𝑠</m:t>
                      </m:r>
                      <m:r>
                        <a:rPr lang="en-US" sz="32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3228" y="3347235"/>
                <a:ext cx="1959446" cy="58477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6096000" y="1943500"/>
                <a:ext cx="5362186" cy="3474904"/>
              </a:xfrm>
            </p:spPr>
            <p:txBody>
              <a:bodyPr>
                <a:normAutofit/>
              </a:bodyPr>
              <a:lstStyle/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dirty="0" smtClean="0"/>
                  <a:t>Given state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charset="0"/>
                      </a:rPr>
                      <m:t>𝑠</m:t>
                    </m:r>
                  </m:oMath>
                </a14:m>
                <a:r>
                  <a:rPr lang="en-US" dirty="0" smtClean="0"/>
                  <a:t>, the action can be random, e.g., .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dirty="0" smtClean="0"/>
                  <a:t>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𝜋</m:t>
                    </m:r>
                    <m:d>
                      <m:dPr>
                        <m:ctrlPr>
                          <a:rPr lang="en-US" b="0" i="1" smtClean="0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b="0" i="0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“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left</m:t>
                        </m:r>
                        <m:r>
                          <a:rPr lang="en-US" b="0" i="0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”</m:t>
                        </m:r>
                      </m:e>
                      <m:e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=0.2</m:t>
                    </m:r>
                  </m:oMath>
                </a14:m>
                <a:r>
                  <a:rPr lang="en-US" dirty="0" smtClean="0"/>
                  <a:t>, 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dirty="0" smtClean="0"/>
                  <a:t>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𝜋</m:t>
                    </m:r>
                    <m:d>
                      <m:dPr>
                        <m:ctrlPr>
                          <a:rPr lang="en-US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“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right</m:t>
                        </m:r>
                        <m:r>
                          <a:rPr lang="en-US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”</m:t>
                        </m:r>
                      </m:e>
                      <m:e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charset="0"/>
                      </a:rPr>
                      <m:t>=0.</m:t>
                    </m:r>
                    <m:r>
                      <a:rPr lang="en-US" b="0" i="1" smtClean="0">
                        <a:latin typeface="Cambria Math" charset="0"/>
                      </a:rPr>
                      <m:t>1</m:t>
                    </m:r>
                  </m:oMath>
                </a14:m>
                <a:r>
                  <a:rPr lang="en-US" dirty="0"/>
                  <a:t>, </a:t>
                </a:r>
                <a:endParaRPr lang="en-US" dirty="0" smtClean="0"/>
              </a:p>
              <a:p>
                <a:pPr>
                  <a:spcAft>
                    <a:spcPts val="1200"/>
                  </a:spcAft>
                </a:pPr>
                <a:r>
                  <a:rPr lang="en-US" dirty="0" smtClean="0"/>
                  <a:t>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𝜋</m:t>
                    </m:r>
                    <m:d>
                      <m:dPr>
                        <m:ctrlPr>
                          <a:rPr lang="en-US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“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up</m:t>
                        </m:r>
                        <m:r>
                          <a:rPr lang="en-US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”</m:t>
                        </m:r>
                      </m:e>
                      <m:e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charset="0"/>
                      </a:rPr>
                      <m:t>=0.</m:t>
                    </m:r>
                    <m:r>
                      <a:rPr lang="en-US" b="0" i="1" smtClean="0">
                        <a:latin typeface="Cambria Math" charset="0"/>
                      </a:rPr>
                      <m:t>7</m:t>
                    </m:r>
                  </m:oMath>
                </a14:m>
                <a:r>
                  <a:rPr lang="en-US" altLang="zh-CN" dirty="0" smtClean="0"/>
                  <a:t>.</a:t>
                </a:r>
                <a:r>
                  <a:rPr lang="en-US" dirty="0"/>
                  <a:t> </a:t>
                </a:r>
                <a:endParaRPr lang="en-US" dirty="0" smtClean="0"/>
              </a:p>
              <a:p>
                <a:pPr>
                  <a:spcAft>
                    <a:spcPts val="1200"/>
                  </a:spcAft>
                </a:pPr>
                <a:endParaRPr lang="en-US" dirty="0"/>
              </a:p>
            </p:txBody>
          </p:sp>
        </mc:Choice>
        <mc:Fallback xmlns="">
          <p:sp>
            <p:nvSpPr>
              <p:cNvPr id="36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0" y="1943500"/>
                <a:ext cx="5362186" cy="3474904"/>
              </a:xfrm>
              <a:blipFill rotWithShape="0">
                <a:blip r:embed="rId5"/>
                <a:stretch>
                  <a:fillRect l="-2273" t="-29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/>
          <p:cNvGrpSpPr/>
          <p:nvPr/>
        </p:nvGrpSpPr>
        <p:grpSpPr>
          <a:xfrm>
            <a:off x="460792" y="3504733"/>
            <a:ext cx="498598" cy="1073608"/>
            <a:chOff x="460792" y="3504733"/>
            <a:chExt cx="498598" cy="1073608"/>
          </a:xfrm>
        </p:grpSpPr>
        <p:sp>
          <p:nvSpPr>
            <p:cNvPr id="12" name="Oval 11"/>
            <p:cNvSpPr/>
            <p:nvPr/>
          </p:nvSpPr>
          <p:spPr>
            <a:xfrm>
              <a:off x="567216" y="3504733"/>
              <a:ext cx="285751" cy="28575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TextBox 1"/>
            <p:cNvSpPr txBox="1"/>
            <p:nvPr/>
          </p:nvSpPr>
          <p:spPr>
            <a:xfrm>
              <a:off x="460792" y="3932010"/>
              <a:ext cx="49859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rgbClr val="FF0000"/>
                  </a:solidFill>
                </a:rPr>
                <a:t>left</a:t>
              </a:r>
            </a:p>
            <a:p>
              <a:pPr algn="ctr"/>
              <a:r>
                <a:rPr lang="en-US" altLang="zh-CN" dirty="0" smtClean="0">
                  <a:solidFill>
                    <a:srgbClr val="FF0000"/>
                  </a:solidFill>
                </a:rPr>
                <a:t>0.2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1498506" y="3538077"/>
            <a:ext cx="623439" cy="1040264"/>
            <a:chOff x="1498506" y="3538077"/>
            <a:chExt cx="623439" cy="1040264"/>
          </a:xfrm>
        </p:grpSpPr>
        <p:sp>
          <p:nvSpPr>
            <p:cNvPr id="13" name="Oval 12"/>
            <p:cNvSpPr/>
            <p:nvPr/>
          </p:nvSpPr>
          <p:spPr>
            <a:xfrm>
              <a:off x="1667351" y="3538077"/>
              <a:ext cx="285751" cy="28575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498506" y="3932010"/>
              <a:ext cx="62343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rgbClr val="FF0000"/>
                  </a:solidFill>
                </a:rPr>
                <a:t>right</a:t>
              </a:r>
            </a:p>
            <a:p>
              <a:pPr algn="ctr"/>
              <a:r>
                <a:rPr lang="en-US" altLang="zh-CN" dirty="0" smtClean="0">
                  <a:solidFill>
                    <a:srgbClr val="FF0000"/>
                  </a:solidFill>
                </a:rPr>
                <a:t>0.1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2672155" y="3538077"/>
            <a:ext cx="476412" cy="1040264"/>
            <a:chOff x="2672155" y="3538077"/>
            <a:chExt cx="476412" cy="1040264"/>
          </a:xfrm>
        </p:grpSpPr>
        <p:sp>
          <p:nvSpPr>
            <p:cNvPr id="14" name="Oval 13"/>
            <p:cNvSpPr/>
            <p:nvPr/>
          </p:nvSpPr>
          <p:spPr>
            <a:xfrm>
              <a:off x="2767486" y="3538077"/>
              <a:ext cx="285751" cy="28575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672155" y="3932010"/>
              <a:ext cx="47641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rgbClr val="FF0000"/>
                  </a:solidFill>
                </a:rPr>
                <a:t>up</a:t>
              </a:r>
            </a:p>
            <a:p>
              <a:pPr algn="ctr"/>
              <a:r>
                <a:rPr lang="en-US" altLang="zh-CN" dirty="0" smtClean="0">
                  <a:solidFill>
                    <a:srgbClr val="FF0000"/>
                  </a:solidFill>
                </a:rPr>
                <a:t>0.7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5927156" y="2888013"/>
            <a:ext cx="3742137" cy="211200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Randomness in Actions</a:t>
            </a:r>
            <a:endParaRPr lang="en-US" sz="36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2776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1000"/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1000"/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1000"/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750"/>
                            </p:stCondLst>
                            <p:childTnLst>
                              <p:par>
                                <p:cTn id="27" presetID="35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250"/>
                            </p:stCondLst>
                            <p:childTnLst>
                              <p:par>
                                <p:cTn id="30" presetID="35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"/>
                            </p:stCondLst>
                            <p:childTnLst>
                              <p:par>
                                <p:cTn id="33" presetID="35" presetClass="emph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500"/>
                            </p:stCondLst>
                            <p:childTnLst>
                              <p:par>
                                <p:cTn id="59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7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500"/>
                            </p:stCondLst>
                            <p:childTnLst>
                              <p:par>
                                <p:cTn id="72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7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4" grpId="1"/>
      <p:bldP spid="34" grpId="2"/>
      <p:bldP spid="34" grpId="3"/>
      <p:bldP spid="1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Randomness in States</a:t>
            </a:r>
            <a:endParaRPr lang="en-US" sz="3600" dirty="0">
              <a:solidFill>
                <a:srgbClr val="0070C0"/>
              </a:solidFill>
            </a:endParaRPr>
          </a:p>
        </p:txBody>
      </p:sp>
      <p:cxnSp>
        <p:nvCxnSpPr>
          <p:cNvPr id="29" name="Straight Connector 28"/>
          <p:cNvCxnSpPr>
            <a:stCxn id="54" idx="0"/>
          </p:cNvCxnSpPr>
          <p:nvPr/>
        </p:nvCxnSpPr>
        <p:spPr>
          <a:xfrm flipV="1">
            <a:off x="710092" y="2888013"/>
            <a:ext cx="935829" cy="616720"/>
          </a:xfrm>
          <a:prstGeom prst="line">
            <a:avLst/>
          </a:prstGeom>
          <a:ln w="38100">
            <a:solidFill>
              <a:schemeClr val="tx1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V="1">
            <a:off x="1810227" y="2888014"/>
            <a:ext cx="1" cy="592928"/>
          </a:xfrm>
          <a:prstGeom prst="line">
            <a:avLst/>
          </a:prstGeom>
          <a:ln w="38100">
            <a:solidFill>
              <a:schemeClr val="tx1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567216" y="3504733"/>
            <a:ext cx="285751" cy="28575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1667351" y="3538077"/>
            <a:ext cx="285751" cy="28575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 flipV="1">
            <a:off x="395766" y="3790483"/>
            <a:ext cx="235748" cy="688192"/>
          </a:xfrm>
          <a:prstGeom prst="line">
            <a:avLst/>
          </a:prstGeom>
          <a:ln w="38100">
            <a:solidFill>
              <a:schemeClr val="tx1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H="1" flipV="1">
            <a:off x="745812" y="3790484"/>
            <a:ext cx="221455" cy="688191"/>
          </a:xfrm>
          <a:prstGeom prst="line">
            <a:avLst/>
          </a:prstGeom>
          <a:ln w="38100">
            <a:solidFill>
              <a:schemeClr val="tx1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224317" y="4495355"/>
            <a:ext cx="328612" cy="32861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795815" y="4495354"/>
            <a:ext cx="328612" cy="32861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Connector 51"/>
          <p:cNvCxnSpPr/>
          <p:nvPr/>
        </p:nvCxnSpPr>
        <p:spPr>
          <a:xfrm flipV="1">
            <a:off x="1513759" y="3830939"/>
            <a:ext cx="235748" cy="688192"/>
          </a:xfrm>
          <a:prstGeom prst="line">
            <a:avLst/>
          </a:prstGeom>
          <a:ln w="38100">
            <a:solidFill>
              <a:schemeClr val="tx1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H="1" flipV="1">
            <a:off x="1863805" y="3830940"/>
            <a:ext cx="221455" cy="688191"/>
          </a:xfrm>
          <a:prstGeom prst="line">
            <a:avLst/>
          </a:prstGeom>
          <a:ln w="38100">
            <a:solidFill>
              <a:schemeClr val="tx1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1342310" y="4535811"/>
            <a:ext cx="328612" cy="32861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1913808" y="4535810"/>
            <a:ext cx="328612" cy="32861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/>
          <p:cNvSpPr txBox="1"/>
          <p:nvPr/>
        </p:nvSpPr>
        <p:spPr>
          <a:xfrm>
            <a:off x="156223" y="2630597"/>
            <a:ext cx="2214564" cy="2644788"/>
          </a:xfrm>
          <a:prstGeom prst="rect">
            <a:avLst/>
          </a:prstGeom>
          <a:solidFill>
            <a:schemeClr val="bg1">
              <a:alpha val="91000"/>
            </a:schemeClr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  <p:cxnSp>
        <p:nvCxnSpPr>
          <p:cNvPr id="58" name="Straight Connector 57"/>
          <p:cNvCxnSpPr/>
          <p:nvPr/>
        </p:nvCxnSpPr>
        <p:spPr>
          <a:xfrm flipH="1" flipV="1">
            <a:off x="1974535" y="2888014"/>
            <a:ext cx="834798" cy="691910"/>
          </a:xfrm>
          <a:prstGeom prst="line">
            <a:avLst/>
          </a:prstGeom>
          <a:ln w="38100">
            <a:solidFill>
              <a:schemeClr val="tx1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/>
          <p:cNvGrpSpPr/>
          <p:nvPr/>
        </p:nvGrpSpPr>
        <p:grpSpPr>
          <a:xfrm>
            <a:off x="2431730" y="3823826"/>
            <a:ext cx="900110" cy="1033485"/>
            <a:chOff x="2431730" y="3823826"/>
            <a:chExt cx="900110" cy="1033485"/>
          </a:xfrm>
        </p:grpSpPr>
        <p:cxnSp>
          <p:nvCxnSpPr>
            <p:cNvPr id="60" name="Straight Connector 59"/>
            <p:cNvCxnSpPr/>
            <p:nvPr/>
          </p:nvCxnSpPr>
          <p:spPr>
            <a:xfrm flipV="1">
              <a:off x="2603179" y="3823826"/>
              <a:ext cx="235748" cy="688192"/>
            </a:xfrm>
            <a:prstGeom prst="line">
              <a:avLst/>
            </a:prstGeom>
            <a:ln w="38100">
              <a:solidFill>
                <a:schemeClr val="tx1"/>
              </a:solidFill>
              <a:head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 flipH="1" flipV="1">
              <a:off x="2953225" y="3823827"/>
              <a:ext cx="221455" cy="688191"/>
            </a:xfrm>
            <a:prstGeom prst="line">
              <a:avLst/>
            </a:prstGeom>
            <a:ln w="38100">
              <a:solidFill>
                <a:schemeClr val="tx1"/>
              </a:solidFill>
              <a:head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Rectangle 61"/>
            <p:cNvSpPr/>
            <p:nvPr/>
          </p:nvSpPr>
          <p:spPr>
            <a:xfrm>
              <a:off x="2431730" y="4528698"/>
              <a:ext cx="328612" cy="32861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3003228" y="4528697"/>
              <a:ext cx="328612" cy="32861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1645921" y="2322780"/>
            <a:ext cx="803806" cy="584775"/>
            <a:chOff x="1645921" y="2322780"/>
            <a:chExt cx="803806" cy="584775"/>
          </a:xfrm>
        </p:grpSpPr>
        <p:sp>
          <p:nvSpPr>
            <p:cNvPr id="57" name="Rectangle 56"/>
            <p:cNvSpPr/>
            <p:nvPr/>
          </p:nvSpPr>
          <p:spPr>
            <a:xfrm>
              <a:off x="1645921" y="2514160"/>
              <a:ext cx="328612" cy="32861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/>
                <p:cNvSpPr txBox="1"/>
                <p:nvPr/>
              </p:nvSpPr>
              <p:spPr>
                <a:xfrm>
                  <a:off x="1974532" y="2322780"/>
                  <a:ext cx="475195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4" name="TextBox 6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4532" y="2322780"/>
                  <a:ext cx="475195" cy="584775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" name="Group 3"/>
          <p:cNvGrpSpPr/>
          <p:nvPr/>
        </p:nvGrpSpPr>
        <p:grpSpPr>
          <a:xfrm>
            <a:off x="2767486" y="3347235"/>
            <a:ext cx="752614" cy="584775"/>
            <a:chOff x="2767486" y="3347235"/>
            <a:chExt cx="752614" cy="584775"/>
          </a:xfrm>
        </p:grpSpPr>
        <p:sp>
          <p:nvSpPr>
            <p:cNvPr id="59" name="Oval 58"/>
            <p:cNvSpPr/>
            <p:nvPr/>
          </p:nvSpPr>
          <p:spPr>
            <a:xfrm>
              <a:off x="2767486" y="3538077"/>
              <a:ext cx="285751" cy="28575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/>
                <p:cNvSpPr txBox="1"/>
                <p:nvPr/>
              </p:nvSpPr>
              <p:spPr>
                <a:xfrm>
                  <a:off x="3003228" y="3347235"/>
                  <a:ext cx="516872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dirty="0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5" name="TextBox 6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03228" y="3347235"/>
                  <a:ext cx="516872" cy="584775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6096000" y="1943500"/>
                <a:ext cx="5362186" cy="3474904"/>
              </a:xfrm>
            </p:spPr>
            <p:txBody>
              <a:bodyPr>
                <a:norm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transition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can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be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random.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altLang="zh-CN" dirty="0" smtClean="0"/>
                  <a:t>The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environment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generates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the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new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𝑆</m:t>
                        </m:r>
                      </m:e>
                      <m:sup>
                        <m:r>
                          <a:rPr lang="en-US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by</a:t>
                </a:r>
                <a:r>
                  <a:rPr lang="zh-CN" altLang="en-US" dirty="0" smtClean="0"/>
                  <a:t> </a:t>
                </a:r>
                <a:endParaRPr lang="en-US" altLang="zh-CN" dirty="0" smtClean="0"/>
              </a:p>
              <a:p>
                <a:pPr marL="0" indent="0" algn="ctr">
                  <a:spcAft>
                    <a:spcPts val="1200"/>
                  </a:spcAft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𝑆</m:t>
                        </m:r>
                      </m:e>
                      <m:sup>
                        <m:r>
                          <a:rPr lang="en-US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′</m:t>
                        </m:r>
                      </m:sup>
                    </m:sSup>
                    <m:r>
                      <a:rPr lang="zh-CN" altLang="en-US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charset="0"/>
                      </a:rPr>
                      <m:t> </m:t>
                    </m:r>
                    <m:r>
                      <a:rPr lang="en-US" i="1" dirty="0">
                        <a:latin typeface="Cambria Math" charset="0"/>
                      </a:rPr>
                      <m:t>~</m:t>
                    </m:r>
                    <m:r>
                      <a:rPr lang="zh-CN" altLang="en-US" b="0" i="1" dirty="0" smtClean="0">
                        <a:latin typeface="Cambria Math" charset="0"/>
                      </a:rPr>
                      <m:t> </m:t>
                    </m:r>
                    <m:r>
                      <a:rPr lang="en-US" i="1" dirty="0">
                        <a:latin typeface="Cambria Math" charset="0"/>
                      </a:rPr>
                      <m:t>𝑝</m:t>
                    </m:r>
                    <m:r>
                      <a:rPr lang="en-US" i="1" dirty="0">
                        <a:latin typeface="Cambria Math" charset="0"/>
                      </a:rPr>
                      <m:t>(⋅|</m:t>
                    </m:r>
                    <m:r>
                      <a:rPr lang="en-US" i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charset="0"/>
                      </a:rPr>
                      <m:t>𝑠</m:t>
                    </m:r>
                    <m:r>
                      <a:rPr lang="en-US" i="1" dirty="0">
                        <a:latin typeface="Cambria Math" charset="0"/>
                      </a:rPr>
                      <m:t>,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charset="0"/>
                      </a:rPr>
                      <m:t>𝑎</m:t>
                    </m:r>
                    <m:r>
                      <a:rPr lang="en-US" i="1" dirty="0">
                        <a:latin typeface="Cambria Math" charset="0"/>
                      </a:rPr>
                      <m:t>)</m:t>
                    </m:r>
                  </m:oMath>
                </a14:m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.</a:t>
                </a:r>
                <a:endParaRPr lang="en-US" dirty="0"/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dirty="0"/>
              </a:p>
              <a:p>
                <a:pPr>
                  <a:spcAft>
                    <a:spcPts val="1200"/>
                  </a:spcAft>
                </a:pPr>
                <a:endParaRPr lang="en-US" dirty="0"/>
              </a:p>
            </p:txBody>
          </p:sp>
        </mc:Choice>
        <mc:Fallback xmlns="">
          <p:sp>
            <p:nvSpPr>
              <p:cNvPr id="40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0" y="1943500"/>
                <a:ext cx="5362186" cy="3474904"/>
              </a:xfrm>
              <a:blipFill rotWithShape="0">
                <a:blip r:embed="rId5"/>
                <a:stretch>
                  <a:fillRect l="-2045" t="-29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/>
          <p:cNvSpPr txBox="1"/>
          <p:nvPr/>
        </p:nvSpPr>
        <p:spPr>
          <a:xfrm flipV="1">
            <a:off x="7451387" y="4258452"/>
            <a:ext cx="2373548" cy="45719"/>
          </a:xfrm>
          <a:prstGeom prst="rect">
            <a:avLst/>
          </a:prstGeom>
          <a:noFill/>
          <a:ln w="57150">
            <a:solidFill>
              <a:srgbClr val="0B24FB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89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750"/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750"/>
                            </p:stCondLst>
                            <p:childTnLst>
                              <p:par>
                                <p:cTn id="5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750"/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500"/>
                            </p:stCondLst>
                            <p:childTnLst>
                              <p:par>
                                <p:cTn id="5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stCxn id="12" idx="0"/>
          </p:cNvCxnSpPr>
          <p:nvPr/>
        </p:nvCxnSpPr>
        <p:spPr>
          <a:xfrm flipV="1">
            <a:off x="710092" y="2888013"/>
            <a:ext cx="935829" cy="616720"/>
          </a:xfrm>
          <a:prstGeom prst="line">
            <a:avLst/>
          </a:prstGeom>
          <a:ln w="38100">
            <a:solidFill>
              <a:schemeClr val="tx1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1810227" y="2888014"/>
            <a:ext cx="1" cy="592928"/>
          </a:xfrm>
          <a:prstGeom prst="line">
            <a:avLst/>
          </a:prstGeom>
          <a:ln w="38100">
            <a:solidFill>
              <a:schemeClr val="tx1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567216" y="3504733"/>
            <a:ext cx="285751" cy="28575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1667351" y="3538077"/>
            <a:ext cx="285751" cy="28575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 flipV="1">
            <a:off x="395766" y="3790483"/>
            <a:ext cx="235748" cy="688192"/>
          </a:xfrm>
          <a:prstGeom prst="line">
            <a:avLst/>
          </a:prstGeom>
          <a:ln w="38100">
            <a:solidFill>
              <a:schemeClr val="tx1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 flipV="1">
            <a:off x="745812" y="3790484"/>
            <a:ext cx="221455" cy="688191"/>
          </a:xfrm>
          <a:prstGeom prst="line">
            <a:avLst/>
          </a:prstGeom>
          <a:ln w="38100">
            <a:solidFill>
              <a:schemeClr val="tx1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224317" y="4495355"/>
            <a:ext cx="328612" cy="32861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795815" y="4495354"/>
            <a:ext cx="328612" cy="32861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/>
          <p:cNvCxnSpPr/>
          <p:nvPr/>
        </p:nvCxnSpPr>
        <p:spPr>
          <a:xfrm flipV="1">
            <a:off x="1513759" y="3830939"/>
            <a:ext cx="235748" cy="688192"/>
          </a:xfrm>
          <a:prstGeom prst="line">
            <a:avLst/>
          </a:prstGeom>
          <a:ln w="38100">
            <a:solidFill>
              <a:schemeClr val="tx1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 flipV="1">
            <a:off x="1863805" y="3830940"/>
            <a:ext cx="221455" cy="688191"/>
          </a:xfrm>
          <a:prstGeom prst="line">
            <a:avLst/>
          </a:prstGeom>
          <a:ln w="38100">
            <a:solidFill>
              <a:schemeClr val="tx1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1342310" y="4535811"/>
            <a:ext cx="328612" cy="32861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1913808" y="4535810"/>
            <a:ext cx="328612" cy="32861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Randomness in States</a:t>
            </a:r>
            <a:endParaRPr lang="en-US" sz="3600" dirty="0">
              <a:solidFill>
                <a:srgbClr val="0070C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6223" y="2630597"/>
            <a:ext cx="2214564" cy="2644788"/>
          </a:xfrm>
          <a:prstGeom prst="rect">
            <a:avLst/>
          </a:prstGeom>
          <a:solidFill>
            <a:schemeClr val="bg1">
              <a:alpha val="91000"/>
            </a:schemeClr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1645921" y="2514160"/>
            <a:ext cx="328612" cy="32861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 flipH="1" flipV="1">
            <a:off x="1974535" y="2888014"/>
            <a:ext cx="834798" cy="691910"/>
          </a:xfrm>
          <a:prstGeom prst="line">
            <a:avLst/>
          </a:prstGeom>
          <a:ln w="38100">
            <a:solidFill>
              <a:schemeClr val="tx1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2767486" y="3538077"/>
            <a:ext cx="285751" cy="28575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/>
          <p:cNvCxnSpPr/>
          <p:nvPr/>
        </p:nvCxnSpPr>
        <p:spPr>
          <a:xfrm flipV="1">
            <a:off x="2603179" y="3823826"/>
            <a:ext cx="235748" cy="688192"/>
          </a:xfrm>
          <a:prstGeom prst="line">
            <a:avLst/>
          </a:prstGeom>
          <a:ln w="38100">
            <a:solidFill>
              <a:schemeClr val="tx1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H="1" flipV="1">
            <a:off x="2953225" y="3823827"/>
            <a:ext cx="221455" cy="688191"/>
          </a:xfrm>
          <a:prstGeom prst="line">
            <a:avLst/>
          </a:prstGeom>
          <a:ln w="38100">
            <a:solidFill>
              <a:schemeClr val="tx1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1974532" y="2322780"/>
                <a:ext cx="475195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charset="0"/>
                        </a:rPr>
                        <m:t>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4532" y="2322780"/>
                <a:ext cx="475195" cy="58477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3003228" y="3347235"/>
                <a:ext cx="51687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dirty="0" smtClean="0">
                          <a:solidFill>
                            <a:srgbClr val="FF0000"/>
                          </a:solidFill>
                          <a:latin typeface="Cambria Math" charset="0"/>
                        </a:rPr>
                        <m:t>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3228" y="3347235"/>
                <a:ext cx="516872" cy="584775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/>
          <p:cNvGrpSpPr/>
          <p:nvPr/>
        </p:nvGrpSpPr>
        <p:grpSpPr>
          <a:xfrm>
            <a:off x="2296791" y="4528697"/>
            <a:ext cx="1155706" cy="760171"/>
            <a:chOff x="2296791" y="4528697"/>
            <a:chExt cx="1155706" cy="760171"/>
          </a:xfrm>
        </p:grpSpPr>
        <p:sp>
          <p:nvSpPr>
            <p:cNvPr id="45" name="Rectangle 44"/>
            <p:cNvSpPr/>
            <p:nvPr/>
          </p:nvSpPr>
          <p:spPr>
            <a:xfrm>
              <a:off x="2431730" y="4528698"/>
              <a:ext cx="328612" cy="32861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3003228" y="4528697"/>
              <a:ext cx="328612" cy="32861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/>
                <p:cNvSpPr txBox="1"/>
                <p:nvPr/>
              </p:nvSpPr>
              <p:spPr>
                <a:xfrm>
                  <a:off x="2296791" y="4919536"/>
                  <a:ext cx="54213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0.8</m:t>
                        </m:r>
                      </m:oMath>
                    </m:oMathPara>
                  </a14:m>
                  <a:endParaRPr lang="en-US" dirty="0">
                    <a:solidFill>
                      <a:schemeClr val="accent6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8" name="TextBox 4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6791" y="4919536"/>
                  <a:ext cx="542136" cy="369332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/>
                <p:cNvSpPr txBox="1"/>
                <p:nvPr/>
              </p:nvSpPr>
              <p:spPr>
                <a:xfrm>
                  <a:off x="2910361" y="4919536"/>
                  <a:ext cx="54213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0.2</m:t>
                        </m:r>
                      </m:oMath>
                    </m:oMathPara>
                  </a14:m>
                  <a:endParaRPr lang="en-US" dirty="0">
                    <a:solidFill>
                      <a:schemeClr val="accent6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0" name="TextBox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10361" y="4919536"/>
                  <a:ext cx="542136" cy="369332"/>
                </a:xfrm>
                <a:prstGeom prst="rect">
                  <a:avLst/>
                </a:prstGeom>
                <a:blipFill rotWithShape="0"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6096000" y="1943500"/>
                <a:ext cx="5362186" cy="3474904"/>
              </a:xfrm>
            </p:spPr>
            <p:txBody>
              <a:bodyPr>
                <a:norm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transition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can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be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random.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altLang="zh-CN" dirty="0" smtClean="0"/>
                  <a:t>The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environment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generates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the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new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𝑆</m:t>
                        </m:r>
                      </m:e>
                      <m:sup>
                        <m:r>
                          <a:rPr lang="en-US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by</a:t>
                </a:r>
                <a:r>
                  <a:rPr lang="zh-CN" altLang="en-US" dirty="0" smtClean="0"/>
                  <a:t> </a:t>
                </a:r>
                <a:endParaRPr lang="en-US" altLang="zh-CN" dirty="0" smtClean="0"/>
              </a:p>
              <a:p>
                <a:pPr marL="0" indent="0" algn="ctr">
                  <a:spcAft>
                    <a:spcPts val="1200"/>
                  </a:spcAft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𝑆</m:t>
                        </m:r>
                      </m:e>
                      <m:sup>
                        <m:r>
                          <a:rPr lang="en-US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′</m:t>
                        </m:r>
                      </m:sup>
                    </m:sSup>
                    <m:r>
                      <a:rPr lang="zh-CN" altLang="en-US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charset="0"/>
                      </a:rPr>
                      <m:t> </m:t>
                    </m:r>
                    <m:r>
                      <a:rPr lang="en-US" i="1" dirty="0">
                        <a:latin typeface="Cambria Math" charset="0"/>
                      </a:rPr>
                      <m:t>~</m:t>
                    </m:r>
                    <m:r>
                      <a:rPr lang="zh-CN" altLang="en-US" b="0" i="1" dirty="0" smtClean="0">
                        <a:latin typeface="Cambria Math" charset="0"/>
                      </a:rPr>
                      <m:t> </m:t>
                    </m:r>
                    <m:r>
                      <a:rPr lang="en-US" i="1" dirty="0">
                        <a:latin typeface="Cambria Math" charset="0"/>
                      </a:rPr>
                      <m:t>𝑝</m:t>
                    </m:r>
                    <m:r>
                      <a:rPr lang="en-US" i="1" dirty="0">
                        <a:latin typeface="Cambria Math" charset="0"/>
                      </a:rPr>
                      <m:t>(⋅|</m:t>
                    </m:r>
                    <m:r>
                      <a:rPr lang="en-US" i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charset="0"/>
                      </a:rPr>
                      <m:t>𝑠</m:t>
                    </m:r>
                    <m:r>
                      <a:rPr lang="en-US" i="1" dirty="0">
                        <a:latin typeface="Cambria Math" charset="0"/>
                      </a:rPr>
                      <m:t>,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charset="0"/>
                      </a:rPr>
                      <m:t>𝑎</m:t>
                    </m:r>
                    <m:r>
                      <a:rPr lang="en-US" i="1" dirty="0">
                        <a:latin typeface="Cambria Math" charset="0"/>
                      </a:rPr>
                      <m:t>)</m:t>
                    </m:r>
                  </m:oMath>
                </a14:m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.</a:t>
                </a:r>
                <a:endParaRPr lang="en-US" dirty="0"/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dirty="0"/>
              </a:p>
              <a:p>
                <a:pPr>
                  <a:spcAft>
                    <a:spcPts val="1200"/>
                  </a:spcAft>
                </a:pPr>
                <a:endParaRPr lang="en-US" dirty="0"/>
              </a:p>
            </p:txBody>
          </p:sp>
        </mc:Choice>
        <mc:Fallback xmlns="">
          <p:sp>
            <p:nvSpPr>
              <p:cNvPr id="3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0" y="1943500"/>
                <a:ext cx="5362186" cy="3474904"/>
              </a:xfrm>
              <a:blipFill rotWithShape="0">
                <a:blip r:embed="rId12"/>
                <a:stretch>
                  <a:fillRect l="-2045" t="-29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7775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750"/>
                            </p:stCondLst>
                            <p:childTnLst>
                              <p:par>
                                <p:cTn id="8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250"/>
                            </p:stCondLst>
                            <p:childTnLst>
                              <p:par>
                                <p:cTn id="14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5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9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50"/>
                            </p:stCondLst>
                            <p:childTnLst>
                              <p:par>
                                <p:cTn id="21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2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5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8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75429"/>
                <a:ext cx="10515600" cy="4351338"/>
              </a:xfrm>
            </p:spPr>
            <p:txBody>
              <a:bodyPr>
                <a:norm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altLang="zh-CN" sz="3200" dirty="0" smtClean="0"/>
                  <a:t>The</a:t>
                </a:r>
                <a:r>
                  <a:rPr lang="zh-CN" altLang="en-US" sz="3200" dirty="0" smtClean="0"/>
                  <a:t> </a:t>
                </a:r>
                <a:r>
                  <a:rPr lang="en-US" altLang="zh-CN" sz="3200" dirty="0" smtClean="0"/>
                  <a:t>randomness</a:t>
                </a:r>
                <a:r>
                  <a:rPr lang="zh-CN" altLang="en-US" sz="3200" dirty="0" smtClean="0"/>
                  <a:t> </a:t>
                </a:r>
                <a:r>
                  <a:rPr lang="en-US" altLang="zh-CN" sz="3200" dirty="0" smtClean="0"/>
                  <a:t>in</a:t>
                </a:r>
                <a:r>
                  <a:rPr lang="zh-CN" altLang="en-US" sz="3200" dirty="0" smtClean="0"/>
                  <a:t> </a:t>
                </a:r>
                <a:r>
                  <a:rPr lang="en-US" altLang="zh-CN" sz="3200" dirty="0" smtClean="0">
                    <a:solidFill>
                      <a:srgbClr val="FF0000"/>
                    </a:solidFill>
                  </a:rPr>
                  <a:t>action</a:t>
                </a:r>
                <a:r>
                  <a:rPr lang="zh-CN" altLang="en-US" sz="3200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sz="3200" dirty="0" smtClean="0"/>
                  <a:t>is</a:t>
                </a:r>
                <a:r>
                  <a:rPr lang="zh-CN" altLang="en-US" sz="3200" dirty="0" smtClean="0"/>
                  <a:t> </a:t>
                </a:r>
                <a:r>
                  <a:rPr lang="en-US" altLang="zh-CN" sz="3200" dirty="0" smtClean="0"/>
                  <a:t>from</a:t>
                </a:r>
                <a:r>
                  <a:rPr lang="zh-CN" altLang="en-US" sz="3200" dirty="0" smtClean="0"/>
                  <a:t> </a:t>
                </a:r>
                <a:r>
                  <a:rPr lang="en-US" altLang="zh-CN" sz="3200" dirty="0" smtClean="0"/>
                  <a:t>the</a:t>
                </a:r>
                <a:r>
                  <a:rPr lang="zh-CN" altLang="en-US" sz="3200" dirty="0" smtClean="0"/>
                  <a:t> </a:t>
                </a:r>
                <a:r>
                  <a:rPr lang="en-US" altLang="zh-CN" sz="3200" dirty="0" smtClean="0"/>
                  <a:t>policy</a:t>
                </a:r>
                <a:r>
                  <a:rPr lang="zh-CN" altLang="en-US" sz="3200" dirty="0" smtClean="0"/>
                  <a:t> </a:t>
                </a:r>
                <a:r>
                  <a:rPr lang="en-US" altLang="zh-CN" sz="3200" dirty="0" smtClean="0"/>
                  <a:t>function:</a:t>
                </a:r>
              </a:p>
              <a:p>
                <a:pPr marL="0" indent="0" algn="ctr">
                  <a:spcAft>
                    <a:spcPts val="12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FF0000"/>
                        </a:solidFill>
                        <a:latin typeface="Cambria Math" charset="0"/>
                      </a:rPr>
                      <m:t>𝐴</m:t>
                    </m:r>
                    <m:r>
                      <a:rPr lang="zh-CN" altLang="en-US" sz="3200" b="0" i="1" dirty="0" smtClean="0">
                        <a:solidFill>
                          <a:srgbClr val="FF0000"/>
                        </a:solidFill>
                        <a:latin typeface="Cambria Math" charset="0"/>
                      </a:rPr>
                      <m:t> </m:t>
                    </m:r>
                    <m:r>
                      <a:rPr lang="en-US" sz="3200" i="1" dirty="0">
                        <a:latin typeface="Cambria Math" charset="0"/>
                      </a:rPr>
                      <m:t>~</m:t>
                    </m:r>
                    <m:r>
                      <a:rPr lang="zh-CN" altLang="en-US" sz="3200" b="0" i="1" dirty="0" smtClean="0">
                        <a:latin typeface="Cambria Math" charset="0"/>
                      </a:rPr>
                      <m:t> </m:t>
                    </m:r>
                    <m:r>
                      <a:rPr lang="en-US" sz="3200" i="1" dirty="0">
                        <a:latin typeface="Cambria Math" charset="0"/>
                      </a:rPr>
                      <m:t>𝜋</m:t>
                    </m:r>
                    <m:d>
                      <m:dPr>
                        <m:ctrlPr>
                          <a:rPr lang="en-US" sz="3200" i="1" dirty="0">
                            <a:latin typeface="Cambria Math" charset="0"/>
                          </a:rPr>
                        </m:ctrlPr>
                      </m:dPr>
                      <m:e>
                        <m:r>
                          <a:rPr lang="zh-CN" altLang="en-US" sz="3200" b="0" i="1" dirty="0" smtClean="0">
                            <a:latin typeface="Cambria Math" charset="0"/>
                          </a:rPr>
                          <m:t> </m:t>
                        </m:r>
                        <m:r>
                          <a:rPr lang="en-US" sz="3200" i="1" dirty="0">
                            <a:latin typeface="Cambria Math" charset="0"/>
                          </a:rPr>
                          <m:t>⋅</m:t>
                        </m:r>
                        <m:r>
                          <a:rPr lang="zh-CN" altLang="en-US" sz="3200" b="0" i="1" dirty="0" smtClean="0">
                            <a:latin typeface="Cambria Math" charset="0"/>
                          </a:rPr>
                          <m:t> </m:t>
                        </m:r>
                      </m:e>
                      <m:e>
                        <m:r>
                          <a:rPr lang="zh-CN" altLang="en-US" sz="3200" b="0" i="1" dirty="0" smtClean="0">
                            <a:latin typeface="Cambria Math" charset="0"/>
                          </a:rPr>
                          <m:t> </m:t>
                        </m:r>
                        <m:r>
                          <a:rPr lang="en-US" sz="3200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zh-CN" altLang="en-US" sz="3200" dirty="0" smtClean="0"/>
                  <a:t> </a:t>
                </a:r>
                <a:r>
                  <a:rPr lang="en-US" altLang="zh-CN" sz="3200" dirty="0" smtClean="0"/>
                  <a:t>.</a:t>
                </a:r>
                <a:endParaRPr lang="en-US" sz="3200" dirty="0"/>
              </a:p>
              <a:p>
                <a:pPr>
                  <a:spcAft>
                    <a:spcPts val="1200"/>
                  </a:spcAft>
                </a:pPr>
                <a:endParaRPr lang="en-US" sz="3200" dirty="0"/>
              </a:p>
              <a:p>
                <a:pPr>
                  <a:spcAft>
                    <a:spcPts val="1200"/>
                  </a:spcAft>
                </a:pPr>
                <a:r>
                  <a:rPr lang="en-US" altLang="zh-CN" sz="3200" dirty="0" smtClean="0"/>
                  <a:t>The</a:t>
                </a:r>
                <a:r>
                  <a:rPr lang="zh-CN" altLang="en-US" sz="3200" dirty="0" smtClean="0"/>
                  <a:t> </a:t>
                </a:r>
                <a:r>
                  <a:rPr lang="en-US" altLang="zh-CN" sz="3200" dirty="0" smtClean="0"/>
                  <a:t>randomness</a:t>
                </a:r>
                <a:r>
                  <a:rPr lang="zh-CN" altLang="en-US" sz="3200" dirty="0" smtClean="0"/>
                  <a:t> </a:t>
                </a:r>
                <a:r>
                  <a:rPr lang="en-US" altLang="zh-CN" sz="3200" dirty="0" smtClean="0"/>
                  <a:t>in</a:t>
                </a:r>
                <a:r>
                  <a:rPr lang="zh-CN" altLang="en-US" sz="3200" dirty="0" smtClean="0"/>
                  <a:t> </a:t>
                </a:r>
                <a:r>
                  <a:rPr lang="en-US" altLang="zh-CN" sz="3200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state</a:t>
                </a:r>
                <a:r>
                  <a:rPr lang="zh-CN" altLang="en-US" sz="3200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altLang="zh-CN" sz="3200" dirty="0" smtClean="0"/>
                  <a:t>is</a:t>
                </a:r>
                <a:r>
                  <a:rPr lang="zh-CN" altLang="en-US" sz="3200" dirty="0" smtClean="0"/>
                  <a:t> </a:t>
                </a:r>
                <a:r>
                  <a:rPr lang="en-US" altLang="zh-CN" sz="3200" dirty="0" smtClean="0"/>
                  <a:t>from</a:t>
                </a:r>
                <a:r>
                  <a:rPr lang="zh-CN" altLang="en-US" sz="3200" dirty="0" smtClean="0"/>
                  <a:t> </a:t>
                </a:r>
                <a:r>
                  <a:rPr lang="en-US" altLang="zh-CN" sz="3200" dirty="0" smtClean="0"/>
                  <a:t>the</a:t>
                </a:r>
                <a:r>
                  <a:rPr lang="zh-CN" altLang="en-US" sz="3200" dirty="0" smtClean="0"/>
                  <a:t> </a:t>
                </a:r>
                <a:r>
                  <a:rPr lang="en-US" altLang="zh-CN" sz="3200" dirty="0" smtClean="0"/>
                  <a:t>state-transition</a:t>
                </a:r>
                <a:r>
                  <a:rPr lang="zh-CN" altLang="en-US" sz="3200" dirty="0" smtClean="0"/>
                  <a:t> </a:t>
                </a:r>
                <a:r>
                  <a:rPr lang="en-US" altLang="zh-CN" sz="3200" dirty="0" smtClean="0"/>
                  <a:t>function:</a:t>
                </a:r>
              </a:p>
              <a:p>
                <a:pPr marL="0" indent="0" algn="ctr">
                  <a:spcAft>
                    <a:spcPts val="1200"/>
                  </a:spcAft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3200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𝑆</m:t>
                        </m:r>
                      </m:e>
                      <m:sup>
                        <m:r>
                          <a:rPr lang="en-US" sz="3200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′</m:t>
                        </m:r>
                      </m:sup>
                    </m:sSup>
                    <m:r>
                      <a:rPr lang="zh-CN" altLang="en-US" sz="3200" i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charset="0"/>
                      </a:rPr>
                      <m:t> </m:t>
                    </m:r>
                    <m:r>
                      <a:rPr lang="en-US" sz="3200" i="1" dirty="0">
                        <a:latin typeface="Cambria Math" charset="0"/>
                      </a:rPr>
                      <m:t>~</m:t>
                    </m:r>
                    <m:r>
                      <a:rPr lang="zh-CN" altLang="en-US" sz="3200" i="1" dirty="0">
                        <a:latin typeface="Cambria Math" charset="0"/>
                      </a:rPr>
                      <m:t> </m:t>
                    </m:r>
                    <m:r>
                      <a:rPr lang="en-US" sz="3200" i="1" dirty="0">
                        <a:latin typeface="Cambria Math" charset="0"/>
                      </a:rPr>
                      <m:t>𝑝</m:t>
                    </m:r>
                    <m:d>
                      <m:dPr>
                        <m:endChr m:val="|"/>
                        <m:ctrlPr>
                          <a:rPr lang="en-US" sz="3200" i="1" dirty="0">
                            <a:latin typeface="Cambria Math" charset="0"/>
                          </a:rPr>
                        </m:ctrlPr>
                      </m:dPr>
                      <m:e>
                        <m:r>
                          <a:rPr lang="zh-CN" altLang="en-US" sz="3200" b="0" i="1" dirty="0" smtClean="0">
                            <a:latin typeface="Cambria Math" charset="0"/>
                          </a:rPr>
                          <m:t> </m:t>
                        </m:r>
                        <m:r>
                          <a:rPr lang="en-US" sz="3200" i="1" dirty="0">
                            <a:latin typeface="Cambria Math" charset="0"/>
                          </a:rPr>
                          <m:t>⋅</m:t>
                        </m:r>
                        <m:r>
                          <a:rPr lang="zh-CN" altLang="en-US" sz="3200" b="0" i="1" dirty="0" smtClean="0">
                            <a:latin typeface="Cambria Math" charset="0"/>
                          </a:rPr>
                          <m:t> </m:t>
                        </m:r>
                      </m:e>
                    </m:d>
                    <m:r>
                      <a:rPr lang="zh-CN" altLang="en-US" sz="3200" b="0" i="1" dirty="0" smtClean="0">
                        <a:latin typeface="Cambria Math" charset="0"/>
                      </a:rPr>
                      <m:t> </m:t>
                    </m:r>
                    <m:r>
                      <a:rPr lang="en-US" sz="3200" i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charset="0"/>
                      </a:rPr>
                      <m:t>𝑠</m:t>
                    </m:r>
                    <m:r>
                      <a:rPr lang="en-US" sz="3200" i="1" dirty="0">
                        <a:latin typeface="Cambria Math" charset="0"/>
                      </a:rPr>
                      <m:t>,</m:t>
                    </m:r>
                    <m:r>
                      <a:rPr lang="zh-CN" altLang="en-US" sz="3200" b="0" i="1" dirty="0" smtClean="0">
                        <a:latin typeface="Cambria Math" charset="0"/>
                      </a:rPr>
                      <m:t> </m:t>
                    </m:r>
                    <m:r>
                      <a:rPr lang="en-US" sz="3200" i="1" dirty="0">
                        <a:solidFill>
                          <a:srgbClr val="FF0000"/>
                        </a:solidFill>
                        <a:latin typeface="Cambria Math" charset="0"/>
                      </a:rPr>
                      <m:t>𝑎</m:t>
                    </m:r>
                    <m:r>
                      <a:rPr lang="zh-CN" altLang="en-US" sz="3200" b="0" i="1" dirty="0" smtClean="0">
                        <a:solidFill>
                          <a:srgbClr val="FF0000"/>
                        </a:solidFill>
                        <a:latin typeface="Cambria Math" charset="0"/>
                      </a:rPr>
                      <m:t> </m:t>
                    </m:r>
                    <m:r>
                      <a:rPr lang="en-US" sz="3200" i="1" dirty="0">
                        <a:latin typeface="Cambria Math" charset="0"/>
                      </a:rPr>
                      <m:t>)</m:t>
                    </m:r>
                  </m:oMath>
                </a14:m>
                <a:r>
                  <a:rPr lang="zh-CN" altLang="en-US" sz="3200" dirty="0"/>
                  <a:t> </a:t>
                </a:r>
                <a:r>
                  <a:rPr lang="en-US" altLang="zh-CN" sz="3200" dirty="0"/>
                  <a:t>.</a:t>
                </a:r>
                <a:endParaRPr lang="en-US" sz="3200" dirty="0"/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75429"/>
                <a:ext cx="10515600" cy="4351338"/>
              </a:xfrm>
              <a:blipFill rotWithShape="0">
                <a:blip r:embed="rId3"/>
                <a:stretch>
                  <a:fillRect l="-1333" t="-2941" r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Two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Sources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of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Randomness</a:t>
            </a:r>
            <a:endParaRPr lang="en-US" sz="36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35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0" y="2244725"/>
            <a:ext cx="11823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Agent-Environment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Interaction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123648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Agent-Environment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Interaction</a:t>
            </a:r>
            <a:endParaRPr lang="en-US" sz="3600" dirty="0"/>
          </a:p>
        </p:txBody>
      </p:sp>
      <p:sp>
        <p:nvSpPr>
          <p:cNvPr id="3" name="Rounded Rectangle 2"/>
          <p:cNvSpPr/>
          <p:nvPr/>
        </p:nvSpPr>
        <p:spPr>
          <a:xfrm>
            <a:off x="4757737" y="4229099"/>
            <a:ext cx="3057525" cy="98583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Environment</a:t>
            </a:r>
            <a:endParaRPr lang="en-US" sz="3200" b="1" dirty="0">
              <a:solidFill>
                <a:schemeClr val="tx1"/>
              </a:solidFill>
              <a:latin typeface="Courier New" charset="0"/>
              <a:ea typeface="Courier New" charset="0"/>
              <a:cs typeface="Courier New" charset="0"/>
            </a:endParaRPr>
          </a:p>
        </p:txBody>
      </p:sp>
      <p:cxnSp>
        <p:nvCxnSpPr>
          <p:cNvPr id="39" name="Straight Connector 38"/>
          <p:cNvCxnSpPr/>
          <p:nvPr/>
        </p:nvCxnSpPr>
        <p:spPr>
          <a:xfrm>
            <a:off x="2986085" y="5017295"/>
            <a:ext cx="1771651" cy="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H="1">
            <a:off x="3000368" y="2216941"/>
            <a:ext cx="1757368" cy="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/>
          <p:cNvGrpSpPr/>
          <p:nvPr/>
        </p:nvGrpSpPr>
        <p:grpSpPr>
          <a:xfrm>
            <a:off x="1400175" y="2205037"/>
            <a:ext cx="1600191" cy="2826544"/>
            <a:chOff x="1400175" y="2205037"/>
            <a:chExt cx="1600191" cy="2826544"/>
          </a:xfrm>
        </p:grpSpPr>
        <p:cxnSp>
          <p:nvCxnSpPr>
            <p:cNvPr id="40" name="Straight Connector 39"/>
            <p:cNvCxnSpPr/>
            <p:nvPr/>
          </p:nvCxnSpPr>
          <p:spPr>
            <a:xfrm flipH="1">
              <a:off x="3000365" y="2205037"/>
              <a:ext cx="1" cy="2826544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/>
                <p:cNvSpPr txBox="1"/>
                <p:nvPr/>
              </p:nvSpPr>
              <p:spPr>
                <a:xfrm>
                  <a:off x="1400175" y="3356699"/>
                  <a:ext cx="1543035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800" dirty="0" smtClean="0">
                      <a:solidFill>
                        <a:schemeClr val="accent6">
                          <a:lumMod val="75000"/>
                        </a:schemeClr>
                      </a:solidFill>
                    </a:rPr>
                    <a:t>State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𝑡</m:t>
                          </m:r>
                        </m:sub>
                      </m:sSub>
                    </m:oMath>
                  </a14:m>
                  <a:endParaRPr lang="en-US" sz="2800" dirty="0">
                    <a:solidFill>
                      <a:schemeClr val="accent6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0" name="TextBox 4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0175" y="3356699"/>
                  <a:ext cx="1543035" cy="523220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l="-8300" t="-11765" b="-3411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" name="Group 3"/>
          <p:cNvGrpSpPr/>
          <p:nvPr/>
        </p:nvGrpSpPr>
        <p:grpSpPr>
          <a:xfrm>
            <a:off x="4757736" y="2009774"/>
            <a:ext cx="3057525" cy="985838"/>
            <a:chOff x="4757736" y="2009774"/>
            <a:chExt cx="3057525" cy="985838"/>
          </a:xfrm>
        </p:grpSpPr>
        <p:sp>
          <p:nvSpPr>
            <p:cNvPr id="9" name="Rounded Rectangle 8"/>
            <p:cNvSpPr/>
            <p:nvPr/>
          </p:nvSpPr>
          <p:spPr>
            <a:xfrm>
              <a:off x="4757736" y="2009774"/>
              <a:ext cx="3057525" cy="985838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 smtClean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Agent</a:t>
              </a:r>
              <a:endParaRPr lang="en-US" sz="32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endParaRPr>
            </a:p>
          </p:txBody>
        </p: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35608" y="2158764"/>
              <a:ext cx="672365" cy="7020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91865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Agent-Environment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Interaction</a:t>
            </a:r>
            <a:endParaRPr lang="en-US" sz="3600" dirty="0"/>
          </a:p>
        </p:txBody>
      </p:sp>
      <p:sp>
        <p:nvSpPr>
          <p:cNvPr id="3" name="Rounded Rectangle 2"/>
          <p:cNvSpPr/>
          <p:nvPr/>
        </p:nvSpPr>
        <p:spPr>
          <a:xfrm>
            <a:off x="4757737" y="4229099"/>
            <a:ext cx="3057525" cy="98583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Environment</a:t>
            </a:r>
            <a:endParaRPr lang="en-US" sz="3200" b="1" dirty="0">
              <a:solidFill>
                <a:schemeClr val="tx1"/>
              </a:solidFill>
              <a:latin typeface="Courier New" charset="0"/>
              <a:ea typeface="Courier New" charset="0"/>
              <a:cs typeface="Courier New" charset="0"/>
            </a:endParaRPr>
          </a:p>
        </p:txBody>
      </p:sp>
      <p:cxnSp>
        <p:nvCxnSpPr>
          <p:cNvPr id="26" name="Straight Connector 25"/>
          <p:cNvCxnSpPr>
            <a:stCxn id="9" idx="3"/>
          </p:cNvCxnSpPr>
          <p:nvPr/>
        </p:nvCxnSpPr>
        <p:spPr>
          <a:xfrm>
            <a:off x="7815261" y="2502693"/>
            <a:ext cx="105727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7815260" y="4707730"/>
            <a:ext cx="1057277" cy="0"/>
          </a:xfrm>
          <a:prstGeom prst="line">
            <a:avLst/>
          </a:prstGeom>
          <a:ln w="38100">
            <a:solidFill>
              <a:srgbClr val="FF0000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2986085" y="5017295"/>
            <a:ext cx="1771651" cy="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H="1">
            <a:off x="3000365" y="2205037"/>
            <a:ext cx="1" cy="2826544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H="1">
            <a:off x="3000368" y="2216941"/>
            <a:ext cx="1757368" cy="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/>
          <p:cNvGrpSpPr/>
          <p:nvPr/>
        </p:nvGrpSpPr>
        <p:grpSpPr>
          <a:xfrm>
            <a:off x="8872536" y="2469355"/>
            <a:ext cx="1545103" cy="2233613"/>
            <a:chOff x="8872536" y="2469355"/>
            <a:chExt cx="1545103" cy="2233613"/>
          </a:xfrm>
        </p:grpSpPr>
        <p:cxnSp>
          <p:nvCxnSpPr>
            <p:cNvPr id="28" name="Straight Connector 27"/>
            <p:cNvCxnSpPr/>
            <p:nvPr/>
          </p:nvCxnSpPr>
          <p:spPr>
            <a:xfrm flipH="1">
              <a:off x="8872537" y="2469355"/>
              <a:ext cx="2" cy="2233613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/>
                <p:cNvSpPr txBox="1"/>
                <p:nvPr/>
              </p:nvSpPr>
              <p:spPr>
                <a:xfrm>
                  <a:off x="8872536" y="3343602"/>
                  <a:ext cx="1545103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800" dirty="0" smtClean="0">
                      <a:solidFill>
                        <a:srgbClr val="FF0000"/>
                      </a:solidFill>
                    </a:rPr>
                    <a:t>Action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𝑡</m:t>
                          </m:r>
                        </m:sub>
                      </m:sSub>
                    </m:oMath>
                  </a14:m>
                  <a:endParaRPr lang="en-US" sz="2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8" name="TextBox 4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72536" y="3343602"/>
                  <a:ext cx="1545103" cy="523220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l="-7874" t="-10465" b="-325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1400175" y="3356699"/>
                <a:ext cx="154303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sz="28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0175" y="3356699"/>
                <a:ext cx="1543035" cy="523220"/>
              </a:xfrm>
              <a:prstGeom prst="rect">
                <a:avLst/>
              </a:prstGeom>
              <a:blipFill rotWithShape="0">
                <a:blip r:embed="rId4"/>
                <a:stretch>
                  <a:fillRect l="-8300" t="-11765" b="-34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/>
          <p:cNvGrpSpPr/>
          <p:nvPr/>
        </p:nvGrpSpPr>
        <p:grpSpPr>
          <a:xfrm>
            <a:off x="4757736" y="2009774"/>
            <a:ext cx="3057525" cy="985838"/>
            <a:chOff x="4757736" y="2009774"/>
            <a:chExt cx="3057525" cy="985838"/>
          </a:xfrm>
        </p:grpSpPr>
        <p:sp>
          <p:nvSpPr>
            <p:cNvPr id="9" name="Rounded Rectangle 8"/>
            <p:cNvSpPr/>
            <p:nvPr/>
          </p:nvSpPr>
          <p:spPr>
            <a:xfrm>
              <a:off x="4757736" y="2009774"/>
              <a:ext cx="3057525" cy="985838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 smtClean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Agent</a:t>
              </a:r>
              <a:endParaRPr lang="en-US" sz="32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endParaRPr>
            </a:p>
          </p:txBody>
        </p:sp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35608" y="2158764"/>
              <a:ext cx="672365" cy="7020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55735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750"/>
                            </p:stCondLst>
                            <p:childTnLst>
                              <p:par>
                                <p:cTn id="8" presetID="35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35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250"/>
                            </p:stCondLst>
                            <p:childTnLst>
                              <p:par>
                                <p:cTn id="14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5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75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75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0" grpId="1"/>
      <p:bldP spid="50" grpId="2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/>
          <p:cNvCxnSpPr/>
          <p:nvPr/>
        </p:nvCxnSpPr>
        <p:spPr>
          <a:xfrm flipH="1">
            <a:off x="3000365" y="2205037"/>
            <a:ext cx="1" cy="2826544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1400175" y="3356699"/>
                <a:ext cx="154303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sz="28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0175" y="3356699"/>
                <a:ext cx="1543035" cy="523220"/>
              </a:xfrm>
              <a:prstGeom prst="rect">
                <a:avLst/>
              </a:prstGeom>
              <a:blipFill rotWithShape="0">
                <a:blip r:embed="rId3"/>
                <a:stretch>
                  <a:fillRect l="-8300" t="-11765" b="-34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Agent-Environment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Interaction</a:t>
            </a:r>
            <a:endParaRPr lang="en-US" sz="3600" dirty="0"/>
          </a:p>
        </p:txBody>
      </p:sp>
      <p:sp>
        <p:nvSpPr>
          <p:cNvPr id="3" name="Rounded Rectangle 2"/>
          <p:cNvSpPr/>
          <p:nvPr/>
        </p:nvSpPr>
        <p:spPr>
          <a:xfrm>
            <a:off x="4757737" y="4229099"/>
            <a:ext cx="3057525" cy="98583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Environment</a:t>
            </a:r>
            <a:endParaRPr lang="en-US" sz="3200" b="1" dirty="0">
              <a:solidFill>
                <a:schemeClr val="tx1"/>
              </a:solidFill>
              <a:latin typeface="Courier New" charset="0"/>
              <a:ea typeface="Courier New" charset="0"/>
              <a:cs typeface="Courier New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757736" y="2009774"/>
            <a:ext cx="3057525" cy="98583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Agent</a:t>
            </a:r>
            <a:endParaRPr lang="en-US" sz="3200" b="1" dirty="0">
              <a:solidFill>
                <a:schemeClr val="tx1"/>
              </a:solidFill>
              <a:latin typeface="Courier New" charset="0"/>
              <a:ea typeface="Courier New" charset="0"/>
              <a:cs typeface="Courier New" charset="0"/>
            </a:endParaRPr>
          </a:p>
        </p:txBody>
      </p:sp>
      <p:cxnSp>
        <p:nvCxnSpPr>
          <p:cNvPr id="26" name="Straight Connector 25"/>
          <p:cNvCxnSpPr>
            <a:stCxn id="9" idx="3"/>
          </p:cNvCxnSpPr>
          <p:nvPr/>
        </p:nvCxnSpPr>
        <p:spPr>
          <a:xfrm>
            <a:off x="7815261" y="2502693"/>
            <a:ext cx="105727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H="1">
            <a:off x="8872537" y="2469355"/>
            <a:ext cx="2" cy="223361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7815260" y="4707730"/>
            <a:ext cx="1057277" cy="0"/>
          </a:xfrm>
          <a:prstGeom prst="line">
            <a:avLst/>
          </a:prstGeom>
          <a:ln w="38100">
            <a:solidFill>
              <a:srgbClr val="FF0000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3700459" y="4467224"/>
            <a:ext cx="1057277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H="1">
            <a:off x="3714743" y="2755106"/>
            <a:ext cx="1057276" cy="0"/>
          </a:xfrm>
          <a:prstGeom prst="line">
            <a:avLst/>
          </a:prstGeom>
          <a:ln w="38100">
            <a:solidFill>
              <a:srgbClr val="0070C0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8872536" y="3343602"/>
                <a:ext cx="154510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 smtClean="0">
                    <a:solidFill>
                      <a:srgbClr val="FF0000"/>
                    </a:solidFill>
                  </a:rPr>
                  <a:t>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2536" y="3343602"/>
                <a:ext cx="1545103" cy="523220"/>
              </a:xfrm>
              <a:prstGeom prst="rect">
                <a:avLst/>
              </a:prstGeom>
              <a:blipFill rotWithShape="0">
                <a:blip r:embed="rId4"/>
                <a:stretch>
                  <a:fillRect l="-7874"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/>
          <p:cNvGrpSpPr/>
          <p:nvPr/>
        </p:nvGrpSpPr>
        <p:grpSpPr>
          <a:xfrm>
            <a:off x="3714743" y="2740818"/>
            <a:ext cx="1649669" cy="1726406"/>
            <a:chOff x="3714743" y="2740818"/>
            <a:chExt cx="1649669" cy="1726406"/>
          </a:xfrm>
        </p:grpSpPr>
        <p:cxnSp>
          <p:nvCxnSpPr>
            <p:cNvPr id="34" name="Straight Connector 33"/>
            <p:cNvCxnSpPr/>
            <p:nvPr/>
          </p:nvCxnSpPr>
          <p:spPr>
            <a:xfrm>
              <a:off x="3714743" y="2740818"/>
              <a:ext cx="0" cy="1726406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/>
                <p:cNvSpPr txBox="1"/>
                <p:nvPr/>
              </p:nvSpPr>
              <p:spPr>
                <a:xfrm>
                  <a:off x="3729028" y="3356699"/>
                  <a:ext cx="1635384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800" dirty="0" smtClean="0">
                      <a:solidFill>
                        <a:srgbClr val="0070C0"/>
                      </a:solidFill>
                    </a:rPr>
                    <a:t>Reward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70C0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0070C0"/>
                              </a:solidFill>
                              <a:latin typeface="Cambria Math" charset="0"/>
                            </a:rPr>
                            <m:t>𝑟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070C0"/>
                              </a:solidFill>
                              <a:latin typeface="Cambria Math" charset="0"/>
                            </a:rPr>
                            <m:t>𝑡</m:t>
                          </m:r>
                        </m:sub>
                      </m:sSub>
                    </m:oMath>
                  </a14:m>
                  <a:endParaRPr lang="en-US" sz="2800" i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TextBox 4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29028" y="3356699"/>
                  <a:ext cx="1635384" cy="523220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l="-7836" t="-11765" b="-3411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7" name="Straight Connector 16"/>
          <p:cNvCxnSpPr/>
          <p:nvPr/>
        </p:nvCxnSpPr>
        <p:spPr>
          <a:xfrm>
            <a:off x="2986085" y="5017295"/>
            <a:ext cx="1771651" cy="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3000368" y="2216941"/>
            <a:ext cx="1757368" cy="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/>
          <p:cNvGrpSpPr/>
          <p:nvPr/>
        </p:nvGrpSpPr>
        <p:grpSpPr>
          <a:xfrm>
            <a:off x="1400175" y="2205037"/>
            <a:ext cx="1736920" cy="2826544"/>
            <a:chOff x="1400175" y="2205037"/>
            <a:chExt cx="1736920" cy="2826544"/>
          </a:xfrm>
        </p:grpSpPr>
        <p:cxnSp>
          <p:nvCxnSpPr>
            <p:cNvPr id="18" name="Straight Connector 17"/>
            <p:cNvCxnSpPr/>
            <p:nvPr/>
          </p:nvCxnSpPr>
          <p:spPr>
            <a:xfrm flipH="1">
              <a:off x="3000365" y="2205037"/>
              <a:ext cx="1" cy="2826544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/>
                <p:cNvSpPr txBox="1"/>
                <p:nvPr/>
              </p:nvSpPr>
              <p:spPr>
                <a:xfrm>
                  <a:off x="1400175" y="3356699"/>
                  <a:ext cx="1736920" cy="523220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800" dirty="0" smtClean="0">
                      <a:solidFill>
                        <a:schemeClr val="accent6">
                          <a:lumMod val="75000"/>
                        </a:schemeClr>
                      </a:solidFill>
                    </a:rPr>
                    <a:t>State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𝑡</m:t>
                          </m:r>
                          <m:r>
                            <a:rPr lang="en-US" altLang="zh-CN" sz="28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+1</m:t>
                          </m:r>
                        </m:sub>
                      </m:sSub>
                    </m:oMath>
                  </a14:m>
                  <a:endParaRPr lang="en-US" sz="2800" dirty="0">
                    <a:solidFill>
                      <a:schemeClr val="accent6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0175" y="3356699"/>
                  <a:ext cx="1736920" cy="523220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l="-7368" t="-11765" b="-3411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21" name="Picture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5608" y="2158764"/>
            <a:ext cx="672365" cy="702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4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7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750"/>
                            </p:stCondLst>
                            <p:childTnLst>
                              <p:par>
                                <p:cTn id="8" presetID="35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7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35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" dur="7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250"/>
                            </p:stCondLst>
                            <p:childTnLst>
                              <p:par>
                                <p:cTn id="14" presetID="35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5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8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750"/>
                            </p:stCondLst>
                            <p:childTnLst>
                              <p:par>
                                <p:cTn id="2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750"/>
                            </p:stCondLst>
                            <p:childTnLst>
                              <p:par>
                                <p:cTn id="24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750"/>
                            </p:stCondLst>
                            <p:childTnLst>
                              <p:par>
                                <p:cTn id="3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250"/>
                            </p:stCondLst>
                            <p:childTnLst>
                              <p:par>
                                <p:cTn id="4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8" grpId="0"/>
      <p:bldP spid="48" grpId="1"/>
      <p:bldP spid="48" grpId="2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Play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game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using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AI</a:t>
            </a:r>
            <a:endParaRPr lang="en-US" sz="36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ontent Placeholder 1"/>
              <p:cNvSpPr txBox="1">
                <a:spLocks/>
              </p:cNvSpPr>
              <p:nvPr/>
            </p:nvSpPr>
            <p:spPr>
              <a:xfrm>
                <a:off x="628282" y="1488380"/>
                <a:ext cx="10906125" cy="151829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Aft>
                    <a:spcPts val="1200"/>
                  </a:spcAft>
                </a:pPr>
                <a:r>
                  <a:rPr lang="en-US" dirty="0" smtClean="0"/>
                  <a:t>Observe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e>
                      <m:sub>
                        <m:r>
                          <a:rPr lang="en-US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 smtClean="0"/>
                  <a:t>, </a:t>
                </a:r>
                <a:r>
                  <a:rPr lang="en-US" altLang="zh-CN" dirty="0" smtClean="0"/>
                  <a:t>select</a:t>
                </a:r>
                <a:r>
                  <a:rPr lang="zh-CN" altLang="en-US" dirty="0" smtClean="0"/>
                  <a:t> </a:t>
                </a:r>
                <a:r>
                  <a:rPr lang="en-US" dirty="0" smtClean="0"/>
                  <a:t>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zh-CN" altLang="en-US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~</m:t>
                    </m:r>
                    <m:r>
                      <a:rPr lang="zh-CN" altLang="en-US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𝜋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dPr>
                      <m:e>
                        <m:r>
                          <a:rPr lang="zh-CN" altLang="en-US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⋅</m:t>
                        </m:r>
                        <m:r>
                          <a:rPr lang="zh-CN" altLang="en-US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 </m:t>
                        </m:r>
                      </m:e>
                      <m:e>
                        <m:r>
                          <a:rPr lang="zh-CN" altLang="en-US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zh-CN" altLang="en-US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altLang="zh-CN" dirty="0" smtClean="0"/>
                  <a:t>,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and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execute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dirty="0" smtClean="0"/>
                  <a:t>.</a:t>
                </a:r>
                <a:r>
                  <a:rPr lang="en-US" dirty="0" smtClean="0"/>
                  <a:t> 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dirty="0"/>
                  <a:t>environment gives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new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state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 and reward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4" name="Content Placeholder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282" y="1488380"/>
                <a:ext cx="10906125" cy="1518290"/>
              </a:xfrm>
              <a:prstGeom prst="rect">
                <a:avLst/>
              </a:prstGeom>
              <a:blipFill rotWithShape="0">
                <a:blip r:embed="rId3"/>
                <a:stretch>
                  <a:fillRect l="-1006" t="-6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7313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Play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game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using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AI</a:t>
            </a:r>
            <a:endParaRPr lang="en-US" sz="3600" dirty="0">
              <a:solidFill>
                <a:srgbClr val="0070C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70726" y="4165557"/>
            <a:ext cx="11643157" cy="1631854"/>
          </a:xfrm>
          <a:prstGeom prst="rect">
            <a:avLst/>
          </a:prstGeom>
          <a:solidFill>
            <a:schemeClr val="tx2">
              <a:lumMod val="20000"/>
              <a:lumOff val="80000"/>
              <a:alpha val="5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946185" y="4606949"/>
            <a:ext cx="815798" cy="0"/>
          </a:xfrm>
          <a:prstGeom prst="line">
            <a:avLst/>
          </a:prstGeom>
          <a:ln w="38100">
            <a:solidFill>
              <a:schemeClr val="tx1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>
            <a:off x="2444754" y="4618672"/>
            <a:ext cx="815798" cy="0"/>
          </a:xfrm>
          <a:prstGeom prst="line">
            <a:avLst/>
          </a:prstGeom>
          <a:ln w="38100">
            <a:solidFill>
              <a:schemeClr val="tx1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296758" y="4311562"/>
                <a:ext cx="637482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3200" i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3200" i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758" y="4311562"/>
                <a:ext cx="637482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1749358" y="4309872"/>
                <a:ext cx="687561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dirty="0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3200" b="0" i="1" dirty="0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3200" i="1" dirty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9358" y="4309872"/>
                <a:ext cx="687561" cy="58477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3328303" y="4309871"/>
                <a:ext cx="646972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3200" i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3200" b="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8303" y="4309871"/>
                <a:ext cx="646972" cy="58477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/>
          <p:cNvCxnSpPr/>
          <p:nvPr/>
        </p:nvCxnSpPr>
        <p:spPr>
          <a:xfrm flipH="1" flipV="1">
            <a:off x="2444755" y="4716810"/>
            <a:ext cx="815797" cy="685663"/>
          </a:xfrm>
          <a:prstGeom prst="line">
            <a:avLst/>
          </a:prstGeom>
          <a:ln w="38100">
            <a:solidFill>
              <a:schemeClr val="tx1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ontent Placeholder 1"/>
              <p:cNvSpPr txBox="1">
                <a:spLocks/>
              </p:cNvSpPr>
              <p:nvPr/>
            </p:nvSpPr>
            <p:spPr>
              <a:xfrm>
                <a:off x="628282" y="1488380"/>
                <a:ext cx="10906125" cy="151829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Aft>
                    <a:spcPts val="1200"/>
                  </a:spcAft>
                </a:pPr>
                <a:r>
                  <a:rPr lang="en-US" dirty="0" smtClean="0"/>
                  <a:t>Observe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e>
                      <m:sub>
                        <m:r>
                          <a:rPr lang="en-US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 smtClean="0"/>
                  <a:t>, </a:t>
                </a:r>
                <a:r>
                  <a:rPr lang="en-US" altLang="zh-CN" dirty="0" smtClean="0"/>
                  <a:t>select</a:t>
                </a:r>
                <a:r>
                  <a:rPr lang="zh-CN" altLang="en-US" dirty="0" smtClean="0"/>
                  <a:t> </a:t>
                </a:r>
                <a:r>
                  <a:rPr lang="en-US" dirty="0" smtClean="0"/>
                  <a:t>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zh-CN" altLang="en-US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~</m:t>
                    </m:r>
                    <m:r>
                      <a:rPr lang="zh-CN" altLang="en-US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𝜋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dPr>
                      <m:e>
                        <m:r>
                          <a:rPr lang="zh-CN" altLang="en-US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⋅</m:t>
                        </m:r>
                        <m:r>
                          <a:rPr lang="zh-CN" altLang="en-US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 </m:t>
                        </m:r>
                      </m:e>
                      <m:e>
                        <m:r>
                          <a:rPr lang="zh-CN" altLang="en-US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zh-CN" altLang="en-US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altLang="zh-CN" dirty="0" smtClean="0"/>
                  <a:t>,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and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execute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dirty="0" smtClean="0"/>
                  <a:t>.</a:t>
                </a:r>
                <a:r>
                  <a:rPr lang="en-US" dirty="0" smtClean="0"/>
                  <a:t> 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altLang="zh-CN" dirty="0" smtClean="0"/>
                  <a:t>The</a:t>
                </a:r>
                <a:r>
                  <a:rPr lang="zh-CN" altLang="en-US" dirty="0" smtClean="0"/>
                  <a:t> </a:t>
                </a:r>
                <a:r>
                  <a:rPr lang="en-US" dirty="0" smtClean="0"/>
                  <a:t>environment gives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new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state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 smtClean="0"/>
                  <a:t> and reward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 smtClean="0"/>
                  <a:t>.</a:t>
                </a:r>
              </a:p>
            </p:txBody>
          </p:sp>
        </mc:Choice>
        <mc:Fallback xmlns="">
          <p:sp>
            <p:nvSpPr>
              <p:cNvPr id="34" name="Content Placeholder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282" y="1488380"/>
                <a:ext cx="10906125" cy="1518290"/>
              </a:xfrm>
              <a:prstGeom prst="rect">
                <a:avLst/>
              </a:prstGeom>
              <a:blipFill rotWithShape="0">
                <a:blip r:embed="rId6"/>
                <a:stretch>
                  <a:fillRect l="-1006" t="-6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3334632" y="5110085"/>
                <a:ext cx="608820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dirty="0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3200" b="0" i="1" dirty="0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3200" b="0" i="1" dirty="0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4632" y="5110085"/>
                <a:ext cx="608820" cy="58477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4174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35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500"/>
                            </p:stCondLst>
                            <p:childTnLst>
                              <p:par>
                                <p:cTn id="16" presetID="35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35" presetClass="emph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5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500"/>
                            </p:stCondLst>
                            <p:childTnLst>
                              <p:par>
                                <p:cTn id="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8" grpId="0"/>
      <p:bldP spid="18" grpId="1"/>
      <p:bldP spid="18" grpId="2"/>
      <p:bldP spid="18" grpId="3"/>
      <p:bldP spid="19" grpId="0"/>
      <p:bldP spid="20" grpId="0"/>
      <p:bldP spid="13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Play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game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using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AI</a:t>
            </a:r>
            <a:endParaRPr lang="en-US" sz="3600" dirty="0">
              <a:solidFill>
                <a:srgbClr val="0070C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70726" y="4165557"/>
            <a:ext cx="11643157" cy="1631854"/>
          </a:xfrm>
          <a:prstGeom prst="rect">
            <a:avLst/>
          </a:prstGeom>
          <a:solidFill>
            <a:schemeClr val="tx2">
              <a:lumMod val="20000"/>
              <a:lumOff val="80000"/>
              <a:alpha val="5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946185" y="4606949"/>
            <a:ext cx="815798" cy="0"/>
          </a:xfrm>
          <a:prstGeom prst="line">
            <a:avLst/>
          </a:prstGeom>
          <a:ln w="38100">
            <a:solidFill>
              <a:schemeClr val="tx1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>
            <a:off x="2444754" y="4618672"/>
            <a:ext cx="815798" cy="0"/>
          </a:xfrm>
          <a:prstGeom prst="line">
            <a:avLst/>
          </a:prstGeom>
          <a:ln w="38100">
            <a:solidFill>
              <a:schemeClr val="tx1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3978922" y="4618672"/>
            <a:ext cx="815798" cy="0"/>
          </a:xfrm>
          <a:prstGeom prst="line">
            <a:avLst/>
          </a:prstGeom>
          <a:ln w="38100">
            <a:solidFill>
              <a:schemeClr val="tx1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>
            <a:off x="7237938" y="4621017"/>
            <a:ext cx="815798" cy="0"/>
          </a:xfrm>
          <a:prstGeom prst="line">
            <a:avLst/>
          </a:prstGeom>
          <a:ln w="38100">
            <a:solidFill>
              <a:schemeClr val="tx1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 flipV="1">
            <a:off x="2444755" y="4716810"/>
            <a:ext cx="815797" cy="685663"/>
          </a:xfrm>
          <a:prstGeom prst="line">
            <a:avLst/>
          </a:prstGeom>
          <a:ln w="38100">
            <a:solidFill>
              <a:schemeClr val="tx1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296758" y="4311562"/>
                <a:ext cx="637482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3200" i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3200" i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758" y="4311562"/>
                <a:ext cx="637482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1749358" y="4309872"/>
                <a:ext cx="687561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dirty="0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3200" b="0" i="1" dirty="0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3200" i="1" dirty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9358" y="4309872"/>
                <a:ext cx="687561" cy="58477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3328303" y="4309871"/>
                <a:ext cx="646972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3200" i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3200" b="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8303" y="4309871"/>
                <a:ext cx="646972" cy="58477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4842220" y="4309871"/>
                <a:ext cx="697050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dirty="0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3200" b="0" i="1" dirty="0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3200" b="0" i="1" dirty="0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2220" y="4309871"/>
                <a:ext cx="697050" cy="58477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6528871" y="4309870"/>
                <a:ext cx="646972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3200" i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3200" b="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8871" y="4309870"/>
                <a:ext cx="646972" cy="58477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8068519" y="4309869"/>
                <a:ext cx="697050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dirty="0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3200" b="0" i="1" dirty="0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3200" b="0" i="1" dirty="0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8519" y="4309869"/>
                <a:ext cx="697050" cy="58477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9675521" y="4309868"/>
                <a:ext cx="646972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3200" i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3200" b="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5521" y="4309868"/>
                <a:ext cx="646972" cy="584775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3334632" y="5110085"/>
                <a:ext cx="608820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dirty="0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3200" b="0" i="1" dirty="0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3200" b="0" i="1" dirty="0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4632" y="5110085"/>
                <a:ext cx="608820" cy="584775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/>
          <p:cNvGrpSpPr/>
          <p:nvPr/>
        </p:nvGrpSpPr>
        <p:grpSpPr>
          <a:xfrm>
            <a:off x="5610240" y="4632740"/>
            <a:ext cx="828056" cy="766869"/>
            <a:chOff x="5610240" y="4632740"/>
            <a:chExt cx="828056" cy="766869"/>
          </a:xfrm>
        </p:grpSpPr>
        <p:cxnSp>
          <p:nvCxnSpPr>
            <p:cNvPr id="11" name="Straight Connector 10"/>
            <p:cNvCxnSpPr/>
            <p:nvPr/>
          </p:nvCxnSpPr>
          <p:spPr>
            <a:xfrm flipH="1">
              <a:off x="5622498" y="4632740"/>
              <a:ext cx="815798" cy="0"/>
            </a:xfrm>
            <a:prstGeom prst="line">
              <a:avLst/>
            </a:prstGeom>
            <a:ln w="38100">
              <a:solidFill>
                <a:schemeClr val="tx1"/>
              </a:solidFill>
              <a:head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flipH="1" flipV="1">
              <a:off x="5610240" y="4713946"/>
              <a:ext cx="815797" cy="685663"/>
            </a:xfrm>
            <a:prstGeom prst="line">
              <a:avLst/>
            </a:prstGeom>
            <a:ln w="38100">
              <a:solidFill>
                <a:schemeClr val="tx1"/>
              </a:solidFill>
              <a:head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6528871" y="5107221"/>
                <a:ext cx="618310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dirty="0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3200" b="0" i="1" dirty="0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3200" b="0" i="1" dirty="0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8871" y="5107221"/>
                <a:ext cx="618310" cy="584775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/>
          <p:cNvGrpSpPr/>
          <p:nvPr/>
        </p:nvGrpSpPr>
        <p:grpSpPr>
          <a:xfrm>
            <a:off x="8827844" y="4602260"/>
            <a:ext cx="818683" cy="797348"/>
            <a:chOff x="8827844" y="4602260"/>
            <a:chExt cx="818683" cy="797348"/>
          </a:xfrm>
        </p:grpSpPr>
        <p:cxnSp>
          <p:nvCxnSpPr>
            <p:cNvPr id="13" name="Straight Connector 12"/>
            <p:cNvCxnSpPr/>
            <p:nvPr/>
          </p:nvCxnSpPr>
          <p:spPr>
            <a:xfrm flipH="1">
              <a:off x="8830729" y="4602260"/>
              <a:ext cx="815798" cy="0"/>
            </a:xfrm>
            <a:prstGeom prst="line">
              <a:avLst/>
            </a:prstGeom>
            <a:ln w="38100">
              <a:solidFill>
                <a:schemeClr val="tx1"/>
              </a:solidFill>
              <a:head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flipH="1" flipV="1">
              <a:off x="8827844" y="4713945"/>
              <a:ext cx="815797" cy="685663"/>
            </a:xfrm>
            <a:prstGeom prst="line">
              <a:avLst/>
            </a:prstGeom>
            <a:ln w="38100">
              <a:solidFill>
                <a:schemeClr val="tx1"/>
              </a:solidFill>
              <a:head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9675521" y="5112697"/>
                <a:ext cx="618310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dirty="0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3200" b="0" i="1" dirty="0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3200" b="0" i="1" dirty="0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5521" y="5112697"/>
                <a:ext cx="618310" cy="584775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Connector 30"/>
          <p:cNvCxnSpPr/>
          <p:nvPr/>
        </p:nvCxnSpPr>
        <p:spPr>
          <a:xfrm flipH="1">
            <a:off x="10322493" y="4632740"/>
            <a:ext cx="815798" cy="0"/>
          </a:xfrm>
          <a:prstGeom prst="line">
            <a:avLst/>
          </a:prstGeom>
          <a:ln w="38100">
            <a:solidFill>
              <a:schemeClr val="tx1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/>
              <p:cNvSpPr/>
              <p:nvPr/>
            </p:nvSpPr>
            <p:spPr>
              <a:xfrm>
                <a:off x="11133901" y="4248312"/>
                <a:ext cx="739305" cy="707886"/>
              </a:xfrm>
              <a:prstGeom prst="rect">
                <a:avLst/>
              </a:prstGeom>
            </p:spPr>
            <p:txBody>
              <a:bodyPr wrap="none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4000" i="1" dirty="0">
                          <a:latin typeface="Cambria Math" charset="0"/>
                        </a:rPr>
                        <m:t>⋯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33901" y="4248312"/>
                <a:ext cx="739305" cy="707886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ontent Placeholder 1"/>
              <p:cNvSpPr txBox="1">
                <a:spLocks/>
              </p:cNvSpPr>
              <p:nvPr/>
            </p:nvSpPr>
            <p:spPr>
              <a:xfrm>
                <a:off x="628282" y="1488380"/>
                <a:ext cx="10906125" cy="151829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Aft>
                    <a:spcPts val="1200"/>
                  </a:spcAft>
                </a:pPr>
                <a:r>
                  <a:rPr lang="en-US" dirty="0" smtClean="0"/>
                  <a:t>Observe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e>
                      <m:sub>
                        <m:r>
                          <a:rPr lang="en-US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 smtClean="0"/>
                  <a:t>, </a:t>
                </a:r>
                <a:r>
                  <a:rPr lang="en-US" altLang="zh-CN" dirty="0" smtClean="0"/>
                  <a:t>select</a:t>
                </a:r>
                <a:r>
                  <a:rPr lang="zh-CN" altLang="en-US" dirty="0" smtClean="0"/>
                  <a:t> </a:t>
                </a:r>
                <a:r>
                  <a:rPr lang="en-US" dirty="0" smtClean="0"/>
                  <a:t>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zh-CN" altLang="en-US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~</m:t>
                    </m:r>
                    <m:r>
                      <a:rPr lang="zh-CN" altLang="en-US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𝜋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dPr>
                      <m:e>
                        <m:r>
                          <a:rPr lang="zh-CN" altLang="en-US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⋅</m:t>
                        </m:r>
                        <m:r>
                          <a:rPr lang="zh-CN" altLang="en-US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 </m:t>
                        </m:r>
                      </m:e>
                      <m:e>
                        <m:r>
                          <a:rPr lang="zh-CN" altLang="en-US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zh-CN" altLang="en-US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altLang="zh-CN" dirty="0" smtClean="0"/>
                  <a:t>,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and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execute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dirty="0" smtClean="0"/>
                  <a:t>.</a:t>
                </a:r>
                <a:r>
                  <a:rPr lang="en-US" dirty="0" smtClean="0"/>
                  <a:t> 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dirty="0"/>
                  <a:t>environment gives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new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state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 and reward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4" name="Content Placeholder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282" y="1488380"/>
                <a:ext cx="10906125" cy="1518290"/>
              </a:xfrm>
              <a:prstGeom prst="rect">
                <a:avLst/>
              </a:prstGeom>
              <a:blipFill rotWithShape="0">
                <a:blip r:embed="rId14"/>
                <a:stretch>
                  <a:fillRect l="-1006" t="-6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9688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35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35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35" presetClass="emph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0" grpId="1"/>
      <p:bldP spid="20" grpId="2"/>
      <p:bldP spid="20" grpId="3"/>
      <p:bldP spid="21" grpId="0"/>
      <p:bldP spid="22" grpId="0"/>
      <p:bldP spid="23" grpId="0"/>
      <p:bldP spid="24" grpId="0"/>
      <p:bldP spid="28" grpId="0"/>
      <p:bldP spid="30" grpId="0"/>
      <p:bldP spid="3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Play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game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using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AI</a:t>
            </a:r>
            <a:endParaRPr lang="en-US" sz="3600" dirty="0">
              <a:solidFill>
                <a:srgbClr val="0070C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70726" y="4165557"/>
            <a:ext cx="11643157" cy="1631854"/>
          </a:xfrm>
          <a:prstGeom prst="rect">
            <a:avLst/>
          </a:prstGeom>
          <a:solidFill>
            <a:schemeClr val="tx2">
              <a:lumMod val="20000"/>
              <a:lumOff val="80000"/>
              <a:alpha val="5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946185" y="4606949"/>
            <a:ext cx="815798" cy="0"/>
          </a:xfrm>
          <a:prstGeom prst="line">
            <a:avLst/>
          </a:prstGeom>
          <a:ln w="38100">
            <a:solidFill>
              <a:schemeClr val="tx1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>
            <a:off x="2444754" y="4618672"/>
            <a:ext cx="815798" cy="0"/>
          </a:xfrm>
          <a:prstGeom prst="line">
            <a:avLst/>
          </a:prstGeom>
          <a:ln w="38100">
            <a:solidFill>
              <a:schemeClr val="tx1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3978922" y="4618672"/>
            <a:ext cx="815798" cy="0"/>
          </a:xfrm>
          <a:prstGeom prst="line">
            <a:avLst/>
          </a:prstGeom>
          <a:ln w="38100">
            <a:solidFill>
              <a:schemeClr val="tx1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>
            <a:off x="7237938" y="4621017"/>
            <a:ext cx="815798" cy="0"/>
          </a:xfrm>
          <a:prstGeom prst="line">
            <a:avLst/>
          </a:prstGeom>
          <a:ln w="38100">
            <a:solidFill>
              <a:schemeClr val="tx1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 flipV="1">
            <a:off x="2444755" y="4716810"/>
            <a:ext cx="815797" cy="685663"/>
          </a:xfrm>
          <a:prstGeom prst="line">
            <a:avLst/>
          </a:prstGeom>
          <a:ln w="38100">
            <a:solidFill>
              <a:schemeClr val="tx1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296758" y="4311562"/>
                <a:ext cx="637482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3200" i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3200" i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758" y="4311562"/>
                <a:ext cx="637482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1749358" y="4309872"/>
                <a:ext cx="687561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dirty="0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3200" b="0" i="1" dirty="0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3200" i="1" dirty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9358" y="4309872"/>
                <a:ext cx="687561" cy="58477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3328303" y="4309871"/>
                <a:ext cx="646972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3200" i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3200" b="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8303" y="4309871"/>
                <a:ext cx="646972" cy="58477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4842220" y="4309871"/>
                <a:ext cx="697050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dirty="0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3200" b="0" i="1" dirty="0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3200" b="0" i="1" dirty="0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2220" y="4309871"/>
                <a:ext cx="697050" cy="58477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6528871" y="4309870"/>
                <a:ext cx="646972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3200" i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3200" b="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8871" y="4309870"/>
                <a:ext cx="646972" cy="58477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8068519" y="4309869"/>
                <a:ext cx="697050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dirty="0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3200" b="0" i="1" dirty="0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3200" b="0" i="1" dirty="0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8519" y="4309869"/>
                <a:ext cx="697050" cy="58477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9675521" y="4309868"/>
                <a:ext cx="646972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3200" i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3200" b="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5521" y="4309868"/>
                <a:ext cx="646972" cy="584775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3334632" y="5110085"/>
                <a:ext cx="608820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dirty="0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3200" b="0" i="1" dirty="0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3200" b="0" i="1" dirty="0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4632" y="5110085"/>
                <a:ext cx="608820" cy="584775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/>
          <p:cNvGrpSpPr/>
          <p:nvPr/>
        </p:nvGrpSpPr>
        <p:grpSpPr>
          <a:xfrm>
            <a:off x="5610240" y="4632740"/>
            <a:ext cx="828056" cy="766869"/>
            <a:chOff x="5610240" y="4632740"/>
            <a:chExt cx="828056" cy="766869"/>
          </a:xfrm>
        </p:grpSpPr>
        <p:cxnSp>
          <p:nvCxnSpPr>
            <p:cNvPr id="11" name="Straight Connector 10"/>
            <p:cNvCxnSpPr/>
            <p:nvPr/>
          </p:nvCxnSpPr>
          <p:spPr>
            <a:xfrm flipH="1">
              <a:off x="5622498" y="4632740"/>
              <a:ext cx="815798" cy="0"/>
            </a:xfrm>
            <a:prstGeom prst="line">
              <a:avLst/>
            </a:prstGeom>
            <a:ln w="38100">
              <a:solidFill>
                <a:schemeClr val="tx1"/>
              </a:solidFill>
              <a:head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flipH="1" flipV="1">
              <a:off x="5610240" y="4713946"/>
              <a:ext cx="815797" cy="685663"/>
            </a:xfrm>
            <a:prstGeom prst="line">
              <a:avLst/>
            </a:prstGeom>
            <a:ln w="38100">
              <a:solidFill>
                <a:schemeClr val="tx1"/>
              </a:solidFill>
              <a:head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6528871" y="5107221"/>
                <a:ext cx="618310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dirty="0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3200" b="0" i="1" dirty="0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3200" b="0" i="1" dirty="0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8871" y="5107221"/>
                <a:ext cx="618310" cy="584775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/>
          <p:cNvGrpSpPr/>
          <p:nvPr/>
        </p:nvGrpSpPr>
        <p:grpSpPr>
          <a:xfrm>
            <a:off x="8827844" y="4602260"/>
            <a:ext cx="818683" cy="797348"/>
            <a:chOff x="8827844" y="4602260"/>
            <a:chExt cx="818683" cy="797348"/>
          </a:xfrm>
        </p:grpSpPr>
        <p:cxnSp>
          <p:nvCxnSpPr>
            <p:cNvPr id="13" name="Straight Connector 12"/>
            <p:cNvCxnSpPr/>
            <p:nvPr/>
          </p:nvCxnSpPr>
          <p:spPr>
            <a:xfrm flipH="1">
              <a:off x="8830729" y="4602260"/>
              <a:ext cx="815798" cy="0"/>
            </a:xfrm>
            <a:prstGeom prst="line">
              <a:avLst/>
            </a:prstGeom>
            <a:ln w="38100">
              <a:solidFill>
                <a:schemeClr val="tx1"/>
              </a:solidFill>
              <a:head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flipH="1" flipV="1">
              <a:off x="8827844" y="4713945"/>
              <a:ext cx="815797" cy="685663"/>
            </a:xfrm>
            <a:prstGeom prst="line">
              <a:avLst/>
            </a:prstGeom>
            <a:ln w="38100">
              <a:solidFill>
                <a:schemeClr val="tx1"/>
              </a:solidFill>
              <a:head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9675521" y="5112697"/>
                <a:ext cx="618310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dirty="0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3200" b="0" i="1" dirty="0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3200" b="0" i="1" dirty="0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5521" y="5112697"/>
                <a:ext cx="618310" cy="584775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Connector 30"/>
          <p:cNvCxnSpPr/>
          <p:nvPr/>
        </p:nvCxnSpPr>
        <p:spPr>
          <a:xfrm flipH="1">
            <a:off x="10322493" y="4632740"/>
            <a:ext cx="815798" cy="0"/>
          </a:xfrm>
          <a:prstGeom prst="line">
            <a:avLst/>
          </a:prstGeom>
          <a:ln w="38100">
            <a:solidFill>
              <a:schemeClr val="tx1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/>
              <p:cNvSpPr/>
              <p:nvPr/>
            </p:nvSpPr>
            <p:spPr>
              <a:xfrm>
                <a:off x="11133901" y="4248312"/>
                <a:ext cx="739305" cy="707886"/>
              </a:xfrm>
              <a:prstGeom prst="rect">
                <a:avLst/>
              </a:prstGeom>
            </p:spPr>
            <p:txBody>
              <a:bodyPr wrap="none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4000" i="1" dirty="0">
                          <a:latin typeface="Cambria Math" charset="0"/>
                        </a:rPr>
                        <m:t>⋯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33901" y="4248312"/>
                <a:ext cx="739305" cy="707886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ontent Placeholder 1"/>
              <p:cNvSpPr txBox="1">
                <a:spLocks/>
              </p:cNvSpPr>
              <p:nvPr/>
            </p:nvSpPr>
            <p:spPr>
              <a:xfrm>
                <a:off x="628282" y="1488379"/>
                <a:ext cx="10906125" cy="227937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Aft>
                    <a:spcPts val="600"/>
                  </a:spcAft>
                </a:pPr>
                <a:r>
                  <a:rPr lang="en-US" altLang="zh-CN" dirty="0" smtClean="0">
                    <a:sym typeface="Wingdings"/>
                  </a:rPr>
                  <a:t>(</a:t>
                </a:r>
                <a:r>
                  <a:rPr lang="en-US" altLang="zh-CN" dirty="0">
                    <a:solidFill>
                      <a:schemeClr val="accent6">
                        <a:lumMod val="75000"/>
                      </a:schemeClr>
                    </a:solidFill>
                    <a:sym typeface="Wingdings"/>
                  </a:rPr>
                  <a:t>state</a:t>
                </a:r>
                <a:r>
                  <a:rPr lang="en-US" altLang="zh-CN" dirty="0">
                    <a:sym typeface="Wingdings"/>
                  </a:rPr>
                  <a:t>, </a:t>
                </a:r>
                <a:r>
                  <a:rPr lang="en-US" altLang="zh-CN" dirty="0">
                    <a:solidFill>
                      <a:srgbClr val="FF0000"/>
                    </a:solidFill>
                    <a:sym typeface="Wingdings"/>
                  </a:rPr>
                  <a:t>action</a:t>
                </a:r>
                <a:r>
                  <a:rPr lang="en-US" altLang="zh-CN" dirty="0">
                    <a:sym typeface="Wingdings"/>
                  </a:rPr>
                  <a:t>, </a:t>
                </a:r>
                <a:r>
                  <a:rPr lang="en-US" altLang="zh-CN" dirty="0">
                    <a:solidFill>
                      <a:srgbClr val="0070C0"/>
                    </a:solidFill>
                    <a:sym typeface="Wingdings"/>
                  </a:rPr>
                  <a:t>reward</a:t>
                </a:r>
                <a:r>
                  <a:rPr lang="en-US" altLang="zh-CN" dirty="0">
                    <a:sym typeface="Wingdings"/>
                  </a:rPr>
                  <a:t>) trajectory:</a:t>
                </a:r>
              </a:p>
              <a:p>
                <a:pPr marL="0" indent="0" algn="ctr">
                  <a:spcAft>
                    <a:spcPts val="12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  <a:sym typeface="Wingdings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  <a:sym typeface="Wingdings"/>
                          </a:rPr>
                          <m:t>𝑠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  <a:sym typeface="Wingdings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charset="0"/>
                        <a:sym typeface="Wingdings"/>
                      </a:rPr>
                      <m:t>, </m:t>
                    </m:r>
                    <m:sSub>
                      <m:sSub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  <a:sym typeface="Wingdings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  <a:sym typeface="Wingdings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  <a:sym typeface="Wingdings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charset="0"/>
                        <a:sym typeface="Wingdings"/>
                      </a:rPr>
                      <m:t>, </m:t>
                    </m:r>
                    <m:sSub>
                      <m:sSubPr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charset="0"/>
                            <a:sym typeface="Wingdings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charset="0"/>
                            <a:sym typeface="Wingdings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charset="0"/>
                            <a:sym typeface="Wingdings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charset="0"/>
                        <a:sym typeface="Wingdings"/>
                      </a:rPr>
                      <m:t>,</m:t>
                    </m:r>
                  </m:oMath>
                </a14:m>
                <a:r>
                  <a:rPr lang="zh-CN" altLang="en-US" dirty="0" smtClean="0">
                    <a:solidFill>
                      <a:schemeClr val="accent6">
                        <a:lumMod val="75000"/>
                      </a:schemeClr>
                    </a:solidFill>
                    <a:sym typeface="Wingdings"/>
                  </a:rPr>
                  <a:t>  </a:t>
                </a:r>
                <a:r>
                  <a:rPr lang="en-US" altLang="zh-CN" dirty="0" smtClean="0">
                    <a:solidFill>
                      <a:schemeClr val="accent6">
                        <a:lumMod val="75000"/>
                      </a:schemeClr>
                    </a:solidFill>
                    <a:sym typeface="Wingdings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  <a:sym typeface="Wingdings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  <a:sym typeface="Wingdings"/>
                          </a:rPr>
                          <m:t>𝑠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  <a:sym typeface="Wingdings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charset="0"/>
                        <a:sym typeface="Wingdings"/>
                      </a:rPr>
                      <m:t>, </m:t>
                    </m:r>
                    <m:sSub>
                      <m:sSub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  <a:sym typeface="Wingdings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  <a:sym typeface="Wingdings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  <a:sym typeface="Wingdings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charset="0"/>
                        <a:sym typeface="Wingdings"/>
                      </a:rPr>
                      <m:t>, </m:t>
                    </m:r>
                    <m:sSub>
                      <m:sSubPr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charset="0"/>
                            <a:sym typeface="Wingdings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charset="0"/>
                            <a:sym typeface="Wingdings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charset="0"/>
                            <a:sym typeface="Wingdings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charset="0"/>
                        <a:sym typeface="Wingdings"/>
                      </a:rPr>
                      <m:t>,  </m:t>
                    </m:r>
                    <m:r>
                      <a:rPr lang="zh-CN" altLang="en-US" b="0" i="1" smtClean="0">
                        <a:latin typeface="Cambria Math" charset="0"/>
                        <a:sym typeface="Wingdings"/>
                      </a:rPr>
                      <m:t> </m:t>
                    </m:r>
                    <m:r>
                      <a:rPr lang="en-US" altLang="zh-CN" i="1">
                        <a:latin typeface="Cambria Math" charset="0"/>
                        <a:sym typeface="Wingdings"/>
                      </a:rPr>
                      <m:t>⋯  , </m:t>
                    </m:r>
                    <m:r>
                      <a:rPr lang="zh-CN" altLang="en-US" b="0" i="1" smtClean="0">
                        <a:latin typeface="Cambria Math" charset="0"/>
                        <a:sym typeface="Wingdings"/>
                      </a:rPr>
                      <m:t> </m:t>
                    </m:r>
                    <m:sSub>
                      <m:sSubPr>
                        <m:ctrlP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  <a:sym typeface="Wingdings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  <a:sym typeface="Wingdings"/>
                          </a:rPr>
                          <m:t>𝑠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  <a:sym typeface="Wingdings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charset="0"/>
                        <a:sym typeface="Wingdings"/>
                      </a:rPr>
                      <m:t>, </m:t>
                    </m:r>
                    <m:sSub>
                      <m:sSub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  <a:sym typeface="Wingdings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  <a:sym typeface="Wingdings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charset="0"/>
                            <a:sym typeface="Wingdings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charset="0"/>
                        <a:sym typeface="Wingdings"/>
                      </a:rPr>
                      <m:t>, </m:t>
                    </m:r>
                    <m:sSub>
                      <m:sSubPr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charset="0"/>
                            <a:sym typeface="Wingdings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charset="0"/>
                            <a:sym typeface="Wingdings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charset="0"/>
                            <a:sym typeface="Wingdings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charset="0"/>
                        <a:sym typeface="Wingdings"/>
                      </a:rPr>
                      <m:t>. </m:t>
                    </m:r>
                  </m:oMath>
                </a14:m>
                <a:endParaRPr lang="en-US" altLang="zh-CN" dirty="0" smtClean="0">
                  <a:sym typeface="Wingdings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US" altLang="zh-CN" dirty="0" smtClean="0">
                    <a:sym typeface="Wingdings"/>
                  </a:rPr>
                  <a:t>One</a:t>
                </a:r>
                <a:r>
                  <a:rPr lang="zh-CN" altLang="en-US" dirty="0" smtClean="0">
                    <a:sym typeface="Wingdings"/>
                  </a:rPr>
                  <a:t> </a:t>
                </a:r>
                <a:r>
                  <a:rPr lang="en-US" altLang="zh-CN" dirty="0" smtClean="0">
                    <a:sym typeface="Wingdings"/>
                  </a:rPr>
                  <a:t>episode</a:t>
                </a:r>
                <a:r>
                  <a:rPr lang="zh-CN" altLang="en-US" dirty="0" smtClean="0">
                    <a:sym typeface="Wingdings"/>
                  </a:rPr>
                  <a:t> </a:t>
                </a:r>
                <a:r>
                  <a:rPr lang="en-US" altLang="zh-CN" dirty="0" smtClean="0">
                    <a:sym typeface="Wingdings"/>
                  </a:rPr>
                  <a:t>is</a:t>
                </a:r>
                <a:r>
                  <a:rPr lang="zh-CN" altLang="en-US" dirty="0" smtClean="0">
                    <a:sym typeface="Wingdings"/>
                  </a:rPr>
                  <a:t> </a:t>
                </a:r>
                <a:r>
                  <a:rPr lang="en-US" altLang="zh-CN" dirty="0" smtClean="0">
                    <a:sym typeface="Wingdings"/>
                  </a:rPr>
                  <a:t>from</a:t>
                </a:r>
                <a:r>
                  <a:rPr lang="zh-CN" altLang="en-US" dirty="0" smtClean="0">
                    <a:sym typeface="Wingdings"/>
                  </a:rPr>
                  <a:t> </a:t>
                </a:r>
                <a:r>
                  <a:rPr lang="en-US" altLang="zh-CN" dirty="0" smtClean="0">
                    <a:sym typeface="Wingdings"/>
                  </a:rPr>
                  <a:t>the</a:t>
                </a:r>
                <a:r>
                  <a:rPr lang="zh-CN" altLang="en-US" dirty="0" smtClean="0">
                    <a:sym typeface="Wingdings"/>
                  </a:rPr>
                  <a:t> </a:t>
                </a:r>
                <a:r>
                  <a:rPr lang="en-US" altLang="zh-CN" dirty="0" smtClean="0">
                    <a:sym typeface="Wingdings"/>
                  </a:rPr>
                  <a:t>the</a:t>
                </a:r>
                <a:r>
                  <a:rPr lang="zh-CN" altLang="en-US" dirty="0" smtClean="0">
                    <a:sym typeface="Wingdings"/>
                  </a:rPr>
                  <a:t> </a:t>
                </a:r>
                <a:r>
                  <a:rPr lang="en-US" altLang="zh-CN" dirty="0" smtClean="0">
                    <a:sym typeface="Wingdings"/>
                  </a:rPr>
                  <a:t>beginning</a:t>
                </a:r>
                <a:r>
                  <a:rPr lang="zh-CN" altLang="en-US" dirty="0" smtClean="0">
                    <a:sym typeface="Wingdings"/>
                  </a:rPr>
                  <a:t> </a:t>
                </a:r>
                <a:r>
                  <a:rPr lang="en-US" altLang="zh-CN" dirty="0" smtClean="0">
                    <a:sym typeface="Wingdings"/>
                  </a:rPr>
                  <a:t>to</a:t>
                </a:r>
                <a:r>
                  <a:rPr lang="zh-CN" altLang="en-US" dirty="0" smtClean="0">
                    <a:sym typeface="Wingdings"/>
                  </a:rPr>
                  <a:t> </a:t>
                </a:r>
                <a:r>
                  <a:rPr lang="en-US" altLang="zh-CN" dirty="0" smtClean="0">
                    <a:sym typeface="Wingdings"/>
                  </a:rPr>
                  <a:t>the</a:t>
                </a:r>
                <a:r>
                  <a:rPr lang="zh-CN" altLang="en-US" dirty="0" smtClean="0">
                    <a:sym typeface="Wingdings"/>
                  </a:rPr>
                  <a:t> </a:t>
                </a:r>
                <a:r>
                  <a:rPr lang="en-US" altLang="zh-CN" dirty="0" smtClean="0">
                    <a:sym typeface="Wingdings"/>
                  </a:rPr>
                  <a:t>end</a:t>
                </a:r>
                <a:r>
                  <a:rPr lang="zh-CN" altLang="en-US" dirty="0" smtClean="0">
                    <a:sym typeface="Wingdings"/>
                  </a:rPr>
                  <a:t> </a:t>
                </a:r>
                <a:r>
                  <a:rPr lang="en-US" altLang="zh-CN" dirty="0" smtClean="0">
                    <a:sym typeface="Wingdings"/>
                  </a:rPr>
                  <a:t>(Mario</a:t>
                </a:r>
                <a:r>
                  <a:rPr lang="zh-CN" altLang="en-US" dirty="0" smtClean="0">
                    <a:sym typeface="Wingdings"/>
                  </a:rPr>
                  <a:t> </a:t>
                </a:r>
                <a:r>
                  <a:rPr lang="en-US" altLang="zh-CN" dirty="0" smtClean="0">
                    <a:sym typeface="Wingdings"/>
                  </a:rPr>
                  <a:t>wins</a:t>
                </a:r>
                <a:r>
                  <a:rPr lang="zh-CN" altLang="en-US" dirty="0" smtClean="0">
                    <a:sym typeface="Wingdings"/>
                  </a:rPr>
                  <a:t> </a:t>
                </a:r>
                <a:r>
                  <a:rPr lang="en-US" altLang="zh-CN" dirty="0" smtClean="0">
                    <a:sym typeface="Wingdings"/>
                  </a:rPr>
                  <a:t>or</a:t>
                </a:r>
                <a:r>
                  <a:rPr lang="zh-CN" altLang="en-US" dirty="0" smtClean="0">
                    <a:sym typeface="Wingdings"/>
                  </a:rPr>
                  <a:t> </a:t>
                </a:r>
                <a:r>
                  <a:rPr lang="en-US" altLang="zh-CN" dirty="0" smtClean="0">
                    <a:sym typeface="Wingdings"/>
                  </a:rPr>
                  <a:t>dies).</a:t>
                </a:r>
                <a:endParaRPr lang="en-US" altLang="zh-CN" dirty="0">
                  <a:sym typeface="Wingdings"/>
                </a:endParaRPr>
              </a:p>
            </p:txBody>
          </p:sp>
        </mc:Choice>
        <mc:Fallback xmlns="">
          <p:sp>
            <p:nvSpPr>
              <p:cNvPr id="34" name="Content Placeholder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282" y="1488379"/>
                <a:ext cx="10906125" cy="2279375"/>
              </a:xfrm>
              <a:prstGeom prst="rect">
                <a:avLst/>
              </a:prstGeom>
              <a:blipFill rotWithShape="0">
                <a:blip r:embed="rId14"/>
                <a:stretch>
                  <a:fillRect l="-1006" t="-4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/>
          <p:cNvSpPr txBox="1"/>
          <p:nvPr/>
        </p:nvSpPr>
        <p:spPr>
          <a:xfrm>
            <a:off x="3306269" y="2598570"/>
            <a:ext cx="5449468" cy="4571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65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1000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3" grpId="1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Play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game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using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AI</a:t>
            </a:r>
            <a:endParaRPr lang="en-US" sz="36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ontent Placeholder 1"/>
              <p:cNvSpPr txBox="1">
                <a:spLocks/>
              </p:cNvSpPr>
              <p:nvPr/>
            </p:nvSpPr>
            <p:spPr>
              <a:xfrm>
                <a:off x="628282" y="1488379"/>
                <a:ext cx="10906125" cy="514489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Aft>
                    <a:spcPts val="600"/>
                  </a:spcAft>
                </a:pPr>
                <a:r>
                  <a:rPr lang="en-US" altLang="zh-CN" dirty="0" smtClean="0">
                    <a:sym typeface="Wingdings"/>
                  </a:rPr>
                  <a:t>(</a:t>
                </a:r>
                <a:r>
                  <a:rPr lang="en-US" altLang="zh-CN" dirty="0">
                    <a:solidFill>
                      <a:schemeClr val="accent6">
                        <a:lumMod val="75000"/>
                      </a:schemeClr>
                    </a:solidFill>
                    <a:sym typeface="Wingdings"/>
                  </a:rPr>
                  <a:t>state</a:t>
                </a:r>
                <a:r>
                  <a:rPr lang="en-US" altLang="zh-CN" dirty="0">
                    <a:sym typeface="Wingdings"/>
                  </a:rPr>
                  <a:t>, </a:t>
                </a:r>
                <a:r>
                  <a:rPr lang="en-US" altLang="zh-CN" dirty="0">
                    <a:solidFill>
                      <a:srgbClr val="FF0000"/>
                    </a:solidFill>
                    <a:sym typeface="Wingdings"/>
                  </a:rPr>
                  <a:t>action</a:t>
                </a:r>
                <a:r>
                  <a:rPr lang="en-US" altLang="zh-CN" dirty="0">
                    <a:sym typeface="Wingdings"/>
                  </a:rPr>
                  <a:t>, </a:t>
                </a:r>
                <a:r>
                  <a:rPr lang="en-US" altLang="zh-CN" dirty="0">
                    <a:solidFill>
                      <a:srgbClr val="0070C0"/>
                    </a:solidFill>
                    <a:sym typeface="Wingdings"/>
                  </a:rPr>
                  <a:t>reward</a:t>
                </a:r>
                <a:r>
                  <a:rPr lang="en-US" altLang="zh-CN" dirty="0">
                    <a:sym typeface="Wingdings"/>
                  </a:rPr>
                  <a:t>) trajectory:</a:t>
                </a:r>
              </a:p>
              <a:p>
                <a:pPr marL="0" indent="0" algn="ctr">
                  <a:spcAft>
                    <a:spcPts val="12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  <a:sym typeface="Wingdings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  <a:sym typeface="Wingdings"/>
                          </a:rPr>
                          <m:t>𝑠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  <a:sym typeface="Wingdings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charset="0"/>
                        <a:sym typeface="Wingdings"/>
                      </a:rPr>
                      <m:t>, </m:t>
                    </m:r>
                    <m:sSub>
                      <m:sSub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  <a:sym typeface="Wingdings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  <a:sym typeface="Wingdings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  <a:sym typeface="Wingdings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charset="0"/>
                        <a:sym typeface="Wingdings"/>
                      </a:rPr>
                      <m:t>, </m:t>
                    </m:r>
                    <m:sSub>
                      <m:sSubPr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charset="0"/>
                            <a:sym typeface="Wingdings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charset="0"/>
                            <a:sym typeface="Wingdings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charset="0"/>
                            <a:sym typeface="Wingdings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charset="0"/>
                        <a:sym typeface="Wingdings"/>
                      </a:rPr>
                      <m:t>,</m:t>
                    </m:r>
                  </m:oMath>
                </a14:m>
                <a:r>
                  <a:rPr lang="zh-CN" altLang="en-US" dirty="0">
                    <a:solidFill>
                      <a:schemeClr val="accent6">
                        <a:lumMod val="75000"/>
                      </a:schemeClr>
                    </a:solidFill>
                    <a:sym typeface="Wingdings"/>
                  </a:rPr>
                  <a:t>  </a:t>
                </a:r>
                <a:r>
                  <a:rPr lang="en-US" altLang="zh-CN" dirty="0">
                    <a:solidFill>
                      <a:schemeClr val="accent6">
                        <a:lumMod val="75000"/>
                      </a:schemeClr>
                    </a:solidFill>
                    <a:sym typeface="Wingdings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  <a:sym typeface="Wingdings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  <a:sym typeface="Wingdings"/>
                          </a:rPr>
                          <m:t>𝑠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  <a:sym typeface="Wingdings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charset="0"/>
                        <a:sym typeface="Wingdings"/>
                      </a:rPr>
                      <m:t>, </m:t>
                    </m:r>
                    <m:sSub>
                      <m:sSub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  <a:sym typeface="Wingdings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  <a:sym typeface="Wingdings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  <a:sym typeface="Wingdings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charset="0"/>
                        <a:sym typeface="Wingdings"/>
                      </a:rPr>
                      <m:t>, </m:t>
                    </m:r>
                    <m:sSub>
                      <m:sSubPr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charset="0"/>
                            <a:sym typeface="Wingdings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charset="0"/>
                            <a:sym typeface="Wingdings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charset="0"/>
                            <a:sym typeface="Wingdings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charset="0"/>
                        <a:sym typeface="Wingdings"/>
                      </a:rPr>
                      <m:t>,  </m:t>
                    </m:r>
                    <m:r>
                      <a:rPr lang="zh-CN" altLang="en-US" i="1">
                        <a:latin typeface="Cambria Math" charset="0"/>
                        <a:sym typeface="Wingdings"/>
                      </a:rPr>
                      <m:t> </m:t>
                    </m:r>
                    <m:r>
                      <a:rPr lang="en-US" altLang="zh-CN" i="1">
                        <a:latin typeface="Cambria Math" charset="0"/>
                        <a:sym typeface="Wingdings"/>
                      </a:rPr>
                      <m:t>⋯  , </m:t>
                    </m:r>
                    <m:r>
                      <a:rPr lang="zh-CN" altLang="en-US" i="1">
                        <a:latin typeface="Cambria Math" charset="0"/>
                        <a:sym typeface="Wingdings"/>
                      </a:rPr>
                      <m:t> </m:t>
                    </m:r>
                    <m:sSub>
                      <m:sSubPr>
                        <m:ctrlP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  <a:sym typeface="Wingdings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  <a:sym typeface="Wingdings"/>
                          </a:rPr>
                          <m:t>𝑠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  <a:sym typeface="Wingdings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charset="0"/>
                        <a:sym typeface="Wingdings"/>
                      </a:rPr>
                      <m:t>, </m:t>
                    </m:r>
                    <m:sSub>
                      <m:sSub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  <a:sym typeface="Wingdings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  <a:sym typeface="Wingdings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  <a:sym typeface="Wingdings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charset="0"/>
                        <a:sym typeface="Wingdings"/>
                      </a:rPr>
                      <m:t>, </m:t>
                    </m:r>
                    <m:sSub>
                      <m:sSubPr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charset="0"/>
                            <a:sym typeface="Wingdings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charset="0"/>
                            <a:sym typeface="Wingdings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charset="0"/>
                            <a:sym typeface="Wingdings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charset="0"/>
                        <a:sym typeface="Wingdings"/>
                      </a:rPr>
                      <m:t>. </m:t>
                    </m:r>
                  </m:oMath>
                </a14:m>
                <a:endParaRPr lang="en-US" altLang="zh-CN" dirty="0">
                  <a:sym typeface="Wingdings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US" altLang="zh-CN" dirty="0" smtClean="0">
                    <a:sym typeface="Wingdings"/>
                  </a:rPr>
                  <a:t>One</a:t>
                </a:r>
                <a:r>
                  <a:rPr lang="zh-CN" altLang="en-US" dirty="0" smtClean="0">
                    <a:sym typeface="Wingdings"/>
                  </a:rPr>
                  <a:t> </a:t>
                </a:r>
                <a:r>
                  <a:rPr lang="en-US" altLang="zh-CN" dirty="0" smtClean="0">
                    <a:sym typeface="Wingdings"/>
                  </a:rPr>
                  <a:t>episode</a:t>
                </a:r>
                <a:r>
                  <a:rPr lang="zh-CN" altLang="en-US" dirty="0" smtClean="0">
                    <a:sym typeface="Wingdings"/>
                  </a:rPr>
                  <a:t> </a:t>
                </a:r>
                <a:r>
                  <a:rPr lang="en-US" altLang="zh-CN" dirty="0" smtClean="0">
                    <a:sym typeface="Wingdings"/>
                  </a:rPr>
                  <a:t>is</a:t>
                </a:r>
                <a:r>
                  <a:rPr lang="zh-CN" altLang="en-US" dirty="0" smtClean="0">
                    <a:sym typeface="Wingdings"/>
                  </a:rPr>
                  <a:t> </a:t>
                </a:r>
                <a:r>
                  <a:rPr lang="en-US" altLang="zh-CN" dirty="0" smtClean="0">
                    <a:sym typeface="Wingdings"/>
                  </a:rPr>
                  <a:t>from</a:t>
                </a:r>
                <a:r>
                  <a:rPr lang="zh-CN" altLang="en-US" dirty="0" smtClean="0">
                    <a:sym typeface="Wingdings"/>
                  </a:rPr>
                  <a:t> </a:t>
                </a:r>
                <a:r>
                  <a:rPr lang="en-US" altLang="zh-CN" dirty="0" smtClean="0">
                    <a:sym typeface="Wingdings"/>
                  </a:rPr>
                  <a:t>the</a:t>
                </a:r>
                <a:r>
                  <a:rPr lang="zh-CN" altLang="en-US" dirty="0" smtClean="0">
                    <a:sym typeface="Wingdings"/>
                  </a:rPr>
                  <a:t> </a:t>
                </a:r>
                <a:r>
                  <a:rPr lang="en-US" altLang="zh-CN" dirty="0" smtClean="0">
                    <a:sym typeface="Wingdings"/>
                  </a:rPr>
                  <a:t>the</a:t>
                </a:r>
                <a:r>
                  <a:rPr lang="zh-CN" altLang="en-US" dirty="0" smtClean="0">
                    <a:sym typeface="Wingdings"/>
                  </a:rPr>
                  <a:t> </a:t>
                </a:r>
                <a:r>
                  <a:rPr lang="en-US" altLang="zh-CN" dirty="0" smtClean="0">
                    <a:sym typeface="Wingdings"/>
                  </a:rPr>
                  <a:t>beginning</a:t>
                </a:r>
                <a:r>
                  <a:rPr lang="zh-CN" altLang="en-US" dirty="0" smtClean="0">
                    <a:sym typeface="Wingdings"/>
                  </a:rPr>
                  <a:t> </a:t>
                </a:r>
                <a:r>
                  <a:rPr lang="en-US" altLang="zh-CN" dirty="0" smtClean="0">
                    <a:sym typeface="Wingdings"/>
                  </a:rPr>
                  <a:t>to</a:t>
                </a:r>
                <a:r>
                  <a:rPr lang="zh-CN" altLang="en-US" dirty="0" smtClean="0">
                    <a:sym typeface="Wingdings"/>
                  </a:rPr>
                  <a:t> </a:t>
                </a:r>
                <a:r>
                  <a:rPr lang="en-US" altLang="zh-CN" dirty="0" smtClean="0">
                    <a:sym typeface="Wingdings"/>
                  </a:rPr>
                  <a:t>the</a:t>
                </a:r>
                <a:r>
                  <a:rPr lang="zh-CN" altLang="en-US" dirty="0" smtClean="0">
                    <a:sym typeface="Wingdings"/>
                  </a:rPr>
                  <a:t> </a:t>
                </a:r>
                <a:r>
                  <a:rPr lang="en-US" altLang="zh-CN" dirty="0" smtClean="0">
                    <a:sym typeface="Wingdings"/>
                  </a:rPr>
                  <a:t>end</a:t>
                </a:r>
                <a:r>
                  <a:rPr lang="zh-CN" altLang="en-US" dirty="0" smtClean="0">
                    <a:sym typeface="Wingdings"/>
                  </a:rPr>
                  <a:t> </a:t>
                </a:r>
                <a:r>
                  <a:rPr lang="en-US" altLang="zh-CN" dirty="0" smtClean="0">
                    <a:sym typeface="Wingdings"/>
                  </a:rPr>
                  <a:t>(Mario</a:t>
                </a:r>
                <a:r>
                  <a:rPr lang="zh-CN" altLang="en-US" dirty="0" smtClean="0">
                    <a:sym typeface="Wingdings"/>
                  </a:rPr>
                  <a:t> </a:t>
                </a:r>
                <a:r>
                  <a:rPr lang="en-US" altLang="zh-CN" dirty="0" smtClean="0">
                    <a:sym typeface="Wingdings"/>
                  </a:rPr>
                  <a:t>wins</a:t>
                </a:r>
                <a:r>
                  <a:rPr lang="zh-CN" altLang="en-US" dirty="0" smtClean="0">
                    <a:sym typeface="Wingdings"/>
                  </a:rPr>
                  <a:t> </a:t>
                </a:r>
                <a:r>
                  <a:rPr lang="en-US" altLang="zh-CN" dirty="0" smtClean="0">
                    <a:sym typeface="Wingdings"/>
                  </a:rPr>
                  <a:t>or</a:t>
                </a:r>
                <a:r>
                  <a:rPr lang="zh-CN" altLang="en-US" dirty="0" smtClean="0">
                    <a:sym typeface="Wingdings"/>
                  </a:rPr>
                  <a:t> </a:t>
                </a:r>
                <a:r>
                  <a:rPr lang="en-US" altLang="zh-CN" dirty="0" smtClean="0">
                    <a:sym typeface="Wingdings"/>
                  </a:rPr>
                  <a:t>dies).</a:t>
                </a:r>
              </a:p>
              <a:p>
                <a:pPr lvl="1">
                  <a:spcAft>
                    <a:spcPts val="1200"/>
                  </a:spcAft>
                </a:pPr>
                <a:endParaRPr lang="en-US" altLang="zh-CN" dirty="0">
                  <a:sym typeface="Wingdings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US" altLang="zh-CN" dirty="0" smtClean="0">
                    <a:sym typeface="Wingdings"/>
                  </a:rPr>
                  <a:t>What</a:t>
                </a:r>
                <a:r>
                  <a:rPr lang="zh-CN" altLang="en-US" dirty="0" smtClean="0">
                    <a:sym typeface="Wingdings"/>
                  </a:rPr>
                  <a:t> </a:t>
                </a:r>
                <a:r>
                  <a:rPr lang="en-US" altLang="zh-CN" dirty="0" smtClean="0">
                    <a:sym typeface="Wingdings"/>
                  </a:rPr>
                  <a:t>is</a:t>
                </a:r>
                <a:r>
                  <a:rPr lang="zh-CN" altLang="en-US" dirty="0" smtClean="0">
                    <a:sym typeface="Wingdings"/>
                  </a:rPr>
                  <a:t> </a:t>
                </a:r>
                <a:r>
                  <a:rPr lang="en-US" altLang="zh-CN" dirty="0" smtClean="0">
                    <a:sym typeface="Wingdings"/>
                  </a:rPr>
                  <a:t>a</a:t>
                </a:r>
                <a:r>
                  <a:rPr lang="zh-CN" altLang="en-US" dirty="0" smtClean="0">
                    <a:sym typeface="Wingdings"/>
                  </a:rPr>
                  <a:t> </a:t>
                </a:r>
                <a:r>
                  <a:rPr lang="en-US" altLang="zh-CN" dirty="0" smtClean="0">
                    <a:sym typeface="Wingdings"/>
                  </a:rPr>
                  <a:t>good</a:t>
                </a:r>
                <a:r>
                  <a:rPr lang="zh-CN" altLang="en-US" dirty="0" smtClean="0">
                    <a:sym typeface="Wingdings"/>
                  </a:rPr>
                  <a:t> </a:t>
                </a:r>
                <a:r>
                  <a:rPr lang="en-US" altLang="zh-CN" dirty="0" smtClean="0">
                    <a:sym typeface="Wingdings"/>
                  </a:rPr>
                  <a:t>policy?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altLang="zh-CN" dirty="0" smtClean="0">
                    <a:sym typeface="Wingdings"/>
                  </a:rPr>
                  <a:t>A</a:t>
                </a:r>
                <a:r>
                  <a:rPr lang="zh-CN" altLang="en-US" dirty="0" smtClean="0">
                    <a:sym typeface="Wingdings"/>
                  </a:rPr>
                  <a:t> </a:t>
                </a:r>
                <a:r>
                  <a:rPr lang="en-US" altLang="zh-CN" dirty="0" smtClean="0">
                    <a:sym typeface="Wingdings"/>
                  </a:rPr>
                  <a:t>good</a:t>
                </a:r>
                <a:r>
                  <a:rPr lang="zh-CN" altLang="en-US" dirty="0" smtClean="0">
                    <a:sym typeface="Wingdings"/>
                  </a:rPr>
                  <a:t> </a:t>
                </a:r>
                <a:r>
                  <a:rPr lang="en-US" altLang="zh-CN" dirty="0" smtClean="0">
                    <a:sym typeface="Wingdings"/>
                  </a:rPr>
                  <a:t>policy</a:t>
                </a:r>
                <a:r>
                  <a:rPr lang="zh-CN" altLang="en-US" dirty="0" smtClean="0">
                    <a:sym typeface="Wingdings"/>
                  </a:rPr>
                  <a:t> </a:t>
                </a:r>
                <a:r>
                  <a:rPr lang="en-US" altLang="zh-CN" dirty="0" smtClean="0">
                    <a:sym typeface="Wingdings"/>
                  </a:rPr>
                  <a:t>leads</a:t>
                </a:r>
                <a:r>
                  <a:rPr lang="zh-CN" altLang="en-US" dirty="0" smtClean="0">
                    <a:sym typeface="Wingdings"/>
                  </a:rPr>
                  <a:t> </a:t>
                </a:r>
                <a:r>
                  <a:rPr lang="en-US" altLang="zh-CN" dirty="0" smtClean="0">
                    <a:sym typeface="Wingdings"/>
                  </a:rPr>
                  <a:t>to</a:t>
                </a:r>
                <a:r>
                  <a:rPr lang="zh-CN" altLang="en-US" dirty="0" smtClean="0">
                    <a:sym typeface="Wingdings"/>
                  </a:rPr>
                  <a:t> </a:t>
                </a:r>
                <a:r>
                  <a:rPr lang="en-US" altLang="zh-CN" dirty="0" smtClean="0">
                    <a:sym typeface="Wingdings"/>
                  </a:rPr>
                  <a:t>big</a:t>
                </a:r>
                <a:r>
                  <a:rPr lang="zh-CN" altLang="en-US" dirty="0" smtClean="0">
                    <a:sym typeface="Wingdings"/>
                  </a:rPr>
                  <a:t> </a:t>
                </a:r>
                <a:r>
                  <a:rPr lang="en-US" altLang="zh-CN" dirty="0" smtClean="0">
                    <a:sym typeface="Wingdings"/>
                  </a:rPr>
                  <a:t>cumulative</a:t>
                </a:r>
                <a:r>
                  <a:rPr lang="zh-CN" altLang="en-US" dirty="0" smtClean="0">
                    <a:sym typeface="Wingdings"/>
                  </a:rPr>
                  <a:t> </a:t>
                </a:r>
                <a:r>
                  <a:rPr lang="en-US" altLang="zh-CN" dirty="0" smtClean="0">
                    <a:sym typeface="Wingdings"/>
                  </a:rPr>
                  <a:t>reward:</a:t>
                </a:r>
                <a:r>
                  <a:rPr lang="zh-CN" altLang="en-US" dirty="0" smtClean="0">
                    <a:sym typeface="Wingdings"/>
                  </a:rPr>
                  <a:t> 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b="0" i="1" smtClean="0">
                            <a:solidFill>
                              <a:schemeClr val="accent5"/>
                            </a:solidFill>
                            <a:latin typeface="Cambria Math" charset="0"/>
                            <a:sym typeface="Wingdings"/>
                          </a:rPr>
                        </m:ctrlPr>
                      </m:naryPr>
                      <m:sub>
                        <m:r>
                          <a:rPr lang="en-US" altLang="zh-CN" b="0" i="1" smtClean="0">
                            <a:solidFill>
                              <a:schemeClr val="accent5"/>
                            </a:solidFill>
                            <a:latin typeface="Cambria Math" charset="0"/>
                            <a:sym typeface="Wingdings"/>
                          </a:rPr>
                          <m:t>𝑡</m:t>
                        </m:r>
                        <m:r>
                          <a:rPr lang="en-US" altLang="zh-CN" b="0" i="1" smtClean="0">
                            <a:solidFill>
                              <a:schemeClr val="accent5"/>
                            </a:solidFill>
                            <a:latin typeface="Cambria Math" charset="0"/>
                            <a:sym typeface="Wingdings"/>
                          </a:rPr>
                          <m:t>=1</m:t>
                        </m:r>
                      </m:sub>
                      <m:sup>
                        <m:r>
                          <a:rPr lang="en-US" altLang="zh-CN" b="0" i="1" smtClean="0">
                            <a:solidFill>
                              <a:schemeClr val="accent5"/>
                            </a:solidFill>
                            <a:latin typeface="Cambria Math" charset="0"/>
                            <a:sym typeface="Wingdings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Wingdings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Wingdings"/>
                              </a:rPr>
                              <m:t>𝛾</m:t>
                            </m:r>
                          </m:e>
                          <m:sup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Wingdings"/>
                              </a:rPr>
                              <m:t>𝑡</m:t>
                            </m:r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Wingdings"/>
                              </a:rPr>
                              <m:t>−1</m:t>
                            </m:r>
                          </m:sup>
                        </m:sSup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charset="0"/>
                            <a:sym typeface="Wingdings"/>
                          </a:rPr>
                          <m:t>⋅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accent5"/>
                                </a:solidFill>
                                <a:latin typeface="Cambria Math" charset="0"/>
                                <a:sym typeface="Wingdings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accent5"/>
                                </a:solidFill>
                                <a:latin typeface="Cambria Math" charset="0"/>
                                <a:sym typeface="Wingdings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accent5"/>
                                </a:solidFill>
                                <a:latin typeface="Cambria Math" charset="0"/>
                                <a:sym typeface="Wingdings"/>
                              </a:rPr>
                              <m:t>𝑡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zh-CN" dirty="0" smtClean="0">
                    <a:sym typeface="Wingdings"/>
                  </a:rPr>
                  <a:t>.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altLang="zh-CN" dirty="0" smtClean="0">
                    <a:sym typeface="Wingdings"/>
                  </a:rPr>
                  <a:t>Use</a:t>
                </a:r>
                <a:r>
                  <a:rPr lang="zh-CN" altLang="en-US" dirty="0" smtClean="0">
                    <a:sym typeface="Wingdings"/>
                  </a:rPr>
                  <a:t> </a:t>
                </a:r>
                <a:r>
                  <a:rPr lang="en-US" altLang="zh-CN" dirty="0" smtClean="0">
                    <a:sym typeface="Wingdings"/>
                  </a:rPr>
                  <a:t>the</a:t>
                </a:r>
                <a:r>
                  <a:rPr lang="zh-CN" altLang="en-US" dirty="0" smtClean="0">
                    <a:sym typeface="Wingdings"/>
                  </a:rPr>
                  <a:t> </a:t>
                </a:r>
                <a:r>
                  <a:rPr lang="en-US" altLang="zh-CN" dirty="0" smtClean="0">
                    <a:sym typeface="Wingdings"/>
                  </a:rPr>
                  <a:t>rewards</a:t>
                </a:r>
                <a:r>
                  <a:rPr lang="zh-CN" altLang="en-US" dirty="0" smtClean="0">
                    <a:sym typeface="Wingdings"/>
                  </a:rPr>
                  <a:t> </a:t>
                </a:r>
                <a:r>
                  <a:rPr lang="en-US" altLang="zh-CN" dirty="0" smtClean="0">
                    <a:sym typeface="Wingdings"/>
                  </a:rPr>
                  <a:t>to</a:t>
                </a:r>
                <a:r>
                  <a:rPr lang="zh-CN" altLang="en-US" dirty="0" smtClean="0">
                    <a:sym typeface="Wingdings"/>
                  </a:rPr>
                  <a:t> </a:t>
                </a:r>
                <a:r>
                  <a:rPr lang="en-US" altLang="zh-CN" dirty="0" smtClean="0">
                    <a:sym typeface="Wingdings"/>
                  </a:rPr>
                  <a:t>guide</a:t>
                </a:r>
                <a:r>
                  <a:rPr lang="zh-CN" altLang="en-US" dirty="0" smtClean="0">
                    <a:sym typeface="Wingdings"/>
                  </a:rPr>
                  <a:t> </a:t>
                </a:r>
                <a:r>
                  <a:rPr lang="en-US" altLang="zh-CN" dirty="0" smtClean="0">
                    <a:sym typeface="Wingdings"/>
                  </a:rPr>
                  <a:t>the</a:t>
                </a:r>
                <a:r>
                  <a:rPr lang="zh-CN" altLang="en-US" dirty="0" smtClean="0">
                    <a:sym typeface="Wingdings"/>
                  </a:rPr>
                  <a:t> </a:t>
                </a:r>
                <a:r>
                  <a:rPr lang="en-US" altLang="zh-CN" dirty="0" smtClean="0">
                    <a:sym typeface="Wingdings"/>
                  </a:rPr>
                  <a:t>learning</a:t>
                </a:r>
                <a:r>
                  <a:rPr lang="zh-CN" altLang="en-US" dirty="0" smtClean="0">
                    <a:sym typeface="Wingdings"/>
                  </a:rPr>
                  <a:t> </a:t>
                </a:r>
                <a:r>
                  <a:rPr lang="en-US" altLang="zh-CN" dirty="0" smtClean="0">
                    <a:sym typeface="Wingdings"/>
                  </a:rPr>
                  <a:t>of</a:t>
                </a:r>
                <a:r>
                  <a:rPr lang="zh-CN" altLang="en-US" dirty="0" smtClean="0">
                    <a:sym typeface="Wingdings"/>
                  </a:rPr>
                  <a:t> </a:t>
                </a:r>
                <a:r>
                  <a:rPr lang="en-US" altLang="zh-CN" dirty="0" smtClean="0">
                    <a:sym typeface="Wingdings"/>
                  </a:rPr>
                  <a:t>policy.</a:t>
                </a:r>
                <a:endParaRPr lang="en-US" altLang="zh-CN" dirty="0">
                  <a:sym typeface="Wingdings"/>
                </a:endParaRPr>
              </a:p>
            </p:txBody>
          </p:sp>
        </mc:Choice>
        <mc:Fallback xmlns="">
          <p:sp>
            <p:nvSpPr>
              <p:cNvPr id="34" name="Content Placeholder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282" y="1488379"/>
                <a:ext cx="10906125" cy="5144896"/>
              </a:xfrm>
              <a:prstGeom prst="rect">
                <a:avLst/>
              </a:prstGeom>
              <a:blipFill rotWithShape="0">
                <a:blip r:embed="rId3"/>
                <a:stretch>
                  <a:fillRect l="-1006" t="-18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8332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1000"/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0" y="2244725"/>
            <a:ext cx="11823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Rewards and Returns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630452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Return</a:t>
            </a:r>
            <a:endParaRPr lang="en-US" sz="36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642937" y="1771651"/>
                <a:ext cx="10906125" cy="829614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+</m:t>
                    </m:r>
                    <m:sSub>
                      <m:sSubPr>
                        <m:ctrlPr>
                          <a:rPr lang="en-US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+2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+</m:t>
                    </m:r>
                    <m:sSub>
                      <m:sSubPr>
                        <m:ctrlPr>
                          <a:rPr lang="en-US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+3</m:t>
                        </m:r>
                      </m:sub>
                    </m:sSub>
                    <m:r>
                      <a:rPr lang="en-US" b="0" i="1" smtClean="0">
                        <a:latin typeface="Cambria Math" charset="0"/>
                      </a:rPr>
                      <m:t>+⋯</m:t>
                    </m:r>
                  </m:oMath>
                </a14:m>
                <a:r>
                  <a:rPr lang="en-US" dirty="0" smtClean="0"/>
                  <a:t>  </a:t>
                </a:r>
                <a:endParaRPr lang="en-US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2937" y="1771651"/>
                <a:ext cx="10906125" cy="829614"/>
              </a:xfr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642937" y="1042988"/>
            <a:ext cx="10906125" cy="52322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Definition:   </a:t>
            </a:r>
            <a:r>
              <a:rPr lang="en-US" sz="2800" dirty="0" smtClean="0">
                <a:solidFill>
                  <a:srgbClr val="C00000"/>
                </a:solidFill>
              </a:rPr>
              <a:t>Return</a:t>
            </a:r>
            <a:r>
              <a:rPr lang="en-US" sz="2800" b="1" dirty="0" smtClean="0">
                <a:solidFill>
                  <a:srgbClr val="C00000"/>
                </a:solidFill>
              </a:rPr>
              <a:t> </a:t>
            </a:r>
            <a:r>
              <a:rPr lang="en-US" sz="2800" dirty="0" smtClean="0"/>
              <a:t>(aka </a:t>
            </a:r>
            <a:r>
              <a:rPr lang="en-US" sz="2800" dirty="0" smtClean="0">
                <a:solidFill>
                  <a:srgbClr val="C00000"/>
                </a:solidFill>
              </a:rPr>
              <a:t>cumulative </a:t>
            </a:r>
            <a:r>
              <a:rPr lang="en-US" sz="2800" dirty="0">
                <a:solidFill>
                  <a:srgbClr val="C00000"/>
                </a:solidFill>
              </a:rPr>
              <a:t>future reward</a:t>
            </a:r>
            <a:r>
              <a:rPr lang="en-US" sz="2800" dirty="0" smtClean="0"/>
              <a:t>).</a:t>
            </a:r>
            <a:endParaRPr lang="en-US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822670" y="2283461"/>
            <a:ext cx="580292" cy="4571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766921" y="2278860"/>
            <a:ext cx="4596172" cy="5032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092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3" grpId="0" animBg="1"/>
      <p:bldP spid="6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Return</a:t>
            </a:r>
            <a:endParaRPr lang="en-US" sz="36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642937" y="1771651"/>
                <a:ext cx="10906125" cy="829614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+2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+3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+⋯</m:t>
                    </m:r>
                  </m:oMath>
                </a14:m>
                <a:r>
                  <a:rPr lang="en-US" dirty="0"/>
                  <a:t>  </a:t>
                </a:r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2937" y="1771651"/>
                <a:ext cx="10906125" cy="829614"/>
              </a:xfr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642937" y="1042988"/>
            <a:ext cx="10906125" cy="52322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800" b="1" dirty="0"/>
              <a:t>Definition:   </a:t>
            </a:r>
            <a:r>
              <a:rPr lang="en-US" sz="2800" dirty="0">
                <a:solidFill>
                  <a:srgbClr val="C00000"/>
                </a:solidFill>
              </a:rPr>
              <a:t>Return</a:t>
            </a:r>
            <a:r>
              <a:rPr lang="en-US" sz="2800" b="1" dirty="0">
                <a:solidFill>
                  <a:srgbClr val="C00000"/>
                </a:solidFill>
              </a:rPr>
              <a:t> </a:t>
            </a:r>
            <a:r>
              <a:rPr lang="en-US" sz="2800" dirty="0"/>
              <a:t>(aka </a:t>
            </a:r>
            <a:r>
              <a:rPr lang="en-US" sz="2800" dirty="0">
                <a:solidFill>
                  <a:srgbClr val="C00000"/>
                </a:solidFill>
              </a:rPr>
              <a:t>cumulative future reward</a:t>
            </a:r>
            <a:r>
              <a:rPr lang="en-US" sz="2800" dirty="0"/>
              <a:t>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42937" y="2623828"/>
                <a:ext cx="10906125" cy="52322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 smtClean="0"/>
                  <a:t>Question:</a:t>
                </a:r>
                <a:r>
                  <a:rPr lang="zh-CN" altLang="en-US" sz="2800" b="1" dirty="0" smtClean="0"/>
                  <a:t>  </a:t>
                </a:r>
                <a:r>
                  <a:rPr lang="en-US" altLang="zh-CN" sz="2800" dirty="0" smtClean="0"/>
                  <a:t>At</a:t>
                </a:r>
                <a:r>
                  <a:rPr lang="zh-CN" altLang="en-US" sz="2800" dirty="0" smtClean="0"/>
                  <a:t> </a:t>
                </a:r>
                <a:r>
                  <a:rPr lang="en-US" altLang="zh-CN" sz="2800" dirty="0" smtClean="0"/>
                  <a:t>time</a:t>
                </a:r>
                <a:r>
                  <a:rPr lang="zh-CN" altLang="en-US" sz="2800" dirty="0" smtClean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charset="0"/>
                      </a:rPr>
                      <m:t>𝑡</m:t>
                    </m:r>
                  </m:oMath>
                </a14:m>
                <a:r>
                  <a:rPr lang="en-US" altLang="zh-CN" sz="2800" dirty="0" smtClean="0"/>
                  <a:t>,</a:t>
                </a:r>
                <a:r>
                  <a:rPr lang="zh-CN" altLang="en-US" sz="2800" dirty="0" smtClean="0"/>
                  <a:t> </a:t>
                </a:r>
                <a:r>
                  <a:rPr lang="en-US" altLang="zh-CN" sz="2800" dirty="0" smtClean="0"/>
                  <a:t>are</a:t>
                </a:r>
                <a:r>
                  <a:rPr lang="zh-CN" altLang="en-US" sz="28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2800" dirty="0" smtClean="0"/>
                  <a:t> </a:t>
                </a:r>
                <a:r>
                  <a:rPr lang="en-US" altLang="zh-CN" sz="2800" dirty="0" smtClean="0"/>
                  <a:t>and</a:t>
                </a:r>
                <a:r>
                  <a:rPr lang="zh-CN" altLang="en-US" sz="28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altLang="zh-CN" sz="2800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zh-CN" altLang="en-US" sz="2800" dirty="0" smtClean="0"/>
                  <a:t> </a:t>
                </a:r>
                <a:r>
                  <a:rPr lang="en-US" altLang="zh-CN" sz="2800" dirty="0" smtClean="0"/>
                  <a:t>equally</a:t>
                </a:r>
                <a:r>
                  <a:rPr lang="zh-CN" altLang="en-US" sz="2800" dirty="0" smtClean="0"/>
                  <a:t> </a:t>
                </a:r>
                <a:r>
                  <a:rPr lang="en-US" altLang="zh-CN" sz="2800" dirty="0" smtClean="0"/>
                  <a:t>important?</a:t>
                </a:r>
                <a:r>
                  <a:rPr lang="zh-CN" altLang="en-US" sz="2800" dirty="0" smtClean="0"/>
                  <a:t> </a:t>
                </a:r>
                <a:endParaRPr lang="en-US" sz="28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37" y="2623828"/>
                <a:ext cx="10906125" cy="523220"/>
              </a:xfrm>
              <a:prstGeom prst="rect">
                <a:avLst/>
              </a:prstGeom>
              <a:blipFill rotWithShape="0">
                <a:blip r:embed="rId4"/>
                <a:stretch>
                  <a:fillRect l="-1117"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ontent Placeholder 1"/>
          <p:cNvSpPr txBox="1">
            <a:spLocks/>
          </p:cNvSpPr>
          <p:nvPr/>
        </p:nvSpPr>
        <p:spPr>
          <a:xfrm>
            <a:off x="642936" y="3352491"/>
            <a:ext cx="10906125" cy="14867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 smtClean="0"/>
              <a:t>Which</a:t>
            </a:r>
            <a:r>
              <a:rPr lang="zh-CN" altLang="en-US" dirty="0" smtClean="0"/>
              <a:t> </a:t>
            </a:r>
            <a:r>
              <a:rPr lang="en-US" altLang="zh-CN" dirty="0" smtClean="0"/>
              <a:t>of</a:t>
            </a:r>
            <a:r>
              <a:rPr lang="zh-CN" altLang="en-US" dirty="0" smtClean="0"/>
              <a:t> </a:t>
            </a:r>
            <a:r>
              <a:rPr lang="en-US" altLang="zh-CN" dirty="0" smtClean="0"/>
              <a:t>the</a:t>
            </a:r>
            <a:r>
              <a:rPr lang="zh-CN" altLang="en-US" dirty="0" smtClean="0"/>
              <a:t> </a:t>
            </a:r>
            <a:r>
              <a:rPr lang="en-US" altLang="zh-CN" dirty="0" smtClean="0"/>
              <a:t>followings</a:t>
            </a:r>
            <a:r>
              <a:rPr lang="zh-CN" altLang="en-US" dirty="0" smtClean="0"/>
              <a:t> </a:t>
            </a:r>
            <a:r>
              <a:rPr lang="en-US" altLang="zh-CN" dirty="0" smtClean="0"/>
              <a:t>do</a:t>
            </a:r>
            <a:r>
              <a:rPr lang="zh-CN" altLang="en-US" dirty="0" smtClean="0"/>
              <a:t> </a:t>
            </a:r>
            <a:r>
              <a:rPr lang="en-US" altLang="zh-CN" dirty="0" smtClean="0"/>
              <a:t>you</a:t>
            </a:r>
            <a:r>
              <a:rPr lang="zh-CN" altLang="en-US" dirty="0" smtClean="0"/>
              <a:t> </a:t>
            </a:r>
            <a:r>
              <a:rPr lang="en-US" altLang="zh-CN" dirty="0" smtClean="0"/>
              <a:t>prefer?</a:t>
            </a:r>
          </a:p>
          <a:p>
            <a:pPr lvl="1"/>
            <a:r>
              <a:rPr lang="en-US" altLang="zh-CN" dirty="0" smtClean="0"/>
              <a:t>I</a:t>
            </a:r>
            <a:r>
              <a:rPr lang="zh-CN" altLang="en-US" dirty="0" smtClean="0"/>
              <a:t> </a:t>
            </a:r>
            <a:r>
              <a:rPr lang="en-US" altLang="zh-CN" dirty="0" smtClean="0"/>
              <a:t>give</a:t>
            </a:r>
            <a:r>
              <a:rPr lang="zh-CN" altLang="en-US" dirty="0" smtClean="0"/>
              <a:t> </a:t>
            </a:r>
            <a:r>
              <a:rPr lang="en-US" altLang="zh-CN" dirty="0" smtClean="0"/>
              <a:t>you</a:t>
            </a:r>
            <a:r>
              <a:rPr lang="zh-CN" altLang="en-US" dirty="0" smtClean="0"/>
              <a:t> </a:t>
            </a:r>
            <a:r>
              <a:rPr lang="en-US" altLang="zh-CN" dirty="0" smtClean="0">
                <a:solidFill>
                  <a:srgbClr val="0070C0"/>
                </a:solidFill>
              </a:rPr>
              <a:t>$100</a:t>
            </a:r>
            <a:r>
              <a:rPr lang="zh-CN" altLang="en-US" dirty="0" smtClean="0">
                <a:solidFill>
                  <a:srgbClr val="0070C0"/>
                </a:solidFill>
              </a:rPr>
              <a:t> </a:t>
            </a:r>
            <a:r>
              <a:rPr lang="en-US" altLang="zh-CN" dirty="0" smtClean="0"/>
              <a:t>right</a:t>
            </a:r>
            <a:r>
              <a:rPr lang="zh-CN" altLang="en-US" dirty="0" smtClean="0"/>
              <a:t> </a:t>
            </a:r>
            <a:r>
              <a:rPr lang="en-US" altLang="zh-CN" dirty="0" smtClean="0"/>
              <a:t>now.</a:t>
            </a:r>
          </a:p>
          <a:p>
            <a:pPr lvl="1"/>
            <a:r>
              <a:rPr lang="en-US" altLang="zh-CN" dirty="0" smtClean="0"/>
              <a:t>I</a:t>
            </a:r>
            <a:r>
              <a:rPr lang="zh-CN" altLang="en-US" dirty="0" smtClean="0"/>
              <a:t> </a:t>
            </a:r>
            <a:r>
              <a:rPr lang="en-US" altLang="zh-CN" dirty="0" smtClean="0"/>
              <a:t>will</a:t>
            </a:r>
            <a:r>
              <a:rPr lang="zh-CN" altLang="en-US" dirty="0" smtClean="0"/>
              <a:t> </a:t>
            </a:r>
            <a:r>
              <a:rPr lang="en-US" altLang="zh-CN" dirty="0" smtClean="0"/>
              <a:t>give</a:t>
            </a:r>
            <a:r>
              <a:rPr lang="zh-CN" altLang="en-US" dirty="0" smtClean="0"/>
              <a:t> </a:t>
            </a:r>
            <a:r>
              <a:rPr lang="en-US" altLang="zh-CN" dirty="0" smtClean="0"/>
              <a:t>you</a:t>
            </a:r>
            <a:r>
              <a:rPr lang="zh-CN" altLang="en-US" dirty="0" smtClean="0"/>
              <a:t> </a:t>
            </a:r>
            <a:r>
              <a:rPr lang="en-US" altLang="zh-CN" dirty="0" smtClean="0">
                <a:solidFill>
                  <a:srgbClr val="0070C0"/>
                </a:solidFill>
              </a:rPr>
              <a:t>$100</a:t>
            </a:r>
            <a:r>
              <a:rPr lang="zh-CN" altLang="en-US" dirty="0" smtClean="0">
                <a:solidFill>
                  <a:srgbClr val="0070C0"/>
                </a:solidFill>
              </a:rPr>
              <a:t> </a:t>
            </a:r>
            <a:r>
              <a:rPr lang="en-US" altLang="zh-CN" dirty="0" smtClean="0"/>
              <a:t>one</a:t>
            </a:r>
            <a:r>
              <a:rPr lang="zh-CN" altLang="en-US" dirty="0" smtClean="0"/>
              <a:t> </a:t>
            </a:r>
            <a:r>
              <a:rPr lang="en-US" altLang="zh-CN" dirty="0" smtClean="0"/>
              <a:t>year</a:t>
            </a:r>
            <a:r>
              <a:rPr lang="zh-CN" altLang="en-US" dirty="0" smtClean="0"/>
              <a:t> </a:t>
            </a:r>
            <a:r>
              <a:rPr lang="en-US" altLang="zh-CN" dirty="0" smtClean="0"/>
              <a:t>later.</a:t>
            </a:r>
          </a:p>
        </p:txBody>
      </p:sp>
    </p:spTree>
    <p:extLst>
      <p:ext uri="{BB962C8B-B14F-4D97-AF65-F5344CB8AC3E}">
        <p14:creationId xmlns:p14="http://schemas.microsoft.com/office/powerpoint/2010/main" val="1308185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Return</a:t>
            </a:r>
            <a:endParaRPr lang="en-US" sz="36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642937" y="1771651"/>
                <a:ext cx="10906125" cy="829614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+2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+3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+⋯</m:t>
                    </m:r>
                  </m:oMath>
                </a14:m>
                <a:r>
                  <a:rPr lang="en-US" dirty="0"/>
                  <a:t>  </a:t>
                </a:r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2937" y="1771651"/>
                <a:ext cx="10906125" cy="829614"/>
              </a:xfr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642937" y="1042988"/>
            <a:ext cx="10906125" cy="52322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800" b="1" dirty="0"/>
              <a:t>Definition:   </a:t>
            </a:r>
            <a:r>
              <a:rPr lang="en-US" sz="2800" dirty="0">
                <a:solidFill>
                  <a:srgbClr val="C00000"/>
                </a:solidFill>
              </a:rPr>
              <a:t>Return</a:t>
            </a:r>
            <a:r>
              <a:rPr lang="en-US" sz="2800" b="1" dirty="0">
                <a:solidFill>
                  <a:srgbClr val="C00000"/>
                </a:solidFill>
              </a:rPr>
              <a:t> </a:t>
            </a:r>
            <a:r>
              <a:rPr lang="en-US" sz="2800" dirty="0"/>
              <a:t>(aka </a:t>
            </a:r>
            <a:r>
              <a:rPr lang="en-US" sz="2800" dirty="0">
                <a:solidFill>
                  <a:srgbClr val="C00000"/>
                </a:solidFill>
              </a:rPr>
              <a:t>cumulative future reward</a:t>
            </a:r>
            <a:r>
              <a:rPr lang="en-US" sz="2800" dirty="0"/>
              <a:t>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42937" y="2623828"/>
                <a:ext cx="10906125" cy="52322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Question:</a:t>
                </a:r>
                <a:r>
                  <a:rPr lang="zh-CN" altLang="en-US" sz="2800" b="1" dirty="0"/>
                  <a:t>  </a:t>
                </a:r>
                <a:r>
                  <a:rPr lang="en-US" altLang="zh-CN" sz="2800" dirty="0"/>
                  <a:t>At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time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charset="0"/>
                      </a:rPr>
                      <m:t>𝑡</m:t>
                    </m:r>
                  </m:oMath>
                </a14:m>
                <a:r>
                  <a:rPr lang="en-US" altLang="zh-CN" sz="2800" dirty="0"/>
                  <a:t>,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are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2800" dirty="0"/>
                  <a:t> </a:t>
                </a:r>
                <a:r>
                  <a:rPr lang="en-US" altLang="zh-CN" sz="2800" dirty="0"/>
                  <a:t>and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altLang="zh-CN" sz="28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zh-CN" altLang="en-US" sz="2800" dirty="0"/>
                  <a:t> </a:t>
                </a:r>
                <a:r>
                  <a:rPr lang="en-US" altLang="zh-CN" sz="2800" dirty="0"/>
                  <a:t>equally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important?</a:t>
                </a:r>
                <a:r>
                  <a:rPr lang="zh-CN" altLang="en-US" sz="2800" dirty="0"/>
                  <a:t> </a:t>
                </a:r>
                <a:endParaRPr lang="en-US" sz="28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37" y="2623828"/>
                <a:ext cx="10906125" cy="523220"/>
              </a:xfrm>
              <a:prstGeom prst="rect">
                <a:avLst/>
              </a:prstGeom>
              <a:blipFill rotWithShape="0">
                <a:blip r:embed="rId4"/>
                <a:stretch>
                  <a:fillRect l="-1117"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ontent Placeholder 1"/>
          <p:cNvSpPr txBox="1">
            <a:spLocks/>
          </p:cNvSpPr>
          <p:nvPr/>
        </p:nvSpPr>
        <p:spPr>
          <a:xfrm>
            <a:off x="642936" y="3352491"/>
            <a:ext cx="10906125" cy="14867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 smtClean="0"/>
              <a:t>Which</a:t>
            </a:r>
            <a:r>
              <a:rPr lang="zh-CN" altLang="en-US" dirty="0" smtClean="0"/>
              <a:t> </a:t>
            </a:r>
            <a:r>
              <a:rPr lang="en-US" altLang="zh-CN" dirty="0" smtClean="0"/>
              <a:t>of</a:t>
            </a:r>
            <a:r>
              <a:rPr lang="zh-CN" altLang="en-US" dirty="0" smtClean="0"/>
              <a:t> </a:t>
            </a:r>
            <a:r>
              <a:rPr lang="en-US" altLang="zh-CN" dirty="0" smtClean="0"/>
              <a:t>the</a:t>
            </a:r>
            <a:r>
              <a:rPr lang="zh-CN" altLang="en-US" dirty="0" smtClean="0"/>
              <a:t> </a:t>
            </a:r>
            <a:r>
              <a:rPr lang="en-US" altLang="zh-CN" dirty="0" smtClean="0"/>
              <a:t>followings</a:t>
            </a:r>
            <a:r>
              <a:rPr lang="zh-CN" altLang="en-US" dirty="0" smtClean="0"/>
              <a:t> </a:t>
            </a:r>
            <a:r>
              <a:rPr lang="en-US" altLang="zh-CN" dirty="0" smtClean="0"/>
              <a:t>do</a:t>
            </a:r>
            <a:r>
              <a:rPr lang="zh-CN" altLang="en-US" dirty="0" smtClean="0"/>
              <a:t> </a:t>
            </a:r>
            <a:r>
              <a:rPr lang="en-US" altLang="zh-CN" dirty="0" smtClean="0"/>
              <a:t>you</a:t>
            </a:r>
            <a:r>
              <a:rPr lang="zh-CN" altLang="en-US" dirty="0" smtClean="0"/>
              <a:t> </a:t>
            </a:r>
            <a:r>
              <a:rPr lang="en-US" altLang="zh-CN" dirty="0" smtClean="0"/>
              <a:t>prefer?</a:t>
            </a:r>
          </a:p>
          <a:p>
            <a:pPr lvl="1"/>
            <a:r>
              <a:rPr lang="en-US" altLang="zh-CN" dirty="0" smtClean="0"/>
              <a:t>I</a:t>
            </a:r>
            <a:r>
              <a:rPr lang="zh-CN" altLang="en-US" dirty="0" smtClean="0"/>
              <a:t> </a:t>
            </a:r>
            <a:r>
              <a:rPr lang="en-US" altLang="zh-CN" dirty="0" smtClean="0"/>
              <a:t>give</a:t>
            </a:r>
            <a:r>
              <a:rPr lang="zh-CN" altLang="en-US" dirty="0" smtClean="0"/>
              <a:t> </a:t>
            </a:r>
            <a:r>
              <a:rPr lang="en-US" altLang="zh-CN" dirty="0" smtClean="0"/>
              <a:t>you</a:t>
            </a:r>
            <a:r>
              <a:rPr lang="zh-CN" altLang="en-US" dirty="0" smtClean="0"/>
              <a:t> </a:t>
            </a:r>
            <a:r>
              <a:rPr lang="en-US" altLang="zh-CN" dirty="0" smtClean="0">
                <a:solidFill>
                  <a:srgbClr val="0070C0"/>
                </a:solidFill>
              </a:rPr>
              <a:t>$</a:t>
            </a:r>
            <a:r>
              <a:rPr lang="en-US" altLang="zh-CN" dirty="0">
                <a:solidFill>
                  <a:srgbClr val="0070C0"/>
                </a:solidFill>
              </a:rPr>
              <a:t>8</a:t>
            </a:r>
            <a:r>
              <a:rPr lang="en-US" altLang="zh-CN" dirty="0" smtClean="0">
                <a:solidFill>
                  <a:srgbClr val="0070C0"/>
                </a:solidFill>
              </a:rPr>
              <a:t>0</a:t>
            </a:r>
            <a:r>
              <a:rPr lang="zh-CN" altLang="en-US" dirty="0" smtClean="0">
                <a:solidFill>
                  <a:srgbClr val="0070C0"/>
                </a:solidFill>
              </a:rPr>
              <a:t> </a:t>
            </a:r>
            <a:r>
              <a:rPr lang="en-US" altLang="zh-CN" dirty="0" smtClean="0"/>
              <a:t>right</a:t>
            </a:r>
            <a:r>
              <a:rPr lang="zh-CN" altLang="en-US" dirty="0" smtClean="0"/>
              <a:t> </a:t>
            </a:r>
            <a:r>
              <a:rPr lang="en-US" altLang="zh-CN" dirty="0" smtClean="0"/>
              <a:t>now.</a:t>
            </a:r>
          </a:p>
          <a:p>
            <a:pPr lvl="1"/>
            <a:r>
              <a:rPr lang="en-US" altLang="zh-CN" dirty="0" smtClean="0"/>
              <a:t>I</a:t>
            </a:r>
            <a:r>
              <a:rPr lang="zh-CN" altLang="en-US" dirty="0" smtClean="0"/>
              <a:t> </a:t>
            </a:r>
            <a:r>
              <a:rPr lang="en-US" altLang="zh-CN" dirty="0" smtClean="0"/>
              <a:t>will</a:t>
            </a:r>
            <a:r>
              <a:rPr lang="zh-CN" altLang="en-US" dirty="0" smtClean="0"/>
              <a:t> </a:t>
            </a:r>
            <a:r>
              <a:rPr lang="en-US" altLang="zh-CN" dirty="0" smtClean="0"/>
              <a:t>give</a:t>
            </a:r>
            <a:r>
              <a:rPr lang="zh-CN" altLang="en-US" dirty="0" smtClean="0"/>
              <a:t> </a:t>
            </a:r>
            <a:r>
              <a:rPr lang="en-US" altLang="zh-CN" dirty="0" smtClean="0"/>
              <a:t>you</a:t>
            </a:r>
            <a:r>
              <a:rPr lang="zh-CN" altLang="en-US" dirty="0" smtClean="0"/>
              <a:t> </a:t>
            </a:r>
            <a:r>
              <a:rPr lang="en-US" altLang="zh-CN" dirty="0" smtClean="0">
                <a:solidFill>
                  <a:srgbClr val="0070C0"/>
                </a:solidFill>
              </a:rPr>
              <a:t>$100</a:t>
            </a:r>
            <a:r>
              <a:rPr lang="zh-CN" altLang="en-US" dirty="0" smtClean="0">
                <a:solidFill>
                  <a:srgbClr val="0070C0"/>
                </a:solidFill>
              </a:rPr>
              <a:t> </a:t>
            </a:r>
            <a:r>
              <a:rPr lang="en-US" altLang="zh-CN" dirty="0" smtClean="0"/>
              <a:t>one</a:t>
            </a:r>
            <a:r>
              <a:rPr lang="zh-CN" altLang="en-US" dirty="0" smtClean="0"/>
              <a:t> </a:t>
            </a:r>
            <a:r>
              <a:rPr lang="en-US" altLang="zh-CN" dirty="0" smtClean="0"/>
              <a:t>year</a:t>
            </a:r>
            <a:r>
              <a:rPr lang="zh-CN" altLang="en-US" dirty="0" smtClean="0"/>
              <a:t> </a:t>
            </a:r>
            <a:r>
              <a:rPr lang="en-US" altLang="zh-CN" dirty="0" smtClean="0"/>
              <a:t>later.</a:t>
            </a:r>
          </a:p>
        </p:txBody>
      </p:sp>
    </p:spTree>
    <p:extLst>
      <p:ext uri="{BB962C8B-B14F-4D97-AF65-F5344CB8AC3E}">
        <p14:creationId xmlns:p14="http://schemas.microsoft.com/office/powerpoint/2010/main" val="1325449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Return</a:t>
            </a:r>
            <a:endParaRPr lang="en-US" sz="36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642937" y="1771651"/>
                <a:ext cx="10906125" cy="829614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+2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+3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+⋯</m:t>
                    </m:r>
                  </m:oMath>
                </a14:m>
                <a:r>
                  <a:rPr lang="en-US" dirty="0"/>
                  <a:t>  </a:t>
                </a:r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2937" y="1771651"/>
                <a:ext cx="10906125" cy="829614"/>
              </a:xfr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642937" y="1042988"/>
            <a:ext cx="10906125" cy="52322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Definition:   </a:t>
            </a:r>
            <a:r>
              <a:rPr lang="en-US" sz="2800" dirty="0" smtClean="0">
                <a:solidFill>
                  <a:srgbClr val="C00000"/>
                </a:solidFill>
              </a:rPr>
              <a:t>Return</a:t>
            </a:r>
            <a:r>
              <a:rPr lang="en-US" sz="2800" b="1" dirty="0" smtClean="0">
                <a:solidFill>
                  <a:srgbClr val="C00000"/>
                </a:solidFill>
              </a:rPr>
              <a:t> </a:t>
            </a:r>
            <a:r>
              <a:rPr lang="en-US" sz="2800" dirty="0" smtClean="0"/>
              <a:t>(aka </a:t>
            </a:r>
            <a:r>
              <a:rPr lang="en-US" sz="2800" dirty="0" smtClean="0">
                <a:solidFill>
                  <a:srgbClr val="C00000"/>
                </a:solidFill>
              </a:rPr>
              <a:t>cumulative future reward</a:t>
            </a:r>
            <a:r>
              <a:rPr lang="en-US" sz="2800" dirty="0" smtClean="0"/>
              <a:t>).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42937" y="2623828"/>
                <a:ext cx="10906125" cy="52322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Question:</a:t>
                </a:r>
                <a:r>
                  <a:rPr lang="zh-CN" altLang="en-US" sz="2800" b="1" dirty="0"/>
                  <a:t>  </a:t>
                </a:r>
                <a:r>
                  <a:rPr lang="en-US" altLang="zh-CN" sz="2800" dirty="0"/>
                  <a:t>At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time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charset="0"/>
                      </a:rPr>
                      <m:t>𝑡</m:t>
                    </m:r>
                  </m:oMath>
                </a14:m>
                <a:r>
                  <a:rPr lang="en-US" altLang="zh-CN" sz="2800" dirty="0"/>
                  <a:t>,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are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2800" dirty="0"/>
                  <a:t> </a:t>
                </a:r>
                <a:r>
                  <a:rPr lang="en-US" altLang="zh-CN" sz="2800" dirty="0"/>
                  <a:t>and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altLang="zh-CN" sz="28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zh-CN" altLang="en-US" sz="2800" dirty="0"/>
                  <a:t> </a:t>
                </a:r>
                <a:r>
                  <a:rPr lang="en-US" altLang="zh-CN" sz="2800" dirty="0"/>
                  <a:t>equally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important?</a:t>
                </a:r>
                <a:r>
                  <a:rPr lang="zh-CN" altLang="en-US" sz="2800" dirty="0"/>
                  <a:t> </a:t>
                </a:r>
                <a:endParaRPr lang="en-US" sz="28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37" y="2623828"/>
                <a:ext cx="10906125" cy="523220"/>
              </a:xfrm>
              <a:prstGeom prst="rect">
                <a:avLst/>
              </a:prstGeom>
              <a:blipFill rotWithShape="0">
                <a:blip r:embed="rId4"/>
                <a:stretch>
                  <a:fillRect l="-1117"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ontent Placeholder 1"/>
          <p:cNvSpPr txBox="1">
            <a:spLocks/>
          </p:cNvSpPr>
          <p:nvPr/>
        </p:nvSpPr>
        <p:spPr>
          <a:xfrm>
            <a:off x="642936" y="3352491"/>
            <a:ext cx="10906125" cy="14867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 smtClean="0"/>
              <a:t>Which</a:t>
            </a:r>
            <a:r>
              <a:rPr lang="zh-CN" altLang="en-US" dirty="0" smtClean="0"/>
              <a:t> </a:t>
            </a:r>
            <a:r>
              <a:rPr lang="en-US" altLang="zh-CN" dirty="0" smtClean="0"/>
              <a:t>of</a:t>
            </a:r>
            <a:r>
              <a:rPr lang="zh-CN" altLang="en-US" dirty="0" smtClean="0"/>
              <a:t> </a:t>
            </a:r>
            <a:r>
              <a:rPr lang="en-US" altLang="zh-CN" dirty="0" smtClean="0"/>
              <a:t>the</a:t>
            </a:r>
            <a:r>
              <a:rPr lang="zh-CN" altLang="en-US" dirty="0" smtClean="0"/>
              <a:t> </a:t>
            </a:r>
            <a:r>
              <a:rPr lang="en-US" altLang="zh-CN" dirty="0" smtClean="0"/>
              <a:t>followings</a:t>
            </a:r>
            <a:r>
              <a:rPr lang="zh-CN" altLang="en-US" dirty="0" smtClean="0"/>
              <a:t> </a:t>
            </a:r>
            <a:r>
              <a:rPr lang="en-US" altLang="zh-CN" dirty="0" smtClean="0"/>
              <a:t>do</a:t>
            </a:r>
            <a:r>
              <a:rPr lang="zh-CN" altLang="en-US" dirty="0" smtClean="0"/>
              <a:t> </a:t>
            </a:r>
            <a:r>
              <a:rPr lang="en-US" altLang="zh-CN" dirty="0" smtClean="0"/>
              <a:t>you</a:t>
            </a:r>
            <a:r>
              <a:rPr lang="zh-CN" altLang="en-US" dirty="0" smtClean="0"/>
              <a:t> </a:t>
            </a:r>
            <a:r>
              <a:rPr lang="en-US" altLang="zh-CN" dirty="0" smtClean="0"/>
              <a:t>prefer?</a:t>
            </a:r>
          </a:p>
          <a:p>
            <a:pPr lvl="1"/>
            <a:r>
              <a:rPr lang="en-US" altLang="zh-CN" dirty="0" smtClean="0"/>
              <a:t>I</a:t>
            </a:r>
            <a:r>
              <a:rPr lang="zh-CN" altLang="en-US" dirty="0" smtClean="0"/>
              <a:t> </a:t>
            </a:r>
            <a:r>
              <a:rPr lang="en-US" altLang="zh-CN" dirty="0" smtClean="0"/>
              <a:t>give</a:t>
            </a:r>
            <a:r>
              <a:rPr lang="zh-CN" altLang="en-US" dirty="0" smtClean="0"/>
              <a:t> </a:t>
            </a:r>
            <a:r>
              <a:rPr lang="en-US" altLang="zh-CN" dirty="0" smtClean="0"/>
              <a:t>you</a:t>
            </a:r>
            <a:r>
              <a:rPr lang="zh-CN" altLang="en-US" dirty="0" smtClean="0"/>
              <a:t> </a:t>
            </a:r>
            <a:r>
              <a:rPr lang="en-US" altLang="zh-CN" dirty="0" smtClean="0">
                <a:solidFill>
                  <a:srgbClr val="0070C0"/>
                </a:solidFill>
              </a:rPr>
              <a:t>$</a:t>
            </a:r>
            <a:r>
              <a:rPr lang="en-US" altLang="zh-CN" dirty="0">
                <a:solidFill>
                  <a:srgbClr val="0070C0"/>
                </a:solidFill>
              </a:rPr>
              <a:t>8</a:t>
            </a:r>
            <a:r>
              <a:rPr lang="en-US" altLang="zh-CN" dirty="0" smtClean="0">
                <a:solidFill>
                  <a:srgbClr val="0070C0"/>
                </a:solidFill>
              </a:rPr>
              <a:t>0</a:t>
            </a:r>
            <a:r>
              <a:rPr lang="zh-CN" altLang="en-US" dirty="0" smtClean="0">
                <a:solidFill>
                  <a:srgbClr val="0070C0"/>
                </a:solidFill>
              </a:rPr>
              <a:t> </a:t>
            </a:r>
            <a:r>
              <a:rPr lang="en-US" altLang="zh-CN" dirty="0" smtClean="0"/>
              <a:t>right</a:t>
            </a:r>
            <a:r>
              <a:rPr lang="zh-CN" altLang="en-US" dirty="0" smtClean="0"/>
              <a:t> </a:t>
            </a:r>
            <a:r>
              <a:rPr lang="en-US" altLang="zh-CN" dirty="0" smtClean="0"/>
              <a:t>now.</a:t>
            </a:r>
          </a:p>
          <a:p>
            <a:pPr lvl="1"/>
            <a:r>
              <a:rPr lang="en-US" altLang="zh-CN" dirty="0" smtClean="0"/>
              <a:t>I</a:t>
            </a:r>
            <a:r>
              <a:rPr lang="zh-CN" altLang="en-US" dirty="0" smtClean="0"/>
              <a:t> </a:t>
            </a:r>
            <a:r>
              <a:rPr lang="en-US" altLang="zh-CN" dirty="0" smtClean="0"/>
              <a:t>will</a:t>
            </a:r>
            <a:r>
              <a:rPr lang="zh-CN" altLang="en-US" dirty="0" smtClean="0"/>
              <a:t> </a:t>
            </a:r>
            <a:r>
              <a:rPr lang="en-US" altLang="zh-CN" dirty="0" smtClean="0"/>
              <a:t>give</a:t>
            </a:r>
            <a:r>
              <a:rPr lang="zh-CN" altLang="en-US" dirty="0" smtClean="0"/>
              <a:t> </a:t>
            </a:r>
            <a:r>
              <a:rPr lang="en-US" altLang="zh-CN" dirty="0" smtClean="0"/>
              <a:t>you</a:t>
            </a:r>
            <a:r>
              <a:rPr lang="zh-CN" altLang="en-US" dirty="0" smtClean="0"/>
              <a:t> </a:t>
            </a:r>
            <a:r>
              <a:rPr lang="en-US" altLang="zh-CN" dirty="0" smtClean="0">
                <a:solidFill>
                  <a:srgbClr val="0070C0"/>
                </a:solidFill>
              </a:rPr>
              <a:t>$100</a:t>
            </a:r>
            <a:r>
              <a:rPr lang="zh-CN" altLang="en-US" dirty="0" smtClean="0">
                <a:solidFill>
                  <a:srgbClr val="0070C0"/>
                </a:solidFill>
              </a:rPr>
              <a:t> </a:t>
            </a:r>
            <a:r>
              <a:rPr lang="en-US" altLang="zh-CN" dirty="0" smtClean="0"/>
              <a:t>one</a:t>
            </a:r>
            <a:r>
              <a:rPr lang="zh-CN" altLang="en-US" dirty="0" smtClean="0"/>
              <a:t> </a:t>
            </a:r>
            <a:r>
              <a:rPr lang="en-US" altLang="zh-CN" dirty="0" smtClean="0"/>
              <a:t>year</a:t>
            </a:r>
            <a:r>
              <a:rPr lang="zh-CN" altLang="en-US" dirty="0" smtClean="0"/>
              <a:t> </a:t>
            </a:r>
            <a:r>
              <a:rPr lang="en-US" altLang="zh-CN" dirty="0" smtClean="0"/>
              <a:t>later.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42936" y="5059939"/>
                <a:ext cx="10906125" cy="954107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charset="0"/>
                  <a:buChar char="•"/>
                </a:pPr>
                <a:r>
                  <a:rPr lang="zh-CN" altLang="en-US" sz="2800" dirty="0" smtClean="0"/>
                  <a:t> </a:t>
                </a:r>
                <a:r>
                  <a:rPr lang="en-US" altLang="zh-CN" sz="2800" dirty="0" smtClean="0"/>
                  <a:t>Future</a:t>
                </a:r>
                <a:r>
                  <a:rPr lang="zh-CN" altLang="en-US" sz="2800" dirty="0" smtClean="0"/>
                  <a:t> </a:t>
                </a:r>
                <a:r>
                  <a:rPr lang="en-US" altLang="zh-CN" sz="2800" dirty="0" smtClean="0"/>
                  <a:t>reward</a:t>
                </a:r>
                <a:r>
                  <a:rPr lang="zh-CN" altLang="en-US" sz="2800" dirty="0" smtClean="0"/>
                  <a:t> </a:t>
                </a:r>
                <a:r>
                  <a:rPr lang="en-US" altLang="zh-CN" sz="2800" dirty="0" smtClean="0"/>
                  <a:t>is</a:t>
                </a:r>
                <a:r>
                  <a:rPr lang="zh-CN" altLang="en-US" sz="2800" dirty="0" smtClean="0"/>
                  <a:t> </a:t>
                </a:r>
                <a:r>
                  <a:rPr lang="en-US" altLang="zh-CN" sz="2800" dirty="0" smtClean="0"/>
                  <a:t>less</a:t>
                </a:r>
                <a:r>
                  <a:rPr lang="zh-CN" altLang="en-US" sz="2800" dirty="0" smtClean="0"/>
                  <a:t> </a:t>
                </a:r>
                <a:r>
                  <a:rPr lang="en-US" altLang="zh-CN" sz="2800" dirty="0" smtClean="0"/>
                  <a:t>valuable</a:t>
                </a:r>
                <a:r>
                  <a:rPr lang="zh-CN" altLang="en-US" sz="2800" dirty="0" smtClean="0"/>
                  <a:t> </a:t>
                </a:r>
                <a:r>
                  <a:rPr lang="en-US" altLang="zh-CN" sz="2800" dirty="0" smtClean="0"/>
                  <a:t>than</a:t>
                </a:r>
                <a:r>
                  <a:rPr lang="zh-CN" altLang="en-US" sz="2800" dirty="0" smtClean="0"/>
                  <a:t> </a:t>
                </a:r>
                <a:r>
                  <a:rPr lang="en-US" altLang="zh-CN" sz="2800" dirty="0" smtClean="0"/>
                  <a:t>present</a:t>
                </a:r>
                <a:r>
                  <a:rPr lang="zh-CN" altLang="en-US" sz="2800" dirty="0" smtClean="0"/>
                  <a:t> </a:t>
                </a:r>
                <a:r>
                  <a:rPr lang="en-US" altLang="zh-CN" sz="2800" dirty="0" smtClean="0"/>
                  <a:t>reward.</a:t>
                </a:r>
              </a:p>
              <a:p>
                <a:pPr marL="457200" indent="-457200">
                  <a:buFont typeface="Arial" charset="0"/>
                  <a:buChar char="•"/>
                </a:pPr>
                <a:r>
                  <a:rPr lang="zh-CN" altLang="en-US" sz="28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sz="28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zh-CN" altLang="en-US" sz="2800" dirty="0" smtClean="0"/>
                  <a:t> </a:t>
                </a:r>
                <a:r>
                  <a:rPr lang="en-US" altLang="zh-CN" sz="2800" dirty="0" smtClean="0"/>
                  <a:t>should</a:t>
                </a:r>
                <a:r>
                  <a:rPr lang="zh-CN" altLang="en-US" sz="2800" dirty="0" smtClean="0"/>
                  <a:t> </a:t>
                </a:r>
                <a:r>
                  <a:rPr lang="en-US" altLang="zh-CN" sz="2800" dirty="0" smtClean="0"/>
                  <a:t>be</a:t>
                </a:r>
                <a:r>
                  <a:rPr lang="zh-CN" altLang="en-US" sz="2800" dirty="0" smtClean="0"/>
                  <a:t> </a:t>
                </a:r>
                <a:r>
                  <a:rPr lang="en-US" altLang="zh-CN" sz="2800" dirty="0" smtClean="0"/>
                  <a:t>given</a:t>
                </a:r>
                <a:r>
                  <a:rPr lang="zh-CN" altLang="en-US" sz="2800" dirty="0" smtClean="0"/>
                  <a:t> </a:t>
                </a:r>
                <a:r>
                  <a:rPr lang="en-US" altLang="zh-CN" sz="2800" dirty="0" smtClean="0"/>
                  <a:t>less</a:t>
                </a:r>
                <a:r>
                  <a:rPr lang="zh-CN" altLang="en-US" sz="2800" dirty="0" smtClean="0"/>
                  <a:t> </a:t>
                </a:r>
                <a:r>
                  <a:rPr lang="en-US" altLang="zh-CN" sz="2800" dirty="0" smtClean="0"/>
                  <a:t>weight</a:t>
                </a:r>
                <a:r>
                  <a:rPr lang="zh-CN" altLang="en-US" sz="2800" dirty="0" smtClean="0"/>
                  <a:t> </a:t>
                </a:r>
                <a:r>
                  <a:rPr lang="en-US" altLang="zh-CN" sz="2800" dirty="0" smtClean="0"/>
                  <a:t>than</a:t>
                </a:r>
                <a:r>
                  <a:rPr lang="zh-CN" altLang="en-US" sz="28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2800" dirty="0" smtClean="0"/>
                  <a:t>.</a:t>
                </a:r>
                <a:endParaRPr lang="en-US" sz="28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36" y="5059939"/>
                <a:ext cx="10906125" cy="954107"/>
              </a:xfrm>
              <a:prstGeom prst="rect">
                <a:avLst/>
              </a:prstGeom>
              <a:blipFill rotWithShape="0">
                <a:blip r:embed="rId5"/>
                <a:stretch>
                  <a:fillRect l="-1006" t="-5732" b="-17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292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Discounted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Returns</a:t>
            </a:r>
            <a:endParaRPr lang="en-US" sz="36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642937" y="1771651"/>
                <a:ext cx="10906125" cy="829614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+2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+3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+⋯</m:t>
                    </m:r>
                  </m:oMath>
                </a14:m>
                <a:r>
                  <a:rPr lang="en-US" dirty="0"/>
                  <a:t>  </a:t>
                </a:r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2937" y="1771651"/>
                <a:ext cx="10906125" cy="829614"/>
              </a:xfr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642937" y="1042988"/>
            <a:ext cx="10906125" cy="52322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800" b="1" dirty="0"/>
              <a:t>Definition:   </a:t>
            </a:r>
            <a:r>
              <a:rPr lang="en-US" sz="2800" dirty="0">
                <a:solidFill>
                  <a:srgbClr val="C00000"/>
                </a:solidFill>
              </a:rPr>
              <a:t>Return</a:t>
            </a:r>
            <a:r>
              <a:rPr lang="en-US" sz="2800" b="1" dirty="0">
                <a:solidFill>
                  <a:srgbClr val="C00000"/>
                </a:solidFill>
              </a:rPr>
              <a:t> </a:t>
            </a:r>
            <a:r>
              <a:rPr lang="en-US" sz="2800" dirty="0"/>
              <a:t>(aka </a:t>
            </a:r>
            <a:r>
              <a:rPr lang="en-US" sz="2800" dirty="0">
                <a:solidFill>
                  <a:srgbClr val="C00000"/>
                </a:solidFill>
              </a:rPr>
              <a:t>cumulative future reward</a:t>
            </a:r>
            <a:r>
              <a:rPr lang="en-US" sz="2800" dirty="0"/>
              <a:t>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1"/>
              <p:cNvSpPr txBox="1">
                <a:spLocks/>
              </p:cNvSpPr>
              <p:nvPr/>
            </p:nvSpPr>
            <p:spPr>
              <a:xfrm>
                <a:off x="642937" y="3822124"/>
                <a:ext cx="10906125" cy="237172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𝛾</m:t>
                    </m:r>
                  </m:oMath>
                </a14:m>
                <a:r>
                  <a:rPr lang="en-US" dirty="0"/>
                  <a:t>: discount </a:t>
                </a:r>
                <a:r>
                  <a:rPr lang="en-US" altLang="zh-CN" dirty="0" smtClean="0"/>
                  <a:t>factor</a:t>
                </a:r>
                <a:r>
                  <a:rPr lang="zh-CN" altLang="en-US" dirty="0" smtClean="0"/>
                  <a:t> </a:t>
                </a:r>
                <a:r>
                  <a:rPr lang="en-US" dirty="0" smtClean="0"/>
                  <a:t>(tuning </a:t>
                </a:r>
                <a:r>
                  <a:rPr lang="en-US" dirty="0"/>
                  <a:t>hyper-parameter).</a:t>
                </a:r>
              </a:p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+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charset="0"/>
                      </a:rPr>
                      <m:t>𝛾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𝛾</m:t>
                        </m:r>
                      </m:e>
                      <m:sup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+2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𝛾</m:t>
                        </m:r>
                      </m:e>
                      <m:sup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3</m:t>
                        </m:r>
                      </m:sup>
                    </m:sSup>
                    <m:r>
                      <a:rPr lang="en-US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+3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+⋯</m:t>
                    </m:r>
                  </m:oMath>
                </a14:m>
                <a:r>
                  <a:rPr lang="en-US" dirty="0" smtClean="0"/>
                  <a:t>  </a:t>
                </a:r>
                <a:endParaRPr lang="en-US" dirty="0"/>
              </a:p>
            </p:txBody>
          </p:sp>
        </mc:Choice>
        <mc:Fallback xmlns="">
          <p:sp>
            <p:nvSpPr>
              <p:cNvPr id="8" name="Content Placeholder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37" y="3822124"/>
                <a:ext cx="10906125" cy="2371724"/>
              </a:xfrm>
              <a:prstGeom prst="rect">
                <a:avLst/>
              </a:prstGeom>
              <a:blipFill rotWithShape="0">
                <a:blip r:embed="rId4"/>
                <a:stretch>
                  <a:fillRect t="-4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642937" y="3093461"/>
            <a:ext cx="10906125" cy="52322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800" b="1" dirty="0"/>
              <a:t>Definition:  </a:t>
            </a:r>
            <a:r>
              <a:rPr lang="en-US" sz="2800" dirty="0" smtClean="0">
                <a:solidFill>
                  <a:srgbClr val="C00000"/>
                </a:solidFill>
              </a:rPr>
              <a:t>Discounted </a:t>
            </a:r>
            <a:r>
              <a:rPr lang="en-US" sz="2800" dirty="0" smtClean="0"/>
              <a:t>return</a:t>
            </a:r>
            <a:r>
              <a:rPr lang="en-US" sz="2800" b="1" dirty="0" smtClean="0"/>
              <a:t> </a:t>
            </a:r>
            <a:r>
              <a:rPr lang="en-US" sz="2800" dirty="0"/>
              <a:t>(aka </a:t>
            </a:r>
            <a:r>
              <a:rPr lang="en-US" sz="2800" dirty="0" smtClean="0"/>
              <a:t>cumulative</a:t>
            </a:r>
            <a:r>
              <a:rPr lang="en-US" sz="2800" dirty="0" smtClean="0">
                <a:solidFill>
                  <a:srgbClr val="C00000"/>
                </a:solidFill>
              </a:rPr>
              <a:t> discounted </a:t>
            </a:r>
            <a:r>
              <a:rPr lang="en-US" sz="2800" dirty="0"/>
              <a:t>future reward).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670" y="4933239"/>
            <a:ext cx="580292" cy="4571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606940" y="4933238"/>
            <a:ext cx="580292" cy="4571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2556429" y="4941583"/>
            <a:ext cx="941514" cy="4571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3968740" y="4956097"/>
            <a:ext cx="1140288" cy="4571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916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7" grpId="1" animBg="1"/>
      <p:bldP spid="10" grpId="0" animBg="1"/>
      <p:bldP spid="10" grpId="1" animBg="1"/>
      <p:bldP spid="12" grpId="0" animBg="1"/>
      <p:bldP spid="12" grpId="1" animBg="1"/>
      <p:bldP spid="13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Discounted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Returns</a:t>
            </a:r>
            <a:endParaRPr lang="en-US" sz="36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642937" y="1771651"/>
                <a:ext cx="10906125" cy="829614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zh-CN" altLang="en-US" b="0" i="1" smtClean="0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=</m:t>
                    </m:r>
                    <m:r>
                      <a:rPr lang="zh-CN" altLang="en-US" b="0" i="1" smtClean="0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zh-CN" altLang="en-US" b="0" i="1" smtClean="0">
                        <a:solidFill>
                          <a:srgbClr val="0070C0"/>
                        </a:solidFill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+</m:t>
                    </m:r>
                    <m:r>
                      <a:rPr lang="zh-CN" altLang="en-US" b="0" i="1" smtClean="0">
                        <a:latin typeface="Cambria Math" charset="0"/>
                      </a:rPr>
                      <m:t> 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𝛾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+1</m:t>
                        </m:r>
                      </m:sub>
                    </m:sSub>
                    <m:r>
                      <a:rPr lang="zh-CN" altLang="en-US" b="0" i="1" smtClean="0">
                        <a:solidFill>
                          <a:srgbClr val="0070C0"/>
                        </a:solidFill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+</m:t>
                    </m:r>
                    <m:r>
                      <a:rPr lang="zh-CN" altLang="en-US" b="0" i="1" smtClean="0">
                        <a:latin typeface="Cambria Math" charset="0"/>
                      </a:rPr>
                      <m:t> </m:t>
                    </m:r>
                    <m:sSup>
                      <m:sSup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𝛾</m:t>
                        </m:r>
                      </m:e>
                      <m:sup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+2</m:t>
                        </m:r>
                      </m:sub>
                    </m:sSub>
                    <m:r>
                      <a:rPr lang="zh-CN" altLang="en-US" b="0" i="1" smtClean="0">
                        <a:solidFill>
                          <a:srgbClr val="0070C0"/>
                        </a:solidFill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+</m:t>
                    </m:r>
                    <m:r>
                      <a:rPr lang="zh-CN" altLang="en-US" b="0" i="1" smtClean="0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⋯</m:t>
                    </m:r>
                    <m:r>
                      <a:rPr lang="zh-CN" altLang="en-US" b="0" i="1" smtClean="0">
                        <a:latin typeface="Cambria Math" charset="0"/>
                      </a:rPr>
                      <m:t> </m:t>
                    </m:r>
                    <m:r>
                      <a:rPr lang="en-US" altLang="zh-CN" b="0" i="1" smtClean="0">
                        <a:latin typeface="Cambria Math" charset="0"/>
                      </a:rPr>
                      <m:t>+</m:t>
                    </m:r>
                    <m:r>
                      <a:rPr lang="zh-CN" altLang="en-US" b="0" i="1" smtClean="0">
                        <a:latin typeface="Cambria Math" charset="0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</a:rPr>
                          <m:t>𝛾</m:t>
                        </m:r>
                      </m:e>
                      <m:sup>
                        <m:r>
                          <a:rPr lang="en-US" altLang="zh-CN" b="0" i="1" smtClean="0">
                            <a:latin typeface="Cambria Math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charset="0"/>
                          </a:rPr>
                          <m:t>𝑡</m:t>
                        </m:r>
                      </m:sup>
                    </m:sSup>
                    <m:r>
                      <a:rPr lang="en-US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dirty="0" smtClean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30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2937" y="1771651"/>
                <a:ext cx="10906125" cy="829614"/>
              </a:xfrm>
              <a:blipFill rotWithShape="0">
                <a:blip r:embed="rId3"/>
                <a:stretch>
                  <a:fillRect t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642937" y="1042988"/>
                <a:ext cx="10906125" cy="523220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 smtClean="0"/>
                  <a:t>Definition:  </a:t>
                </a:r>
                <a:r>
                  <a:rPr lang="en-US" sz="2800" dirty="0"/>
                  <a:t>Discounted </a:t>
                </a:r>
                <a:r>
                  <a:rPr lang="en-US" sz="2800" dirty="0" smtClean="0"/>
                  <a:t>return</a:t>
                </a:r>
                <a:r>
                  <a:rPr lang="zh-CN" altLang="en-US" sz="2800" dirty="0" smtClean="0"/>
                  <a:t> </a:t>
                </a:r>
                <a:r>
                  <a:rPr lang="en-US" altLang="zh-CN" sz="2800" dirty="0" smtClean="0"/>
                  <a:t>(at</a:t>
                </a:r>
                <a:r>
                  <a:rPr lang="zh-CN" altLang="en-US" sz="2800" dirty="0" smtClean="0"/>
                  <a:t> </a:t>
                </a:r>
                <a:r>
                  <a:rPr lang="en-US" altLang="zh-CN" sz="2800" dirty="0" smtClean="0"/>
                  <a:t>time</a:t>
                </a:r>
                <a:r>
                  <a:rPr lang="zh-CN" altLang="en-US" sz="2800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charset="0"/>
                      </a:rPr>
                      <m:t>𝑡</m:t>
                    </m:r>
                  </m:oMath>
                </a14:m>
                <a:r>
                  <a:rPr lang="en-US" altLang="zh-CN" sz="2800" dirty="0" smtClean="0"/>
                  <a:t>).</a:t>
                </a:r>
                <a:endParaRPr lang="en-US" sz="28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37" y="1042988"/>
                <a:ext cx="10906125" cy="523220"/>
              </a:xfrm>
              <a:prstGeom prst="rect">
                <a:avLst/>
              </a:prstGeom>
              <a:blipFill rotWithShape="0">
                <a:blip r:embed="rId4"/>
                <a:stretch>
                  <a:fillRect l="-1117"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6560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Randomness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in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Returns</a:t>
            </a:r>
            <a:endParaRPr lang="en-US" sz="36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42936" y="2704318"/>
                <a:ext cx="10906125" cy="52322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 smtClean="0"/>
                  <a:t>At</a:t>
                </a:r>
                <a:r>
                  <a:rPr lang="zh-CN" altLang="en-US" sz="2800" dirty="0" smtClean="0"/>
                  <a:t> </a:t>
                </a:r>
                <a:r>
                  <a:rPr lang="en-US" altLang="zh-CN" sz="2800" dirty="0" smtClean="0"/>
                  <a:t>the</a:t>
                </a:r>
                <a:r>
                  <a:rPr lang="zh-CN" altLang="en-US" sz="2800" dirty="0" smtClean="0"/>
                  <a:t> </a:t>
                </a:r>
                <a:r>
                  <a:rPr lang="en-US" altLang="zh-CN" sz="2800" dirty="0" smtClean="0"/>
                  <a:t>end</a:t>
                </a:r>
                <a:r>
                  <a:rPr lang="zh-CN" altLang="en-US" sz="2800" dirty="0" smtClean="0"/>
                  <a:t> </a:t>
                </a:r>
                <a:r>
                  <a:rPr lang="en-US" altLang="zh-CN" sz="2800" dirty="0" smtClean="0"/>
                  <a:t>of</a:t>
                </a:r>
                <a:r>
                  <a:rPr lang="zh-CN" altLang="en-US" sz="2800" dirty="0" smtClean="0"/>
                  <a:t> </a:t>
                </a:r>
                <a:r>
                  <a:rPr lang="en-US" altLang="zh-CN" sz="2800" dirty="0" smtClean="0"/>
                  <a:t>the</a:t>
                </a:r>
                <a:r>
                  <a:rPr lang="zh-CN" altLang="en-US" sz="2800" dirty="0" smtClean="0"/>
                  <a:t> </a:t>
                </a:r>
                <a:r>
                  <a:rPr lang="en-US" altLang="zh-CN" sz="2800" dirty="0" smtClean="0"/>
                  <a:t>game,</a:t>
                </a:r>
                <a:r>
                  <a:rPr lang="zh-CN" altLang="en-US" sz="2800" dirty="0" smtClean="0"/>
                  <a:t> </a:t>
                </a:r>
                <a:r>
                  <a:rPr lang="en-US" altLang="zh-CN" sz="2800" dirty="0" smtClean="0"/>
                  <a:t>we</a:t>
                </a:r>
                <a:r>
                  <a:rPr lang="zh-CN" altLang="en-US" sz="2800" dirty="0" smtClean="0"/>
                  <a:t> </a:t>
                </a:r>
                <a:r>
                  <a:rPr lang="en-US" altLang="zh-CN" sz="2800" dirty="0" smtClean="0"/>
                  <a:t>observe</a:t>
                </a:r>
                <a:r>
                  <a:rPr lang="zh-CN" altLang="en-US" sz="28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charset="0"/>
                          </a:rPr>
                          <m:t>𝑢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2800" dirty="0" smtClean="0"/>
                  <a:t>.</a:t>
                </a:r>
                <a:endParaRPr lang="en-US" sz="28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36" y="2704318"/>
                <a:ext cx="10906125" cy="523220"/>
              </a:xfrm>
              <a:prstGeom prst="rect">
                <a:avLst/>
              </a:prstGeom>
              <a:blipFill rotWithShape="0">
                <a:blip r:embed="rId3"/>
                <a:stretch>
                  <a:fillRect l="-1117" t="-11765" b="-34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642937" y="1042988"/>
                <a:ext cx="10906125" cy="523220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 smtClean="0"/>
                  <a:t>Definition:  </a:t>
                </a:r>
                <a:r>
                  <a:rPr lang="en-US" sz="2800" dirty="0"/>
                  <a:t>Discounted </a:t>
                </a:r>
                <a:r>
                  <a:rPr lang="en-US" sz="2800" dirty="0" smtClean="0"/>
                  <a:t>return</a:t>
                </a:r>
                <a:r>
                  <a:rPr lang="zh-CN" altLang="en-US" sz="2800" dirty="0" smtClean="0"/>
                  <a:t> </a:t>
                </a:r>
                <a:r>
                  <a:rPr lang="en-US" altLang="zh-CN" sz="2800" dirty="0" smtClean="0"/>
                  <a:t>(at</a:t>
                </a:r>
                <a:r>
                  <a:rPr lang="zh-CN" altLang="en-US" sz="2800" dirty="0" smtClean="0"/>
                  <a:t> </a:t>
                </a:r>
                <a:r>
                  <a:rPr lang="en-US" altLang="zh-CN" sz="2800" dirty="0" smtClean="0"/>
                  <a:t>time</a:t>
                </a:r>
                <a:r>
                  <a:rPr lang="zh-CN" altLang="en-US" sz="2800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charset="0"/>
                      </a:rPr>
                      <m:t>𝑡</m:t>
                    </m:r>
                  </m:oMath>
                </a14:m>
                <a:r>
                  <a:rPr lang="en-US" altLang="zh-CN" sz="2800" dirty="0" smtClean="0"/>
                  <a:t>).</a:t>
                </a:r>
                <a:endParaRPr lang="en-US" sz="28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37" y="1042988"/>
                <a:ext cx="10906125" cy="523220"/>
              </a:xfrm>
              <a:prstGeom prst="rect">
                <a:avLst/>
              </a:prstGeom>
              <a:blipFill rotWithShape="0">
                <a:blip r:embed="rId4"/>
                <a:stretch>
                  <a:fillRect l="-1117"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1"/>
              <p:cNvSpPr txBox="1">
                <a:spLocks/>
              </p:cNvSpPr>
              <p:nvPr/>
            </p:nvSpPr>
            <p:spPr>
              <a:xfrm>
                <a:off x="642935" y="3533933"/>
                <a:ext cx="10906125" cy="265585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dirty="0" smtClean="0"/>
                  <a:t>We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observe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all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the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rewards,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en-US" altLang="zh-CN" b="0" i="1" smtClean="0">
                        <a:solidFill>
                          <a:schemeClr val="accent5"/>
                        </a:solidFill>
                        <a:latin typeface="Cambria Math" charset="0"/>
                      </a:rPr>
                      <m:t>,</m:t>
                    </m:r>
                    <m:r>
                      <a:rPr lang="zh-CN" altLang="en-US" b="0" i="1" smtClean="0">
                        <a:solidFill>
                          <a:schemeClr val="accent5"/>
                        </a:solidFill>
                        <a:latin typeface="Cambria Math" charset="0"/>
                      </a:rPr>
                      <m:t>  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altLang="zh-CN" b="0" i="1" smtClean="0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+1</m:t>
                        </m:r>
                      </m:sub>
                    </m:sSub>
                    <m:r>
                      <a:rPr lang="en-US" altLang="zh-CN" b="0" i="1" smtClean="0">
                        <a:solidFill>
                          <a:schemeClr val="accent5"/>
                        </a:solidFill>
                        <a:latin typeface="Cambria Math" charset="0"/>
                      </a:rPr>
                      <m:t>,</m:t>
                    </m:r>
                    <m:r>
                      <a:rPr lang="zh-CN" altLang="en-US" b="0" i="1" smtClean="0">
                        <a:solidFill>
                          <a:schemeClr val="accent5"/>
                        </a:solidFill>
                        <a:latin typeface="Cambria Math" charset="0"/>
                      </a:rPr>
                      <m:t>  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altLang="zh-CN" b="0" i="1" smtClean="0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+2</m:t>
                        </m:r>
                      </m:sub>
                    </m:sSub>
                    <m:r>
                      <a:rPr lang="en-US" altLang="zh-CN" b="0" i="1" smtClean="0">
                        <a:solidFill>
                          <a:schemeClr val="accent5"/>
                        </a:solidFill>
                        <a:latin typeface="Cambria Math" charset="0"/>
                      </a:rPr>
                      <m:t>,</m:t>
                    </m:r>
                    <m:r>
                      <a:rPr lang="zh-CN" altLang="en-US" b="0" i="1" smtClean="0">
                        <a:solidFill>
                          <a:schemeClr val="accent5"/>
                        </a:solidFill>
                        <a:latin typeface="Cambria Math" charset="0"/>
                      </a:rPr>
                      <m:t>   </m:t>
                    </m:r>
                    <m:r>
                      <a:rPr lang="en-US" altLang="zh-CN" b="0" i="1" smtClean="0">
                        <a:solidFill>
                          <a:schemeClr val="accent5"/>
                        </a:solidFill>
                        <a:latin typeface="Cambria Math" charset="0"/>
                      </a:rPr>
                      <m:t>⋯,</m:t>
                    </m:r>
                    <m:r>
                      <a:rPr lang="zh-CN" altLang="en-US" b="0" i="1" smtClean="0">
                        <a:solidFill>
                          <a:schemeClr val="accent5"/>
                        </a:solidFill>
                        <a:latin typeface="Cambria Math" charset="0"/>
                      </a:rPr>
                      <m:t>  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dirty="0" smtClean="0"/>
                  <a:t>.</a:t>
                </a: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dirty="0" smtClean="0"/>
                  <a:t>We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thereby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know</a:t>
                </a:r>
                <a:r>
                  <a:rPr lang="zh-CN" altLang="en-US" dirty="0" smtClean="0"/>
                  <a:t>  </a:t>
                </a:r>
                <a:r>
                  <a:rPr lang="en-US" altLang="zh-CN" dirty="0" smtClean="0"/>
                  <a:t>the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discounted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return:</a:t>
                </a:r>
              </a:p>
              <a:p>
                <a:pPr marL="0" indent="0" algn="ctr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+</m:t>
                    </m:r>
                    <m:r>
                      <a:rPr lang="en-US" i="1">
                        <a:latin typeface="Cambria Math" charset="0"/>
                      </a:rPr>
                      <m:t>𝛾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</a:rPr>
                          <m:t>𝛾</m:t>
                        </m:r>
                      </m:e>
                      <m:sup>
                        <m:r>
                          <a:rPr lang="en-US" i="1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+2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+</m:t>
                    </m:r>
                    <m:r>
                      <a:rPr lang="en-US" altLang="zh-CN" b="0" i="1" smtClean="0">
                        <a:latin typeface="Cambria Math" charset="0"/>
                      </a:rPr>
                      <m:t>⋯+</m:t>
                    </m:r>
                    <m:sSup>
                      <m:sSupPr>
                        <m:ctrlPr>
                          <a:rPr lang="en-US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</a:rPr>
                          <m:t>𝛾</m:t>
                        </m:r>
                      </m:e>
                      <m:sup>
                        <m:r>
                          <a:rPr lang="en-US" altLang="zh-CN" b="0" i="1" smtClean="0">
                            <a:latin typeface="Cambria Math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charset="0"/>
                          </a:rPr>
                          <m:t>𝑡</m:t>
                        </m:r>
                      </m:sup>
                    </m:sSup>
                    <m:r>
                      <a:rPr lang="en-US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dirty="0" smtClean="0"/>
                  <a:t>.</a:t>
                </a:r>
              </a:p>
            </p:txBody>
          </p:sp>
        </mc:Choice>
        <mc:Fallback xmlns="">
          <p:sp>
            <p:nvSpPr>
              <p:cNvPr id="9" name="Content Placeholder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35" y="3533933"/>
                <a:ext cx="10906125" cy="2655852"/>
              </a:xfrm>
              <a:prstGeom prst="rect">
                <a:avLst/>
              </a:prstGeom>
              <a:blipFill rotWithShape="0">
                <a:blip r:embed="rId5"/>
                <a:stretch>
                  <a:fillRect l="-1006" t="-39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3001586" y="5466051"/>
            <a:ext cx="6124829" cy="4571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642937" y="1771651"/>
                <a:ext cx="10906125" cy="829614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zh-CN" altLang="en-US" b="0" i="1" smtClean="0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=</m:t>
                    </m:r>
                    <m:r>
                      <a:rPr lang="zh-CN" altLang="en-US" b="0" i="1" smtClean="0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zh-CN" altLang="en-US" b="0" i="1" smtClean="0">
                        <a:solidFill>
                          <a:srgbClr val="0070C0"/>
                        </a:solidFill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+</m:t>
                    </m:r>
                    <m:r>
                      <a:rPr lang="zh-CN" altLang="en-US" b="0" i="1" smtClean="0">
                        <a:latin typeface="Cambria Math" charset="0"/>
                      </a:rPr>
                      <m:t> 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𝛾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+1</m:t>
                        </m:r>
                      </m:sub>
                    </m:sSub>
                    <m:r>
                      <a:rPr lang="zh-CN" altLang="en-US" b="0" i="1" smtClean="0">
                        <a:solidFill>
                          <a:srgbClr val="0070C0"/>
                        </a:solidFill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+</m:t>
                    </m:r>
                    <m:r>
                      <a:rPr lang="zh-CN" altLang="en-US" b="0" i="1" smtClean="0">
                        <a:latin typeface="Cambria Math" charset="0"/>
                      </a:rPr>
                      <m:t> </m:t>
                    </m:r>
                    <m:sSup>
                      <m:sSup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𝛾</m:t>
                        </m:r>
                      </m:e>
                      <m:sup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+2</m:t>
                        </m:r>
                      </m:sub>
                    </m:sSub>
                    <m:r>
                      <a:rPr lang="zh-CN" altLang="en-US" b="0" i="1" smtClean="0">
                        <a:solidFill>
                          <a:srgbClr val="0070C0"/>
                        </a:solidFill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+</m:t>
                    </m:r>
                    <m:r>
                      <a:rPr lang="zh-CN" altLang="en-US" b="0" i="1" smtClean="0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⋯</m:t>
                    </m:r>
                    <m:r>
                      <a:rPr lang="zh-CN" altLang="en-US" b="0" i="1" smtClean="0">
                        <a:latin typeface="Cambria Math" charset="0"/>
                      </a:rPr>
                      <m:t> </m:t>
                    </m:r>
                    <m:r>
                      <a:rPr lang="en-US" altLang="zh-CN" b="0" i="1" smtClean="0">
                        <a:latin typeface="Cambria Math" charset="0"/>
                      </a:rPr>
                      <m:t>+</m:t>
                    </m:r>
                    <m:r>
                      <a:rPr lang="zh-CN" altLang="en-US" b="0" i="1" smtClean="0">
                        <a:latin typeface="Cambria Math" charset="0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</a:rPr>
                          <m:t>𝛾</m:t>
                        </m:r>
                      </m:e>
                      <m:sup>
                        <m:r>
                          <a:rPr lang="en-US" altLang="zh-CN" b="0" i="1" smtClean="0">
                            <a:latin typeface="Cambria Math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charset="0"/>
                          </a:rPr>
                          <m:t>𝑡</m:t>
                        </m:r>
                      </m:sup>
                    </m:sSup>
                    <m:r>
                      <a:rPr lang="en-US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dirty="0" smtClean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11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2937" y="1771651"/>
                <a:ext cx="10906125" cy="829614"/>
              </a:xfrm>
              <a:blipFill rotWithShape="0">
                <a:blip r:embed="rId6"/>
                <a:stretch>
                  <a:fillRect t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5962956" y="3234073"/>
            <a:ext cx="370667" cy="4571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128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8" grpId="0" animBg="1"/>
      <p:bldP spid="8" grpId="1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Randomness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in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Returns</a:t>
            </a:r>
            <a:endParaRPr lang="en-US" sz="36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42936" y="2704318"/>
                <a:ext cx="10906125" cy="52322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/>
                  <a:t>At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time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charset="0"/>
                      </a:rPr>
                      <m:t>𝑡</m:t>
                    </m:r>
                  </m:oMath>
                </a14:m>
                <a:r>
                  <a:rPr lang="en-US" altLang="zh-CN" sz="2800" dirty="0"/>
                  <a:t>,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the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rewards,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en-US" altLang="zh-CN" sz="2800" i="1">
                        <a:solidFill>
                          <a:srgbClr val="0070C0"/>
                        </a:solidFill>
                        <a:latin typeface="Cambria Math" charset="0"/>
                      </a:rPr>
                      <m:t>,</m:t>
                    </m:r>
                    <m:r>
                      <a:rPr lang="zh-CN" altLang="en-US" sz="2800" i="1">
                        <a:solidFill>
                          <a:srgbClr val="0070C0"/>
                        </a:solidFill>
                        <a:latin typeface="Cambria Math" charset="0"/>
                      </a:rPr>
                      <m:t> </m:t>
                    </m:r>
                    <m:r>
                      <a:rPr lang="en-US" altLang="zh-CN" sz="2800" i="1">
                        <a:solidFill>
                          <a:srgbClr val="0070C0"/>
                        </a:solidFill>
                        <a:latin typeface="Cambria Math" charset="0"/>
                      </a:rPr>
                      <m:t>⋯,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2800" dirty="0"/>
                  <a:t>,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are</a:t>
                </a:r>
                <a:r>
                  <a:rPr lang="en-US" sz="2800" dirty="0"/>
                  <a:t> </a:t>
                </a:r>
                <a:r>
                  <a:rPr lang="en-US" sz="2800" dirty="0">
                    <a:solidFill>
                      <a:srgbClr val="C00000"/>
                    </a:solidFill>
                  </a:rPr>
                  <a:t>random</a:t>
                </a:r>
                <a:r>
                  <a:rPr lang="en-US" altLang="zh-CN" sz="2800" dirty="0"/>
                  <a:t>,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so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the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return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2800" dirty="0"/>
                  <a:t> </a:t>
                </a:r>
                <a:r>
                  <a:rPr lang="en-US" altLang="zh-CN" sz="2800" dirty="0"/>
                  <a:t>is</a:t>
                </a:r>
                <a:r>
                  <a:rPr lang="zh-CN" altLang="en-US" sz="2800" dirty="0"/>
                  <a:t> </a:t>
                </a:r>
                <a:r>
                  <a:rPr lang="en-US" altLang="zh-CN" sz="2800" dirty="0">
                    <a:solidFill>
                      <a:srgbClr val="C00000"/>
                    </a:solidFill>
                  </a:rPr>
                  <a:t>random</a:t>
                </a:r>
                <a:r>
                  <a:rPr lang="en-US" altLang="zh-CN" sz="2800" dirty="0"/>
                  <a:t>.</a:t>
                </a:r>
                <a:r>
                  <a:rPr lang="en-US" sz="2800" dirty="0"/>
                  <a:t> 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36" y="2704318"/>
                <a:ext cx="10906125" cy="523220"/>
              </a:xfrm>
              <a:prstGeom prst="rect">
                <a:avLst/>
              </a:prstGeom>
              <a:blipFill rotWithShape="0">
                <a:blip r:embed="rId3"/>
                <a:stretch>
                  <a:fillRect l="-1117" t="-11765" r="-726" b="-34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642937" y="1042988"/>
                <a:ext cx="10906125" cy="523220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 smtClean="0"/>
                  <a:t>Definition:  </a:t>
                </a:r>
                <a:r>
                  <a:rPr lang="en-US" sz="2800" dirty="0"/>
                  <a:t>Discounted </a:t>
                </a:r>
                <a:r>
                  <a:rPr lang="en-US" sz="2800" dirty="0" smtClean="0"/>
                  <a:t>return</a:t>
                </a:r>
                <a:r>
                  <a:rPr lang="zh-CN" altLang="en-US" sz="2800" dirty="0" smtClean="0"/>
                  <a:t> </a:t>
                </a:r>
                <a:r>
                  <a:rPr lang="en-US" altLang="zh-CN" sz="2800" dirty="0" smtClean="0"/>
                  <a:t>(at</a:t>
                </a:r>
                <a:r>
                  <a:rPr lang="zh-CN" altLang="en-US" sz="2800" dirty="0" smtClean="0"/>
                  <a:t> </a:t>
                </a:r>
                <a:r>
                  <a:rPr lang="en-US" altLang="zh-CN" sz="2800" dirty="0" smtClean="0"/>
                  <a:t>time</a:t>
                </a:r>
                <a:r>
                  <a:rPr lang="zh-CN" altLang="en-US" sz="2800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charset="0"/>
                      </a:rPr>
                      <m:t>𝑡</m:t>
                    </m:r>
                  </m:oMath>
                </a14:m>
                <a:r>
                  <a:rPr lang="en-US" altLang="zh-CN" sz="2800" dirty="0" smtClean="0"/>
                  <a:t>).</a:t>
                </a:r>
                <a:endParaRPr lang="en-US" sz="28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37" y="1042988"/>
                <a:ext cx="10906125" cy="523220"/>
              </a:xfrm>
              <a:prstGeom prst="rect">
                <a:avLst/>
              </a:prstGeom>
              <a:blipFill rotWithShape="0">
                <a:blip r:embed="rId4"/>
                <a:stretch>
                  <a:fillRect l="-1117"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642937" y="1771651"/>
                <a:ext cx="10906125" cy="829614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zh-CN" altLang="en-US" b="0" i="1" smtClean="0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=</m:t>
                    </m:r>
                    <m:r>
                      <a:rPr lang="zh-CN" altLang="en-US" b="0" i="1" smtClean="0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zh-CN" altLang="en-US" b="0" i="1" smtClean="0">
                        <a:solidFill>
                          <a:srgbClr val="0070C0"/>
                        </a:solidFill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+</m:t>
                    </m:r>
                    <m:r>
                      <a:rPr lang="zh-CN" altLang="en-US" b="0" i="1" smtClean="0">
                        <a:latin typeface="Cambria Math" charset="0"/>
                      </a:rPr>
                      <m:t> 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𝛾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+1</m:t>
                        </m:r>
                      </m:sub>
                    </m:sSub>
                    <m:r>
                      <a:rPr lang="zh-CN" altLang="en-US" b="0" i="1" smtClean="0">
                        <a:solidFill>
                          <a:srgbClr val="0070C0"/>
                        </a:solidFill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+</m:t>
                    </m:r>
                    <m:r>
                      <a:rPr lang="zh-CN" altLang="en-US" b="0" i="1" smtClean="0">
                        <a:latin typeface="Cambria Math" charset="0"/>
                      </a:rPr>
                      <m:t> </m:t>
                    </m:r>
                    <m:sSup>
                      <m:sSup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𝛾</m:t>
                        </m:r>
                      </m:e>
                      <m:sup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+2</m:t>
                        </m:r>
                      </m:sub>
                    </m:sSub>
                    <m:r>
                      <a:rPr lang="zh-CN" altLang="en-US" b="0" i="1" smtClean="0">
                        <a:solidFill>
                          <a:srgbClr val="0070C0"/>
                        </a:solidFill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+</m:t>
                    </m:r>
                    <m:r>
                      <a:rPr lang="zh-CN" altLang="en-US" b="0" i="1" smtClean="0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⋯</m:t>
                    </m:r>
                    <m:r>
                      <a:rPr lang="zh-CN" altLang="en-US" b="0" i="1" smtClean="0">
                        <a:latin typeface="Cambria Math" charset="0"/>
                      </a:rPr>
                      <m:t> </m:t>
                    </m:r>
                    <m:r>
                      <a:rPr lang="en-US" altLang="zh-CN" b="0" i="1" smtClean="0">
                        <a:latin typeface="Cambria Math" charset="0"/>
                      </a:rPr>
                      <m:t>+</m:t>
                    </m:r>
                    <m:r>
                      <a:rPr lang="zh-CN" altLang="en-US" b="0" i="1" smtClean="0">
                        <a:latin typeface="Cambria Math" charset="0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</a:rPr>
                          <m:t>𝛾</m:t>
                        </m:r>
                      </m:e>
                      <m:sup>
                        <m:r>
                          <a:rPr lang="en-US" altLang="zh-CN" b="0" i="1" smtClean="0">
                            <a:latin typeface="Cambria Math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charset="0"/>
                          </a:rPr>
                          <m:t>𝑡</m:t>
                        </m:r>
                      </m:sup>
                    </m:sSup>
                    <m:r>
                      <a:rPr lang="en-US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dirty="0" smtClean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9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2937" y="1771651"/>
                <a:ext cx="10906125" cy="829614"/>
              </a:xfrm>
              <a:blipFill rotWithShape="0">
                <a:blip r:embed="rId5"/>
                <a:stretch>
                  <a:fillRect t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4031999" y="3227343"/>
            <a:ext cx="1471334" cy="4571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399866" y="3227992"/>
            <a:ext cx="455334" cy="4571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366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Randomness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in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Returns</a:t>
            </a:r>
            <a:endParaRPr lang="en-US" sz="36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42936" y="2704318"/>
                <a:ext cx="10906125" cy="52322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/>
                  <a:t>At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time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charset="0"/>
                      </a:rPr>
                      <m:t>𝑡</m:t>
                    </m:r>
                  </m:oMath>
                </a14:m>
                <a:r>
                  <a:rPr lang="en-US" altLang="zh-CN" sz="2800" dirty="0"/>
                  <a:t>,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the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rewards,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en-US" altLang="zh-CN" sz="2800" i="1">
                        <a:solidFill>
                          <a:srgbClr val="0070C0"/>
                        </a:solidFill>
                        <a:latin typeface="Cambria Math" charset="0"/>
                      </a:rPr>
                      <m:t>,</m:t>
                    </m:r>
                    <m:r>
                      <a:rPr lang="zh-CN" altLang="en-US" sz="2800" i="1">
                        <a:solidFill>
                          <a:srgbClr val="0070C0"/>
                        </a:solidFill>
                        <a:latin typeface="Cambria Math" charset="0"/>
                      </a:rPr>
                      <m:t> </m:t>
                    </m:r>
                    <m:r>
                      <a:rPr lang="en-US" altLang="zh-CN" sz="2800" i="1">
                        <a:solidFill>
                          <a:srgbClr val="0070C0"/>
                        </a:solidFill>
                        <a:latin typeface="Cambria Math" charset="0"/>
                      </a:rPr>
                      <m:t>⋯,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2800" dirty="0"/>
                  <a:t>,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are</a:t>
                </a:r>
                <a:r>
                  <a:rPr lang="en-US" sz="2800" dirty="0"/>
                  <a:t> </a:t>
                </a:r>
                <a:r>
                  <a:rPr lang="en-US" sz="2800" dirty="0">
                    <a:solidFill>
                      <a:srgbClr val="C00000"/>
                    </a:solidFill>
                  </a:rPr>
                  <a:t>random</a:t>
                </a:r>
                <a:r>
                  <a:rPr lang="en-US" altLang="zh-CN" sz="2800" dirty="0"/>
                  <a:t>,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so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the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return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2800" dirty="0"/>
                  <a:t> </a:t>
                </a:r>
                <a:r>
                  <a:rPr lang="en-US" altLang="zh-CN" sz="2800" dirty="0"/>
                  <a:t>is</a:t>
                </a:r>
                <a:r>
                  <a:rPr lang="zh-CN" altLang="en-US" sz="2800" dirty="0"/>
                  <a:t> </a:t>
                </a:r>
                <a:r>
                  <a:rPr lang="en-US" altLang="zh-CN" sz="2800" dirty="0">
                    <a:solidFill>
                      <a:srgbClr val="C00000"/>
                    </a:solidFill>
                  </a:rPr>
                  <a:t>random</a:t>
                </a:r>
                <a:r>
                  <a:rPr lang="en-US" altLang="zh-CN" sz="2800" dirty="0"/>
                  <a:t>.</a:t>
                </a:r>
                <a:r>
                  <a:rPr lang="en-US" sz="2800" dirty="0"/>
                  <a:t> 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36" y="2704318"/>
                <a:ext cx="10906125" cy="523220"/>
              </a:xfrm>
              <a:prstGeom prst="rect">
                <a:avLst/>
              </a:prstGeom>
              <a:blipFill rotWithShape="0">
                <a:blip r:embed="rId3"/>
                <a:stretch>
                  <a:fillRect l="-1117" t="-11765" r="-726" b="-34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642937" y="1042988"/>
                <a:ext cx="10906125" cy="523220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 smtClean="0"/>
                  <a:t>Definition:  </a:t>
                </a:r>
                <a:r>
                  <a:rPr lang="en-US" sz="2800" dirty="0"/>
                  <a:t>Discounted </a:t>
                </a:r>
                <a:r>
                  <a:rPr lang="en-US" sz="2800" dirty="0" smtClean="0"/>
                  <a:t>return</a:t>
                </a:r>
                <a:r>
                  <a:rPr lang="zh-CN" altLang="en-US" sz="2800" dirty="0" smtClean="0"/>
                  <a:t> </a:t>
                </a:r>
                <a:r>
                  <a:rPr lang="en-US" altLang="zh-CN" sz="2800" dirty="0" smtClean="0"/>
                  <a:t>(at</a:t>
                </a:r>
                <a:r>
                  <a:rPr lang="zh-CN" altLang="en-US" sz="2800" dirty="0" smtClean="0"/>
                  <a:t> </a:t>
                </a:r>
                <a:r>
                  <a:rPr lang="en-US" altLang="zh-CN" sz="2800" dirty="0" smtClean="0"/>
                  <a:t>time</a:t>
                </a:r>
                <a:r>
                  <a:rPr lang="zh-CN" altLang="en-US" sz="2800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charset="0"/>
                      </a:rPr>
                      <m:t>𝑡</m:t>
                    </m:r>
                  </m:oMath>
                </a14:m>
                <a:r>
                  <a:rPr lang="en-US" altLang="zh-CN" sz="2800" dirty="0" smtClean="0"/>
                  <a:t>).</a:t>
                </a:r>
                <a:endParaRPr lang="en-US" sz="28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37" y="1042988"/>
                <a:ext cx="10906125" cy="523220"/>
              </a:xfrm>
              <a:prstGeom prst="rect">
                <a:avLst/>
              </a:prstGeom>
              <a:blipFill rotWithShape="0">
                <a:blip r:embed="rId4"/>
                <a:stretch>
                  <a:fillRect l="-1117"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642937" y="1771651"/>
                <a:ext cx="10906125" cy="829614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zh-CN" altLang="en-US" b="0" i="1" smtClean="0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=</m:t>
                    </m:r>
                    <m:r>
                      <a:rPr lang="zh-CN" altLang="en-US" b="0" i="1" smtClean="0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zh-CN" altLang="en-US" b="0" i="1" smtClean="0">
                        <a:solidFill>
                          <a:srgbClr val="0070C0"/>
                        </a:solidFill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+</m:t>
                    </m:r>
                    <m:r>
                      <a:rPr lang="zh-CN" altLang="en-US" b="0" i="1" smtClean="0">
                        <a:latin typeface="Cambria Math" charset="0"/>
                      </a:rPr>
                      <m:t> 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𝛾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+1</m:t>
                        </m:r>
                      </m:sub>
                    </m:sSub>
                    <m:r>
                      <a:rPr lang="zh-CN" altLang="en-US" b="0" i="1" smtClean="0">
                        <a:solidFill>
                          <a:srgbClr val="0070C0"/>
                        </a:solidFill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+</m:t>
                    </m:r>
                    <m:r>
                      <a:rPr lang="zh-CN" altLang="en-US" b="0" i="1" smtClean="0">
                        <a:latin typeface="Cambria Math" charset="0"/>
                      </a:rPr>
                      <m:t> </m:t>
                    </m:r>
                    <m:sSup>
                      <m:sSup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𝛾</m:t>
                        </m:r>
                      </m:e>
                      <m:sup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+2</m:t>
                        </m:r>
                      </m:sub>
                    </m:sSub>
                    <m:r>
                      <a:rPr lang="zh-CN" altLang="en-US" b="0" i="1" smtClean="0">
                        <a:solidFill>
                          <a:srgbClr val="0070C0"/>
                        </a:solidFill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+</m:t>
                    </m:r>
                    <m:r>
                      <a:rPr lang="zh-CN" altLang="en-US" b="0" i="1" smtClean="0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⋯</m:t>
                    </m:r>
                    <m:r>
                      <a:rPr lang="zh-CN" altLang="en-US" b="0" i="1" smtClean="0">
                        <a:latin typeface="Cambria Math" charset="0"/>
                      </a:rPr>
                      <m:t> </m:t>
                    </m:r>
                    <m:r>
                      <a:rPr lang="en-US" altLang="zh-CN" b="0" i="1" smtClean="0">
                        <a:latin typeface="Cambria Math" charset="0"/>
                      </a:rPr>
                      <m:t>+</m:t>
                    </m:r>
                    <m:r>
                      <a:rPr lang="zh-CN" altLang="en-US" b="0" i="1" smtClean="0">
                        <a:latin typeface="Cambria Math" charset="0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</a:rPr>
                          <m:t>𝛾</m:t>
                        </m:r>
                      </m:e>
                      <m:sup>
                        <m:r>
                          <a:rPr lang="en-US" altLang="zh-CN" b="0" i="1" smtClean="0">
                            <a:latin typeface="Cambria Math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charset="0"/>
                          </a:rPr>
                          <m:t>𝑡</m:t>
                        </m:r>
                      </m:sup>
                    </m:sSup>
                    <m:r>
                      <a:rPr lang="en-US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dirty="0" smtClean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9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2937" y="1771651"/>
                <a:ext cx="10906125" cy="829614"/>
              </a:xfrm>
              <a:blipFill rotWithShape="0">
                <a:blip r:embed="rId5"/>
                <a:stretch>
                  <a:fillRect t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1"/>
              <p:cNvSpPr txBox="1">
                <a:spLocks/>
              </p:cNvSpPr>
              <p:nvPr/>
            </p:nvSpPr>
            <p:spPr>
              <a:xfrm>
                <a:off x="642935" y="3581111"/>
                <a:ext cx="10906125" cy="287244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Aft>
                    <a:spcPts val="1200"/>
                  </a:spcAft>
                </a:pPr>
                <a:r>
                  <a:rPr lang="en-US" altLang="zh-CN" dirty="0" smtClean="0"/>
                  <a:t>Reward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depends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on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𝑆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and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 smtClean="0"/>
                  <a:t>.</a:t>
                </a:r>
                <a:endParaRPr lang="en-US" altLang="zh-CN" dirty="0"/>
              </a:p>
              <a:p>
                <a:pPr marL="228600" lvl="1">
                  <a:spcBef>
                    <a:spcPts val="1000"/>
                  </a:spcBef>
                  <a:spcAft>
                    <a:spcPts val="1200"/>
                  </a:spcAft>
                </a:pPr>
                <a:r>
                  <a:rPr lang="en-US" altLang="zh-CN" sz="2800" dirty="0" smtClean="0"/>
                  <a:t>States</a:t>
                </a:r>
                <a:r>
                  <a:rPr lang="zh-CN" altLang="en-US" sz="2800" dirty="0" smtClean="0"/>
                  <a:t> </a:t>
                </a:r>
                <a:r>
                  <a:rPr lang="en-US" altLang="zh-CN" sz="2800" dirty="0"/>
                  <a:t>can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be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random:</a:t>
                </a:r>
                <a:r>
                  <a:rPr lang="zh-CN" altLang="en-US" sz="2800" dirty="0"/>
                  <a:t>     </a:t>
                </a:r>
                <a:r>
                  <a:rPr lang="zh-CN" altLang="en-US" sz="2800" dirty="0" smtClean="0"/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𝑖</m:t>
                        </m:r>
                      </m:sub>
                    </m:sSub>
                    <m:r>
                      <a:rPr lang="zh-CN" altLang="en-US" sz="2800" i="1">
                        <a:latin typeface="Cambria Math" charset="0"/>
                      </a:rPr>
                      <m:t> </m:t>
                    </m:r>
                    <m:r>
                      <a:rPr lang="en-US" altLang="zh-CN" sz="2800" i="1">
                        <a:latin typeface="Cambria Math" charset="0"/>
                      </a:rPr>
                      <m:t>∼</m:t>
                    </m:r>
                    <m:r>
                      <a:rPr lang="zh-CN" altLang="en-US" sz="2800" i="1">
                        <a:latin typeface="Cambria Math" charset="0"/>
                      </a:rPr>
                      <m:t> </m:t>
                    </m:r>
                    <m:r>
                      <a:rPr lang="en-US" sz="2800" i="1">
                        <a:latin typeface="Cambria Math" charset="0"/>
                      </a:rPr>
                      <m:t>𝑝</m:t>
                    </m:r>
                    <m:d>
                      <m:dPr>
                        <m:ctrlPr>
                          <a:rPr lang="en-US" sz="28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zh-CN" altLang="en-US" sz="28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 </m:t>
                        </m:r>
                        <m:r>
                          <a:rPr lang="en-US" altLang="zh-CN" sz="2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⋅</m:t>
                        </m:r>
                        <m:r>
                          <a:rPr lang="zh-CN" altLang="en-US" sz="2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 </m:t>
                        </m:r>
                      </m:e>
                      <m:e>
                        <m:r>
                          <a:rPr lang="zh-CN" altLang="en-US" sz="2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28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𝑖</m:t>
                            </m:r>
                            <m:r>
                              <a:rPr lang="en-US" altLang="zh-CN" sz="28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sz="2800" i="1">
                            <a:latin typeface="Cambria Math" charset="0"/>
                          </a:rPr>
                          <m:t>, </m:t>
                        </m:r>
                        <m:r>
                          <a:rPr lang="zh-CN" altLang="en-US" sz="2800" b="0" i="1" smtClean="0"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2800" b="0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𝑖</m:t>
                            </m:r>
                            <m:r>
                              <a:rPr lang="en-US" altLang="zh-CN" sz="2800" b="0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−1</m:t>
                            </m:r>
                          </m:sub>
                        </m:sSub>
                        <m:r>
                          <a:rPr lang="zh-CN" altLang="en-US" sz="28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altLang="zh-CN" sz="2800" dirty="0" smtClean="0"/>
                  <a:t>.</a:t>
                </a:r>
              </a:p>
              <a:p>
                <a:pPr marL="228600" lvl="1">
                  <a:spcBef>
                    <a:spcPts val="1000"/>
                  </a:spcBef>
                  <a:spcAft>
                    <a:spcPts val="1200"/>
                  </a:spcAft>
                </a:pPr>
                <a:r>
                  <a:rPr lang="en-US" altLang="zh-CN" sz="2800" dirty="0"/>
                  <a:t>Actions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can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be</a:t>
                </a:r>
                <a:r>
                  <a:rPr lang="zh-CN" altLang="en-US" sz="2800" dirty="0"/>
                  <a:t> </a:t>
                </a:r>
                <a:r>
                  <a:rPr lang="en-US" sz="2800" dirty="0"/>
                  <a:t>random</a:t>
                </a:r>
                <a:r>
                  <a:rPr lang="en-US" altLang="zh-CN" sz="2800" dirty="0"/>
                  <a:t>:</a:t>
                </a:r>
                <a:r>
                  <a:rPr lang="zh-CN" altLang="en-US" sz="2800" dirty="0"/>
                  <a:t>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𝑖</m:t>
                        </m:r>
                      </m:sub>
                    </m:sSub>
                    <m:r>
                      <a:rPr lang="zh-CN" altLang="en-US" sz="2800" i="1">
                        <a:latin typeface="Cambria Math" charset="0"/>
                      </a:rPr>
                      <m:t> </m:t>
                    </m:r>
                    <m:r>
                      <a:rPr lang="en-US" altLang="zh-CN" sz="2800" i="1">
                        <a:latin typeface="Cambria Math" charset="0"/>
                      </a:rPr>
                      <m:t>∼</m:t>
                    </m:r>
                    <m:r>
                      <a:rPr lang="zh-CN" altLang="en-US" sz="2800" i="1">
                        <a:latin typeface="Cambria Math" charset="0"/>
                      </a:rPr>
                      <m:t> </m:t>
                    </m:r>
                    <m:r>
                      <a:rPr lang="en-US" sz="2800" i="1">
                        <a:latin typeface="Cambria Math" charset="0"/>
                      </a:rPr>
                      <m:t>𝜋</m:t>
                    </m:r>
                    <m:d>
                      <m:dPr>
                        <m:ctrlPr>
                          <a:rPr lang="en-US" sz="28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zh-CN" altLang="en-US" sz="2800" i="1">
                            <a:latin typeface="Cambria Math" charset="0"/>
                          </a:rPr>
                          <m:t> </m:t>
                        </m:r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⋅</m:t>
                        </m:r>
                        <m:r>
                          <a:rPr lang="zh-CN" altLang="en-US" sz="28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 </m:t>
                        </m:r>
                      </m:e>
                      <m:e>
                        <m:r>
                          <a:rPr lang="zh-CN" altLang="en-US" sz="28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28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  <m:r>
                          <a:rPr lang="zh-CN" altLang="en-US" sz="2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altLang="zh-CN" sz="2800" dirty="0"/>
                  <a:t>.</a:t>
                </a:r>
              </a:p>
              <a:p>
                <a:pPr marL="228600" lvl="1">
                  <a:spcBef>
                    <a:spcPts val="1000"/>
                  </a:spcBef>
                  <a:spcAft>
                    <a:spcPts val="1200"/>
                  </a:spcAft>
                </a:pPr>
                <a:r>
                  <a:rPr lang="en-US" altLang="zh-CN" sz="2800" dirty="0" smtClean="0"/>
                  <a:t>If</a:t>
                </a:r>
                <a:r>
                  <a:rPr lang="zh-CN" altLang="en-US" sz="2800" dirty="0" smtClean="0"/>
                  <a:t> </a:t>
                </a:r>
                <a:r>
                  <a:rPr lang="en-US" altLang="zh-CN" sz="2800" dirty="0" smtClean="0"/>
                  <a:t>either</a:t>
                </a:r>
                <a:r>
                  <a:rPr lang="zh-CN" altLang="en-US" sz="28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800" dirty="0" smtClean="0"/>
                  <a:t> </a:t>
                </a:r>
                <a:r>
                  <a:rPr lang="en-US" altLang="zh-CN" sz="2800" dirty="0" smtClean="0"/>
                  <a:t>or</a:t>
                </a:r>
                <a:r>
                  <a:rPr lang="zh-CN" altLang="en-US" sz="28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800" dirty="0" smtClean="0"/>
                  <a:t> </a:t>
                </a:r>
                <a:r>
                  <a:rPr lang="en-US" altLang="zh-CN" sz="2800" dirty="0" smtClean="0"/>
                  <a:t>is</a:t>
                </a:r>
                <a:r>
                  <a:rPr lang="zh-CN" altLang="en-US" sz="2800" dirty="0" smtClean="0"/>
                  <a:t> </a:t>
                </a:r>
                <a:r>
                  <a:rPr lang="en-US" altLang="zh-CN" sz="2800" dirty="0" smtClean="0"/>
                  <a:t>random,</a:t>
                </a:r>
                <a:r>
                  <a:rPr lang="zh-CN" altLang="en-US" sz="2800" dirty="0" smtClean="0"/>
                  <a:t> </a:t>
                </a:r>
                <a:r>
                  <a:rPr lang="en-US" altLang="zh-CN" sz="2800" dirty="0" smtClean="0"/>
                  <a:t>then</a:t>
                </a:r>
                <a:r>
                  <a:rPr lang="zh-CN" altLang="en-US" sz="28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800" dirty="0" smtClean="0"/>
                  <a:t> </a:t>
                </a:r>
                <a:r>
                  <a:rPr lang="en-US" altLang="zh-CN" sz="2800" dirty="0" smtClean="0"/>
                  <a:t>is</a:t>
                </a:r>
                <a:r>
                  <a:rPr lang="zh-CN" altLang="en-US" sz="2800" dirty="0" smtClean="0"/>
                  <a:t> </a:t>
                </a:r>
                <a:r>
                  <a:rPr lang="en-US" altLang="zh-CN" sz="2800" dirty="0" smtClean="0"/>
                  <a:t>random.</a:t>
                </a:r>
                <a:endParaRPr lang="en-US" altLang="zh-CN" sz="2800" dirty="0"/>
              </a:p>
            </p:txBody>
          </p:sp>
        </mc:Choice>
        <mc:Fallback xmlns="">
          <p:sp>
            <p:nvSpPr>
              <p:cNvPr id="6" name="Content Placeholder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35" y="3581111"/>
                <a:ext cx="10906125" cy="2872440"/>
              </a:xfrm>
              <a:prstGeom prst="rect">
                <a:avLst/>
              </a:prstGeom>
              <a:blipFill rotWithShape="0">
                <a:blip r:embed="rId6"/>
                <a:stretch>
                  <a:fillRect l="-1006" t="-3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3409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Randomness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in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Returns</a:t>
            </a:r>
            <a:endParaRPr lang="en-US" sz="36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42936" y="2704318"/>
                <a:ext cx="10906125" cy="52322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 smtClean="0"/>
                  <a:t>At</a:t>
                </a:r>
                <a:r>
                  <a:rPr lang="zh-CN" altLang="en-US" sz="2800" dirty="0" smtClean="0"/>
                  <a:t> </a:t>
                </a:r>
                <a:r>
                  <a:rPr lang="en-US" altLang="zh-CN" sz="2800" dirty="0" smtClean="0"/>
                  <a:t>time</a:t>
                </a:r>
                <a:r>
                  <a:rPr lang="zh-CN" altLang="en-US" sz="2800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charset="0"/>
                      </a:rPr>
                      <m:t>𝑡</m:t>
                    </m:r>
                  </m:oMath>
                </a14:m>
                <a:r>
                  <a:rPr lang="en-US" altLang="zh-CN" sz="2800" dirty="0" smtClean="0"/>
                  <a:t>,</a:t>
                </a:r>
                <a:r>
                  <a:rPr lang="zh-CN" altLang="en-US" sz="2800" dirty="0" smtClean="0"/>
                  <a:t> </a:t>
                </a:r>
                <a:r>
                  <a:rPr lang="en-US" altLang="zh-CN" sz="2800" dirty="0" smtClean="0"/>
                  <a:t>the</a:t>
                </a:r>
                <a:r>
                  <a:rPr lang="zh-CN" altLang="en-US" sz="2800" dirty="0" smtClean="0"/>
                  <a:t> </a:t>
                </a:r>
                <a:r>
                  <a:rPr lang="en-US" altLang="zh-CN" sz="2800" dirty="0" smtClean="0"/>
                  <a:t>rewards,</a:t>
                </a:r>
                <a:r>
                  <a:rPr lang="zh-CN" altLang="en-US" sz="28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en-US" altLang="zh-CN" sz="2800" b="0" i="1" smtClean="0">
                        <a:solidFill>
                          <a:srgbClr val="0070C0"/>
                        </a:solidFill>
                        <a:latin typeface="Cambria Math" charset="0"/>
                      </a:rPr>
                      <m:t>,</m:t>
                    </m:r>
                    <m:r>
                      <a:rPr lang="zh-CN" altLang="en-US" sz="2800" b="0" i="1" smtClean="0">
                        <a:solidFill>
                          <a:srgbClr val="0070C0"/>
                        </a:solidFill>
                        <a:latin typeface="Cambria Math" charset="0"/>
                      </a:rPr>
                      <m:t> </m:t>
                    </m:r>
                    <m:r>
                      <a:rPr lang="en-US" altLang="zh-CN" sz="2800" b="0" i="1" smtClean="0">
                        <a:solidFill>
                          <a:srgbClr val="0070C0"/>
                        </a:solidFill>
                        <a:latin typeface="Cambria Math" charset="0"/>
                      </a:rPr>
                      <m:t>⋯,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2800" dirty="0" smtClean="0"/>
                  <a:t>,</a:t>
                </a:r>
                <a:r>
                  <a:rPr lang="zh-CN" altLang="en-US" sz="2800" dirty="0" smtClean="0"/>
                  <a:t> </a:t>
                </a:r>
                <a:r>
                  <a:rPr lang="en-US" altLang="zh-CN" sz="2800" dirty="0" smtClean="0"/>
                  <a:t>are</a:t>
                </a:r>
                <a:r>
                  <a:rPr lang="en-US" sz="2800" dirty="0" smtClean="0"/>
                  <a:t> </a:t>
                </a:r>
                <a:r>
                  <a:rPr lang="en-US" sz="2800" dirty="0" smtClean="0">
                    <a:solidFill>
                      <a:srgbClr val="C00000"/>
                    </a:solidFill>
                  </a:rPr>
                  <a:t>random</a:t>
                </a:r>
                <a:r>
                  <a:rPr lang="en-US" altLang="zh-CN" sz="2800" dirty="0" smtClean="0"/>
                  <a:t>,</a:t>
                </a:r>
                <a:r>
                  <a:rPr lang="zh-CN" altLang="en-US" sz="2800" dirty="0" smtClean="0"/>
                  <a:t> </a:t>
                </a:r>
                <a:r>
                  <a:rPr lang="en-US" altLang="zh-CN" sz="2800" dirty="0" smtClean="0"/>
                  <a:t>so</a:t>
                </a:r>
                <a:r>
                  <a:rPr lang="zh-CN" altLang="en-US" sz="2800" dirty="0" smtClean="0"/>
                  <a:t> </a:t>
                </a:r>
                <a:r>
                  <a:rPr lang="en-US" altLang="zh-CN" sz="2800" dirty="0" smtClean="0"/>
                  <a:t>the</a:t>
                </a:r>
                <a:r>
                  <a:rPr lang="zh-CN" altLang="en-US" sz="2800" dirty="0" smtClean="0"/>
                  <a:t> </a:t>
                </a:r>
                <a:r>
                  <a:rPr lang="en-US" altLang="zh-CN" sz="2800" dirty="0" smtClean="0"/>
                  <a:t>return</a:t>
                </a:r>
                <a:r>
                  <a:rPr lang="zh-CN" altLang="en-US" sz="28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2800" dirty="0" smtClean="0"/>
                  <a:t> </a:t>
                </a:r>
                <a:r>
                  <a:rPr lang="en-US" altLang="zh-CN" sz="2800" dirty="0" smtClean="0"/>
                  <a:t>is</a:t>
                </a:r>
                <a:r>
                  <a:rPr lang="zh-CN" altLang="en-US" sz="2800" dirty="0" smtClean="0"/>
                  <a:t> </a:t>
                </a:r>
                <a:r>
                  <a:rPr lang="en-US" altLang="zh-CN" sz="2800" dirty="0" smtClean="0">
                    <a:solidFill>
                      <a:srgbClr val="C00000"/>
                    </a:solidFill>
                  </a:rPr>
                  <a:t>random</a:t>
                </a:r>
                <a:r>
                  <a:rPr lang="en-US" altLang="zh-CN" sz="2800" dirty="0" smtClean="0"/>
                  <a:t>.</a:t>
                </a:r>
                <a:r>
                  <a:rPr lang="en-US" sz="2800" dirty="0" smtClean="0"/>
                  <a:t> </a:t>
                </a:r>
                <a:endParaRPr lang="en-US" sz="28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36" y="2704318"/>
                <a:ext cx="10906125" cy="523220"/>
              </a:xfrm>
              <a:prstGeom prst="rect">
                <a:avLst/>
              </a:prstGeom>
              <a:blipFill rotWithShape="0">
                <a:blip r:embed="rId3"/>
                <a:stretch>
                  <a:fillRect l="-1117" t="-11765" r="-726" b="-34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642937" y="1042988"/>
                <a:ext cx="10906125" cy="523220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 smtClean="0"/>
                  <a:t>Definition:  </a:t>
                </a:r>
                <a:r>
                  <a:rPr lang="en-US" sz="2800" dirty="0"/>
                  <a:t>Discounted </a:t>
                </a:r>
                <a:r>
                  <a:rPr lang="en-US" sz="2800" dirty="0" smtClean="0"/>
                  <a:t>return</a:t>
                </a:r>
                <a:r>
                  <a:rPr lang="zh-CN" altLang="en-US" sz="2800" dirty="0" smtClean="0"/>
                  <a:t> </a:t>
                </a:r>
                <a:r>
                  <a:rPr lang="en-US" altLang="zh-CN" sz="2800" dirty="0" smtClean="0"/>
                  <a:t>(at</a:t>
                </a:r>
                <a:r>
                  <a:rPr lang="zh-CN" altLang="en-US" sz="2800" dirty="0" smtClean="0"/>
                  <a:t> </a:t>
                </a:r>
                <a:r>
                  <a:rPr lang="en-US" altLang="zh-CN" sz="2800" dirty="0" smtClean="0"/>
                  <a:t>time</a:t>
                </a:r>
                <a:r>
                  <a:rPr lang="zh-CN" altLang="en-US" sz="2800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charset="0"/>
                      </a:rPr>
                      <m:t>𝑡</m:t>
                    </m:r>
                  </m:oMath>
                </a14:m>
                <a:r>
                  <a:rPr lang="en-US" altLang="zh-CN" sz="2800" dirty="0" smtClean="0"/>
                  <a:t>).</a:t>
                </a:r>
                <a:endParaRPr lang="en-US" sz="28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37" y="1042988"/>
                <a:ext cx="10906125" cy="523220"/>
              </a:xfrm>
              <a:prstGeom prst="rect">
                <a:avLst/>
              </a:prstGeom>
              <a:blipFill rotWithShape="0">
                <a:blip r:embed="rId4"/>
                <a:stretch>
                  <a:fillRect l="-1117"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642937" y="1771651"/>
                <a:ext cx="10906125" cy="829614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zh-CN" altLang="en-US" b="0" i="1" smtClean="0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=</m:t>
                    </m:r>
                    <m:r>
                      <a:rPr lang="zh-CN" altLang="en-US" b="0" i="1" smtClean="0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zh-CN" altLang="en-US" b="0" i="1" smtClean="0">
                        <a:solidFill>
                          <a:srgbClr val="0070C0"/>
                        </a:solidFill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+</m:t>
                    </m:r>
                    <m:r>
                      <a:rPr lang="zh-CN" altLang="en-US" b="0" i="1" smtClean="0">
                        <a:latin typeface="Cambria Math" charset="0"/>
                      </a:rPr>
                      <m:t> 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𝛾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+1</m:t>
                        </m:r>
                      </m:sub>
                    </m:sSub>
                    <m:r>
                      <a:rPr lang="zh-CN" altLang="en-US" b="0" i="1" smtClean="0">
                        <a:solidFill>
                          <a:srgbClr val="0070C0"/>
                        </a:solidFill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+</m:t>
                    </m:r>
                    <m:r>
                      <a:rPr lang="zh-CN" altLang="en-US" b="0" i="1" smtClean="0">
                        <a:latin typeface="Cambria Math" charset="0"/>
                      </a:rPr>
                      <m:t> </m:t>
                    </m:r>
                    <m:sSup>
                      <m:sSup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𝛾</m:t>
                        </m:r>
                      </m:e>
                      <m:sup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+2</m:t>
                        </m:r>
                      </m:sub>
                    </m:sSub>
                    <m:r>
                      <a:rPr lang="zh-CN" altLang="en-US" b="0" i="1" smtClean="0">
                        <a:solidFill>
                          <a:srgbClr val="0070C0"/>
                        </a:solidFill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+</m:t>
                    </m:r>
                    <m:r>
                      <a:rPr lang="zh-CN" altLang="en-US" b="0" i="1" smtClean="0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⋯</m:t>
                    </m:r>
                    <m:r>
                      <a:rPr lang="zh-CN" altLang="en-US" b="0" i="1" smtClean="0">
                        <a:latin typeface="Cambria Math" charset="0"/>
                      </a:rPr>
                      <m:t> </m:t>
                    </m:r>
                    <m:r>
                      <a:rPr lang="en-US" altLang="zh-CN" b="0" i="1" smtClean="0">
                        <a:latin typeface="Cambria Math" charset="0"/>
                      </a:rPr>
                      <m:t>+</m:t>
                    </m:r>
                    <m:r>
                      <a:rPr lang="zh-CN" altLang="en-US" b="0" i="1" smtClean="0">
                        <a:latin typeface="Cambria Math" charset="0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</a:rPr>
                          <m:t>𝛾</m:t>
                        </m:r>
                      </m:e>
                      <m:sup>
                        <m:r>
                          <a:rPr lang="en-US" altLang="zh-CN" b="0" i="1" smtClean="0">
                            <a:latin typeface="Cambria Math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charset="0"/>
                          </a:rPr>
                          <m:t>𝑡</m:t>
                        </m:r>
                      </m:sup>
                    </m:sSup>
                    <m:r>
                      <a:rPr lang="en-US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dirty="0" smtClean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9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2937" y="1771651"/>
                <a:ext cx="10906125" cy="829614"/>
              </a:xfrm>
              <a:blipFill rotWithShape="0">
                <a:blip r:embed="rId5"/>
                <a:stretch>
                  <a:fillRect t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1"/>
              <p:cNvSpPr txBox="1">
                <a:spLocks/>
              </p:cNvSpPr>
              <p:nvPr/>
            </p:nvSpPr>
            <p:spPr>
              <a:xfrm>
                <a:off x="642935" y="3581111"/>
                <a:ext cx="10906125" cy="287244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Aft>
                    <a:spcPts val="1200"/>
                  </a:spcAft>
                </a:pPr>
                <a:r>
                  <a:rPr lang="en-US" altLang="zh-CN" dirty="0" smtClean="0"/>
                  <a:t>Reward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depends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on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𝑆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and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 smtClean="0"/>
                  <a:t>.</a:t>
                </a:r>
                <a:endParaRPr lang="en-US" altLang="zh-CN" dirty="0"/>
              </a:p>
              <a:p>
                <a:pPr marL="228600" lvl="1">
                  <a:spcBef>
                    <a:spcPts val="1000"/>
                  </a:spcBef>
                  <a:spcAft>
                    <a:spcPts val="12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2800" dirty="0" smtClean="0"/>
                  <a:t> </a:t>
                </a:r>
                <a:r>
                  <a:rPr lang="en-US" altLang="zh-CN" sz="2800" dirty="0" smtClean="0"/>
                  <a:t>depends</a:t>
                </a:r>
                <a:r>
                  <a:rPr lang="zh-CN" altLang="en-US" sz="2800" dirty="0" smtClean="0"/>
                  <a:t> </a:t>
                </a:r>
                <a:r>
                  <a:rPr lang="en-US" altLang="zh-CN" sz="2800" dirty="0" smtClean="0"/>
                  <a:t>on</a:t>
                </a:r>
                <a:r>
                  <a:rPr lang="zh-CN" altLang="en-US" sz="2800" dirty="0" smtClean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en-US" altLang="zh-CN" sz="2800" b="0" i="1" smtClean="0">
                        <a:solidFill>
                          <a:srgbClr val="0070C0"/>
                        </a:solidFill>
                        <a:latin typeface="Cambria Math" charset="0"/>
                      </a:rPr>
                      <m:t>,</m:t>
                    </m:r>
                    <m:r>
                      <a:rPr lang="zh-CN" altLang="en-US" sz="2800" b="0" i="1" smtClean="0">
                        <a:solidFill>
                          <a:srgbClr val="0070C0"/>
                        </a:solidFill>
                        <a:latin typeface="Cambria Math" charset="0"/>
                      </a:rPr>
                      <m:t>  </m:t>
                    </m:r>
                    <m:sSub>
                      <m:sSubPr>
                        <m:ctrlPr>
                          <a:rPr lang="en-US" altLang="zh-CN" sz="2800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altLang="zh-CN" sz="2800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+1</m:t>
                        </m:r>
                      </m:sub>
                    </m:sSub>
                    <m:r>
                      <a:rPr lang="en-US" altLang="zh-CN" sz="2800" b="0" i="1" smtClean="0">
                        <a:solidFill>
                          <a:srgbClr val="0070C0"/>
                        </a:solidFill>
                        <a:latin typeface="Cambria Math" charset="0"/>
                      </a:rPr>
                      <m:t>,</m:t>
                    </m:r>
                    <m:r>
                      <a:rPr lang="zh-CN" altLang="en-US" sz="2800" b="0" i="1" smtClean="0">
                        <a:solidFill>
                          <a:srgbClr val="0070C0"/>
                        </a:solidFill>
                        <a:latin typeface="Cambria Math" charset="0"/>
                      </a:rPr>
                      <m:t>  </m:t>
                    </m:r>
                    <m:r>
                      <a:rPr lang="en-US" altLang="zh-CN" sz="2800" b="0" i="1" smtClean="0">
                        <a:solidFill>
                          <a:srgbClr val="0070C0"/>
                        </a:solidFill>
                        <a:latin typeface="Cambria Math" charset="0"/>
                      </a:rPr>
                      <m:t>⋯,</m:t>
                    </m:r>
                    <m:r>
                      <a:rPr lang="zh-CN" altLang="en-US" sz="2800" b="0" i="1" smtClean="0">
                        <a:solidFill>
                          <a:srgbClr val="0070C0"/>
                        </a:solidFill>
                        <a:latin typeface="Cambria Math" charset="0"/>
                      </a:rPr>
                      <m:t>  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2800" dirty="0" smtClean="0"/>
                  <a:t>.</a:t>
                </a:r>
              </a:p>
              <a:p>
                <a:pPr marL="228600" lvl="1">
                  <a:spcBef>
                    <a:spcPts val="1000"/>
                  </a:spcBef>
                  <a:spcAft>
                    <a:spcPts val="1200"/>
                  </a:spcAft>
                </a:pPr>
                <a:r>
                  <a:rPr lang="en-US" altLang="zh-CN" sz="2800" dirty="0" smtClean="0">
                    <a:sym typeface="Wingdings"/>
                  </a:rPr>
                  <a:t></a:t>
                </a:r>
                <a:r>
                  <a:rPr lang="zh-CN" altLang="en-US" sz="2800" dirty="0" smtClean="0">
                    <a:sym typeface="Wingdings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2800" dirty="0"/>
                  <a:t> </a:t>
                </a:r>
                <a:r>
                  <a:rPr lang="en-US" altLang="zh-CN" sz="2800" dirty="0"/>
                  <a:t>depends</a:t>
                </a:r>
                <a:r>
                  <a:rPr lang="zh-CN" altLang="en-US" sz="2800" dirty="0"/>
                  <a:t> </a:t>
                </a:r>
                <a:r>
                  <a:rPr lang="en-US" altLang="zh-CN" sz="2800" dirty="0" smtClean="0"/>
                  <a:t>on</a:t>
                </a:r>
                <a:r>
                  <a:rPr lang="zh-CN" altLang="en-US" sz="2800" dirty="0" smtClean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en-US" altLang="zh-CN" sz="2800" b="0" i="0" smtClean="0">
                        <a:solidFill>
                          <a:schemeClr val="tx1"/>
                        </a:solidFill>
                        <a:latin typeface="Cambria Math" charset="0"/>
                      </a:rPr>
                      <m:t>,</m:t>
                    </m:r>
                    <m:r>
                      <a:rPr lang="zh-CN" altLang="en-US" sz="2800" b="0" i="0" smtClean="0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,</m:t>
                    </m:r>
                    <m:r>
                      <a:rPr lang="zh-CN" altLang="en-US" sz="28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   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altLang="zh-CN" sz="28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+1</m:t>
                        </m:r>
                      </m:sub>
                    </m:sSub>
                    <m:r>
                      <a:rPr lang="en-US" altLang="zh-CN" sz="2800">
                        <a:latin typeface="Cambria Math" charset="0"/>
                      </a:rPr>
                      <m:t>,</m:t>
                    </m:r>
                    <m:r>
                      <a:rPr lang="zh-CN" altLang="en-US" sz="2800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altLang="zh-CN" sz="2800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+1</m:t>
                        </m:r>
                      </m:sub>
                    </m:sSub>
                    <m:r>
                      <a:rPr lang="en-US" altLang="zh-CN" sz="2800" i="1">
                        <a:latin typeface="Cambria Math" charset="0"/>
                      </a:rPr>
                      <m:t>,</m:t>
                    </m:r>
                    <m:r>
                      <a:rPr lang="zh-CN" altLang="en-US" sz="2800" b="0" i="1" smtClean="0">
                        <a:latin typeface="Cambria Math" charset="0"/>
                      </a:rPr>
                      <m:t>  </m:t>
                    </m:r>
                    <m:r>
                      <a:rPr lang="en-US" altLang="zh-CN" sz="2800" b="0" i="1" smtClean="0">
                        <a:latin typeface="Cambria Math" charset="0"/>
                      </a:rPr>
                      <m:t>⋯,</m:t>
                    </m:r>
                    <m:r>
                      <a:rPr lang="zh-CN" altLang="en-US" sz="2800" b="0" i="1" smtClean="0">
                        <a:latin typeface="Cambria Math" charset="0"/>
                      </a:rPr>
                      <m:t>   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𝑛</m:t>
                        </m:r>
                      </m:sub>
                    </m:sSub>
                    <m:r>
                      <a:rPr lang="en-US" altLang="zh-CN" sz="2800">
                        <a:latin typeface="Cambria Math" charset="0"/>
                      </a:rPr>
                      <m:t>,</m:t>
                    </m:r>
                    <m:r>
                      <a:rPr lang="zh-CN" altLang="en-US" sz="2800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2800" dirty="0" smtClean="0"/>
                  <a:t>.</a:t>
                </a:r>
              </a:p>
              <a:p>
                <a:pPr marL="228600" lvl="1">
                  <a:spcBef>
                    <a:spcPts val="1000"/>
                  </a:spcBef>
                  <a:spcAft>
                    <a:spcPts val="1200"/>
                  </a:spcAft>
                </a:pPr>
                <a:endParaRPr lang="en-US" altLang="zh-CN" sz="2800" dirty="0" smtClean="0"/>
              </a:p>
            </p:txBody>
          </p:sp>
        </mc:Choice>
        <mc:Fallback xmlns="">
          <p:sp>
            <p:nvSpPr>
              <p:cNvPr id="6" name="Content Placeholder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35" y="3581111"/>
                <a:ext cx="10906125" cy="2872440"/>
              </a:xfrm>
              <a:prstGeom prst="rect">
                <a:avLst/>
              </a:prstGeom>
              <a:blipFill rotWithShape="0">
                <a:blip r:embed="rId6"/>
                <a:stretch>
                  <a:fillRect l="-1006" t="-3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3265356" y="4772809"/>
            <a:ext cx="2625492" cy="4571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699109" y="5435163"/>
            <a:ext cx="4600828" cy="5123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907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Randomness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in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Returns</a:t>
            </a:r>
            <a:endParaRPr lang="en-US" sz="3600" dirty="0">
              <a:solidFill>
                <a:srgbClr val="0070C0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 flipH="1" flipV="1">
            <a:off x="1019643" y="3388389"/>
            <a:ext cx="9870030" cy="3204"/>
          </a:xfrm>
          <a:prstGeom prst="line">
            <a:avLst/>
          </a:prstGeom>
          <a:ln w="38100">
            <a:solidFill>
              <a:schemeClr val="tx1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1022677" y="3096001"/>
            <a:ext cx="1011815" cy="58477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3200" dirty="0" smtClean="0"/>
              <a:t>Time</a:t>
            </a:r>
            <a:endParaRPr lang="en-US" sz="3200" dirty="0"/>
          </a:p>
        </p:txBody>
      </p:sp>
      <p:grpSp>
        <p:nvGrpSpPr>
          <p:cNvPr id="10" name="Group 9"/>
          <p:cNvGrpSpPr/>
          <p:nvPr/>
        </p:nvGrpSpPr>
        <p:grpSpPr>
          <a:xfrm>
            <a:off x="1541889" y="1854742"/>
            <a:ext cx="1665841" cy="3713622"/>
            <a:chOff x="4688648" y="2804869"/>
            <a:chExt cx="1665841" cy="3713622"/>
          </a:xfrm>
        </p:grpSpPr>
        <p:cxnSp>
          <p:nvCxnSpPr>
            <p:cNvPr id="11" name="Straight Connector 10"/>
            <p:cNvCxnSpPr/>
            <p:nvPr/>
          </p:nvCxnSpPr>
          <p:spPr>
            <a:xfrm flipH="1">
              <a:off x="5521569" y="2804869"/>
              <a:ext cx="2409" cy="3047642"/>
            </a:xfrm>
            <a:prstGeom prst="line">
              <a:avLst/>
            </a:prstGeom>
            <a:ln w="38100"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4688648" y="5933716"/>
              <a:ext cx="166584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3200" dirty="0" smtClean="0">
                  <a:solidFill>
                    <a:schemeClr val="accent2">
                      <a:lumMod val="75000"/>
                    </a:schemeClr>
                  </a:solidFill>
                  <a:latin typeface="Lucida Console" charset="0"/>
                  <a:ea typeface="Lucida Console" charset="0"/>
                  <a:cs typeface="Lucida Console" charset="0"/>
                </a:rPr>
                <a:t>Time</a:t>
              </a:r>
              <a:r>
                <a:rPr lang="zh-CN" altLang="en-US" sz="3200" dirty="0" smtClean="0">
                  <a:solidFill>
                    <a:schemeClr val="accent2">
                      <a:lumMod val="75000"/>
                    </a:schemeClr>
                  </a:solidFill>
                  <a:latin typeface="Lucida Console" charset="0"/>
                  <a:ea typeface="Lucida Console" charset="0"/>
                  <a:cs typeface="Lucida Console" charset="0"/>
                </a:rPr>
                <a:t> </a:t>
              </a:r>
              <a:r>
                <a:rPr lang="en-US" altLang="zh-CN" sz="3200" dirty="0" smtClean="0">
                  <a:solidFill>
                    <a:schemeClr val="accent2">
                      <a:lumMod val="75000"/>
                    </a:schemeClr>
                  </a:solidFill>
                  <a:latin typeface="Lucida Console" charset="0"/>
                  <a:ea typeface="Lucida Console" charset="0"/>
                  <a:cs typeface="Lucida Console" charset="0"/>
                </a:rPr>
                <a:t>t</a:t>
              </a:r>
              <a:endParaRPr lang="en-US" sz="3200" dirty="0">
                <a:solidFill>
                  <a:schemeClr val="accent2">
                    <a:lumMod val="75000"/>
                  </a:schemeClr>
                </a:solidFill>
                <a:latin typeface="Lucida Console" charset="0"/>
                <a:ea typeface="Lucida Console" charset="0"/>
                <a:cs typeface="Lucida Console" charset="0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9645784" y="1854742"/>
            <a:ext cx="925253" cy="3713622"/>
            <a:chOff x="5058942" y="2804869"/>
            <a:chExt cx="925253" cy="3713622"/>
          </a:xfrm>
        </p:grpSpPr>
        <p:cxnSp>
          <p:nvCxnSpPr>
            <p:cNvPr id="14" name="Straight Connector 13"/>
            <p:cNvCxnSpPr/>
            <p:nvPr/>
          </p:nvCxnSpPr>
          <p:spPr>
            <a:xfrm flipH="1">
              <a:off x="5521569" y="2804869"/>
              <a:ext cx="2409" cy="3047642"/>
            </a:xfrm>
            <a:prstGeom prst="line">
              <a:avLst/>
            </a:prstGeom>
            <a:ln w="38100"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5058942" y="5933716"/>
              <a:ext cx="92525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3200" dirty="0" smtClean="0">
                  <a:solidFill>
                    <a:schemeClr val="accent2">
                      <a:lumMod val="75000"/>
                    </a:schemeClr>
                  </a:solidFill>
                  <a:latin typeface="Lucida Console" charset="0"/>
                  <a:ea typeface="Lucida Console" charset="0"/>
                  <a:cs typeface="Lucida Console" charset="0"/>
                </a:rPr>
                <a:t>End</a:t>
              </a:r>
              <a:endParaRPr lang="en-US" sz="3200" dirty="0">
                <a:solidFill>
                  <a:schemeClr val="accent2">
                    <a:lumMod val="75000"/>
                  </a:schemeClr>
                </a:solidFill>
                <a:latin typeface="Lucida Console" charset="0"/>
                <a:ea typeface="Lucida Console" charset="0"/>
                <a:cs typeface="Lucida Console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1586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986" y="1582604"/>
            <a:ext cx="989073" cy="1032709"/>
          </a:xfrm>
          <a:prstGeom prst="rect">
            <a:avLst/>
          </a:prstGeom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Randomness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in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Returns</a:t>
            </a:r>
            <a:endParaRPr lang="en-US" sz="3600" dirty="0">
              <a:solidFill>
                <a:srgbClr val="0070C0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 flipH="1" flipV="1">
            <a:off x="1019643" y="3388389"/>
            <a:ext cx="9870030" cy="3204"/>
          </a:xfrm>
          <a:prstGeom prst="line">
            <a:avLst/>
          </a:prstGeom>
          <a:ln w="38100">
            <a:solidFill>
              <a:schemeClr val="tx1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1022677" y="3096001"/>
            <a:ext cx="1011815" cy="58477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3200" dirty="0" smtClean="0"/>
              <a:t>Time</a:t>
            </a:r>
            <a:endParaRPr lang="en-US" sz="3200" dirty="0"/>
          </a:p>
        </p:txBody>
      </p:sp>
      <p:grpSp>
        <p:nvGrpSpPr>
          <p:cNvPr id="10" name="Group 9"/>
          <p:cNvGrpSpPr/>
          <p:nvPr/>
        </p:nvGrpSpPr>
        <p:grpSpPr>
          <a:xfrm>
            <a:off x="1541889" y="1854742"/>
            <a:ext cx="1665841" cy="3713622"/>
            <a:chOff x="4688648" y="2804869"/>
            <a:chExt cx="1665841" cy="3713622"/>
          </a:xfrm>
        </p:grpSpPr>
        <p:cxnSp>
          <p:nvCxnSpPr>
            <p:cNvPr id="11" name="Straight Connector 10"/>
            <p:cNvCxnSpPr/>
            <p:nvPr/>
          </p:nvCxnSpPr>
          <p:spPr>
            <a:xfrm flipH="1">
              <a:off x="5521569" y="2804869"/>
              <a:ext cx="2409" cy="3047642"/>
            </a:xfrm>
            <a:prstGeom prst="line">
              <a:avLst/>
            </a:prstGeom>
            <a:ln w="38100"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4688648" y="5933716"/>
              <a:ext cx="166584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3200" dirty="0" smtClean="0">
                  <a:solidFill>
                    <a:schemeClr val="accent2">
                      <a:lumMod val="75000"/>
                    </a:schemeClr>
                  </a:solidFill>
                  <a:latin typeface="Lucida Console" charset="0"/>
                  <a:ea typeface="Lucida Console" charset="0"/>
                  <a:cs typeface="Lucida Console" charset="0"/>
                </a:rPr>
                <a:t>Time</a:t>
              </a:r>
              <a:r>
                <a:rPr lang="zh-CN" altLang="en-US" sz="3200" dirty="0" smtClean="0">
                  <a:solidFill>
                    <a:schemeClr val="accent2">
                      <a:lumMod val="75000"/>
                    </a:schemeClr>
                  </a:solidFill>
                  <a:latin typeface="Lucida Console" charset="0"/>
                  <a:ea typeface="Lucida Console" charset="0"/>
                  <a:cs typeface="Lucida Console" charset="0"/>
                </a:rPr>
                <a:t> </a:t>
              </a:r>
              <a:r>
                <a:rPr lang="en-US" altLang="zh-CN" sz="3200" dirty="0" smtClean="0">
                  <a:solidFill>
                    <a:schemeClr val="accent2">
                      <a:lumMod val="75000"/>
                    </a:schemeClr>
                  </a:solidFill>
                  <a:latin typeface="Lucida Console" charset="0"/>
                  <a:ea typeface="Lucida Console" charset="0"/>
                  <a:cs typeface="Lucida Console" charset="0"/>
                </a:rPr>
                <a:t>t</a:t>
              </a:r>
              <a:endParaRPr lang="en-US" sz="3200" dirty="0">
                <a:solidFill>
                  <a:schemeClr val="accent2">
                    <a:lumMod val="75000"/>
                  </a:schemeClr>
                </a:solidFill>
                <a:latin typeface="Lucida Console" charset="0"/>
                <a:ea typeface="Lucida Console" charset="0"/>
                <a:cs typeface="Lucida Console" charset="0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9645784" y="1854742"/>
            <a:ext cx="925253" cy="3713622"/>
            <a:chOff x="5058942" y="2804869"/>
            <a:chExt cx="925253" cy="3713622"/>
          </a:xfrm>
        </p:grpSpPr>
        <p:cxnSp>
          <p:nvCxnSpPr>
            <p:cNvPr id="14" name="Straight Connector 13"/>
            <p:cNvCxnSpPr/>
            <p:nvPr/>
          </p:nvCxnSpPr>
          <p:spPr>
            <a:xfrm flipH="1">
              <a:off x="5521569" y="2804869"/>
              <a:ext cx="2409" cy="3047642"/>
            </a:xfrm>
            <a:prstGeom prst="line">
              <a:avLst/>
            </a:prstGeom>
            <a:ln w="38100"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5058942" y="5933716"/>
              <a:ext cx="92525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3200" dirty="0" smtClean="0">
                  <a:solidFill>
                    <a:schemeClr val="accent2">
                      <a:lumMod val="75000"/>
                    </a:schemeClr>
                  </a:solidFill>
                  <a:latin typeface="Lucida Console" charset="0"/>
                  <a:ea typeface="Lucida Console" charset="0"/>
                  <a:cs typeface="Lucida Console" charset="0"/>
                </a:rPr>
                <a:t>End</a:t>
              </a:r>
              <a:endParaRPr lang="en-US" sz="3200" dirty="0">
                <a:solidFill>
                  <a:schemeClr val="accent2">
                    <a:lumMod val="75000"/>
                  </a:schemeClr>
                </a:solidFill>
                <a:latin typeface="Lucida Console" charset="0"/>
                <a:ea typeface="Lucida Console" charset="0"/>
                <a:cs typeface="Lucida Console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968856" y="1736006"/>
                <a:ext cx="50379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0" i="1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3200" b="0" i="1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8856" y="1736006"/>
                <a:ext cx="503791" cy="49244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4035934" y="1736006"/>
                <a:ext cx="894925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0" i="1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3200" b="0" i="1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  <m:t>𝑡</m:t>
                          </m:r>
                          <m:r>
                            <a:rPr lang="en-US" altLang="zh-CN" sz="3200" b="0" i="1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5934" y="1736006"/>
                <a:ext cx="894925" cy="49244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494146" y="1736006"/>
                <a:ext cx="894925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0" i="1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3200" b="0" i="1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  <m:t>𝑡</m:t>
                          </m:r>
                          <m:r>
                            <a:rPr lang="en-US" altLang="zh-CN" sz="3200" b="0" i="1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  <m:t>+2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4146" y="1736006"/>
                <a:ext cx="894925" cy="492443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8785602" y="1736006"/>
                <a:ext cx="56342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0" i="1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3200" b="0" i="1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5602" y="1736006"/>
                <a:ext cx="563423" cy="492443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7365320" y="1736006"/>
                <a:ext cx="44403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solidFill>
                            <a:schemeClr val="accent5"/>
                          </a:solidFill>
                          <a:latin typeface="Cambria Math" charset="0"/>
                        </a:rPr>
                        <m:t>⋯</m:t>
                      </m:r>
                    </m:oMath>
                  </m:oMathPara>
                </a14:m>
                <a:endParaRPr lang="en-US" sz="3200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5320" y="1736006"/>
                <a:ext cx="444032" cy="492443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2968855" y="2518254"/>
                <a:ext cx="6380157" cy="584775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3200" dirty="0" smtClean="0"/>
                  <a:t> </a:t>
                </a:r>
                <a:r>
                  <a:rPr lang="en-US" altLang="zh-CN" sz="3200" dirty="0" smtClean="0"/>
                  <a:t>is</a:t>
                </a:r>
                <a:r>
                  <a:rPr lang="zh-CN" altLang="en-US" sz="3200" dirty="0" smtClean="0"/>
                  <a:t> </a:t>
                </a:r>
                <a:r>
                  <a:rPr lang="en-US" altLang="zh-CN" sz="3200" dirty="0" smtClean="0"/>
                  <a:t>a</a:t>
                </a:r>
                <a:r>
                  <a:rPr lang="zh-CN" altLang="en-US" sz="3200" dirty="0" smtClean="0"/>
                  <a:t> </a:t>
                </a:r>
                <a:r>
                  <a:rPr lang="en-US" altLang="zh-CN" sz="3200" dirty="0" smtClean="0"/>
                  <a:t>random</a:t>
                </a:r>
                <a:r>
                  <a:rPr lang="zh-CN" altLang="en-US" sz="3200" dirty="0" smtClean="0"/>
                  <a:t> </a:t>
                </a:r>
                <a:r>
                  <a:rPr lang="en-US" altLang="zh-CN" sz="3200" dirty="0" smtClean="0"/>
                  <a:t>variable</a:t>
                </a:r>
                <a:endParaRPr lang="en-US" sz="32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8855" y="2518254"/>
                <a:ext cx="6380157" cy="584775"/>
              </a:xfrm>
              <a:prstGeom prst="rect">
                <a:avLst/>
              </a:prstGeom>
              <a:blipFill rotWithShape="0">
                <a:blip r:embed="rId9"/>
                <a:stretch>
                  <a:fillRect t="-12500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004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0"/>
                            </p:stCondLst>
                            <p:childTnLst>
                              <p:par>
                                <p:cTn id="18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0" grpId="0"/>
      <p:bldP spid="21" grpId="0"/>
      <p:bldP spid="22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Randomness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in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Returns</a:t>
            </a:r>
            <a:endParaRPr lang="en-US" sz="3600" dirty="0">
              <a:solidFill>
                <a:srgbClr val="0070C0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 flipH="1" flipV="1">
            <a:off x="1019643" y="3388389"/>
            <a:ext cx="9870030" cy="3204"/>
          </a:xfrm>
          <a:prstGeom prst="line">
            <a:avLst/>
          </a:prstGeom>
          <a:ln w="38100">
            <a:solidFill>
              <a:schemeClr val="tx1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1022677" y="3096001"/>
            <a:ext cx="1011815" cy="58477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3200" dirty="0" smtClean="0"/>
              <a:t>Time</a:t>
            </a:r>
            <a:endParaRPr lang="en-US" sz="3200" dirty="0"/>
          </a:p>
        </p:txBody>
      </p:sp>
      <p:grpSp>
        <p:nvGrpSpPr>
          <p:cNvPr id="10" name="Group 9"/>
          <p:cNvGrpSpPr/>
          <p:nvPr/>
        </p:nvGrpSpPr>
        <p:grpSpPr>
          <a:xfrm>
            <a:off x="1541889" y="1854742"/>
            <a:ext cx="1665841" cy="3713622"/>
            <a:chOff x="4688648" y="2804869"/>
            <a:chExt cx="1665841" cy="3713622"/>
          </a:xfrm>
        </p:grpSpPr>
        <p:cxnSp>
          <p:nvCxnSpPr>
            <p:cNvPr id="11" name="Straight Connector 10"/>
            <p:cNvCxnSpPr/>
            <p:nvPr/>
          </p:nvCxnSpPr>
          <p:spPr>
            <a:xfrm flipH="1">
              <a:off x="5521569" y="2804869"/>
              <a:ext cx="2409" cy="3047642"/>
            </a:xfrm>
            <a:prstGeom prst="line">
              <a:avLst/>
            </a:prstGeom>
            <a:ln w="38100"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4688648" y="5933716"/>
              <a:ext cx="166584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3200" dirty="0" smtClean="0">
                  <a:solidFill>
                    <a:schemeClr val="accent2">
                      <a:lumMod val="75000"/>
                    </a:schemeClr>
                  </a:solidFill>
                  <a:latin typeface="Lucida Console" charset="0"/>
                  <a:ea typeface="Lucida Console" charset="0"/>
                  <a:cs typeface="Lucida Console" charset="0"/>
                </a:rPr>
                <a:t>Time</a:t>
              </a:r>
              <a:r>
                <a:rPr lang="zh-CN" altLang="en-US" sz="3200" dirty="0" smtClean="0">
                  <a:solidFill>
                    <a:schemeClr val="accent2">
                      <a:lumMod val="75000"/>
                    </a:schemeClr>
                  </a:solidFill>
                  <a:latin typeface="Lucida Console" charset="0"/>
                  <a:ea typeface="Lucida Console" charset="0"/>
                  <a:cs typeface="Lucida Console" charset="0"/>
                </a:rPr>
                <a:t> </a:t>
              </a:r>
              <a:r>
                <a:rPr lang="en-US" altLang="zh-CN" sz="3200" dirty="0" smtClean="0">
                  <a:solidFill>
                    <a:schemeClr val="accent2">
                      <a:lumMod val="75000"/>
                    </a:schemeClr>
                  </a:solidFill>
                  <a:latin typeface="Lucida Console" charset="0"/>
                  <a:ea typeface="Lucida Console" charset="0"/>
                  <a:cs typeface="Lucida Console" charset="0"/>
                </a:rPr>
                <a:t>t</a:t>
              </a:r>
              <a:endParaRPr lang="en-US" sz="3200" dirty="0">
                <a:solidFill>
                  <a:schemeClr val="accent2">
                    <a:lumMod val="75000"/>
                  </a:schemeClr>
                </a:solidFill>
                <a:latin typeface="Lucida Console" charset="0"/>
                <a:ea typeface="Lucida Console" charset="0"/>
                <a:cs typeface="Lucida Console" charset="0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9645784" y="1854742"/>
            <a:ext cx="925253" cy="3713622"/>
            <a:chOff x="5058942" y="2804869"/>
            <a:chExt cx="925253" cy="3713622"/>
          </a:xfrm>
        </p:grpSpPr>
        <p:cxnSp>
          <p:nvCxnSpPr>
            <p:cNvPr id="14" name="Straight Connector 13"/>
            <p:cNvCxnSpPr/>
            <p:nvPr/>
          </p:nvCxnSpPr>
          <p:spPr>
            <a:xfrm flipH="1">
              <a:off x="5521569" y="2804869"/>
              <a:ext cx="2409" cy="3047642"/>
            </a:xfrm>
            <a:prstGeom prst="line">
              <a:avLst/>
            </a:prstGeom>
            <a:ln w="38100"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5058942" y="5933716"/>
              <a:ext cx="92525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3200" dirty="0" smtClean="0">
                  <a:solidFill>
                    <a:schemeClr val="accent2">
                      <a:lumMod val="75000"/>
                    </a:schemeClr>
                  </a:solidFill>
                  <a:latin typeface="Lucida Console" charset="0"/>
                  <a:ea typeface="Lucida Console" charset="0"/>
                  <a:cs typeface="Lucida Console" charset="0"/>
                </a:rPr>
                <a:t>End</a:t>
              </a:r>
              <a:endParaRPr lang="en-US" sz="3200" dirty="0">
                <a:solidFill>
                  <a:schemeClr val="accent2">
                    <a:lumMod val="75000"/>
                  </a:schemeClr>
                </a:solidFill>
                <a:latin typeface="Lucida Console" charset="0"/>
                <a:ea typeface="Lucida Console" charset="0"/>
                <a:cs typeface="Lucida Console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968856" y="4420841"/>
                <a:ext cx="39998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0" i="1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3200" b="0" i="1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8856" y="4420841"/>
                <a:ext cx="399981" cy="49244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4035934" y="4420841"/>
                <a:ext cx="79111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0" i="1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3200" b="0" i="1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  <m:t>𝑡</m:t>
                          </m:r>
                          <m:r>
                            <a:rPr lang="en-US" altLang="zh-CN" sz="3200" b="0" i="1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5934" y="4420841"/>
                <a:ext cx="791114" cy="49244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494146" y="4420841"/>
                <a:ext cx="79111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0" i="1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3200" b="0" i="1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  <m:t>𝑡</m:t>
                          </m:r>
                          <m:r>
                            <a:rPr lang="en-US" altLang="zh-CN" sz="3200" b="0" i="1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  <m:t>+2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4146" y="4420841"/>
                <a:ext cx="791114" cy="49244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8785602" y="4420841"/>
                <a:ext cx="43659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0" i="1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3200" b="0" i="1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5602" y="4420841"/>
                <a:ext cx="436593" cy="492443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7365320" y="4420841"/>
                <a:ext cx="44403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solidFill>
                            <a:schemeClr val="accent5"/>
                          </a:solidFill>
                          <a:latin typeface="Cambria Math" charset="0"/>
                        </a:rPr>
                        <m:t>⋯</m:t>
                      </m:r>
                    </m:oMath>
                  </m:oMathPara>
                </a14:m>
                <a:endParaRPr lang="en-US" sz="3200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5320" y="4420841"/>
                <a:ext cx="444032" cy="492443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2968855" y="3685567"/>
                <a:ext cx="6380157" cy="584775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charset="0"/>
                          </a:rPr>
                          <m:t>𝑢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3200" dirty="0" smtClean="0"/>
                  <a:t> </a:t>
                </a:r>
                <a:r>
                  <a:rPr lang="en-US" altLang="zh-CN" sz="3200" dirty="0" smtClean="0"/>
                  <a:t>is</a:t>
                </a:r>
                <a:r>
                  <a:rPr lang="zh-CN" altLang="en-US" sz="3200" dirty="0" smtClean="0"/>
                  <a:t> </a:t>
                </a:r>
                <a:r>
                  <a:rPr lang="en-US" altLang="zh-CN" sz="3200" dirty="0" smtClean="0"/>
                  <a:t>an</a:t>
                </a:r>
                <a:r>
                  <a:rPr lang="zh-CN" altLang="en-US" sz="3200" dirty="0" smtClean="0"/>
                  <a:t> </a:t>
                </a:r>
                <a:r>
                  <a:rPr lang="en-US" altLang="zh-CN" sz="3200" dirty="0" smtClean="0"/>
                  <a:t>observed</a:t>
                </a:r>
                <a:r>
                  <a:rPr lang="zh-CN" altLang="en-US" sz="3200" dirty="0" smtClean="0"/>
                  <a:t> </a:t>
                </a:r>
                <a:r>
                  <a:rPr lang="en-US" altLang="zh-CN" sz="3200" dirty="0" smtClean="0"/>
                  <a:t>value</a:t>
                </a:r>
                <a:endParaRPr lang="en-US" sz="32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8855" y="3685567"/>
                <a:ext cx="6380157" cy="584775"/>
              </a:xfrm>
              <a:prstGeom prst="rect">
                <a:avLst/>
              </a:prstGeom>
              <a:blipFill rotWithShape="0">
                <a:blip r:embed="rId8"/>
                <a:stretch>
                  <a:fillRect t="-12500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Picture 2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758" y="3919126"/>
            <a:ext cx="989073" cy="1032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778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0"/>
                            </p:stCondLst>
                            <p:childTnLst>
                              <p:par>
                                <p:cTn id="18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0" grpId="0"/>
      <p:bldP spid="21" grpId="0"/>
      <p:bldP spid="22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0" y="2244725"/>
            <a:ext cx="11823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Value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Functions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631659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0" y="7931"/>
                <a:ext cx="12192000" cy="1035057"/>
              </a:xfrm>
            </p:spPr>
            <p:txBody>
              <a:bodyPr>
                <a:normAutofit/>
              </a:bodyPr>
              <a:lstStyle/>
              <a:p>
                <a:pPr algn="ctr"/>
                <a:r>
                  <a:rPr lang="en-US" altLang="zh-CN" sz="3600" b="1" dirty="0" smtClean="0">
                    <a:latin typeface="Lucida Bright" panose="02040602050505020304" pitchFamily="18" charset="0"/>
                  </a:rPr>
                  <a:t>Action-Value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altLang="zh-CN" sz="3600" b="0" i="1" smtClean="0">
                            <a:latin typeface="Cambria Math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sz="36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sz="36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  <m:r>
                          <a:rPr lang="en-US" sz="3600" i="1">
                            <a:latin typeface="Cambria Math" charset="0"/>
                          </a:rPr>
                          <m:t>, </m:t>
                        </m:r>
                        <m:r>
                          <a:rPr lang="en-US" sz="3600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</m:d>
                  </m:oMath>
                </a14:m>
                <a:endParaRPr lang="en-US" sz="3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7931"/>
                <a:ext cx="12192000" cy="1035057"/>
              </a:xfr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642937" y="1771651"/>
                <a:ext cx="10906125" cy="1041127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zh-CN" altLang="en-US" i="1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charset="0"/>
                      </a:rPr>
                      <m:t>=</m:t>
                    </m:r>
                    <m:r>
                      <a:rPr lang="zh-CN" altLang="en-US" i="1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zh-CN" altLang="en-US" i="1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charset="0"/>
                      </a:rPr>
                      <m:t>+</m:t>
                    </m:r>
                    <m:r>
                      <a:rPr lang="zh-CN" altLang="en-US" i="1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charset="0"/>
                      </a:rPr>
                      <m:t>𝛾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+1</m:t>
                        </m:r>
                      </m:sub>
                    </m:sSub>
                    <m:r>
                      <a:rPr lang="zh-CN" altLang="en-US" i="1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charset="0"/>
                      </a:rPr>
                      <m:t>+</m:t>
                    </m:r>
                    <m:r>
                      <a:rPr lang="zh-CN" altLang="en-US" i="1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  <m:sSup>
                      <m:sSup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𝛾</m:t>
                        </m:r>
                      </m:e>
                      <m:sup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+2</m:t>
                        </m:r>
                      </m:sub>
                    </m:sSub>
                    <m:r>
                      <a:rPr lang="zh-CN" altLang="en-US" i="1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charset="0"/>
                      </a:rPr>
                      <m:t>+</m:t>
                    </m:r>
                    <m:r>
                      <a:rPr lang="zh-CN" altLang="en-US" i="1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charset="0"/>
                      </a:rPr>
                      <m:t>⋯</m:t>
                    </m:r>
                    <m:r>
                      <a:rPr lang="zh-CN" altLang="en-US" i="1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  <m:r>
                      <a:rPr lang="en-US" altLang="zh-CN" i="1">
                        <a:solidFill>
                          <a:schemeClr val="tx1"/>
                        </a:solidFill>
                        <a:latin typeface="Cambria Math" charset="0"/>
                      </a:rPr>
                      <m:t>+</m:t>
                    </m:r>
                    <m:r>
                      <a:rPr lang="zh-CN" altLang="en-US" i="1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  <m:sSup>
                      <m:sSup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𝛾</m:t>
                        </m:r>
                      </m:e>
                      <m:sup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𝑛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−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p>
                    </m:sSup>
                    <m:r>
                      <a:rPr lang="en-US" i="1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𝑛</m:t>
                        </m:r>
                      </m:sub>
                    </m:sSub>
                    <m:r>
                      <m:rPr>
                        <m:nor/>
                      </m:rPr>
                      <a:rPr lang="en-US" altLang="zh-CN" dirty="0">
                        <a:solidFill>
                          <a:schemeClr val="tx1"/>
                        </a:solidFill>
                      </a:rPr>
                      <m:t>.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2937" y="1771651"/>
                <a:ext cx="10906125" cy="1041127"/>
              </a:xfr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642937" y="1042988"/>
            <a:ext cx="10906125" cy="52322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800" b="1" dirty="0"/>
              <a:t>Definition:  </a:t>
            </a:r>
            <a:r>
              <a:rPr lang="en-US" sz="2800" dirty="0"/>
              <a:t>Discounted </a:t>
            </a:r>
            <a:r>
              <a:rPr lang="en-US" sz="2800" dirty="0" smtClean="0"/>
              <a:t>return.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8916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11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0" y="7931"/>
                <a:ext cx="12192000" cy="1035057"/>
              </a:xfrm>
            </p:spPr>
            <p:txBody>
              <a:bodyPr>
                <a:normAutofit/>
              </a:bodyPr>
              <a:lstStyle/>
              <a:p>
                <a:pPr algn="ctr"/>
                <a:r>
                  <a:rPr lang="en-US" altLang="zh-CN" sz="3600" b="1" dirty="0">
                    <a:latin typeface="Lucida Bright" panose="02040602050505020304" pitchFamily="18" charset="0"/>
                  </a:rPr>
                  <a:t>Action-Value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3600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altLang="zh-CN" sz="3600" i="1">
                            <a:latin typeface="Cambria Math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sz="36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sz="36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  <m:r>
                          <a:rPr lang="en-US" sz="3600" i="1">
                            <a:latin typeface="Cambria Math" charset="0"/>
                          </a:rPr>
                          <m:t>, </m:t>
                        </m:r>
                        <m:r>
                          <a:rPr lang="en-US" sz="3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</m:d>
                  </m:oMath>
                </a14:m>
                <a:endParaRPr lang="en-US" sz="3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7931"/>
                <a:ext cx="12192000" cy="1035057"/>
              </a:xfr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642936" y="2677850"/>
            <a:ext cx="10906125" cy="52322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800" b="1" dirty="0"/>
              <a:t>Definition: </a:t>
            </a:r>
            <a:r>
              <a:rPr lang="en-US" sz="2800" dirty="0">
                <a:solidFill>
                  <a:srgbClr val="C00000"/>
                </a:solidFill>
              </a:rPr>
              <a:t>Action-value function</a:t>
            </a:r>
            <a:r>
              <a:rPr lang="en-US" sz="28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1"/>
              <p:cNvSpPr txBox="1">
                <a:spLocks/>
              </p:cNvSpPr>
              <p:nvPr/>
            </p:nvSpPr>
            <p:spPr>
              <a:xfrm>
                <a:off x="642937" y="3454409"/>
                <a:ext cx="10906124" cy="81572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charset="0"/>
                      </a:rPr>
                      <m:t>=</m:t>
                    </m:r>
                    <m:r>
                      <a:rPr lang="en-US" i="1">
                        <a:latin typeface="Cambria Math" charset="0"/>
                      </a:rPr>
                      <m:t>𝔼</m:t>
                    </m:r>
                    <m:r>
                      <a:rPr lang="en-US" i="1">
                        <a:latin typeface="Cambria Math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zh-CN" altLang="en-US" b="0" i="1" smtClean="0"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zh-CN" altLang="en-US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US" i="1">
                            <a:latin typeface="Cambria Math" charset="0"/>
                          </a:rPr>
                          <m:t>|</m:t>
                        </m:r>
                        <m:r>
                          <a:rPr lang="zh-CN" altLang="en-US" b="0" i="1" smtClean="0"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zh-CN" altLang="en-US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6" name="Content Placeholder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37" y="3454409"/>
                <a:ext cx="10906124" cy="815723"/>
              </a:xfrm>
              <a:prstGeom prst="rect">
                <a:avLst/>
              </a:prstGeom>
              <a:blipFill rotWithShape="0">
                <a:blip r:embed="rId4"/>
                <a:stretch>
                  <a:fillRect t="-127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642937" y="1771651"/>
                <a:ext cx="10906125" cy="1041127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=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+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𝛾</m:t>
                    </m:r>
                    <m:r>
                      <a:rPr lang="en-US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  <m:r>
                          <a:rPr lang="en-US" i="1">
                            <a:latin typeface="Cambria Math" charset="0"/>
                          </a:rPr>
                          <m:t>+1</m:t>
                        </m:r>
                      </m:sub>
                    </m:sSub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+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</a:rPr>
                          <m:t>𝛾</m:t>
                        </m:r>
                      </m:e>
                      <m:sup>
                        <m:r>
                          <a:rPr lang="en-US" i="1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  <m:r>
                          <a:rPr lang="en-US" i="1">
                            <a:latin typeface="Cambria Math" charset="0"/>
                          </a:rPr>
                          <m:t>+2</m:t>
                        </m:r>
                      </m:sub>
                    </m:sSub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+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⋯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altLang="zh-CN" i="1">
                        <a:latin typeface="Cambria Math" charset="0"/>
                      </a:rPr>
                      <m:t>+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</a:rPr>
                          <m:t>𝛾</m:t>
                        </m:r>
                      </m:e>
                      <m:sup>
                        <m:r>
                          <a:rPr lang="en-US" altLang="zh-CN" i="1">
                            <a:latin typeface="Cambria Math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charset="0"/>
                          </a:rPr>
                          <m:t>𝑡</m:t>
                        </m:r>
                      </m:sup>
                    </m:sSup>
                    <m:r>
                      <a:rPr lang="en-US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𝑛</m:t>
                        </m:r>
                      </m:sub>
                    </m:sSub>
                    <m:r>
                      <m:rPr>
                        <m:nor/>
                      </m:rPr>
                      <a:rPr lang="en-US" altLang="zh-CN" dirty="0"/>
                      <m:t>.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0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2937" y="1771651"/>
                <a:ext cx="10906125" cy="1041127"/>
              </a:xfr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642937" y="1042988"/>
            <a:ext cx="10906125" cy="52322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800" b="1" dirty="0"/>
              <a:t>Definition:  </a:t>
            </a:r>
            <a:r>
              <a:rPr lang="en-US" sz="2800" dirty="0"/>
              <a:t>Discounted return.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25260" y="3321233"/>
            <a:ext cx="3909648" cy="708957"/>
          </a:xfrm>
          <a:prstGeom prst="rect">
            <a:avLst/>
          </a:prstGeom>
          <a:noFill/>
          <a:ln w="57150">
            <a:solidFill>
              <a:srgbClr val="0B24FB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70436" y="3334246"/>
            <a:ext cx="1679333" cy="708957"/>
          </a:xfrm>
          <a:prstGeom prst="rect">
            <a:avLst/>
          </a:prstGeom>
          <a:noFill/>
          <a:ln w="57150">
            <a:solidFill>
              <a:srgbClr val="0B24FB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98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13" grpId="0" animBg="1"/>
      <p:bldP spid="13" grpId="1" animBg="1"/>
      <p:bldP spid="14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0" y="7931"/>
                <a:ext cx="12192000" cy="1035057"/>
              </a:xfrm>
            </p:spPr>
            <p:txBody>
              <a:bodyPr>
                <a:normAutofit/>
              </a:bodyPr>
              <a:lstStyle/>
              <a:p>
                <a:pPr algn="ctr"/>
                <a:r>
                  <a:rPr lang="en-US" altLang="zh-CN" sz="3600" b="1" dirty="0">
                    <a:latin typeface="Lucida Bright" panose="02040602050505020304" pitchFamily="18" charset="0"/>
                  </a:rPr>
                  <a:t>Action-Value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3600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altLang="zh-CN" sz="3600" i="1">
                            <a:latin typeface="Cambria Math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sz="36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sz="36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  <m:r>
                          <a:rPr lang="en-US" sz="3600" i="1">
                            <a:latin typeface="Cambria Math" charset="0"/>
                          </a:rPr>
                          <m:t>, </m:t>
                        </m:r>
                        <m:r>
                          <a:rPr lang="en-US" sz="3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</m:d>
                  </m:oMath>
                </a14:m>
                <a:endParaRPr lang="en-US" sz="3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7931"/>
                <a:ext cx="12192000" cy="1035057"/>
              </a:xfr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642936" y="2677850"/>
            <a:ext cx="10906125" cy="52322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800" b="1" dirty="0"/>
              <a:t>Definition: </a:t>
            </a:r>
            <a:r>
              <a:rPr lang="en-US" sz="2800" dirty="0">
                <a:solidFill>
                  <a:srgbClr val="C00000"/>
                </a:solidFill>
              </a:rPr>
              <a:t>Action-value function</a:t>
            </a:r>
            <a:r>
              <a:rPr lang="en-US" sz="28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1"/>
              <p:cNvSpPr txBox="1">
                <a:spLocks/>
              </p:cNvSpPr>
              <p:nvPr/>
            </p:nvSpPr>
            <p:spPr>
              <a:xfrm>
                <a:off x="642937" y="3454409"/>
                <a:ext cx="10906124" cy="81572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charset="0"/>
                      </a:rPr>
                      <m:t>=</m:t>
                    </m:r>
                    <m:r>
                      <a:rPr lang="en-US" i="1">
                        <a:latin typeface="Cambria Math" charset="0"/>
                      </a:rPr>
                      <m:t>𝔼</m:t>
                    </m:r>
                    <m:r>
                      <a:rPr lang="en-US" i="1">
                        <a:latin typeface="Cambria Math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zh-CN" altLang="en-US" b="0" i="1" smtClean="0"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zh-CN" altLang="en-US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US" i="1">
                            <a:latin typeface="Cambria Math" charset="0"/>
                          </a:rPr>
                          <m:t>|</m:t>
                        </m:r>
                        <m:r>
                          <a:rPr lang="zh-CN" altLang="en-US" b="0" i="1" smtClean="0"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zh-CN" altLang="en-US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6" name="Content Placeholder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37" y="3454409"/>
                <a:ext cx="10906124" cy="815723"/>
              </a:xfrm>
              <a:prstGeom prst="rect">
                <a:avLst/>
              </a:prstGeom>
              <a:blipFill rotWithShape="0">
                <a:blip r:embed="rId4"/>
                <a:stretch>
                  <a:fillRect t="-127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Curved Connector 8"/>
          <p:cNvCxnSpPr/>
          <p:nvPr/>
        </p:nvCxnSpPr>
        <p:spPr>
          <a:xfrm rot="16200000" flipH="1">
            <a:off x="2942015" y="4492510"/>
            <a:ext cx="1336430" cy="200249"/>
          </a:xfrm>
          <a:prstGeom prst="curvedConnector3">
            <a:avLst/>
          </a:prstGeom>
          <a:ln w="38100">
            <a:solidFill>
              <a:srgbClr val="0B24FB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642937" y="1771651"/>
                <a:ext cx="10906125" cy="1041127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=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+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𝛾</m:t>
                    </m:r>
                    <m:r>
                      <a:rPr lang="en-US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  <m:r>
                          <a:rPr lang="en-US" i="1">
                            <a:latin typeface="Cambria Math" charset="0"/>
                          </a:rPr>
                          <m:t>+1</m:t>
                        </m:r>
                      </m:sub>
                    </m:sSub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+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</a:rPr>
                          <m:t>𝛾</m:t>
                        </m:r>
                      </m:e>
                      <m:sup>
                        <m:r>
                          <a:rPr lang="en-US" i="1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  <m:r>
                          <a:rPr lang="en-US" i="1">
                            <a:latin typeface="Cambria Math" charset="0"/>
                          </a:rPr>
                          <m:t>+2</m:t>
                        </m:r>
                      </m:sub>
                    </m:sSub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+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⋯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altLang="zh-CN" i="1">
                        <a:latin typeface="Cambria Math" charset="0"/>
                      </a:rPr>
                      <m:t>+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</a:rPr>
                          <m:t>𝛾</m:t>
                        </m:r>
                      </m:e>
                      <m:sup>
                        <m:r>
                          <a:rPr lang="en-US" altLang="zh-CN" i="1">
                            <a:latin typeface="Cambria Math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charset="0"/>
                          </a:rPr>
                          <m:t>𝑡</m:t>
                        </m:r>
                      </m:sup>
                    </m:sSup>
                    <m:r>
                      <a:rPr lang="en-US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𝑛</m:t>
                        </m:r>
                      </m:sub>
                    </m:sSub>
                    <m:r>
                      <m:rPr>
                        <m:nor/>
                      </m:rPr>
                      <a:rPr lang="en-US" altLang="zh-CN" dirty="0"/>
                      <m:t>.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0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2937" y="1771651"/>
                <a:ext cx="10906125" cy="1041127"/>
              </a:xfr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642937" y="1042988"/>
            <a:ext cx="10906125" cy="52322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800" b="1" dirty="0"/>
              <a:t>Definition:  </a:t>
            </a:r>
            <a:r>
              <a:rPr lang="en-US" sz="2800" dirty="0"/>
              <a:t>Discounted return.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42936" y="5281485"/>
                <a:ext cx="9960587" cy="52322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2800" dirty="0"/>
                  <a:t> </a:t>
                </a:r>
                <a:r>
                  <a:rPr lang="en-US" altLang="zh-CN" sz="2800" dirty="0"/>
                  <a:t>depends on states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en-US" altLang="zh-CN" sz="2800" i="1"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altLang="zh-CN" sz="2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+1</m:t>
                        </m:r>
                      </m:sub>
                    </m:sSub>
                    <m:r>
                      <a:rPr lang="en-US" altLang="zh-CN" sz="2800" i="1">
                        <a:latin typeface="Cambria Math" charset="0"/>
                      </a:rPr>
                      <m:t>,</m:t>
                    </m:r>
                    <m:r>
                      <a:rPr lang="zh-CN" altLang="en-US" sz="2800" i="1">
                        <a:latin typeface="Cambria Math" charset="0"/>
                      </a:rPr>
                      <m:t> </m:t>
                    </m:r>
                    <m:r>
                      <a:rPr lang="en-US" altLang="zh-CN" sz="28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charset="0"/>
                      </a:rPr>
                      <m:t>⋯</m:t>
                    </m:r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800" dirty="0" smtClean="0"/>
                  <a:t> </a:t>
                </a:r>
                <a:r>
                  <a:rPr lang="en-US" altLang="zh-CN" sz="2800" dirty="0" smtClean="0"/>
                  <a:t>and</a:t>
                </a:r>
                <a:r>
                  <a:rPr lang="zh-CN" altLang="en-US" sz="2800" dirty="0" smtClean="0"/>
                  <a:t> </a:t>
                </a:r>
                <a:r>
                  <a:rPr lang="en-US" altLang="zh-CN" sz="2800" dirty="0"/>
                  <a:t>actions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en-US" altLang="zh-CN" sz="2800" i="1"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+1</m:t>
                        </m:r>
                      </m:sub>
                    </m:sSub>
                    <m:r>
                      <a:rPr lang="en-US" altLang="zh-CN" sz="2800" i="1">
                        <a:latin typeface="Cambria Math" charset="0"/>
                      </a:rPr>
                      <m:t>,</m:t>
                    </m:r>
                    <m:r>
                      <a:rPr lang="zh-CN" altLang="en-US" sz="2800" i="1">
                        <a:latin typeface="Cambria Math" charset="0"/>
                      </a:rPr>
                      <m:t> </m:t>
                    </m:r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charset="0"/>
                      </a:rPr>
                      <m:t>⋯</m:t>
                    </m:r>
                    <m:r>
                      <a:rPr lang="en-US" altLang="zh-CN" sz="2800" i="1"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2800" dirty="0"/>
                  <a:t>.</a:t>
                </a:r>
                <a:endParaRPr lang="en-US" sz="28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36" y="5281485"/>
                <a:ext cx="9960587" cy="523220"/>
              </a:xfrm>
              <a:prstGeom prst="rect">
                <a:avLst/>
              </a:prstGeom>
              <a:blipFill rotWithShape="0">
                <a:blip r:embed="rId6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3985844" y="5842925"/>
            <a:ext cx="2239109" cy="45719"/>
          </a:xfrm>
          <a:prstGeom prst="rect">
            <a:avLst/>
          </a:prstGeom>
          <a:noFill/>
          <a:ln w="57150">
            <a:solidFill>
              <a:srgbClr val="0B24FB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7989275" y="5842924"/>
            <a:ext cx="2239109" cy="45719"/>
          </a:xfrm>
          <a:prstGeom prst="rect">
            <a:avLst/>
          </a:prstGeom>
          <a:noFill/>
          <a:ln w="57150">
            <a:solidFill>
              <a:srgbClr val="0B24FB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828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3" grpId="1" animBg="1"/>
      <p:bldP spid="14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0" y="7931"/>
                <a:ext cx="12192000" cy="1035057"/>
              </a:xfrm>
            </p:spPr>
            <p:txBody>
              <a:bodyPr>
                <a:normAutofit/>
              </a:bodyPr>
              <a:lstStyle/>
              <a:p>
                <a:pPr algn="ctr"/>
                <a:r>
                  <a:rPr lang="en-US" altLang="zh-CN" sz="3600" b="1" dirty="0">
                    <a:latin typeface="Lucida Bright" panose="02040602050505020304" pitchFamily="18" charset="0"/>
                  </a:rPr>
                  <a:t>Action-Value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3600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altLang="zh-CN" sz="3600" i="1">
                            <a:latin typeface="Cambria Math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sz="36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sz="36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  <m:r>
                          <a:rPr lang="en-US" sz="3600" i="1">
                            <a:latin typeface="Cambria Math" charset="0"/>
                          </a:rPr>
                          <m:t>, </m:t>
                        </m:r>
                        <m:r>
                          <a:rPr lang="en-US" sz="3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</m:d>
                  </m:oMath>
                </a14:m>
                <a:endParaRPr lang="en-US" sz="3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7931"/>
                <a:ext cx="12192000" cy="1035057"/>
              </a:xfr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642936" y="2677850"/>
            <a:ext cx="10906125" cy="52322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800" b="1" dirty="0"/>
              <a:t>Definition: </a:t>
            </a:r>
            <a:r>
              <a:rPr lang="en-US" sz="2800" dirty="0">
                <a:solidFill>
                  <a:srgbClr val="C00000"/>
                </a:solidFill>
              </a:rPr>
              <a:t>Action-value function</a:t>
            </a:r>
            <a:r>
              <a:rPr lang="en-US" sz="28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1"/>
              <p:cNvSpPr txBox="1">
                <a:spLocks/>
              </p:cNvSpPr>
              <p:nvPr/>
            </p:nvSpPr>
            <p:spPr>
              <a:xfrm>
                <a:off x="642937" y="3454409"/>
                <a:ext cx="10906124" cy="81572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charset="0"/>
                      </a:rPr>
                      <m:t>=</m:t>
                    </m:r>
                    <m:r>
                      <a:rPr lang="en-US" i="1">
                        <a:latin typeface="Cambria Math" charset="0"/>
                      </a:rPr>
                      <m:t>𝔼</m:t>
                    </m:r>
                    <m:r>
                      <a:rPr lang="en-US" i="1">
                        <a:latin typeface="Cambria Math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zh-CN" altLang="en-US" b="0" i="1" smtClean="0"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zh-CN" altLang="en-US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US" i="1">
                            <a:latin typeface="Cambria Math" charset="0"/>
                          </a:rPr>
                          <m:t>|</m:t>
                        </m:r>
                        <m:r>
                          <a:rPr lang="zh-CN" altLang="en-US" b="0" i="1" smtClean="0"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zh-CN" altLang="en-US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6" name="Content Placeholder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37" y="3454409"/>
                <a:ext cx="10906124" cy="815723"/>
              </a:xfrm>
              <a:prstGeom prst="rect">
                <a:avLst/>
              </a:prstGeom>
              <a:blipFill rotWithShape="0">
                <a:blip r:embed="rId4"/>
                <a:stretch>
                  <a:fillRect t="-127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642937" y="1771651"/>
                <a:ext cx="10906125" cy="1041127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=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+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𝛾</m:t>
                    </m:r>
                    <m:r>
                      <a:rPr lang="en-US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  <m:r>
                          <a:rPr lang="en-US" i="1">
                            <a:latin typeface="Cambria Math" charset="0"/>
                          </a:rPr>
                          <m:t>+1</m:t>
                        </m:r>
                      </m:sub>
                    </m:sSub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+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</a:rPr>
                          <m:t>𝛾</m:t>
                        </m:r>
                      </m:e>
                      <m:sup>
                        <m:r>
                          <a:rPr lang="en-US" i="1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  <m:r>
                          <a:rPr lang="en-US" i="1">
                            <a:latin typeface="Cambria Math" charset="0"/>
                          </a:rPr>
                          <m:t>+2</m:t>
                        </m:r>
                      </m:sub>
                    </m:sSub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+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⋯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altLang="zh-CN" i="1">
                        <a:latin typeface="Cambria Math" charset="0"/>
                      </a:rPr>
                      <m:t>+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</a:rPr>
                          <m:t>𝛾</m:t>
                        </m:r>
                      </m:e>
                      <m:sup>
                        <m:r>
                          <a:rPr lang="en-US" altLang="zh-CN" i="1">
                            <a:latin typeface="Cambria Math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charset="0"/>
                          </a:rPr>
                          <m:t>𝑡</m:t>
                        </m:r>
                      </m:sup>
                    </m:sSup>
                    <m:r>
                      <a:rPr lang="en-US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𝑛</m:t>
                        </m:r>
                      </m:sub>
                    </m:sSub>
                    <m:r>
                      <m:rPr>
                        <m:nor/>
                      </m:rPr>
                      <a:rPr lang="en-US" altLang="zh-CN" dirty="0"/>
                      <m:t>.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0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2937" y="1771651"/>
                <a:ext cx="10906125" cy="1041127"/>
              </a:xfr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642937" y="1042988"/>
            <a:ext cx="10906125" cy="52322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800" b="1" dirty="0"/>
              <a:t>Definition:  </a:t>
            </a:r>
            <a:r>
              <a:rPr lang="en-US" sz="2800" dirty="0"/>
              <a:t>Discounted return.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950675" y="3398312"/>
            <a:ext cx="2538048" cy="708957"/>
          </a:xfrm>
          <a:prstGeom prst="rect">
            <a:avLst/>
          </a:prstGeom>
          <a:noFill/>
          <a:ln w="57150">
            <a:solidFill>
              <a:srgbClr val="0B24FB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450254" y="4360608"/>
                <a:ext cx="5538889" cy="52322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800" dirty="0" smtClean="0"/>
                  <a:t>Regard</a:t>
                </a:r>
                <a:r>
                  <a:rPr lang="zh-CN" altLang="en-US" sz="28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2800" dirty="0" smtClean="0"/>
                  <a:t> </a:t>
                </a:r>
                <a:r>
                  <a:rPr lang="en-US" altLang="zh-CN" sz="2800" dirty="0" smtClean="0"/>
                  <a:t>and</a:t>
                </a:r>
                <a:r>
                  <a:rPr lang="zh-CN" altLang="en-US" sz="28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2800" dirty="0" smtClean="0"/>
                  <a:t> </a:t>
                </a:r>
                <a:r>
                  <a:rPr lang="en-US" altLang="zh-CN" sz="2800" dirty="0" smtClean="0"/>
                  <a:t>as</a:t>
                </a:r>
                <a:r>
                  <a:rPr lang="zh-CN" altLang="en-US" sz="2800" dirty="0" smtClean="0"/>
                  <a:t> </a:t>
                </a:r>
                <a:r>
                  <a:rPr lang="en-US" altLang="zh-CN" sz="2800" dirty="0" smtClean="0"/>
                  <a:t>observed</a:t>
                </a:r>
                <a:r>
                  <a:rPr lang="zh-CN" altLang="en-US" sz="2800" dirty="0" smtClean="0"/>
                  <a:t> </a:t>
                </a:r>
                <a:r>
                  <a:rPr lang="en-US" altLang="zh-CN" sz="2800" dirty="0" smtClean="0"/>
                  <a:t>values.</a:t>
                </a:r>
                <a:endParaRPr lang="en-US" sz="28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0254" y="4360608"/>
                <a:ext cx="5538889" cy="523220"/>
              </a:xfrm>
              <a:prstGeom prst="rect">
                <a:avLst/>
              </a:prstGeom>
              <a:blipFill rotWithShape="0">
                <a:blip r:embed="rId6"/>
                <a:stretch>
                  <a:fillRect l="-2310" t="-10465" r="-1100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058943" y="5304316"/>
                <a:ext cx="8493672" cy="52322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800" dirty="0" smtClean="0"/>
                  <a:t>Regard</a:t>
                </a:r>
                <a:r>
                  <a:rPr lang="zh-CN" altLang="en-US" sz="28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altLang="zh-CN" sz="2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+1</m:t>
                        </m:r>
                      </m:sub>
                    </m:sSub>
                    <m:r>
                      <a:rPr lang="en-US" altLang="zh-CN" sz="2800" i="1">
                        <a:latin typeface="Cambria Math" charset="0"/>
                      </a:rPr>
                      <m:t>,</m:t>
                    </m:r>
                    <m:r>
                      <a:rPr lang="zh-CN" altLang="en-US" sz="2800" i="1">
                        <a:latin typeface="Cambria Math" charset="0"/>
                      </a:rPr>
                      <m:t> </m:t>
                    </m:r>
                    <m:r>
                      <a:rPr lang="en-US" altLang="zh-CN" sz="28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charset="0"/>
                      </a:rPr>
                      <m:t>⋯</m:t>
                    </m:r>
                    <m:r>
                      <a:rPr lang="en-US" altLang="zh-CN" sz="2800" i="1"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800" dirty="0" smtClean="0"/>
                  <a:t> </a:t>
                </a:r>
                <a:r>
                  <a:rPr lang="en-US" altLang="zh-CN" sz="2800" dirty="0" smtClean="0"/>
                  <a:t>and</a:t>
                </a:r>
                <a:r>
                  <a:rPr lang="zh-CN" altLang="en-US" sz="28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+1</m:t>
                        </m:r>
                      </m:sub>
                    </m:sSub>
                    <m:r>
                      <a:rPr lang="en-US" altLang="zh-CN" sz="2800" i="1">
                        <a:latin typeface="Cambria Math" charset="0"/>
                      </a:rPr>
                      <m:t>,</m:t>
                    </m:r>
                    <m:r>
                      <a:rPr lang="zh-CN" altLang="en-US" sz="2800" i="1">
                        <a:latin typeface="Cambria Math" charset="0"/>
                      </a:rPr>
                      <m:t> </m:t>
                    </m:r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charset="0"/>
                      </a:rPr>
                      <m:t>⋯</m:t>
                    </m:r>
                    <m:r>
                      <a:rPr lang="en-US" altLang="zh-CN" sz="2800" i="1"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800" dirty="0" smtClean="0"/>
                  <a:t> </a:t>
                </a:r>
                <a:r>
                  <a:rPr lang="en-US" altLang="zh-CN" sz="2800" dirty="0" smtClean="0"/>
                  <a:t>as</a:t>
                </a:r>
                <a:r>
                  <a:rPr lang="zh-CN" altLang="en-US" sz="2800" dirty="0" smtClean="0"/>
                  <a:t> </a:t>
                </a:r>
                <a:r>
                  <a:rPr lang="en-US" altLang="zh-CN" sz="2800" dirty="0" smtClean="0"/>
                  <a:t>random</a:t>
                </a:r>
                <a:r>
                  <a:rPr lang="zh-CN" altLang="en-US" sz="2800" dirty="0" smtClean="0"/>
                  <a:t> </a:t>
                </a:r>
                <a:r>
                  <a:rPr lang="en-US" altLang="zh-CN" sz="2800" dirty="0" smtClean="0"/>
                  <a:t>variables.</a:t>
                </a:r>
                <a:endParaRPr lang="en-US" sz="28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943" y="5304316"/>
                <a:ext cx="8493672" cy="523220"/>
              </a:xfrm>
              <a:prstGeom prst="rect">
                <a:avLst/>
              </a:prstGeom>
              <a:blipFill rotWithShape="0">
                <a:blip r:embed="rId7"/>
                <a:stretch>
                  <a:fillRect l="-1508" t="-10465" r="-431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2172034" y="5838675"/>
            <a:ext cx="1763651" cy="45719"/>
          </a:xfrm>
          <a:prstGeom prst="rect">
            <a:avLst/>
          </a:prstGeom>
          <a:noFill/>
          <a:ln w="57150">
            <a:solidFill>
              <a:srgbClr val="0B24FB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 flipV="1">
            <a:off x="4547476" y="5839736"/>
            <a:ext cx="1754331" cy="45719"/>
          </a:xfrm>
          <a:prstGeom prst="rect">
            <a:avLst/>
          </a:prstGeom>
          <a:noFill/>
          <a:ln w="57150">
            <a:solidFill>
              <a:srgbClr val="0B24FB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88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3" grpId="0" animBg="1"/>
      <p:bldP spid="13" grpId="0" animBg="1"/>
      <p:bldP spid="12" grpId="0" animBg="1"/>
      <p:bldP spid="14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0" y="7931"/>
                <a:ext cx="12192000" cy="1035057"/>
              </a:xfrm>
            </p:spPr>
            <p:txBody>
              <a:bodyPr>
                <a:normAutofit/>
              </a:bodyPr>
              <a:lstStyle/>
              <a:p>
                <a:pPr algn="ctr"/>
                <a:r>
                  <a:rPr lang="en-US" altLang="zh-CN" sz="3600" b="1" dirty="0">
                    <a:latin typeface="Lucida Bright" panose="02040602050505020304" pitchFamily="18" charset="0"/>
                  </a:rPr>
                  <a:t>Action-Value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3600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altLang="zh-CN" sz="3600" i="1">
                            <a:latin typeface="Cambria Math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sz="36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sz="36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  <m:r>
                          <a:rPr lang="en-US" sz="3600" i="1">
                            <a:latin typeface="Cambria Math" charset="0"/>
                          </a:rPr>
                          <m:t>, </m:t>
                        </m:r>
                        <m:r>
                          <a:rPr lang="en-US" sz="3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</m:d>
                  </m:oMath>
                </a14:m>
                <a:endParaRPr lang="en-US" sz="3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7931"/>
                <a:ext cx="12192000" cy="1035057"/>
              </a:xfr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642936" y="2677850"/>
            <a:ext cx="10906125" cy="52322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800" b="1" dirty="0"/>
              <a:t>Definition: </a:t>
            </a:r>
            <a:r>
              <a:rPr lang="en-US" sz="2800" dirty="0">
                <a:solidFill>
                  <a:srgbClr val="C00000"/>
                </a:solidFill>
              </a:rPr>
              <a:t>Action-value function</a:t>
            </a:r>
            <a:r>
              <a:rPr lang="en-US" sz="28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1"/>
              <p:cNvSpPr txBox="1">
                <a:spLocks/>
              </p:cNvSpPr>
              <p:nvPr/>
            </p:nvSpPr>
            <p:spPr>
              <a:xfrm>
                <a:off x="642937" y="3454409"/>
                <a:ext cx="10906124" cy="81572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charset="0"/>
                      </a:rPr>
                      <m:t>=</m:t>
                    </m:r>
                    <m:r>
                      <a:rPr lang="en-US" i="1">
                        <a:latin typeface="Cambria Math" charset="0"/>
                      </a:rPr>
                      <m:t>𝔼</m:t>
                    </m:r>
                    <m:r>
                      <a:rPr lang="en-US" i="1">
                        <a:latin typeface="Cambria Math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zh-CN" altLang="en-US" b="0" i="1" smtClean="0"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zh-CN" altLang="en-US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US" i="1">
                            <a:latin typeface="Cambria Math" charset="0"/>
                          </a:rPr>
                          <m:t>|</m:t>
                        </m:r>
                        <m:r>
                          <a:rPr lang="zh-CN" altLang="en-US" b="0" i="1" smtClean="0"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zh-CN" altLang="en-US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6" name="Content Placeholder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37" y="3454409"/>
                <a:ext cx="10906124" cy="815723"/>
              </a:xfrm>
              <a:prstGeom prst="rect">
                <a:avLst/>
              </a:prstGeom>
              <a:blipFill rotWithShape="0">
                <a:blip r:embed="rId4"/>
                <a:stretch>
                  <a:fillRect t="-127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642937" y="1771651"/>
                <a:ext cx="10906125" cy="1041127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=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+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𝛾</m:t>
                    </m:r>
                    <m:r>
                      <a:rPr lang="en-US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  <m:r>
                          <a:rPr lang="en-US" i="1">
                            <a:latin typeface="Cambria Math" charset="0"/>
                          </a:rPr>
                          <m:t>+1</m:t>
                        </m:r>
                      </m:sub>
                    </m:sSub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+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</a:rPr>
                          <m:t>𝛾</m:t>
                        </m:r>
                      </m:e>
                      <m:sup>
                        <m:r>
                          <a:rPr lang="en-US" i="1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  <m:r>
                          <a:rPr lang="en-US" i="1">
                            <a:latin typeface="Cambria Math" charset="0"/>
                          </a:rPr>
                          <m:t>+2</m:t>
                        </m:r>
                      </m:sub>
                    </m:sSub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+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⋯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altLang="zh-CN" i="1">
                        <a:latin typeface="Cambria Math" charset="0"/>
                      </a:rPr>
                      <m:t>+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</a:rPr>
                          <m:t>𝛾</m:t>
                        </m:r>
                      </m:e>
                      <m:sup>
                        <m:r>
                          <a:rPr lang="en-US" altLang="zh-CN" i="1">
                            <a:latin typeface="Cambria Math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charset="0"/>
                          </a:rPr>
                          <m:t>𝑡</m:t>
                        </m:r>
                      </m:sup>
                    </m:sSup>
                    <m:r>
                      <a:rPr lang="en-US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𝑛</m:t>
                        </m:r>
                      </m:sub>
                    </m:sSub>
                    <m:r>
                      <m:rPr>
                        <m:nor/>
                      </m:rPr>
                      <a:rPr lang="en-US" altLang="zh-CN" dirty="0"/>
                      <m:t>.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0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2937" y="1771651"/>
                <a:ext cx="10906125" cy="1041127"/>
              </a:xfr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642937" y="1042988"/>
            <a:ext cx="10906125" cy="52322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800" b="1" dirty="0"/>
              <a:t>Definition:  </a:t>
            </a:r>
            <a:r>
              <a:rPr lang="en-US" sz="2800" dirty="0"/>
              <a:t>Discounted return.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807675" y="3364498"/>
            <a:ext cx="375140" cy="708957"/>
          </a:xfrm>
          <a:prstGeom prst="rect">
            <a:avLst/>
          </a:prstGeom>
          <a:noFill/>
          <a:ln w="57150">
            <a:solidFill>
              <a:srgbClr val="0B24FB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058943" y="5304316"/>
                <a:ext cx="8493672" cy="52322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800" dirty="0" smtClean="0"/>
                  <a:t>Regard</a:t>
                </a:r>
                <a:r>
                  <a:rPr lang="zh-CN" altLang="en-US" sz="28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altLang="zh-CN" sz="2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+1</m:t>
                        </m:r>
                      </m:sub>
                    </m:sSub>
                    <m:r>
                      <a:rPr lang="en-US" altLang="zh-CN" sz="2800" i="1">
                        <a:latin typeface="Cambria Math" charset="0"/>
                      </a:rPr>
                      <m:t>,</m:t>
                    </m:r>
                    <m:r>
                      <a:rPr lang="zh-CN" altLang="en-US" sz="2800" i="1">
                        <a:latin typeface="Cambria Math" charset="0"/>
                      </a:rPr>
                      <m:t> </m:t>
                    </m:r>
                    <m:r>
                      <a:rPr lang="en-US" altLang="zh-CN" sz="28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charset="0"/>
                      </a:rPr>
                      <m:t>⋯</m:t>
                    </m:r>
                    <m:r>
                      <a:rPr lang="en-US" altLang="zh-CN" sz="2800" i="1"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800" dirty="0" smtClean="0"/>
                  <a:t> </a:t>
                </a:r>
                <a:r>
                  <a:rPr lang="en-US" altLang="zh-CN" sz="2800" dirty="0" smtClean="0"/>
                  <a:t>and</a:t>
                </a:r>
                <a:r>
                  <a:rPr lang="zh-CN" altLang="en-US" sz="28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+1</m:t>
                        </m:r>
                      </m:sub>
                    </m:sSub>
                    <m:r>
                      <a:rPr lang="en-US" altLang="zh-CN" sz="2800" i="1">
                        <a:latin typeface="Cambria Math" charset="0"/>
                      </a:rPr>
                      <m:t>,</m:t>
                    </m:r>
                    <m:r>
                      <a:rPr lang="zh-CN" altLang="en-US" sz="2800" i="1">
                        <a:latin typeface="Cambria Math" charset="0"/>
                      </a:rPr>
                      <m:t> </m:t>
                    </m:r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charset="0"/>
                      </a:rPr>
                      <m:t>⋯</m:t>
                    </m:r>
                    <m:r>
                      <a:rPr lang="en-US" altLang="zh-CN" sz="2800" i="1"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800" dirty="0" smtClean="0"/>
                  <a:t> </a:t>
                </a:r>
                <a:r>
                  <a:rPr lang="en-US" altLang="zh-CN" sz="2800" dirty="0" smtClean="0"/>
                  <a:t>as</a:t>
                </a:r>
                <a:r>
                  <a:rPr lang="zh-CN" altLang="en-US" sz="2800" dirty="0" smtClean="0"/>
                  <a:t> </a:t>
                </a:r>
                <a:r>
                  <a:rPr lang="en-US" altLang="zh-CN" sz="2800" dirty="0" smtClean="0"/>
                  <a:t>random</a:t>
                </a:r>
                <a:r>
                  <a:rPr lang="zh-CN" altLang="en-US" sz="2800" dirty="0" smtClean="0"/>
                  <a:t> </a:t>
                </a:r>
                <a:r>
                  <a:rPr lang="en-US" altLang="zh-CN" sz="2800" dirty="0" smtClean="0"/>
                  <a:t>variables.</a:t>
                </a:r>
                <a:endParaRPr lang="en-US" sz="28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943" y="5304316"/>
                <a:ext cx="8493672" cy="523220"/>
              </a:xfrm>
              <a:prstGeom prst="rect">
                <a:avLst/>
              </a:prstGeom>
              <a:blipFill rotWithShape="0">
                <a:blip r:embed="rId6"/>
                <a:stretch>
                  <a:fillRect l="-1508" t="-10465" r="-431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2225557" y="5827536"/>
            <a:ext cx="1686875" cy="45719"/>
          </a:xfrm>
          <a:prstGeom prst="rect">
            <a:avLst/>
          </a:prstGeom>
          <a:noFill/>
          <a:ln w="57150">
            <a:solidFill>
              <a:srgbClr val="0B24FB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4581511" y="5827536"/>
            <a:ext cx="1686875" cy="45719"/>
          </a:xfrm>
          <a:prstGeom prst="rect">
            <a:avLst/>
          </a:prstGeom>
          <a:noFill/>
          <a:ln w="57150">
            <a:solidFill>
              <a:srgbClr val="0B24FB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274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3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2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  <p:bldP spid="13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0" y="7931"/>
                <a:ext cx="12192000" cy="1035057"/>
              </a:xfrm>
            </p:spPr>
            <p:txBody>
              <a:bodyPr>
                <a:normAutofit/>
              </a:bodyPr>
              <a:lstStyle/>
              <a:p>
                <a:pPr algn="ctr"/>
                <a:r>
                  <a:rPr lang="en-US" altLang="zh-CN" sz="3600" b="1" dirty="0">
                    <a:latin typeface="Lucida Bright" panose="02040602050505020304" pitchFamily="18" charset="0"/>
                  </a:rPr>
                  <a:t>Action-Value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3600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altLang="zh-CN" sz="3600" i="1">
                            <a:latin typeface="Cambria Math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sz="36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sz="36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  <m:r>
                          <a:rPr lang="en-US" sz="3600" i="1">
                            <a:latin typeface="Cambria Math" charset="0"/>
                          </a:rPr>
                          <m:t>, </m:t>
                        </m:r>
                        <m:r>
                          <a:rPr lang="en-US" sz="3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</m:d>
                  </m:oMath>
                </a14:m>
                <a:endParaRPr lang="en-US" sz="3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7931"/>
                <a:ext cx="12192000" cy="1035057"/>
              </a:xfr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642936" y="2677850"/>
            <a:ext cx="10906125" cy="52322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800" b="1" dirty="0"/>
              <a:t>Definition: </a:t>
            </a:r>
            <a:r>
              <a:rPr lang="en-US" sz="2800" dirty="0">
                <a:solidFill>
                  <a:srgbClr val="C00000"/>
                </a:solidFill>
              </a:rPr>
              <a:t>Action-value function</a:t>
            </a:r>
            <a:r>
              <a:rPr lang="en-US" sz="28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1"/>
              <p:cNvSpPr txBox="1">
                <a:spLocks/>
              </p:cNvSpPr>
              <p:nvPr/>
            </p:nvSpPr>
            <p:spPr>
              <a:xfrm>
                <a:off x="642937" y="3454409"/>
                <a:ext cx="10906124" cy="81572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charset="0"/>
                      </a:rPr>
                      <m:t>=</m:t>
                    </m:r>
                    <m:r>
                      <a:rPr lang="en-US" i="1">
                        <a:latin typeface="Cambria Math" charset="0"/>
                      </a:rPr>
                      <m:t>𝔼</m:t>
                    </m:r>
                    <m:r>
                      <a:rPr lang="en-US" i="1">
                        <a:latin typeface="Cambria Math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zh-CN" altLang="en-US" b="0" i="1" smtClean="0"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zh-CN" altLang="en-US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US" i="1">
                            <a:latin typeface="Cambria Math" charset="0"/>
                          </a:rPr>
                          <m:t>|</m:t>
                        </m:r>
                        <m:r>
                          <a:rPr lang="zh-CN" altLang="en-US" b="0" i="1" smtClean="0"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zh-CN" altLang="en-US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6" name="Content Placeholder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37" y="3454409"/>
                <a:ext cx="10906124" cy="815723"/>
              </a:xfrm>
              <a:prstGeom prst="rect">
                <a:avLst/>
              </a:prstGeom>
              <a:blipFill rotWithShape="0">
                <a:blip r:embed="rId4"/>
                <a:stretch>
                  <a:fillRect t="-127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642937" y="1771651"/>
                <a:ext cx="10906125" cy="1041127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=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+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𝛾</m:t>
                    </m:r>
                    <m:r>
                      <a:rPr lang="en-US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  <m:r>
                          <a:rPr lang="en-US" i="1">
                            <a:latin typeface="Cambria Math" charset="0"/>
                          </a:rPr>
                          <m:t>+1</m:t>
                        </m:r>
                      </m:sub>
                    </m:sSub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+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</a:rPr>
                          <m:t>𝛾</m:t>
                        </m:r>
                      </m:e>
                      <m:sup>
                        <m:r>
                          <a:rPr lang="en-US" i="1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  <m:r>
                          <a:rPr lang="en-US" i="1">
                            <a:latin typeface="Cambria Math" charset="0"/>
                          </a:rPr>
                          <m:t>+2</m:t>
                        </m:r>
                      </m:sub>
                    </m:sSub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+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⋯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altLang="zh-CN" i="1">
                        <a:latin typeface="Cambria Math" charset="0"/>
                      </a:rPr>
                      <m:t>+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</a:rPr>
                          <m:t>𝛾</m:t>
                        </m:r>
                      </m:e>
                      <m:sup>
                        <m:r>
                          <a:rPr lang="en-US" altLang="zh-CN" i="1">
                            <a:latin typeface="Cambria Math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charset="0"/>
                          </a:rPr>
                          <m:t>𝑡</m:t>
                        </m:r>
                      </m:sup>
                    </m:sSup>
                    <m:r>
                      <a:rPr lang="en-US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𝑛</m:t>
                        </m:r>
                      </m:sub>
                    </m:sSub>
                    <m:r>
                      <m:rPr>
                        <m:nor/>
                      </m:rPr>
                      <a:rPr lang="en-US" altLang="zh-CN" dirty="0"/>
                      <m:t>.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0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2937" y="1771651"/>
                <a:ext cx="10906125" cy="1041127"/>
              </a:xfr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642937" y="1042988"/>
            <a:ext cx="10906125" cy="52322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800" b="1" dirty="0"/>
              <a:t>Definition:  </a:t>
            </a:r>
            <a:r>
              <a:rPr lang="en-US" sz="2800" dirty="0"/>
              <a:t>Discounted return.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807675" y="3364498"/>
            <a:ext cx="375140" cy="708957"/>
          </a:xfrm>
          <a:prstGeom prst="rect">
            <a:avLst/>
          </a:prstGeom>
          <a:noFill/>
          <a:ln w="57150">
            <a:solidFill>
              <a:srgbClr val="0B24FB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834704" y="4574321"/>
                <a:ext cx="4696222" cy="182880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 marL="457200" indent="-457200">
                  <a:spcBef>
                    <a:spcPts val="600"/>
                  </a:spcBef>
                  <a:spcAft>
                    <a:spcPts val="600"/>
                  </a:spcAft>
                  <a:buFont typeface="Arial" charset="0"/>
                  <a:buChar char="•"/>
                </a:pPr>
                <a:r>
                  <a:rPr lang="zh-CN" altLang="en-US" sz="28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altLang="zh-CN" sz="2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+1</m:t>
                        </m:r>
                      </m:sub>
                    </m:sSub>
                    <m:r>
                      <a:rPr lang="zh-CN" altLang="en-US" sz="28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charset="0"/>
                      </a:rPr>
                      <m:t> </m:t>
                    </m:r>
                    <m:r>
                      <a:rPr lang="en-US" altLang="zh-CN" sz="2800" b="0" i="1" smtClean="0">
                        <a:latin typeface="Cambria Math" charset="0"/>
                      </a:rPr>
                      <m:t>~</m:t>
                    </m:r>
                    <m:r>
                      <a:rPr lang="zh-CN" altLang="en-US" sz="2800" b="0" i="1" smtClean="0">
                        <a:latin typeface="Cambria Math" charset="0"/>
                      </a:rPr>
                      <m:t>  </m:t>
                    </m:r>
                    <m:r>
                      <a:rPr lang="en-US" sz="2800" i="1">
                        <a:latin typeface="Cambria Math" charset="0"/>
                      </a:rPr>
                      <m:t>𝑝</m:t>
                    </m:r>
                    <m:d>
                      <m:dPr>
                        <m:ctrlPr>
                          <a:rPr lang="en-US" sz="28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zh-CN" altLang="en-US" sz="2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 </m:t>
                        </m:r>
                        <m:r>
                          <a:rPr lang="en-US" altLang="zh-CN" sz="2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⋅</m:t>
                        </m:r>
                        <m:r>
                          <a:rPr lang="zh-CN" altLang="en-US" sz="2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 </m:t>
                        </m:r>
                      </m:e>
                      <m:e>
                        <m:r>
                          <a:rPr lang="zh-CN" altLang="en-US" sz="2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28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800" i="1">
                            <a:latin typeface="Cambria Math" charset="0"/>
                          </a:rPr>
                          <m:t>, </m:t>
                        </m:r>
                        <m:r>
                          <a:rPr lang="zh-CN" altLang="en-US" sz="2800" i="1"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2800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zh-CN" altLang="en-US" sz="28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altLang="zh-CN" sz="2800" dirty="0" smtClean="0"/>
                  <a:t>,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800" b="0" dirty="0" smtClean="0"/>
                  <a:t>               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charset="0"/>
                      </a:rPr>
                      <m:t>⋮</m:t>
                    </m:r>
                  </m:oMath>
                </a14:m>
                <a:endParaRPr lang="en-US" sz="2800" dirty="0" smtClean="0"/>
              </a:p>
              <a:p>
                <a:pPr marL="457200" indent="-457200">
                  <a:spcBef>
                    <a:spcPts val="600"/>
                  </a:spcBef>
                  <a:spcAft>
                    <a:spcPts val="600"/>
                  </a:spcAft>
                  <a:buFont typeface="Arial" charset="0"/>
                  <a:buChar char="•"/>
                </a:pPr>
                <a:r>
                  <a:rPr lang="zh-CN" altLang="en-US" sz="28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𝑛</m:t>
                        </m:r>
                      </m:sub>
                    </m:sSub>
                    <m:r>
                      <a:rPr lang="zh-CN" altLang="en-US" sz="28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charset="0"/>
                      </a:rPr>
                      <m:t> </m:t>
                    </m:r>
                    <m:r>
                      <a:rPr lang="zh-CN" altLang="en-US" sz="28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charset="0"/>
                      </a:rPr>
                      <m:t>   </m:t>
                    </m:r>
                    <m:r>
                      <a:rPr lang="en-US" altLang="zh-CN" sz="2800" i="1">
                        <a:latin typeface="Cambria Math" charset="0"/>
                      </a:rPr>
                      <m:t>~</m:t>
                    </m:r>
                    <m:r>
                      <a:rPr lang="zh-CN" altLang="en-US" sz="2800" b="0" i="1" smtClean="0">
                        <a:latin typeface="Cambria Math" charset="0"/>
                      </a:rPr>
                      <m:t> </m:t>
                    </m:r>
                    <m:r>
                      <a:rPr lang="zh-CN" altLang="en-US" sz="2800" i="1">
                        <a:latin typeface="Cambria Math" charset="0"/>
                      </a:rPr>
                      <m:t> </m:t>
                    </m:r>
                    <m:r>
                      <a:rPr lang="en-US" sz="2800" i="1">
                        <a:latin typeface="Cambria Math" charset="0"/>
                      </a:rPr>
                      <m:t>𝑝</m:t>
                    </m:r>
                    <m:d>
                      <m:dPr>
                        <m:ctrlPr>
                          <a:rPr lang="en-US" sz="28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zh-CN" altLang="en-US" sz="2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 </m:t>
                        </m:r>
                        <m:r>
                          <a:rPr lang="en-US" altLang="zh-CN" sz="2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⋅</m:t>
                        </m:r>
                        <m:r>
                          <a:rPr lang="zh-CN" altLang="en-US" sz="2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 </m:t>
                        </m:r>
                      </m:e>
                      <m:e>
                        <m:r>
                          <a:rPr lang="zh-CN" altLang="en-US" sz="2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28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𝑛</m:t>
                            </m:r>
                            <m:r>
                              <a:rPr lang="en-US" altLang="zh-CN" sz="28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sz="2800" i="1">
                            <a:latin typeface="Cambria Math" charset="0"/>
                          </a:rPr>
                          <m:t>, </m:t>
                        </m:r>
                        <m:r>
                          <a:rPr lang="zh-CN" altLang="en-US" sz="2800" i="1"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2800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𝑛</m:t>
                            </m:r>
                            <m:r>
                              <a:rPr lang="en-US" altLang="zh-CN" sz="2800" b="0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−1</m:t>
                            </m:r>
                          </m:sub>
                        </m:sSub>
                        <m:r>
                          <a:rPr lang="zh-CN" altLang="en-US" sz="28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altLang="zh-CN" sz="2800" dirty="0" smtClean="0"/>
                  <a:t>.</a:t>
                </a:r>
                <a:endParaRPr lang="en-US" altLang="zh-CN" sz="28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704" y="4574321"/>
                <a:ext cx="4696222" cy="1828800"/>
              </a:xfrm>
              <a:prstGeom prst="rect">
                <a:avLst/>
              </a:prstGeom>
              <a:blipFill rotWithShape="0">
                <a:blip r:embed="rId6"/>
                <a:stretch>
                  <a:fillRect l="-2338" t="-3000" r="-1688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7083385" y="4574321"/>
                <a:ext cx="3859518" cy="182880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none" rtlCol="0" anchor="ctr">
                <a:spAutoFit/>
              </a:bodyPr>
              <a:lstStyle/>
              <a:p>
                <a:pPr marL="457200" indent="-457200">
                  <a:spcBef>
                    <a:spcPts val="600"/>
                  </a:spcBef>
                  <a:spcAft>
                    <a:spcPts val="600"/>
                  </a:spcAft>
                  <a:buFont typeface="Arial" charset="0"/>
                  <a:buChar char="•"/>
                </a:pPr>
                <a:r>
                  <a:rPr lang="zh-CN" altLang="en-US" sz="28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+1</m:t>
                        </m:r>
                      </m:sub>
                    </m:sSub>
                    <m:r>
                      <a:rPr lang="zh-CN" altLang="en-US" sz="28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charset="0"/>
                      </a:rPr>
                      <m:t> </m:t>
                    </m:r>
                    <m:r>
                      <a:rPr lang="en-US" altLang="zh-CN" sz="2800" b="0" i="1" smtClean="0">
                        <a:latin typeface="Cambria Math" charset="0"/>
                      </a:rPr>
                      <m:t>~</m:t>
                    </m:r>
                    <m:r>
                      <a:rPr lang="zh-CN" altLang="en-US" sz="2800" b="0" i="1" smtClean="0">
                        <a:latin typeface="Cambria Math" charset="0"/>
                      </a:rPr>
                      <m:t>   </m:t>
                    </m:r>
                    <m:r>
                      <a:rPr lang="en-US" altLang="zh-CN" sz="2800" b="0" i="1" smtClean="0">
                        <a:latin typeface="Cambria Math" charset="0"/>
                      </a:rPr>
                      <m:t>𝜋</m:t>
                    </m:r>
                    <m:d>
                      <m:dPr>
                        <m:ctrlPr>
                          <a:rPr lang="en-US" sz="28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zh-CN" altLang="en-US" sz="2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 </m:t>
                        </m:r>
                        <m:r>
                          <a:rPr lang="en-US" altLang="zh-CN" sz="280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⋅</m:t>
                        </m:r>
                        <m:r>
                          <a:rPr lang="zh-CN" altLang="en-US" sz="2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 </m:t>
                        </m:r>
                      </m:e>
                      <m:e>
                        <m:r>
                          <a:rPr lang="zh-CN" altLang="en-US" sz="2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 </m:t>
                        </m:r>
                        <m:r>
                          <a:rPr lang="zh-CN" altLang="en-US" sz="28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28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  <m:r>
                              <a:rPr lang="en-US" altLang="zh-CN" sz="28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+1</m:t>
                            </m:r>
                          </m:sub>
                        </m:sSub>
                        <m:r>
                          <a:rPr lang="zh-CN" altLang="en-US" sz="28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altLang="zh-CN" sz="2800" dirty="0" smtClean="0"/>
                  <a:t>,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800" b="0" dirty="0" smtClean="0"/>
                  <a:t>                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charset="0"/>
                      </a:rPr>
                      <m:t>⋮</m:t>
                    </m:r>
                  </m:oMath>
                </a14:m>
                <a:endParaRPr lang="en-US" sz="2800" dirty="0" smtClean="0"/>
              </a:p>
              <a:p>
                <a:pPr marL="457200" indent="-457200">
                  <a:spcBef>
                    <a:spcPts val="600"/>
                  </a:spcBef>
                  <a:spcAft>
                    <a:spcPts val="600"/>
                  </a:spcAft>
                  <a:buFont typeface="Arial" charset="0"/>
                  <a:buChar char="•"/>
                </a:pPr>
                <a:r>
                  <a:rPr lang="zh-CN" altLang="en-US" sz="28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𝑛</m:t>
                        </m:r>
                      </m:sub>
                    </m:sSub>
                    <m:r>
                      <a:rPr lang="zh-CN" altLang="en-US" sz="2800" b="0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     </m:t>
                    </m:r>
                    <m:r>
                      <a:rPr lang="en-US" altLang="zh-CN" sz="2800" i="1">
                        <a:latin typeface="Cambria Math" charset="0"/>
                      </a:rPr>
                      <m:t>~</m:t>
                    </m:r>
                    <m:r>
                      <a:rPr lang="zh-CN" altLang="en-US" sz="2800" b="0" i="1" smtClean="0">
                        <a:latin typeface="Cambria Math" charset="0"/>
                      </a:rPr>
                      <m:t> </m:t>
                    </m:r>
                    <m:r>
                      <a:rPr lang="zh-CN" altLang="en-US" sz="2800" i="1">
                        <a:latin typeface="Cambria Math" charset="0"/>
                      </a:rPr>
                      <m:t> </m:t>
                    </m:r>
                    <m:r>
                      <a:rPr lang="zh-CN" altLang="en-US" sz="2800" b="0" i="1" smtClean="0">
                        <a:latin typeface="Cambria Math" charset="0"/>
                      </a:rPr>
                      <m:t> </m:t>
                    </m:r>
                    <m:r>
                      <a:rPr lang="en-US" altLang="zh-CN" sz="2800" i="1">
                        <a:latin typeface="Cambria Math" charset="0"/>
                      </a:rPr>
                      <m:t>𝜋</m:t>
                    </m:r>
                    <m:d>
                      <m:dPr>
                        <m:ctrlPr>
                          <a:rPr lang="en-US" sz="28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zh-CN" altLang="en-US" sz="2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 </m:t>
                        </m:r>
                        <m:r>
                          <a:rPr lang="en-US" altLang="zh-CN" sz="280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⋅</m:t>
                        </m:r>
                        <m:r>
                          <a:rPr lang="zh-CN" altLang="en-US" sz="28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 </m:t>
                        </m:r>
                      </m:e>
                      <m:e>
                        <m:r>
                          <a:rPr lang="zh-CN" altLang="en-US" sz="28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 </m:t>
                        </m:r>
                        <m:r>
                          <a:rPr lang="zh-CN" altLang="en-US" sz="2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28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𝑛</m:t>
                            </m:r>
                          </m:sub>
                        </m:sSub>
                        <m:r>
                          <a:rPr lang="zh-CN" altLang="en-US" sz="28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altLang="zh-CN" sz="2800" dirty="0" smtClean="0"/>
                  <a:t>.</a:t>
                </a:r>
                <a:endParaRPr lang="en-US" altLang="zh-CN" sz="28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3385" y="4574321"/>
                <a:ext cx="3859518" cy="1828800"/>
              </a:xfrm>
              <a:prstGeom prst="rect">
                <a:avLst/>
              </a:prstGeom>
              <a:blipFill rotWithShape="0">
                <a:blip r:embed="rId7"/>
                <a:stretch>
                  <a:fillRect l="-2844" r="-2054" b="-5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0241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9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0" y="7931"/>
                <a:ext cx="12192000" cy="1035057"/>
              </a:xfrm>
            </p:spPr>
            <p:txBody>
              <a:bodyPr>
                <a:normAutofit/>
              </a:bodyPr>
              <a:lstStyle/>
              <a:p>
                <a:pPr algn="ctr"/>
                <a:r>
                  <a:rPr lang="en-US" altLang="zh-CN" sz="3600" b="1" dirty="0">
                    <a:latin typeface="Lucida Bright" panose="02040602050505020304" pitchFamily="18" charset="0"/>
                  </a:rPr>
                  <a:t>Action-Value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3600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altLang="zh-CN" sz="3600" i="1">
                            <a:latin typeface="Cambria Math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sz="36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sz="36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  <m:r>
                          <a:rPr lang="en-US" sz="3600" i="1">
                            <a:latin typeface="Cambria Math" charset="0"/>
                          </a:rPr>
                          <m:t>, </m:t>
                        </m:r>
                        <m:r>
                          <a:rPr lang="en-US" sz="3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</m:d>
                  </m:oMath>
                </a14:m>
                <a:endParaRPr lang="en-US" sz="3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7931"/>
                <a:ext cx="12192000" cy="1035057"/>
              </a:xfr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642936" y="2677850"/>
            <a:ext cx="10906125" cy="52322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800" b="1" dirty="0"/>
              <a:t>Definition: </a:t>
            </a:r>
            <a:r>
              <a:rPr lang="en-US" sz="2800" dirty="0">
                <a:solidFill>
                  <a:srgbClr val="C00000"/>
                </a:solidFill>
              </a:rPr>
              <a:t>A</a:t>
            </a:r>
            <a:r>
              <a:rPr lang="en-US" sz="2800" dirty="0" smtClean="0">
                <a:solidFill>
                  <a:srgbClr val="C00000"/>
                </a:solidFill>
              </a:rPr>
              <a:t>ction-value function</a:t>
            </a:r>
            <a:r>
              <a:rPr lang="en-US" sz="2800" dirty="0" smtClean="0"/>
              <a:t>.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1"/>
              <p:cNvSpPr txBox="1">
                <a:spLocks/>
              </p:cNvSpPr>
              <p:nvPr/>
            </p:nvSpPr>
            <p:spPr>
              <a:xfrm>
                <a:off x="642937" y="3454409"/>
                <a:ext cx="10906124" cy="81572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charset="0"/>
                      </a:rPr>
                      <m:t>=</m:t>
                    </m:r>
                    <m:r>
                      <a:rPr lang="en-US" i="1">
                        <a:latin typeface="Cambria Math" charset="0"/>
                      </a:rPr>
                      <m:t>𝔼</m:t>
                    </m:r>
                    <m:r>
                      <a:rPr lang="en-US" i="1">
                        <a:latin typeface="Cambria Math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zh-CN" altLang="en-US" b="0" i="1" smtClean="0"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zh-CN" altLang="en-US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US" i="1">
                            <a:latin typeface="Cambria Math" charset="0"/>
                          </a:rPr>
                          <m:t>|</m:t>
                        </m:r>
                        <m:r>
                          <a:rPr lang="zh-CN" altLang="en-US" b="0" i="1" smtClean="0"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zh-CN" altLang="en-US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6" name="Content Placeholder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37" y="3454409"/>
                <a:ext cx="10906124" cy="815723"/>
              </a:xfrm>
              <a:prstGeom prst="rect">
                <a:avLst/>
              </a:prstGeom>
              <a:blipFill rotWithShape="0">
                <a:blip r:embed="rId4"/>
                <a:stretch>
                  <a:fillRect t="-127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642937" y="1771651"/>
                <a:ext cx="10906125" cy="1041127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=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+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𝛾</m:t>
                    </m:r>
                    <m:r>
                      <a:rPr lang="en-US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  <m:r>
                          <a:rPr lang="en-US" i="1">
                            <a:latin typeface="Cambria Math" charset="0"/>
                          </a:rPr>
                          <m:t>+1</m:t>
                        </m:r>
                      </m:sub>
                    </m:sSub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+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</a:rPr>
                          <m:t>𝛾</m:t>
                        </m:r>
                      </m:e>
                      <m:sup>
                        <m:r>
                          <a:rPr lang="en-US" i="1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  <m:r>
                          <a:rPr lang="en-US" i="1">
                            <a:latin typeface="Cambria Math" charset="0"/>
                          </a:rPr>
                          <m:t>+2</m:t>
                        </m:r>
                      </m:sub>
                    </m:sSub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+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⋯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altLang="zh-CN" i="1">
                        <a:latin typeface="Cambria Math" charset="0"/>
                      </a:rPr>
                      <m:t>+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</a:rPr>
                          <m:t>𝛾</m:t>
                        </m:r>
                      </m:e>
                      <m:sup>
                        <m:r>
                          <a:rPr lang="en-US" altLang="zh-CN" i="1">
                            <a:latin typeface="Cambria Math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charset="0"/>
                          </a:rPr>
                          <m:t>𝑡</m:t>
                        </m:r>
                      </m:sup>
                    </m:sSup>
                    <m:r>
                      <a:rPr lang="en-US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𝑛</m:t>
                        </m:r>
                      </m:sub>
                    </m:sSub>
                    <m:r>
                      <m:rPr>
                        <m:nor/>
                      </m:rPr>
                      <a:rPr lang="en-US" altLang="zh-CN" dirty="0"/>
                      <m:t>.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0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2937" y="1771651"/>
                <a:ext cx="10906125" cy="1041127"/>
              </a:xfr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642937" y="1042988"/>
            <a:ext cx="10906125" cy="52322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800" b="1" dirty="0"/>
              <a:t>Definition:  </a:t>
            </a:r>
            <a:r>
              <a:rPr lang="en-US" sz="2800" dirty="0"/>
              <a:t>Discounted return.</a:t>
            </a:r>
          </a:p>
        </p:txBody>
      </p:sp>
      <p:sp>
        <p:nvSpPr>
          <p:cNvPr id="3" name="Up Arrow 2"/>
          <p:cNvSpPr/>
          <p:nvPr/>
        </p:nvSpPr>
        <p:spPr>
          <a:xfrm>
            <a:off x="1002323" y="3979986"/>
            <a:ext cx="545123" cy="580292"/>
          </a:xfrm>
          <a:prstGeom prst="upArrow">
            <a:avLst/>
          </a:prstGeom>
          <a:solidFill>
            <a:srgbClr val="C00000"/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754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0" y="7931"/>
                <a:ext cx="12192000" cy="1035057"/>
              </a:xfrm>
            </p:spPr>
            <p:txBody>
              <a:bodyPr>
                <a:normAutofit/>
              </a:bodyPr>
              <a:lstStyle/>
              <a:p>
                <a:pPr algn="ctr"/>
                <a:r>
                  <a:rPr lang="en-US" altLang="zh-CN" sz="3600" b="1" dirty="0">
                    <a:latin typeface="Lucida Bright" panose="02040602050505020304" pitchFamily="18" charset="0"/>
                  </a:rPr>
                  <a:t>Action-Value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3600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altLang="zh-CN" sz="3600" i="1">
                            <a:latin typeface="Cambria Math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sz="36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sz="36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  <m:r>
                          <a:rPr lang="en-US" sz="3600" i="1">
                            <a:latin typeface="Cambria Math" charset="0"/>
                          </a:rPr>
                          <m:t>, </m:t>
                        </m:r>
                        <m:r>
                          <a:rPr lang="en-US" sz="3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</m:d>
                  </m:oMath>
                </a14:m>
                <a:endParaRPr lang="en-US" sz="3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7931"/>
                <a:ext cx="12192000" cy="1035057"/>
              </a:xfr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642936" y="2677850"/>
            <a:ext cx="10906125" cy="52322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800" b="1" dirty="0"/>
              <a:t>Definition: </a:t>
            </a:r>
            <a:r>
              <a:rPr lang="en-US" sz="2800" dirty="0">
                <a:solidFill>
                  <a:srgbClr val="C00000"/>
                </a:solidFill>
              </a:rPr>
              <a:t>A</a:t>
            </a:r>
            <a:r>
              <a:rPr lang="en-US" sz="2800" dirty="0" smtClean="0">
                <a:solidFill>
                  <a:srgbClr val="C00000"/>
                </a:solidFill>
              </a:rPr>
              <a:t>ction-value function</a:t>
            </a:r>
            <a:r>
              <a:rPr lang="en-US" sz="2800" dirty="0" smtClean="0"/>
              <a:t>.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1"/>
              <p:cNvSpPr txBox="1">
                <a:spLocks/>
              </p:cNvSpPr>
              <p:nvPr/>
            </p:nvSpPr>
            <p:spPr>
              <a:xfrm>
                <a:off x="642937" y="3454409"/>
                <a:ext cx="10906124" cy="81572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charset="0"/>
                      </a:rPr>
                      <m:t>=</m:t>
                    </m:r>
                    <m:r>
                      <a:rPr lang="en-US" i="1">
                        <a:latin typeface="Cambria Math" charset="0"/>
                      </a:rPr>
                      <m:t>𝔼</m:t>
                    </m:r>
                    <m:r>
                      <a:rPr lang="en-US" i="1">
                        <a:latin typeface="Cambria Math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zh-CN" altLang="en-US" b="0" i="1" smtClean="0"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zh-CN" altLang="en-US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US" i="1">
                            <a:latin typeface="Cambria Math" charset="0"/>
                          </a:rPr>
                          <m:t>|</m:t>
                        </m:r>
                        <m:r>
                          <a:rPr lang="zh-CN" altLang="en-US" b="0" i="1" smtClean="0"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zh-CN" altLang="en-US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6" name="Content Placeholder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37" y="3454409"/>
                <a:ext cx="10906124" cy="815723"/>
              </a:xfrm>
              <a:prstGeom prst="rect">
                <a:avLst/>
              </a:prstGeom>
              <a:blipFill rotWithShape="0">
                <a:blip r:embed="rId4"/>
                <a:stretch>
                  <a:fillRect t="-127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642937" y="1771651"/>
                <a:ext cx="10906125" cy="1041127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=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+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𝛾</m:t>
                    </m:r>
                    <m:r>
                      <a:rPr lang="en-US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  <m:r>
                          <a:rPr lang="en-US" i="1">
                            <a:latin typeface="Cambria Math" charset="0"/>
                          </a:rPr>
                          <m:t>+1</m:t>
                        </m:r>
                      </m:sub>
                    </m:sSub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+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</a:rPr>
                          <m:t>𝛾</m:t>
                        </m:r>
                      </m:e>
                      <m:sup>
                        <m:r>
                          <a:rPr lang="en-US" i="1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  <m:r>
                          <a:rPr lang="en-US" i="1">
                            <a:latin typeface="Cambria Math" charset="0"/>
                          </a:rPr>
                          <m:t>+2</m:t>
                        </m:r>
                      </m:sub>
                    </m:sSub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+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⋯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altLang="zh-CN" i="1">
                        <a:latin typeface="Cambria Math" charset="0"/>
                      </a:rPr>
                      <m:t>+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</a:rPr>
                          <m:t>𝛾</m:t>
                        </m:r>
                      </m:e>
                      <m:sup>
                        <m:r>
                          <a:rPr lang="en-US" altLang="zh-CN" i="1">
                            <a:latin typeface="Cambria Math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charset="0"/>
                          </a:rPr>
                          <m:t>𝑡</m:t>
                        </m:r>
                      </m:sup>
                    </m:sSup>
                    <m:r>
                      <a:rPr lang="en-US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𝑛</m:t>
                        </m:r>
                      </m:sub>
                    </m:sSub>
                    <m:r>
                      <m:rPr>
                        <m:nor/>
                      </m:rPr>
                      <a:rPr lang="en-US" altLang="zh-CN" dirty="0"/>
                      <m:t>.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0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2937" y="1771651"/>
                <a:ext cx="10906125" cy="1041127"/>
              </a:xfr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642937" y="1042988"/>
            <a:ext cx="10906125" cy="52322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800" b="1" dirty="0"/>
              <a:t>Definition:  </a:t>
            </a:r>
            <a:r>
              <a:rPr lang="en-US" sz="2800" dirty="0"/>
              <a:t>Discounted return.</a:t>
            </a:r>
          </a:p>
        </p:txBody>
      </p:sp>
      <p:sp>
        <p:nvSpPr>
          <p:cNvPr id="8" name="TextBox 7"/>
          <p:cNvSpPr txBox="1"/>
          <p:nvPr/>
        </p:nvSpPr>
        <p:spPr>
          <a:xfrm flipV="1">
            <a:off x="1383322" y="4029432"/>
            <a:ext cx="1060940" cy="45719"/>
          </a:xfrm>
          <a:prstGeom prst="rect">
            <a:avLst/>
          </a:prstGeom>
          <a:noFill/>
          <a:ln w="57150">
            <a:solidFill>
              <a:srgbClr val="0B24FB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189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5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750"/>
                            </p:stCondLst>
                            <p:childTnLst>
                              <p:par>
                                <p:cTn id="12" presetID="35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3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35" presetClass="emph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6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8" grpId="2" animBg="1"/>
      <p:bldP spid="8" grpId="3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0" y="7931"/>
                <a:ext cx="12192000" cy="1035057"/>
              </a:xfrm>
            </p:spPr>
            <p:txBody>
              <a:bodyPr>
                <a:normAutofit/>
              </a:bodyPr>
              <a:lstStyle/>
              <a:p>
                <a:pPr algn="ctr"/>
                <a:r>
                  <a:rPr lang="en-US" altLang="zh-CN" sz="3600" b="1" dirty="0">
                    <a:latin typeface="Lucida Bright" panose="02040602050505020304" pitchFamily="18" charset="0"/>
                  </a:rPr>
                  <a:t>Action-Value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3600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altLang="zh-CN" sz="3600" i="1">
                            <a:latin typeface="Cambria Math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sz="36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sz="36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  <m:r>
                          <a:rPr lang="en-US" sz="3600" i="1">
                            <a:latin typeface="Cambria Math" charset="0"/>
                          </a:rPr>
                          <m:t>, </m:t>
                        </m:r>
                        <m:r>
                          <a:rPr lang="en-US" sz="3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</m:d>
                  </m:oMath>
                </a14:m>
                <a:endParaRPr lang="en-US" sz="3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7931"/>
                <a:ext cx="12192000" cy="1035057"/>
              </a:xfr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642936" y="2677850"/>
            <a:ext cx="10906125" cy="52322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800" b="1" dirty="0"/>
              <a:t>Definition: </a:t>
            </a:r>
            <a:r>
              <a:rPr lang="en-US" sz="2800" dirty="0">
                <a:solidFill>
                  <a:srgbClr val="C00000"/>
                </a:solidFill>
              </a:rPr>
              <a:t>A</a:t>
            </a:r>
            <a:r>
              <a:rPr lang="en-US" sz="2800" dirty="0" smtClean="0">
                <a:solidFill>
                  <a:srgbClr val="C00000"/>
                </a:solidFill>
              </a:rPr>
              <a:t>ction-value function</a:t>
            </a:r>
            <a:r>
              <a:rPr lang="en-US" sz="2800" dirty="0" smtClean="0"/>
              <a:t>.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1"/>
              <p:cNvSpPr txBox="1">
                <a:spLocks/>
              </p:cNvSpPr>
              <p:nvPr/>
            </p:nvSpPr>
            <p:spPr>
              <a:xfrm>
                <a:off x="642937" y="3454409"/>
                <a:ext cx="10906124" cy="81572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charset="0"/>
                      </a:rPr>
                      <m:t>=</m:t>
                    </m:r>
                    <m:r>
                      <a:rPr lang="en-US" i="1">
                        <a:latin typeface="Cambria Math" charset="0"/>
                      </a:rPr>
                      <m:t>𝔼</m:t>
                    </m:r>
                    <m:r>
                      <a:rPr lang="en-US" i="1">
                        <a:latin typeface="Cambria Math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zh-CN" altLang="en-US" b="0" i="1" smtClean="0"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zh-CN" altLang="en-US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US" i="1">
                            <a:latin typeface="Cambria Math" charset="0"/>
                          </a:rPr>
                          <m:t>|</m:t>
                        </m:r>
                        <m:r>
                          <a:rPr lang="zh-CN" altLang="en-US" b="0" i="1" smtClean="0"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zh-CN" altLang="en-US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6" name="Content Placeholder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37" y="3454409"/>
                <a:ext cx="10906124" cy="815723"/>
              </a:xfrm>
              <a:prstGeom prst="rect">
                <a:avLst/>
              </a:prstGeom>
              <a:blipFill rotWithShape="0">
                <a:blip r:embed="rId4"/>
                <a:stretch>
                  <a:fillRect t="-127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642937" y="1771651"/>
                <a:ext cx="10906125" cy="1041127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=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+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𝛾</m:t>
                    </m:r>
                    <m:r>
                      <a:rPr lang="en-US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  <m:r>
                          <a:rPr lang="en-US" i="1">
                            <a:latin typeface="Cambria Math" charset="0"/>
                          </a:rPr>
                          <m:t>+1</m:t>
                        </m:r>
                      </m:sub>
                    </m:sSub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+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</a:rPr>
                          <m:t>𝛾</m:t>
                        </m:r>
                      </m:e>
                      <m:sup>
                        <m:r>
                          <a:rPr lang="en-US" i="1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  <m:r>
                          <a:rPr lang="en-US" i="1">
                            <a:latin typeface="Cambria Math" charset="0"/>
                          </a:rPr>
                          <m:t>+2</m:t>
                        </m:r>
                      </m:sub>
                    </m:sSub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+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⋯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altLang="zh-CN" i="1">
                        <a:latin typeface="Cambria Math" charset="0"/>
                      </a:rPr>
                      <m:t>+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</a:rPr>
                          <m:t>𝛾</m:t>
                        </m:r>
                      </m:e>
                      <m:sup>
                        <m:r>
                          <a:rPr lang="en-US" altLang="zh-CN" i="1">
                            <a:latin typeface="Cambria Math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charset="0"/>
                          </a:rPr>
                          <m:t>𝑡</m:t>
                        </m:r>
                      </m:sup>
                    </m:sSup>
                    <m:r>
                      <a:rPr lang="en-US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𝑛</m:t>
                        </m:r>
                      </m:sub>
                    </m:sSub>
                    <m:r>
                      <m:rPr>
                        <m:nor/>
                      </m:rPr>
                      <a:rPr lang="en-US" altLang="zh-CN" dirty="0"/>
                      <m:t>.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0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2937" y="1771651"/>
                <a:ext cx="10906125" cy="1041127"/>
              </a:xfr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642937" y="1042988"/>
            <a:ext cx="10906125" cy="52322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800" b="1" dirty="0"/>
              <a:t>Definition:  </a:t>
            </a:r>
            <a:r>
              <a:rPr lang="en-US" sz="2800" dirty="0"/>
              <a:t>Discounted return.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642936" y="4822663"/>
                <a:ext cx="10906125" cy="52322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square" rtlCol="0" anchor="ctr">
                <a:spAutoFit/>
              </a:bodyPr>
              <a:lstStyle/>
              <a:p>
                <a:pPr marL="457200" indent="-457200">
                  <a:spcBef>
                    <a:spcPts val="600"/>
                  </a:spcBef>
                  <a:spcAft>
                    <a:spcPts val="600"/>
                  </a:spcAft>
                  <a:buFont typeface="Arial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sz="2800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800" i="1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800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800" dirty="0" smtClean="0"/>
                  <a:t> </a:t>
                </a:r>
                <a:r>
                  <a:rPr lang="en-US" altLang="zh-CN" sz="2800" dirty="0" smtClean="0"/>
                  <a:t>depends</a:t>
                </a:r>
                <a:r>
                  <a:rPr lang="zh-CN" altLang="en-US" sz="2800" dirty="0" smtClean="0"/>
                  <a:t> </a:t>
                </a:r>
                <a:r>
                  <a:rPr lang="en-US" altLang="zh-CN" sz="2800" dirty="0" smtClean="0"/>
                  <a:t>on</a:t>
                </a:r>
                <a:r>
                  <a:rPr lang="zh-CN" altLang="en-US" sz="28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2800" dirty="0" smtClean="0"/>
                  <a:t>,</a:t>
                </a:r>
                <a:r>
                  <a:rPr lang="zh-CN" altLang="en-US" sz="28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2800" dirty="0" smtClean="0"/>
                  <a:t>,</a:t>
                </a:r>
                <a:r>
                  <a:rPr lang="zh-CN" altLang="en-US" sz="2800" dirty="0" smtClean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charset="0"/>
                      </a:rPr>
                      <m:t>𝜋</m:t>
                    </m:r>
                  </m:oMath>
                </a14:m>
                <a:r>
                  <a:rPr lang="en-US" altLang="zh-CN" sz="2800" dirty="0" smtClean="0"/>
                  <a:t>,</a:t>
                </a:r>
                <a:r>
                  <a:rPr lang="zh-CN" altLang="en-US" sz="2800" dirty="0" smtClean="0"/>
                  <a:t> </a:t>
                </a:r>
                <a:r>
                  <a:rPr lang="en-US" altLang="zh-CN" sz="2800" dirty="0" smtClean="0"/>
                  <a:t>and</a:t>
                </a:r>
                <a:r>
                  <a:rPr lang="zh-CN" altLang="en-US" sz="2800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charset="0"/>
                      </a:rPr>
                      <m:t>𝑝</m:t>
                    </m:r>
                  </m:oMath>
                </a14:m>
                <a:r>
                  <a:rPr lang="en-US" altLang="zh-CN" sz="2800" dirty="0" smtClean="0"/>
                  <a:t>.</a:t>
                </a:r>
                <a:r>
                  <a:rPr lang="zh-CN" altLang="en-US" sz="2800" dirty="0" smtClean="0"/>
                  <a:t>  </a:t>
                </a:r>
                <a:endParaRPr lang="en-US" altLang="zh-CN" sz="28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36" y="4822663"/>
                <a:ext cx="10906125" cy="523220"/>
              </a:xfrm>
              <a:prstGeom prst="rect">
                <a:avLst/>
              </a:prstGeom>
              <a:blipFill rotWithShape="0">
                <a:blip r:embed="rId6"/>
                <a:stretch>
                  <a:fillRect t="-10465" b="-337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642936" y="5368505"/>
                <a:ext cx="10906125" cy="52322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square" rtlCol="0" anchor="ctr">
                <a:spAutoFit/>
              </a:bodyPr>
              <a:lstStyle/>
              <a:p>
                <a:pPr marL="457200" indent="-457200">
                  <a:spcBef>
                    <a:spcPts val="600"/>
                  </a:spcBef>
                  <a:spcAft>
                    <a:spcPts val="600"/>
                  </a:spcAft>
                  <a:buFont typeface="Arial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sz="2800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800" i="1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800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800" dirty="0" smtClean="0"/>
                  <a:t> </a:t>
                </a:r>
                <a:r>
                  <a:rPr lang="en-US" altLang="zh-CN" sz="2800" dirty="0" smtClean="0"/>
                  <a:t>is</a:t>
                </a:r>
                <a:r>
                  <a:rPr lang="zh-CN" altLang="en-US" sz="2800" dirty="0" smtClean="0"/>
                  <a:t> </a:t>
                </a:r>
                <a:r>
                  <a:rPr lang="en-US" altLang="zh-CN" sz="2800" dirty="0" smtClean="0"/>
                  <a:t>independent</a:t>
                </a:r>
                <a:r>
                  <a:rPr lang="zh-CN" altLang="en-US" sz="2800" dirty="0" smtClean="0"/>
                  <a:t> </a:t>
                </a:r>
                <a:r>
                  <a:rPr lang="en-US" altLang="zh-CN" sz="2800" dirty="0" smtClean="0"/>
                  <a:t>of</a:t>
                </a:r>
                <a:r>
                  <a:rPr lang="zh-CN" altLang="en-US" sz="28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altLang="zh-CN" sz="2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+1</m:t>
                        </m:r>
                      </m:sub>
                    </m:sSub>
                    <m:r>
                      <a:rPr lang="en-US" altLang="zh-CN" sz="2800" i="1">
                        <a:latin typeface="Cambria Math" charset="0"/>
                      </a:rPr>
                      <m:t>,</m:t>
                    </m:r>
                    <m:r>
                      <a:rPr lang="zh-CN" altLang="en-US" sz="2800" i="1">
                        <a:latin typeface="Cambria Math" charset="0"/>
                      </a:rPr>
                      <m:t> </m:t>
                    </m:r>
                    <m:r>
                      <a:rPr lang="en-US" altLang="zh-CN" sz="28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charset="0"/>
                      </a:rPr>
                      <m:t>⋯</m:t>
                    </m:r>
                    <m:r>
                      <a:rPr lang="en-US" altLang="zh-CN" sz="2800" i="1"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800" dirty="0"/>
                  <a:t> </a:t>
                </a:r>
                <a:r>
                  <a:rPr lang="en-US" altLang="zh-CN" sz="2800" dirty="0"/>
                  <a:t>and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+1</m:t>
                        </m:r>
                      </m:sub>
                    </m:sSub>
                    <m:r>
                      <a:rPr lang="en-US" altLang="zh-CN" sz="2800" i="1">
                        <a:latin typeface="Cambria Math" charset="0"/>
                      </a:rPr>
                      <m:t>,</m:t>
                    </m:r>
                    <m:r>
                      <a:rPr lang="zh-CN" altLang="en-US" sz="2800" i="1">
                        <a:latin typeface="Cambria Math" charset="0"/>
                      </a:rPr>
                      <m:t> </m:t>
                    </m:r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charset="0"/>
                      </a:rPr>
                      <m:t>⋯</m:t>
                    </m:r>
                    <m:r>
                      <a:rPr lang="en-US" altLang="zh-CN" sz="2800" i="1"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2800" dirty="0" smtClean="0"/>
                  <a:t>.</a:t>
                </a:r>
                <a:r>
                  <a:rPr lang="zh-CN" altLang="en-US" sz="2800" dirty="0" smtClean="0"/>
                  <a:t>  </a:t>
                </a:r>
                <a:endParaRPr lang="en-US" altLang="zh-CN" sz="2800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36" y="5368505"/>
                <a:ext cx="10906125" cy="523220"/>
              </a:xfrm>
              <a:prstGeom prst="rect">
                <a:avLst/>
              </a:prstGeom>
              <a:blipFill rotWithShape="0">
                <a:blip r:embed="rId7"/>
                <a:stretch>
                  <a:fillRect t="-10588" b="-34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 flipV="1">
            <a:off x="5277651" y="5914346"/>
            <a:ext cx="1718668" cy="45719"/>
          </a:xfrm>
          <a:prstGeom prst="rect">
            <a:avLst/>
          </a:prstGeom>
          <a:noFill/>
          <a:ln w="57150">
            <a:solidFill>
              <a:srgbClr val="0B24FB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 flipV="1">
            <a:off x="7659903" y="5914346"/>
            <a:ext cx="1718668" cy="45719"/>
          </a:xfrm>
          <a:prstGeom prst="rect">
            <a:avLst/>
          </a:prstGeom>
          <a:noFill/>
          <a:ln w="57150">
            <a:solidFill>
              <a:srgbClr val="0B24FB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237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3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0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2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3" grpId="0" animBg="1"/>
      <p:bldP spid="14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0" y="7931"/>
                <a:ext cx="12192000" cy="1035057"/>
              </a:xfrm>
            </p:spPr>
            <p:txBody>
              <a:bodyPr>
                <a:normAutofit/>
              </a:bodyPr>
              <a:lstStyle/>
              <a:p>
                <a:pPr algn="ctr"/>
                <a:r>
                  <a:rPr lang="en-US" altLang="zh-CN" sz="3600" b="1" dirty="0" smtClean="0">
                    <a:latin typeface="Lucida Bright" panose="02040602050505020304" pitchFamily="18" charset="0"/>
                  </a:rPr>
                  <a:t>State-Value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3600" i="1">
                            <a:latin typeface="Cambria Math" charset="0"/>
                          </a:rPr>
                          <m:t>𝑉</m:t>
                        </m:r>
                      </m:e>
                      <m:sub>
                        <m:r>
                          <a:rPr lang="en-US" altLang="zh-CN" sz="3600" b="0" i="1" smtClean="0">
                            <a:latin typeface="Cambria Math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sz="36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sz="36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e>
                    </m:d>
                  </m:oMath>
                </a14:m>
                <a:endParaRPr lang="en-US" sz="3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7931"/>
                <a:ext cx="12192000" cy="1035057"/>
              </a:xfr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642937" y="1771651"/>
                <a:ext cx="10906125" cy="1041127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=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+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𝛾</m:t>
                    </m:r>
                    <m:r>
                      <a:rPr lang="en-US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  <m:r>
                          <a:rPr lang="en-US" i="1">
                            <a:latin typeface="Cambria Math" charset="0"/>
                          </a:rPr>
                          <m:t>+1</m:t>
                        </m:r>
                      </m:sub>
                    </m:sSub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+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</a:rPr>
                          <m:t>𝛾</m:t>
                        </m:r>
                      </m:e>
                      <m:sup>
                        <m:r>
                          <a:rPr lang="en-US" i="1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  <m:r>
                          <a:rPr lang="en-US" i="1">
                            <a:latin typeface="Cambria Math" charset="0"/>
                          </a:rPr>
                          <m:t>+2</m:t>
                        </m:r>
                      </m:sub>
                    </m:sSub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+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⋯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altLang="zh-CN" i="1">
                        <a:latin typeface="Cambria Math" charset="0"/>
                      </a:rPr>
                      <m:t>+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</a:rPr>
                          <m:t>𝛾</m:t>
                        </m:r>
                      </m:e>
                      <m:sup>
                        <m:r>
                          <a:rPr lang="en-US" altLang="zh-CN" i="1">
                            <a:latin typeface="Cambria Math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charset="0"/>
                          </a:rPr>
                          <m:t>𝑡</m:t>
                        </m:r>
                      </m:sup>
                    </m:sSup>
                    <m:r>
                      <a:rPr lang="en-US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𝑛</m:t>
                        </m:r>
                      </m:sub>
                    </m:sSub>
                    <m:r>
                      <m:rPr>
                        <m:nor/>
                      </m:rPr>
                      <a:rPr lang="en-US" altLang="zh-CN" dirty="0"/>
                      <m:t>.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2937" y="1771651"/>
                <a:ext cx="10906125" cy="1041127"/>
              </a:xfr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642937" y="1042988"/>
            <a:ext cx="10906125" cy="52322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800" b="1" dirty="0"/>
              <a:t>Definition:  </a:t>
            </a:r>
            <a:r>
              <a:rPr lang="en-US" sz="2800" dirty="0"/>
              <a:t>Discounted return.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2936" y="4183092"/>
            <a:ext cx="10906125" cy="52322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800" b="1" dirty="0"/>
              <a:t>Definition: </a:t>
            </a:r>
            <a:r>
              <a:rPr lang="en-US" sz="2800" dirty="0" smtClean="0">
                <a:solidFill>
                  <a:srgbClr val="C00000"/>
                </a:solidFill>
              </a:rPr>
              <a:t>State-value </a:t>
            </a:r>
            <a:r>
              <a:rPr lang="en-US" sz="2800" dirty="0">
                <a:solidFill>
                  <a:srgbClr val="C00000"/>
                </a:solidFill>
              </a:rPr>
              <a:t>function</a:t>
            </a:r>
            <a:r>
              <a:rPr lang="en-US" sz="28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1"/>
              <p:cNvSpPr txBox="1">
                <a:spLocks/>
              </p:cNvSpPr>
              <p:nvPr/>
            </p:nvSpPr>
            <p:spPr>
              <a:xfrm>
                <a:off x="642937" y="4959651"/>
                <a:ext cx="10906124" cy="71021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600" i="1">
                            <a:latin typeface="Cambria Math" charset="0"/>
                          </a:rPr>
                          <m:t>𝑉</m:t>
                        </m:r>
                      </m:e>
                      <m:sub>
                        <m:r>
                          <a:rPr lang="en-US" sz="2600" i="1">
                            <a:latin typeface="Cambria Math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sz="2600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6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26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sz="26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sz="2600" i="1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altLang="zh-CN" sz="26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600" i="1">
                            <a:latin typeface="Cambria Math" charset="0"/>
                          </a:rPr>
                          <m:t>𝔼</m:t>
                        </m:r>
                      </m:e>
                      <m:sub>
                        <m:r>
                          <a:rPr lang="en-US" altLang="zh-CN" sz="2600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𝐴</m:t>
                        </m:r>
                      </m:sub>
                    </m:sSub>
                    <m:r>
                      <a:rPr lang="en-US" sz="2600" i="1">
                        <a:latin typeface="Cambria Math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sz="2600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6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2600" i="1">
                                <a:latin typeface="Cambria Math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600" i="1">
                                <a:latin typeface="Cambria Math" charset="0"/>
                              </a:rPr>
                              <m:t>𝜋</m:t>
                            </m:r>
                          </m:sub>
                        </m:sSub>
                        <m:d>
                          <m:dPr>
                            <m:ctrlPr>
                              <a:rPr lang="en-US" sz="2600" i="1">
                                <a:latin typeface="Cambria Math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6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zh-CN" sz="26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2600" i="1">
                                <a:latin typeface="Cambria Math" charset="0"/>
                              </a:rPr>
                              <m:t>,</m:t>
                            </m:r>
                            <m:r>
                              <a:rPr lang="en-US" altLang="zh-CN" sz="2600" b="0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𝐴</m:t>
                            </m:r>
                          </m:e>
                        </m:d>
                      </m:e>
                    </m:d>
                    <m:r>
                      <a:rPr lang="en-US" altLang="zh-CN" sz="2600" i="1" smtClean="0">
                        <a:solidFill>
                          <a:schemeClr val="bg1"/>
                        </a:solidFill>
                        <a:latin typeface="Cambria Math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sz="2600" i="1">
                            <a:solidFill>
                              <a:schemeClr val="bg1"/>
                            </a:solidFill>
                            <a:latin typeface="Cambria Math" charset="0"/>
                          </a:rPr>
                        </m:ctrlPr>
                      </m:naryPr>
                      <m:sub>
                        <m:r>
                          <a:rPr lang="en-US" altLang="zh-CN" sz="2600" i="1">
                            <a:solidFill>
                              <a:schemeClr val="bg1"/>
                            </a:solidFill>
                            <a:latin typeface="Cambria Math" charset="0"/>
                          </a:rPr>
                          <m:t>𝑎</m:t>
                        </m:r>
                      </m:sub>
                      <m:sup/>
                      <m:e>
                        <m:r>
                          <a:rPr lang="en-US" sz="2600" i="1">
                            <a:solidFill>
                              <a:schemeClr val="bg1"/>
                            </a:solidFill>
                            <a:latin typeface="Cambria Math" charset="0"/>
                          </a:rPr>
                          <m:t>𝜋</m:t>
                        </m:r>
                        <m:d>
                          <m:dPr>
                            <m:ctrlPr>
                              <a:rPr lang="en-US" sz="2600" i="1">
                                <a:solidFill>
                                  <a:schemeClr val="bg1"/>
                                </a:solidFill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altLang="zh-CN" sz="2600" i="1">
                                <a:solidFill>
                                  <a:schemeClr val="bg1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CN" sz="2600" i="1">
                                    <a:solidFill>
                                      <a:schemeClr val="bg1"/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solidFill>
                                      <a:schemeClr val="bg1"/>
                                    </a:solidFill>
                                    <a:latin typeface="Cambria Math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zh-CN" sz="2600" i="1">
                                    <a:solidFill>
                                      <a:schemeClr val="bg1"/>
                                    </a:solidFill>
                                    <a:latin typeface="Cambria Math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2600" i="1">
                            <a:solidFill>
                              <a:schemeClr val="bg1"/>
                            </a:solidFill>
                            <a:latin typeface="Cambria Math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sz="2600" i="1">
                                <a:solidFill>
                                  <a:schemeClr val="bg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2600" i="1">
                                <a:solidFill>
                                  <a:schemeClr val="bg1"/>
                                </a:solidFill>
                                <a:latin typeface="Cambria Math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600" i="1">
                                <a:solidFill>
                                  <a:schemeClr val="bg1"/>
                                </a:solidFill>
                                <a:latin typeface="Cambria Math" charset="0"/>
                              </a:rPr>
                              <m:t>𝜋</m:t>
                            </m:r>
                          </m:sub>
                        </m:sSub>
                        <m:d>
                          <m:dPr>
                            <m:ctrlPr>
                              <a:rPr lang="en-US" sz="2600" i="1">
                                <a:solidFill>
                                  <a:schemeClr val="bg1"/>
                                </a:solidFill>
                                <a:latin typeface="Cambria Math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600" i="1">
                                    <a:solidFill>
                                      <a:schemeClr val="bg1"/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solidFill>
                                      <a:schemeClr val="bg1"/>
                                    </a:solidFill>
                                    <a:latin typeface="Cambria Math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zh-CN" sz="2600" i="1">
                                    <a:solidFill>
                                      <a:schemeClr val="bg1"/>
                                    </a:solidFill>
                                    <a:latin typeface="Cambria Math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2600" i="1">
                                <a:solidFill>
                                  <a:schemeClr val="bg1"/>
                                </a:solidFill>
                                <a:latin typeface="Cambria Math" charset="0"/>
                              </a:rPr>
                              <m:t>,</m:t>
                            </m:r>
                            <m:r>
                              <a:rPr lang="en-US" altLang="zh-CN" sz="2600" i="1">
                                <a:solidFill>
                                  <a:schemeClr val="bg1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</m:d>
                      </m:e>
                    </m:nary>
                  </m:oMath>
                </a14:m>
                <a:r>
                  <a:rPr lang="en-US" sz="2600" dirty="0">
                    <a:solidFill>
                      <a:schemeClr val="bg1"/>
                    </a:solidFill>
                  </a:rPr>
                  <a:t>.</a:t>
                </a:r>
                <a:r>
                  <a:rPr lang="zh-CN" altLang="en-US" sz="2600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sz="2600" dirty="0">
                    <a:solidFill>
                      <a:schemeClr val="bg1"/>
                    </a:solidFill>
                  </a:rPr>
                  <a:t>(Actions</a:t>
                </a:r>
                <a:r>
                  <a:rPr lang="zh-CN" altLang="en-US" sz="2600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sz="2600" dirty="0">
                    <a:solidFill>
                      <a:schemeClr val="bg1"/>
                    </a:solidFill>
                  </a:rPr>
                  <a:t>are</a:t>
                </a:r>
                <a:r>
                  <a:rPr lang="zh-CN" altLang="en-US" sz="2600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sz="2600" dirty="0">
                    <a:solidFill>
                      <a:schemeClr val="bg1"/>
                    </a:solidFill>
                  </a:rPr>
                  <a:t>discrete.)</a:t>
                </a:r>
                <a:endParaRPr lang="en-US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Content Placeholder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37" y="4959651"/>
                <a:ext cx="10906124" cy="710215"/>
              </a:xfrm>
              <a:prstGeom prst="rect">
                <a:avLst/>
              </a:prstGeom>
              <a:blipFill rotWithShape="0">
                <a:blip r:embed="rId5"/>
                <a:stretch>
                  <a:fillRect t="-13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642936" y="2677850"/>
            <a:ext cx="10906125" cy="52322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800" b="1" dirty="0"/>
              <a:t>Definition: </a:t>
            </a:r>
            <a:r>
              <a:rPr lang="en-US" sz="2800" dirty="0">
                <a:solidFill>
                  <a:srgbClr val="C00000"/>
                </a:solidFill>
              </a:rPr>
              <a:t>A</a:t>
            </a:r>
            <a:r>
              <a:rPr lang="en-US" sz="2800" dirty="0" smtClean="0">
                <a:solidFill>
                  <a:srgbClr val="C00000"/>
                </a:solidFill>
              </a:rPr>
              <a:t>ction-value function</a:t>
            </a:r>
            <a:r>
              <a:rPr lang="en-US" sz="2800" dirty="0" smtClean="0"/>
              <a:t>.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1"/>
              <p:cNvSpPr txBox="1">
                <a:spLocks/>
              </p:cNvSpPr>
              <p:nvPr/>
            </p:nvSpPr>
            <p:spPr>
              <a:xfrm>
                <a:off x="642937" y="3454409"/>
                <a:ext cx="10906124" cy="81572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charset="0"/>
                      </a:rPr>
                      <m:t>=</m:t>
                    </m:r>
                    <m:r>
                      <a:rPr lang="en-US" i="1">
                        <a:latin typeface="Cambria Math" charset="0"/>
                      </a:rPr>
                      <m:t>𝔼</m:t>
                    </m:r>
                    <m:r>
                      <a:rPr lang="en-US" i="1">
                        <a:latin typeface="Cambria Math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zh-CN" altLang="en-US" b="0" i="1" smtClean="0"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zh-CN" altLang="en-US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US" i="1">
                            <a:latin typeface="Cambria Math" charset="0"/>
                          </a:rPr>
                          <m:t>|</m:t>
                        </m:r>
                        <m:r>
                          <a:rPr lang="zh-CN" altLang="en-US" b="0" i="1" smtClean="0"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zh-CN" altLang="en-US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14" name="Content Placeholder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37" y="3454409"/>
                <a:ext cx="10906124" cy="815723"/>
              </a:xfrm>
              <a:prstGeom prst="rect">
                <a:avLst/>
              </a:prstGeom>
              <a:blipFill rotWithShape="0">
                <a:blip r:embed="rId6"/>
                <a:stretch>
                  <a:fillRect t="-127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238488" y="908035"/>
            <a:ext cx="11774658" cy="3057557"/>
          </a:xfrm>
          <a:prstGeom prst="rect">
            <a:avLst/>
          </a:prstGeom>
          <a:solidFill>
            <a:schemeClr val="bg1">
              <a:alpha val="47000"/>
            </a:schemeClr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10" name="TextBox 9"/>
          <p:cNvSpPr txBox="1"/>
          <p:nvPr/>
        </p:nvSpPr>
        <p:spPr>
          <a:xfrm flipV="1">
            <a:off x="2831504" y="5434660"/>
            <a:ext cx="1215840" cy="45719"/>
          </a:xfrm>
          <a:prstGeom prst="rect">
            <a:avLst/>
          </a:prstGeom>
          <a:noFill/>
          <a:ln w="57150">
            <a:solidFill>
              <a:srgbClr val="0B24FB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 flipV="1">
            <a:off x="990212" y="5434659"/>
            <a:ext cx="838588" cy="45719"/>
          </a:xfrm>
          <a:prstGeom prst="rect">
            <a:avLst/>
          </a:prstGeom>
          <a:noFill/>
          <a:ln w="57150">
            <a:solidFill>
              <a:srgbClr val="0B24FB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528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10" grpId="0" animBg="1"/>
      <p:bldP spid="10" grpId="1" animBg="1"/>
      <p:bldP spid="11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0" y="7931"/>
                <a:ext cx="12192000" cy="1035057"/>
              </a:xfrm>
            </p:spPr>
            <p:txBody>
              <a:bodyPr>
                <a:normAutofit/>
              </a:bodyPr>
              <a:lstStyle/>
              <a:p>
                <a:pPr algn="ctr"/>
                <a:r>
                  <a:rPr lang="en-US" altLang="zh-CN" sz="3600" b="1" dirty="0">
                    <a:latin typeface="Lucida Bright" panose="02040602050505020304" pitchFamily="18" charset="0"/>
                  </a:rPr>
                  <a:t>State-Value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3600" i="1">
                            <a:latin typeface="Cambria Math" charset="0"/>
                          </a:rPr>
                          <m:t>𝑉</m:t>
                        </m:r>
                      </m:e>
                      <m:sub>
                        <m:r>
                          <a:rPr lang="en-US" altLang="zh-CN" sz="3600" i="1">
                            <a:latin typeface="Cambria Math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sz="36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sz="36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e>
                    </m:d>
                  </m:oMath>
                </a14:m>
                <a:endParaRPr lang="en-US" sz="3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7931"/>
                <a:ext cx="12192000" cy="1035057"/>
              </a:xfr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642936" y="4183092"/>
            <a:ext cx="10906125" cy="52322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800" b="1" dirty="0"/>
              <a:t>Definition: </a:t>
            </a:r>
            <a:r>
              <a:rPr lang="en-US" sz="2800" dirty="0" smtClean="0">
                <a:solidFill>
                  <a:srgbClr val="C00000"/>
                </a:solidFill>
              </a:rPr>
              <a:t>State-value </a:t>
            </a:r>
            <a:r>
              <a:rPr lang="en-US" sz="2800" dirty="0">
                <a:solidFill>
                  <a:srgbClr val="C00000"/>
                </a:solidFill>
              </a:rPr>
              <a:t>function</a:t>
            </a:r>
            <a:r>
              <a:rPr lang="en-US" sz="28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1"/>
              <p:cNvSpPr txBox="1">
                <a:spLocks/>
              </p:cNvSpPr>
              <p:nvPr/>
            </p:nvSpPr>
            <p:spPr>
              <a:xfrm>
                <a:off x="642936" y="4959651"/>
                <a:ext cx="11091863" cy="71021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600" i="1">
                            <a:latin typeface="Cambria Math" charset="0"/>
                          </a:rPr>
                          <m:t>𝑉</m:t>
                        </m:r>
                      </m:e>
                      <m:sub>
                        <m:r>
                          <a:rPr lang="en-US" sz="2600" i="1">
                            <a:latin typeface="Cambria Math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sz="2600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6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26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sz="26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sz="2600" i="1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altLang="zh-CN" sz="26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600" i="1">
                            <a:latin typeface="Cambria Math" charset="0"/>
                          </a:rPr>
                          <m:t>𝔼</m:t>
                        </m:r>
                      </m:e>
                      <m:sub>
                        <m:r>
                          <a:rPr lang="en-US" altLang="zh-CN" sz="2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𝐴</m:t>
                        </m:r>
                      </m:sub>
                    </m:sSub>
                    <m:r>
                      <a:rPr lang="en-US" sz="2600" i="1">
                        <a:latin typeface="Cambria Math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sz="2600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6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2600" i="1">
                                <a:latin typeface="Cambria Math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600" i="1">
                                <a:latin typeface="Cambria Math" charset="0"/>
                              </a:rPr>
                              <m:t>𝜋</m:t>
                            </m:r>
                          </m:sub>
                        </m:sSub>
                        <m:d>
                          <m:dPr>
                            <m:ctrlPr>
                              <a:rPr lang="en-US" sz="2600" i="1">
                                <a:latin typeface="Cambria Math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6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zh-CN" sz="26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2600" i="1">
                                <a:latin typeface="Cambria Math" charset="0"/>
                              </a:rPr>
                              <m:t>,</m:t>
                            </m:r>
                            <m:r>
                              <a:rPr lang="en-US" altLang="zh-CN" sz="2600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𝐴</m:t>
                            </m:r>
                          </m:e>
                        </m:d>
                      </m:e>
                    </m:d>
                  </m:oMath>
                </a14:m>
                <a:endParaRPr lang="en-US" sz="26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Content Placeholder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36" y="4959651"/>
                <a:ext cx="11091863" cy="71021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927444" y="6034970"/>
                <a:ext cx="4769319" cy="461665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 smtClean="0"/>
                  <a:t>Taken</a:t>
                </a:r>
                <a:r>
                  <a:rPr lang="zh-CN" altLang="en-US" sz="2400" dirty="0" smtClean="0"/>
                  <a:t> </a:t>
                </a:r>
                <a:r>
                  <a:rPr lang="en-US" altLang="zh-CN" sz="2400" dirty="0" err="1" smtClean="0"/>
                  <a:t>w.r.t</a:t>
                </a:r>
                <a:r>
                  <a:rPr lang="en-US" altLang="zh-CN" sz="2400" dirty="0" smtClean="0"/>
                  <a:t>.</a:t>
                </a:r>
                <a:r>
                  <a:rPr lang="zh-CN" altLang="en-US" sz="2400" dirty="0" smtClean="0"/>
                  <a:t> </a:t>
                </a:r>
                <a:r>
                  <a:rPr lang="en-US" altLang="zh-CN" sz="2400" dirty="0" smtClean="0"/>
                  <a:t>the</a:t>
                </a:r>
                <a:r>
                  <a:rPr lang="zh-CN" altLang="en-US" sz="2400" dirty="0" smtClean="0"/>
                  <a:t> </a:t>
                </a:r>
                <a:r>
                  <a:rPr lang="en-US" altLang="zh-CN" sz="2400" dirty="0" smtClean="0"/>
                  <a:t>action</a:t>
                </a:r>
                <a:r>
                  <a:rPr lang="zh-CN" altLang="en-US" sz="2400" dirty="0" smtClean="0"/>
                  <a:t> 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𝐴</m:t>
                    </m:r>
                    <m:r>
                      <a:rPr lang="en-US" altLang="zh-CN" sz="2400" i="1">
                        <a:latin typeface="Cambria Math" charset="0"/>
                      </a:rPr>
                      <m:t>∼</m:t>
                    </m:r>
                    <m:r>
                      <a:rPr lang="en-US" sz="2400" i="1">
                        <a:latin typeface="Cambria Math" charset="0"/>
                      </a:rPr>
                      <m:t>𝜋</m:t>
                    </m:r>
                    <m:d>
                      <m:dPr>
                        <m:ctrlPr>
                          <a:rPr lang="en-US" sz="24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⋅</m:t>
                        </m:r>
                      </m:e>
                      <m:e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2400" dirty="0" smtClean="0"/>
                  <a:t>.</a:t>
                </a:r>
                <a:endParaRPr lang="en-US" sz="2400" dirty="0" smtClean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444" y="6034970"/>
                <a:ext cx="4769319" cy="461665"/>
              </a:xfrm>
              <a:prstGeom prst="rect">
                <a:avLst/>
              </a:prstGeom>
              <a:blipFill rotWithShape="0">
                <a:blip r:embed="rId5"/>
                <a:stretch>
                  <a:fillRect l="-1916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Curved Connector 12"/>
          <p:cNvCxnSpPr/>
          <p:nvPr/>
        </p:nvCxnSpPr>
        <p:spPr>
          <a:xfrm rot="16200000" flipV="1">
            <a:off x="2303087" y="5662211"/>
            <a:ext cx="534502" cy="211016"/>
          </a:xfrm>
          <a:prstGeom prst="curvedConnector3">
            <a:avLst/>
          </a:prstGeom>
          <a:ln w="38100">
            <a:solidFill>
              <a:srgbClr val="0B24F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642937" y="1771651"/>
                <a:ext cx="10906125" cy="1041127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=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+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𝛾</m:t>
                    </m:r>
                    <m:r>
                      <a:rPr lang="en-US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  <m:r>
                          <a:rPr lang="en-US" i="1">
                            <a:latin typeface="Cambria Math" charset="0"/>
                          </a:rPr>
                          <m:t>+1</m:t>
                        </m:r>
                      </m:sub>
                    </m:sSub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+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</a:rPr>
                          <m:t>𝛾</m:t>
                        </m:r>
                      </m:e>
                      <m:sup>
                        <m:r>
                          <a:rPr lang="en-US" i="1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  <m:r>
                          <a:rPr lang="en-US" i="1">
                            <a:latin typeface="Cambria Math" charset="0"/>
                          </a:rPr>
                          <m:t>+2</m:t>
                        </m:r>
                      </m:sub>
                    </m:sSub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+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⋯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altLang="zh-CN" i="1">
                        <a:latin typeface="Cambria Math" charset="0"/>
                      </a:rPr>
                      <m:t>+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</a:rPr>
                          <m:t>𝛾</m:t>
                        </m:r>
                      </m:e>
                      <m:sup>
                        <m:r>
                          <a:rPr lang="en-US" altLang="zh-CN" i="1">
                            <a:latin typeface="Cambria Math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charset="0"/>
                          </a:rPr>
                          <m:t>𝑡</m:t>
                        </m:r>
                      </m:sup>
                    </m:sSup>
                    <m:r>
                      <a:rPr lang="en-US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𝑛</m:t>
                        </m:r>
                      </m:sub>
                    </m:sSub>
                    <m:r>
                      <m:rPr>
                        <m:nor/>
                      </m:rPr>
                      <a:rPr lang="en-US" altLang="zh-CN" dirty="0"/>
                      <m:t>.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4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2937" y="1771651"/>
                <a:ext cx="10906125" cy="1041127"/>
              </a:xfr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642937" y="1042988"/>
            <a:ext cx="10906125" cy="52322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800" b="1" dirty="0"/>
              <a:t>Definition:  </a:t>
            </a:r>
            <a:r>
              <a:rPr lang="en-US" sz="2800" dirty="0"/>
              <a:t>Discounted return.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936" y="2677850"/>
            <a:ext cx="10906125" cy="52322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800" b="1" dirty="0"/>
              <a:t>Definition: </a:t>
            </a:r>
            <a:r>
              <a:rPr lang="en-US" sz="2800" dirty="0">
                <a:solidFill>
                  <a:srgbClr val="C00000"/>
                </a:solidFill>
              </a:rPr>
              <a:t>A</a:t>
            </a:r>
            <a:r>
              <a:rPr lang="en-US" sz="2800" dirty="0" smtClean="0">
                <a:solidFill>
                  <a:srgbClr val="C00000"/>
                </a:solidFill>
              </a:rPr>
              <a:t>ction-value function</a:t>
            </a:r>
            <a:r>
              <a:rPr lang="en-US" sz="2800" dirty="0" smtClean="0"/>
              <a:t>.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1"/>
              <p:cNvSpPr txBox="1">
                <a:spLocks/>
              </p:cNvSpPr>
              <p:nvPr/>
            </p:nvSpPr>
            <p:spPr>
              <a:xfrm>
                <a:off x="642937" y="3454409"/>
                <a:ext cx="10906124" cy="81572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charset="0"/>
                      </a:rPr>
                      <m:t>=</m:t>
                    </m:r>
                    <m:r>
                      <a:rPr lang="en-US" i="1">
                        <a:latin typeface="Cambria Math" charset="0"/>
                      </a:rPr>
                      <m:t>𝔼</m:t>
                    </m:r>
                    <m:r>
                      <a:rPr lang="en-US" i="1">
                        <a:latin typeface="Cambria Math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zh-CN" altLang="en-US" b="0" i="1" smtClean="0"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zh-CN" altLang="en-US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US" i="1">
                            <a:latin typeface="Cambria Math" charset="0"/>
                          </a:rPr>
                          <m:t>|</m:t>
                        </m:r>
                        <m:r>
                          <a:rPr lang="zh-CN" altLang="en-US" b="0" i="1" smtClean="0"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zh-CN" altLang="en-US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19" name="Content Placeholder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37" y="3454409"/>
                <a:ext cx="10906124" cy="815723"/>
              </a:xfrm>
              <a:prstGeom prst="rect">
                <a:avLst/>
              </a:prstGeom>
              <a:blipFill rotWithShape="0">
                <a:blip r:embed="rId7"/>
                <a:stretch>
                  <a:fillRect t="-127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238488" y="908035"/>
            <a:ext cx="11774658" cy="3057557"/>
          </a:xfrm>
          <a:prstGeom prst="rect">
            <a:avLst/>
          </a:prstGeom>
          <a:solidFill>
            <a:schemeClr val="bg1">
              <a:alpha val="47000"/>
            </a:schemeClr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16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0" y="7931"/>
                <a:ext cx="12192000" cy="1035057"/>
              </a:xfrm>
            </p:spPr>
            <p:txBody>
              <a:bodyPr>
                <a:normAutofit/>
              </a:bodyPr>
              <a:lstStyle/>
              <a:p>
                <a:pPr algn="ctr"/>
                <a:r>
                  <a:rPr lang="en-US" altLang="zh-CN" sz="3600" b="1" dirty="0">
                    <a:latin typeface="Lucida Bright" panose="02040602050505020304" pitchFamily="18" charset="0"/>
                  </a:rPr>
                  <a:t>State-Value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3600" i="1">
                            <a:latin typeface="Cambria Math" charset="0"/>
                          </a:rPr>
                          <m:t>𝑉</m:t>
                        </m:r>
                      </m:e>
                      <m:sub>
                        <m:r>
                          <a:rPr lang="en-US" altLang="zh-CN" sz="3600" i="1">
                            <a:latin typeface="Cambria Math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sz="36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sz="36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e>
                    </m:d>
                  </m:oMath>
                </a14:m>
                <a:endParaRPr lang="en-US" sz="3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7931"/>
                <a:ext cx="12192000" cy="1035057"/>
              </a:xfr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642936" y="4183092"/>
            <a:ext cx="10906125" cy="52322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800" b="1" dirty="0"/>
              <a:t>Definition: </a:t>
            </a:r>
            <a:r>
              <a:rPr lang="en-US" sz="2800" dirty="0" smtClean="0">
                <a:solidFill>
                  <a:srgbClr val="C00000"/>
                </a:solidFill>
              </a:rPr>
              <a:t>State-value </a:t>
            </a:r>
            <a:r>
              <a:rPr lang="en-US" sz="2800" dirty="0">
                <a:solidFill>
                  <a:srgbClr val="C00000"/>
                </a:solidFill>
              </a:rPr>
              <a:t>function</a:t>
            </a:r>
            <a:r>
              <a:rPr lang="en-US" sz="28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1"/>
              <p:cNvSpPr txBox="1">
                <a:spLocks/>
              </p:cNvSpPr>
              <p:nvPr/>
            </p:nvSpPr>
            <p:spPr>
              <a:xfrm>
                <a:off x="642936" y="4959651"/>
                <a:ext cx="11091863" cy="71021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600" i="1">
                            <a:latin typeface="Cambria Math" charset="0"/>
                          </a:rPr>
                          <m:t>𝑉</m:t>
                        </m:r>
                      </m:e>
                      <m:sub>
                        <m:r>
                          <a:rPr lang="en-US" sz="2600" i="1">
                            <a:latin typeface="Cambria Math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sz="2600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6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26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sz="26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sz="2600" i="1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altLang="zh-CN" sz="26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600" i="1">
                            <a:latin typeface="Cambria Math" charset="0"/>
                          </a:rPr>
                          <m:t>𝔼</m:t>
                        </m:r>
                      </m:e>
                      <m:sub>
                        <m:r>
                          <a:rPr lang="en-US" altLang="zh-CN" sz="2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𝐴</m:t>
                        </m:r>
                      </m:sub>
                    </m:sSub>
                    <m:r>
                      <a:rPr lang="en-US" sz="2600" i="1">
                        <a:latin typeface="Cambria Math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sz="2600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6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2600" i="1">
                                <a:latin typeface="Cambria Math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600" i="1">
                                <a:latin typeface="Cambria Math" charset="0"/>
                              </a:rPr>
                              <m:t>𝜋</m:t>
                            </m:r>
                          </m:sub>
                        </m:sSub>
                        <m:d>
                          <m:dPr>
                            <m:ctrlPr>
                              <a:rPr lang="en-US" sz="2600" i="1">
                                <a:latin typeface="Cambria Math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6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zh-CN" sz="26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2600" i="1">
                                <a:latin typeface="Cambria Math" charset="0"/>
                              </a:rPr>
                              <m:t>,</m:t>
                            </m:r>
                            <m:r>
                              <a:rPr lang="en-US" altLang="zh-CN" sz="2600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𝐴</m:t>
                            </m:r>
                          </m:e>
                        </m:d>
                      </m:e>
                    </m:d>
                    <m:r>
                      <a:rPr lang="en-US" altLang="zh-CN" sz="2600" i="1">
                        <a:latin typeface="Cambria Math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sz="2600" i="1">
                            <a:latin typeface="Cambria Math" charset="0"/>
                          </a:rPr>
                        </m:ctrlPr>
                      </m:naryPr>
                      <m:sub>
                        <m:r>
                          <a:rPr lang="en-US" altLang="zh-CN" sz="2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sub>
                      <m:sup/>
                      <m:e>
                        <m:r>
                          <a:rPr lang="en-US" sz="2600" i="1">
                            <a:latin typeface="Cambria Math" charset="0"/>
                          </a:rPr>
                          <m:t>𝜋</m:t>
                        </m:r>
                        <m:d>
                          <m:dPr>
                            <m:ctrlPr>
                              <a:rPr lang="en-US" sz="2600" i="1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altLang="zh-CN" sz="2600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CN" sz="26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zh-CN" sz="26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2600" i="1">
                            <a:latin typeface="Cambria Math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sz="26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2600" i="1">
                                <a:latin typeface="Cambria Math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600" i="1">
                                <a:latin typeface="Cambria Math" charset="0"/>
                              </a:rPr>
                              <m:t>𝜋</m:t>
                            </m:r>
                          </m:sub>
                        </m:sSub>
                        <m:d>
                          <m:dPr>
                            <m:ctrlPr>
                              <a:rPr lang="en-US" sz="2600" i="1">
                                <a:latin typeface="Cambria Math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6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zh-CN" sz="26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2600" i="1">
                                <a:latin typeface="Cambria Math" charset="0"/>
                              </a:rPr>
                              <m:t>,</m:t>
                            </m:r>
                            <m:r>
                              <a:rPr lang="en-US" altLang="zh-CN" sz="2600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</m:d>
                      </m:e>
                    </m:nary>
                  </m:oMath>
                </a14:m>
                <a:r>
                  <a:rPr lang="en-US" sz="2600" dirty="0"/>
                  <a:t>.</a:t>
                </a:r>
                <a:r>
                  <a:rPr lang="zh-CN" altLang="en-US" sz="2600" dirty="0"/>
                  <a:t>     </a:t>
                </a:r>
                <a:r>
                  <a:rPr lang="en-US" altLang="zh-CN" sz="26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(Actions</a:t>
                </a:r>
                <a:r>
                  <a:rPr lang="zh-CN" altLang="en-US" sz="26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altLang="zh-CN" sz="26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are</a:t>
                </a:r>
                <a:r>
                  <a:rPr lang="zh-CN" altLang="en-US" sz="26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altLang="zh-CN" sz="26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discrete.)</a:t>
                </a:r>
                <a:endParaRPr lang="en-US" sz="26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Content Placeholder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36" y="4959651"/>
                <a:ext cx="11091863" cy="710215"/>
              </a:xfrm>
              <a:prstGeom prst="rect">
                <a:avLst/>
              </a:prstGeom>
              <a:blipFill rotWithShape="0">
                <a:blip r:embed="rId4"/>
                <a:stretch>
                  <a:fillRect t="-13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927444" y="6034970"/>
                <a:ext cx="4769319" cy="461665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 smtClean="0"/>
                  <a:t>Taken</a:t>
                </a:r>
                <a:r>
                  <a:rPr lang="zh-CN" altLang="en-US" sz="2400" dirty="0" smtClean="0"/>
                  <a:t> </a:t>
                </a:r>
                <a:r>
                  <a:rPr lang="en-US" altLang="zh-CN" sz="2400" dirty="0" err="1" smtClean="0"/>
                  <a:t>w.r.t</a:t>
                </a:r>
                <a:r>
                  <a:rPr lang="en-US" altLang="zh-CN" sz="2400" dirty="0" smtClean="0"/>
                  <a:t>.</a:t>
                </a:r>
                <a:r>
                  <a:rPr lang="zh-CN" altLang="en-US" sz="2400" dirty="0" smtClean="0"/>
                  <a:t> </a:t>
                </a:r>
                <a:r>
                  <a:rPr lang="en-US" altLang="zh-CN" sz="2400" dirty="0" smtClean="0"/>
                  <a:t>the</a:t>
                </a:r>
                <a:r>
                  <a:rPr lang="zh-CN" altLang="en-US" sz="2400" dirty="0" smtClean="0"/>
                  <a:t> </a:t>
                </a:r>
                <a:r>
                  <a:rPr lang="en-US" altLang="zh-CN" sz="2400" dirty="0" smtClean="0"/>
                  <a:t>action</a:t>
                </a:r>
                <a:r>
                  <a:rPr lang="zh-CN" altLang="en-US" sz="2400" dirty="0" smtClean="0"/>
                  <a:t> 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𝐴</m:t>
                    </m:r>
                    <m:r>
                      <a:rPr lang="en-US" altLang="zh-CN" sz="2400" i="1">
                        <a:latin typeface="Cambria Math" charset="0"/>
                      </a:rPr>
                      <m:t>∼</m:t>
                    </m:r>
                    <m:r>
                      <a:rPr lang="en-US" sz="2400" i="1">
                        <a:latin typeface="Cambria Math" charset="0"/>
                      </a:rPr>
                      <m:t>𝜋</m:t>
                    </m:r>
                    <m:d>
                      <m:dPr>
                        <m:ctrlPr>
                          <a:rPr lang="en-US" sz="24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⋅</m:t>
                        </m:r>
                      </m:e>
                      <m:e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2400" dirty="0" smtClean="0"/>
                  <a:t>.</a:t>
                </a:r>
                <a:endParaRPr lang="en-US" sz="2400" dirty="0" smtClean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444" y="6034970"/>
                <a:ext cx="4769319" cy="461665"/>
              </a:xfrm>
              <a:prstGeom prst="rect">
                <a:avLst/>
              </a:prstGeom>
              <a:blipFill rotWithShape="0">
                <a:blip r:embed="rId5"/>
                <a:stretch>
                  <a:fillRect l="-1916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Curved Connector 12"/>
          <p:cNvCxnSpPr/>
          <p:nvPr/>
        </p:nvCxnSpPr>
        <p:spPr>
          <a:xfrm rot="16200000" flipV="1">
            <a:off x="2303087" y="5662211"/>
            <a:ext cx="534502" cy="211016"/>
          </a:xfrm>
          <a:prstGeom prst="curvedConnector3">
            <a:avLst/>
          </a:prstGeom>
          <a:ln w="38100">
            <a:solidFill>
              <a:srgbClr val="0B24F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642937" y="1771651"/>
                <a:ext cx="10906125" cy="1041127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=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+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𝛾</m:t>
                    </m:r>
                    <m:r>
                      <a:rPr lang="en-US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  <m:r>
                          <a:rPr lang="en-US" i="1">
                            <a:latin typeface="Cambria Math" charset="0"/>
                          </a:rPr>
                          <m:t>+1</m:t>
                        </m:r>
                      </m:sub>
                    </m:sSub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+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</a:rPr>
                          <m:t>𝛾</m:t>
                        </m:r>
                      </m:e>
                      <m:sup>
                        <m:r>
                          <a:rPr lang="en-US" i="1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  <m:r>
                          <a:rPr lang="en-US" i="1">
                            <a:latin typeface="Cambria Math" charset="0"/>
                          </a:rPr>
                          <m:t>+2</m:t>
                        </m:r>
                      </m:sub>
                    </m:sSub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+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⋯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altLang="zh-CN" i="1">
                        <a:latin typeface="Cambria Math" charset="0"/>
                      </a:rPr>
                      <m:t>+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</a:rPr>
                          <m:t>𝛾</m:t>
                        </m:r>
                      </m:e>
                      <m:sup>
                        <m:r>
                          <a:rPr lang="en-US" altLang="zh-CN" i="1">
                            <a:latin typeface="Cambria Math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charset="0"/>
                          </a:rPr>
                          <m:t>𝑡</m:t>
                        </m:r>
                      </m:sup>
                    </m:sSup>
                    <m:r>
                      <a:rPr lang="en-US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𝑛</m:t>
                        </m:r>
                      </m:sub>
                    </m:sSub>
                    <m:r>
                      <m:rPr>
                        <m:nor/>
                      </m:rPr>
                      <a:rPr lang="en-US" altLang="zh-CN" dirty="0"/>
                      <m:t>.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4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2937" y="1771651"/>
                <a:ext cx="10906125" cy="1041127"/>
              </a:xfr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642937" y="1042988"/>
            <a:ext cx="10906125" cy="52322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800" b="1" dirty="0"/>
              <a:t>Definition:  </a:t>
            </a:r>
            <a:r>
              <a:rPr lang="en-US" sz="2800" dirty="0"/>
              <a:t>Discounted return.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936" y="2677850"/>
            <a:ext cx="10906125" cy="52322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800" b="1" dirty="0"/>
              <a:t>Definition: </a:t>
            </a:r>
            <a:r>
              <a:rPr lang="en-US" sz="2800" dirty="0">
                <a:solidFill>
                  <a:srgbClr val="C00000"/>
                </a:solidFill>
              </a:rPr>
              <a:t>A</a:t>
            </a:r>
            <a:r>
              <a:rPr lang="en-US" sz="2800" dirty="0" smtClean="0">
                <a:solidFill>
                  <a:srgbClr val="C00000"/>
                </a:solidFill>
              </a:rPr>
              <a:t>ction-value function</a:t>
            </a:r>
            <a:r>
              <a:rPr lang="en-US" sz="2800" dirty="0" smtClean="0"/>
              <a:t>.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1"/>
              <p:cNvSpPr txBox="1">
                <a:spLocks/>
              </p:cNvSpPr>
              <p:nvPr/>
            </p:nvSpPr>
            <p:spPr>
              <a:xfrm>
                <a:off x="642937" y="3454409"/>
                <a:ext cx="10906124" cy="81572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charset="0"/>
                      </a:rPr>
                      <m:t>=</m:t>
                    </m:r>
                    <m:r>
                      <a:rPr lang="en-US" i="1">
                        <a:latin typeface="Cambria Math" charset="0"/>
                      </a:rPr>
                      <m:t>𝔼</m:t>
                    </m:r>
                    <m:r>
                      <a:rPr lang="en-US" i="1">
                        <a:latin typeface="Cambria Math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zh-CN" altLang="en-US" b="0" i="1" smtClean="0"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zh-CN" altLang="en-US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US" i="1">
                            <a:latin typeface="Cambria Math" charset="0"/>
                          </a:rPr>
                          <m:t>|</m:t>
                        </m:r>
                        <m:r>
                          <a:rPr lang="zh-CN" altLang="en-US" b="0" i="1" smtClean="0"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zh-CN" altLang="en-US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19" name="Content Placeholder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37" y="3454409"/>
                <a:ext cx="10906124" cy="815723"/>
              </a:xfrm>
              <a:prstGeom prst="rect">
                <a:avLst/>
              </a:prstGeom>
              <a:blipFill rotWithShape="0">
                <a:blip r:embed="rId7"/>
                <a:stretch>
                  <a:fillRect t="-127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238488" y="908035"/>
            <a:ext cx="11774658" cy="3057557"/>
          </a:xfrm>
          <a:prstGeom prst="rect">
            <a:avLst/>
          </a:prstGeom>
          <a:solidFill>
            <a:schemeClr val="bg1">
              <a:alpha val="47000"/>
            </a:schemeClr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 flipV="1">
            <a:off x="4497740" y="5477607"/>
            <a:ext cx="3138301" cy="45719"/>
          </a:xfrm>
          <a:prstGeom prst="rect">
            <a:avLst/>
          </a:prstGeom>
          <a:noFill/>
          <a:ln w="57150">
            <a:solidFill>
              <a:srgbClr val="0B24FB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733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0" y="7931"/>
                <a:ext cx="12192000" cy="1035057"/>
              </a:xfrm>
            </p:spPr>
            <p:txBody>
              <a:bodyPr>
                <a:normAutofit/>
              </a:bodyPr>
              <a:lstStyle/>
              <a:p>
                <a:pPr algn="ctr"/>
                <a:r>
                  <a:rPr lang="en-US" altLang="zh-CN" sz="3600" b="1" dirty="0">
                    <a:latin typeface="Lucida Bright" panose="02040602050505020304" pitchFamily="18" charset="0"/>
                  </a:rPr>
                  <a:t>State-Value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3600" i="1">
                            <a:latin typeface="Cambria Math" charset="0"/>
                          </a:rPr>
                          <m:t>𝑉</m:t>
                        </m:r>
                      </m:e>
                      <m:sub>
                        <m:r>
                          <a:rPr lang="en-US" altLang="zh-CN" sz="3600" i="1">
                            <a:latin typeface="Cambria Math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sz="36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sz="36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e>
                    </m:d>
                  </m:oMath>
                </a14:m>
                <a:endParaRPr lang="en-US" sz="3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7931"/>
                <a:ext cx="12192000" cy="1035057"/>
              </a:xfr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642936" y="4183092"/>
            <a:ext cx="10906125" cy="52322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800" b="1" dirty="0"/>
              <a:t>Definition: </a:t>
            </a:r>
            <a:r>
              <a:rPr lang="en-US" sz="2800" dirty="0" smtClean="0">
                <a:solidFill>
                  <a:srgbClr val="C00000"/>
                </a:solidFill>
              </a:rPr>
              <a:t>State-value </a:t>
            </a:r>
            <a:r>
              <a:rPr lang="en-US" sz="2800" dirty="0">
                <a:solidFill>
                  <a:srgbClr val="C00000"/>
                </a:solidFill>
              </a:rPr>
              <a:t>function</a:t>
            </a:r>
            <a:r>
              <a:rPr lang="en-US" sz="28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1"/>
              <p:cNvSpPr txBox="1">
                <a:spLocks/>
              </p:cNvSpPr>
              <p:nvPr/>
            </p:nvSpPr>
            <p:spPr>
              <a:xfrm>
                <a:off x="642936" y="4959651"/>
                <a:ext cx="11091863" cy="71021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600" i="1">
                            <a:latin typeface="Cambria Math" charset="0"/>
                          </a:rPr>
                          <m:t>𝑉</m:t>
                        </m:r>
                      </m:e>
                      <m:sub>
                        <m:r>
                          <a:rPr lang="en-US" sz="2600" i="1">
                            <a:latin typeface="Cambria Math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sz="2600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6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26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sz="26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sz="2600" i="1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altLang="zh-CN" sz="2600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600" i="1">
                            <a:latin typeface="Cambria Math" charset="0"/>
                          </a:rPr>
                          <m:t>𝔼</m:t>
                        </m:r>
                      </m:e>
                      <m:sub>
                        <m:r>
                          <a:rPr lang="en-US" altLang="zh-CN" sz="2600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𝐴</m:t>
                        </m:r>
                      </m:sub>
                    </m:sSub>
                    <m:r>
                      <a:rPr lang="en-US" sz="2600" i="1">
                        <a:latin typeface="Cambria Math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sz="2600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6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2600" i="1">
                                <a:latin typeface="Cambria Math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600" i="1">
                                <a:latin typeface="Cambria Math" charset="0"/>
                              </a:rPr>
                              <m:t>𝜋</m:t>
                            </m:r>
                          </m:sub>
                        </m:sSub>
                        <m:d>
                          <m:dPr>
                            <m:ctrlPr>
                              <a:rPr lang="en-US" sz="2600" i="1">
                                <a:latin typeface="Cambria Math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6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zh-CN" sz="26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2600" i="1">
                                <a:latin typeface="Cambria Math" charset="0"/>
                              </a:rPr>
                              <m:t>,</m:t>
                            </m:r>
                            <m:r>
                              <a:rPr lang="en-US" altLang="zh-CN" sz="2600" b="0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𝐴</m:t>
                            </m:r>
                          </m:e>
                        </m:d>
                      </m:e>
                    </m:d>
                    <m:r>
                      <a:rPr lang="en-US" altLang="zh-CN" sz="2600" b="0" i="1" smtClean="0">
                        <a:latin typeface="Cambria Math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sz="2600" b="0" i="1" smtClean="0">
                            <a:latin typeface="Cambria Math" charset="0"/>
                          </a:rPr>
                        </m:ctrlPr>
                      </m:naryPr>
                      <m:sub>
                        <m:r>
                          <a:rPr lang="en-US" altLang="zh-CN" sz="2600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sub>
                      <m:sup/>
                      <m:e>
                        <m:r>
                          <a:rPr lang="en-US" sz="2600" i="1">
                            <a:latin typeface="Cambria Math" charset="0"/>
                          </a:rPr>
                          <m:t>𝜋</m:t>
                        </m:r>
                        <m:d>
                          <m:dPr>
                            <m:ctrlPr>
                              <a:rPr lang="en-US" sz="2600" i="1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altLang="zh-CN" sz="2600" b="0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CN" sz="26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zh-CN" sz="26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2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sz="26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2600" i="1">
                                <a:latin typeface="Cambria Math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600" i="1">
                                <a:latin typeface="Cambria Math" charset="0"/>
                              </a:rPr>
                              <m:t>𝜋</m:t>
                            </m:r>
                          </m:sub>
                        </m:sSub>
                        <m:d>
                          <m:dPr>
                            <m:ctrlPr>
                              <a:rPr lang="en-US" sz="2600" i="1">
                                <a:latin typeface="Cambria Math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6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zh-CN" sz="26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2600" i="1">
                                <a:latin typeface="Cambria Math" charset="0"/>
                              </a:rPr>
                              <m:t>,</m:t>
                            </m:r>
                            <m:r>
                              <a:rPr lang="en-US" altLang="zh-CN" sz="2600" b="0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</m:d>
                      </m:e>
                    </m:nary>
                  </m:oMath>
                </a14:m>
                <a:r>
                  <a:rPr lang="en-US" sz="2600" dirty="0" smtClean="0"/>
                  <a:t>.</a:t>
                </a:r>
                <a:r>
                  <a:rPr lang="zh-CN" altLang="en-US" sz="2600" dirty="0" smtClean="0"/>
                  <a:t>     </a:t>
                </a:r>
                <a:r>
                  <a:rPr lang="en-US" altLang="zh-CN" sz="2600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(Actions</a:t>
                </a:r>
                <a:r>
                  <a:rPr lang="zh-CN" altLang="en-US" sz="2600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altLang="zh-CN" sz="2600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are</a:t>
                </a:r>
                <a:r>
                  <a:rPr lang="zh-CN" altLang="en-US" sz="2600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altLang="zh-CN" sz="2600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discrete.)</a:t>
                </a:r>
                <a:endParaRPr lang="en-US" sz="26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Content Placeholder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36" y="4959651"/>
                <a:ext cx="11091863" cy="710215"/>
              </a:xfrm>
              <a:prstGeom prst="rect">
                <a:avLst/>
              </a:prstGeom>
              <a:blipFill rotWithShape="0">
                <a:blip r:embed="rId4"/>
                <a:stretch>
                  <a:fillRect t="-13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1"/>
              <p:cNvSpPr txBox="1">
                <a:spLocks/>
              </p:cNvSpPr>
              <p:nvPr/>
            </p:nvSpPr>
            <p:spPr>
              <a:xfrm>
                <a:off x="642936" y="5665423"/>
                <a:ext cx="11433261" cy="71021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600" i="1">
                            <a:latin typeface="Cambria Math" charset="0"/>
                          </a:rPr>
                          <m:t>𝑉</m:t>
                        </m:r>
                      </m:e>
                      <m:sub>
                        <m:r>
                          <a:rPr lang="en-US" sz="2600" i="1">
                            <a:latin typeface="Cambria Math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sz="2600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6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26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sz="26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sz="2600" i="1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altLang="zh-CN" sz="2600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600" i="1">
                            <a:latin typeface="Cambria Math" charset="0"/>
                          </a:rPr>
                          <m:t>𝔼</m:t>
                        </m:r>
                      </m:e>
                      <m:sub>
                        <m:r>
                          <a:rPr lang="en-US" altLang="zh-CN" sz="2600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𝐴</m:t>
                        </m:r>
                      </m:sub>
                    </m:sSub>
                    <m:r>
                      <a:rPr lang="en-US" sz="2600" i="1">
                        <a:latin typeface="Cambria Math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sz="2600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6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2600" i="1">
                                <a:latin typeface="Cambria Math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600" i="1">
                                <a:latin typeface="Cambria Math" charset="0"/>
                              </a:rPr>
                              <m:t>𝜋</m:t>
                            </m:r>
                          </m:sub>
                        </m:sSub>
                        <m:d>
                          <m:dPr>
                            <m:ctrlPr>
                              <a:rPr lang="en-US" sz="2600" i="1">
                                <a:latin typeface="Cambria Math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6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zh-CN" sz="26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2600" i="1">
                                <a:latin typeface="Cambria Math" charset="0"/>
                              </a:rPr>
                              <m:t>,</m:t>
                            </m:r>
                            <m:r>
                              <a:rPr lang="en-US" altLang="zh-CN" sz="2600" b="0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𝐴</m:t>
                            </m:r>
                          </m:e>
                        </m:d>
                      </m:e>
                    </m:d>
                    <m:r>
                      <a:rPr lang="en-US" altLang="zh-CN" sz="2600" i="1">
                        <a:latin typeface="Cambria Math" charset="0"/>
                      </a:rPr>
                      <m:t>=∫</m:t>
                    </m:r>
                    <m:r>
                      <a:rPr lang="en-US" sz="2600" i="1">
                        <a:latin typeface="Cambria Math" charset="0"/>
                      </a:rPr>
                      <m:t>𝜋</m:t>
                    </m:r>
                    <m:d>
                      <m:dPr>
                        <m:ctrlPr>
                          <a:rPr lang="en-US" sz="26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2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e>
                        <m:sSub>
                          <m:sSubPr>
                            <m:ctrlPr>
                              <a:rPr lang="en-US" altLang="zh-CN" sz="26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26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sz="26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altLang="zh-CN" sz="2600" i="1">
                        <a:latin typeface="Cambria Math" charset="0"/>
                      </a:rPr>
                      <m:t>⋅</m:t>
                    </m:r>
                    <m:sSub>
                      <m:sSubPr>
                        <m:ctrlPr>
                          <a:rPr lang="en-US" sz="26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600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sz="2600" i="1">
                            <a:latin typeface="Cambria Math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sz="2600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6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26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sz="26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600" i="1">
                            <a:latin typeface="Cambria Math" charset="0"/>
                          </a:rPr>
                          <m:t>,</m:t>
                        </m:r>
                        <m:r>
                          <a:rPr lang="en-US" altLang="zh-CN" sz="2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</m:d>
                    <m:r>
                      <a:rPr lang="zh-CN" altLang="en-US" sz="2600" i="1">
                        <a:solidFill>
                          <a:srgbClr val="FF0000"/>
                        </a:solidFill>
                        <a:latin typeface="Cambria Math" charset="0"/>
                      </a:rPr>
                      <m:t> </m:t>
                    </m:r>
                    <m:r>
                      <a:rPr lang="en-US" altLang="zh-CN" sz="2600" i="1">
                        <a:latin typeface="Cambria Math" charset="0"/>
                      </a:rPr>
                      <m:t>𝑑</m:t>
                    </m:r>
                    <m:r>
                      <a:rPr lang="en-US" altLang="zh-CN" sz="2600" i="1">
                        <a:solidFill>
                          <a:srgbClr val="FF0000"/>
                        </a:solidFill>
                        <a:latin typeface="Cambria Math" charset="0"/>
                      </a:rPr>
                      <m:t>𝑎</m:t>
                    </m:r>
                    <m:r>
                      <m:rPr>
                        <m:nor/>
                      </m:rPr>
                      <a:rPr lang="zh-CN" altLang="en-US" sz="2600" dirty="0"/>
                      <m:t> </m:t>
                    </m:r>
                    <m:r>
                      <m:rPr>
                        <m:nor/>
                      </m:rPr>
                      <a:rPr lang="en-US" sz="2600" dirty="0"/>
                      <m:t>.</m:t>
                    </m:r>
                    <m:r>
                      <m:rPr>
                        <m:nor/>
                      </m:rPr>
                      <a:rPr lang="zh-CN" altLang="en-US" sz="2600" dirty="0"/>
                      <m:t> </m:t>
                    </m:r>
                    <m:r>
                      <m:rPr>
                        <m:nor/>
                      </m:rPr>
                      <a:rPr lang="en-US" altLang="zh-CN" sz="26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rPr>
                      <m:t>(</m:t>
                    </m:r>
                    <m:r>
                      <m:rPr>
                        <m:nor/>
                      </m:rPr>
                      <a:rPr lang="en-US" altLang="zh-CN" sz="26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rPr>
                      <m:t>Actions</m:t>
                    </m:r>
                    <m:r>
                      <m:rPr>
                        <m:nor/>
                      </m:rPr>
                      <a:rPr lang="zh-CN" altLang="en-US" sz="26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altLang="zh-CN" sz="26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rPr>
                      <m:t>are</m:t>
                    </m:r>
                    <m:r>
                      <m:rPr>
                        <m:nor/>
                      </m:rPr>
                      <a:rPr lang="zh-CN" altLang="en-US" sz="26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altLang="zh-CN" sz="26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rPr>
                      <m:t>continuous</m:t>
                    </m:r>
                    <m:r>
                      <m:rPr>
                        <m:nor/>
                      </m:rPr>
                      <a:rPr lang="en-US" altLang="zh-CN" sz="26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rPr>
                      <m:t>.)</m:t>
                    </m:r>
                  </m:oMath>
                </a14:m>
                <a:endParaRPr lang="en-US" sz="26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2" name="Content Placeholder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36" y="5665423"/>
                <a:ext cx="11433261" cy="71021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642937" y="1771651"/>
                <a:ext cx="10906125" cy="1041127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=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+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𝛾</m:t>
                    </m:r>
                    <m:r>
                      <a:rPr lang="en-US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  <m:r>
                          <a:rPr lang="en-US" i="1">
                            <a:latin typeface="Cambria Math" charset="0"/>
                          </a:rPr>
                          <m:t>+1</m:t>
                        </m:r>
                      </m:sub>
                    </m:sSub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+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</a:rPr>
                          <m:t>𝛾</m:t>
                        </m:r>
                      </m:e>
                      <m:sup>
                        <m:r>
                          <a:rPr lang="en-US" i="1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  <m:r>
                          <a:rPr lang="en-US" i="1">
                            <a:latin typeface="Cambria Math" charset="0"/>
                          </a:rPr>
                          <m:t>+2</m:t>
                        </m:r>
                      </m:sub>
                    </m:sSub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+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⋯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altLang="zh-CN" i="1">
                        <a:latin typeface="Cambria Math" charset="0"/>
                      </a:rPr>
                      <m:t>+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</a:rPr>
                          <m:t>𝛾</m:t>
                        </m:r>
                      </m:e>
                      <m:sup>
                        <m:r>
                          <a:rPr lang="en-US" altLang="zh-CN" i="1">
                            <a:latin typeface="Cambria Math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charset="0"/>
                          </a:rPr>
                          <m:t>𝑡</m:t>
                        </m:r>
                      </m:sup>
                    </m:sSup>
                    <m:r>
                      <a:rPr lang="en-US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𝑛</m:t>
                        </m:r>
                      </m:sub>
                    </m:sSub>
                    <m:r>
                      <m:rPr>
                        <m:nor/>
                      </m:rPr>
                      <a:rPr lang="en-US" altLang="zh-CN" dirty="0"/>
                      <m:t>.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2937" y="1771651"/>
                <a:ext cx="10906125" cy="1041127"/>
              </a:xfr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642937" y="1042988"/>
            <a:ext cx="10906125" cy="52322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800" b="1" dirty="0"/>
              <a:t>Definition:  </a:t>
            </a:r>
            <a:r>
              <a:rPr lang="en-US" sz="2800" dirty="0"/>
              <a:t>Discounted return.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936" y="2677850"/>
            <a:ext cx="10906125" cy="52322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800" b="1" dirty="0"/>
              <a:t>Definition: </a:t>
            </a:r>
            <a:r>
              <a:rPr lang="en-US" sz="2800" dirty="0">
                <a:solidFill>
                  <a:srgbClr val="C00000"/>
                </a:solidFill>
              </a:rPr>
              <a:t>A</a:t>
            </a:r>
            <a:r>
              <a:rPr lang="en-US" sz="2800" dirty="0" smtClean="0">
                <a:solidFill>
                  <a:srgbClr val="C00000"/>
                </a:solidFill>
              </a:rPr>
              <a:t>ction-value function</a:t>
            </a:r>
            <a:r>
              <a:rPr lang="en-US" sz="2800" dirty="0" smtClean="0"/>
              <a:t>.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1"/>
              <p:cNvSpPr txBox="1">
                <a:spLocks/>
              </p:cNvSpPr>
              <p:nvPr/>
            </p:nvSpPr>
            <p:spPr>
              <a:xfrm>
                <a:off x="642937" y="3454409"/>
                <a:ext cx="10906124" cy="81572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charset="0"/>
                      </a:rPr>
                      <m:t>=</m:t>
                    </m:r>
                    <m:r>
                      <a:rPr lang="en-US" i="1">
                        <a:latin typeface="Cambria Math" charset="0"/>
                      </a:rPr>
                      <m:t>𝔼</m:t>
                    </m:r>
                    <m:r>
                      <a:rPr lang="en-US" i="1">
                        <a:latin typeface="Cambria Math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zh-CN" altLang="en-US" b="0" i="1" smtClean="0"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zh-CN" altLang="en-US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US" i="1">
                            <a:latin typeface="Cambria Math" charset="0"/>
                          </a:rPr>
                          <m:t>|</m:t>
                        </m:r>
                        <m:r>
                          <a:rPr lang="zh-CN" altLang="en-US" b="0" i="1" smtClean="0"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zh-CN" altLang="en-US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15" name="Content Placeholder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37" y="3454409"/>
                <a:ext cx="10906124" cy="815723"/>
              </a:xfrm>
              <a:prstGeom prst="rect">
                <a:avLst/>
              </a:prstGeom>
              <a:blipFill rotWithShape="0">
                <a:blip r:embed="rId10"/>
                <a:stretch>
                  <a:fillRect t="-127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238488" y="908035"/>
            <a:ext cx="11774658" cy="3057557"/>
          </a:xfrm>
          <a:prstGeom prst="rect">
            <a:avLst/>
          </a:prstGeom>
          <a:solidFill>
            <a:schemeClr val="bg1">
              <a:alpha val="47000"/>
            </a:schemeClr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 flipV="1">
            <a:off x="4526847" y="6188642"/>
            <a:ext cx="3469997" cy="45719"/>
          </a:xfrm>
          <a:prstGeom prst="rect">
            <a:avLst/>
          </a:prstGeom>
          <a:noFill/>
          <a:ln w="57150">
            <a:solidFill>
              <a:srgbClr val="0B24FB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859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Understanding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the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Value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Functions</a:t>
            </a:r>
            <a:endParaRPr lang="en-US" sz="36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 txBox="1">
                <a:spLocks/>
              </p:cNvSpPr>
              <p:nvPr/>
            </p:nvSpPr>
            <p:spPr>
              <a:xfrm>
                <a:off x="838200" y="1700933"/>
                <a:ext cx="10515600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en-US" altLang="zh-CN" dirty="0" smtClean="0">
                    <a:solidFill>
                      <a:srgbClr val="FF0000"/>
                    </a:solidFill>
                  </a:rPr>
                  <a:t>Action</a:t>
                </a:r>
                <a:r>
                  <a:rPr lang="en-US" altLang="zh-CN" dirty="0" smtClean="0"/>
                  <a:t>-value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function:</a:t>
                </a:r>
                <a:r>
                  <a:rPr lang="zh-CN" altLang="en-US" dirty="0" smtClean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  <m:r>
                          <a:rPr lang="en-US" i="1">
                            <a:latin typeface="Cambria Math" charset="0"/>
                          </a:rPr>
                          <m:t>,</m:t>
                        </m:r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</m:d>
                    <m:r>
                      <a:rPr lang="en-US" i="1">
                        <a:latin typeface="Cambria Math" charset="0"/>
                      </a:rPr>
                      <m:t>=</m:t>
                    </m:r>
                    <m:r>
                      <a:rPr lang="en-US" i="1">
                        <a:latin typeface="Cambria Math" charset="0"/>
                      </a:rPr>
                      <m:t>𝔼</m:t>
                    </m:r>
                    <m:r>
                      <a:rPr lang="en-US" i="1">
                        <a:latin typeface="Cambria Math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=</m:t>
                        </m:r>
                        <m:r>
                          <a:rPr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  <m:r>
                          <a:rPr lang="en-US" i="1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=</m:t>
                        </m:r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dirty="0" smtClean="0"/>
                  <a:t>.</a:t>
                </a:r>
                <a:endParaRPr lang="en-US" dirty="0"/>
              </a:p>
              <a:p>
                <a:pPr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en-US" altLang="zh-CN" dirty="0" smtClean="0"/>
                  <a:t>Given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𝜋</m:t>
                    </m:r>
                  </m:oMath>
                </a14:m>
                <a:r>
                  <a:rPr lang="en-US" altLang="zh-CN" dirty="0" smtClean="0"/>
                  <a:t>,</a:t>
                </a:r>
                <a:r>
                  <a:rPr lang="zh-CN" altLang="en-US" dirty="0" smtClean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  <m:r>
                          <a:rPr lang="en-US" i="1">
                            <a:latin typeface="Cambria Math" charset="0"/>
                          </a:rPr>
                          <m:t>,</m:t>
                        </m:r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evaluates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how </a:t>
                </a:r>
                <a:r>
                  <a:rPr lang="en-US" altLang="zh-CN" dirty="0"/>
                  <a:t>good it is for an agent to pick action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𝑎</m:t>
                    </m:r>
                  </m:oMath>
                </a14:m>
                <a:r>
                  <a:rPr lang="en-US" altLang="zh-CN" dirty="0"/>
                  <a:t> while being in state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charset="0"/>
                      </a:rPr>
                      <m:t>𝑠</m:t>
                    </m:r>
                  </m:oMath>
                </a14:m>
                <a:r>
                  <a:rPr lang="en-US" altLang="zh-CN" dirty="0" smtClean="0"/>
                  <a:t>.</a:t>
                </a:r>
              </a:p>
            </p:txBody>
          </p:sp>
        </mc:Choice>
        <mc:Fallback xmlns="">
          <p:sp>
            <p:nvSpPr>
              <p:cNvPr id="5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700933"/>
                <a:ext cx="10515600" cy="4351338"/>
              </a:xfrm>
              <a:prstGeom prst="rect">
                <a:avLst/>
              </a:prstGeom>
              <a:blipFill rotWithShape="0">
                <a:blip r:embed="rId3"/>
                <a:stretch>
                  <a:fillRect l="-1043" t="-2241" r="-4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 flipV="1">
            <a:off x="4615333" y="2181795"/>
            <a:ext cx="1215840" cy="45719"/>
          </a:xfrm>
          <a:prstGeom prst="rect">
            <a:avLst/>
          </a:prstGeom>
          <a:noFill/>
          <a:ln w="57150">
            <a:solidFill>
              <a:srgbClr val="0B24FB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7" name="TextBox 6"/>
          <p:cNvSpPr txBox="1"/>
          <p:nvPr/>
        </p:nvSpPr>
        <p:spPr>
          <a:xfrm flipV="1">
            <a:off x="6281739" y="2181794"/>
            <a:ext cx="3117093" cy="45719"/>
          </a:xfrm>
          <a:prstGeom prst="rect">
            <a:avLst/>
          </a:prstGeom>
          <a:noFill/>
          <a:ln w="57150">
            <a:solidFill>
              <a:srgbClr val="0B24FB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15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00932"/>
                <a:ext cx="10550236" cy="4629529"/>
              </a:xfrm>
            </p:spPr>
            <p:txBody>
              <a:bodyPr/>
              <a:lstStyle/>
              <a:p>
                <a:pPr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en-US" altLang="zh-CN" dirty="0">
                    <a:solidFill>
                      <a:srgbClr val="FF0000"/>
                    </a:solidFill>
                  </a:rPr>
                  <a:t>Action</a:t>
                </a:r>
                <a:r>
                  <a:rPr lang="en-US" altLang="zh-CN" dirty="0"/>
                  <a:t>-value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function:</a:t>
                </a:r>
                <a:r>
                  <a:rPr lang="zh-CN" altLang="en-US" dirty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  <m:r>
                          <a:rPr lang="en-US" i="1">
                            <a:latin typeface="Cambria Math" charset="0"/>
                          </a:rPr>
                          <m:t>,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</m:d>
                    <m:r>
                      <a:rPr lang="en-US" i="1">
                        <a:latin typeface="Cambria Math" charset="0"/>
                      </a:rPr>
                      <m:t>=</m:t>
                    </m:r>
                    <m:r>
                      <a:rPr lang="en-US" i="1">
                        <a:latin typeface="Cambria Math" charset="0"/>
                      </a:rPr>
                      <m:t>𝔼</m:t>
                    </m:r>
                    <m:r>
                      <a:rPr lang="en-US" i="1">
                        <a:latin typeface="Cambria Math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=</m:t>
                        </m:r>
                        <m: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  <m:r>
                          <a:rPr lang="en-US" i="1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=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pPr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en-US" altLang="zh-CN" dirty="0" smtClean="0"/>
                  <a:t>Given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𝜋</m:t>
                    </m:r>
                  </m:oMath>
                </a14:m>
                <a:r>
                  <a:rPr lang="en-US" altLang="zh-CN" dirty="0"/>
                  <a:t>,</a:t>
                </a:r>
                <a:r>
                  <a:rPr lang="zh-CN" altLang="en-US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  <m:r>
                          <a:rPr lang="en-US" i="1">
                            <a:latin typeface="Cambria Math" charset="0"/>
                          </a:rPr>
                          <m:t>,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evaluates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how good it is for an agent to pick action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charset="0"/>
                      </a:rPr>
                      <m:t>𝑎</m:t>
                    </m:r>
                  </m:oMath>
                </a14:m>
                <a:r>
                  <a:rPr lang="en-US" altLang="zh-CN" dirty="0"/>
                  <a:t> while being in state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charset="0"/>
                      </a:rPr>
                      <m:t>𝑠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>
                  <a:spcBef>
                    <a:spcPts val="1200"/>
                  </a:spcBef>
                  <a:spcAft>
                    <a:spcPts val="600"/>
                  </a:spcAft>
                </a:pPr>
                <a:endParaRPr lang="en-US" dirty="0" smtClean="0"/>
              </a:p>
              <a:p>
                <a:pPr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en-US" altLang="zh-CN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State</a:t>
                </a:r>
                <a:r>
                  <a:rPr lang="en-US" altLang="zh-CN" dirty="0" smtClean="0"/>
                  <a:t>-value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function: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𝔼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𝐴</m:t>
                        </m:r>
                      </m:sub>
                    </m:sSub>
                    <m:r>
                      <a:rPr lang="zh-CN" altLang="en-US" b="0" i="1" smtClean="0">
                        <a:latin typeface="Cambria Math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𝜋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  <m:r>
                              <a:rPr lang="en-US" i="1">
                                <a:latin typeface="Cambria Math" charset="0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𝐴</m:t>
                            </m:r>
                          </m:e>
                        </m:d>
                      </m:e>
                    </m:d>
                  </m:oMath>
                </a14:m>
                <a:endParaRPr lang="en-US" dirty="0" smtClean="0"/>
              </a:p>
              <a:p>
                <a:pPr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en-US" altLang="zh-CN" dirty="0" smtClean="0"/>
                  <a:t>For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fixed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𝜋</m:t>
                    </m:r>
                  </m:oMath>
                </a14:m>
                <a:r>
                  <a:rPr lang="en-US" altLang="zh-CN" dirty="0" smtClean="0"/>
                  <a:t>,</a:t>
                </a:r>
                <a:r>
                  <a:rPr lang="zh-CN" altLang="en-US" dirty="0" smtClean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evaluates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how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good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the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situation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is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in</a:t>
                </a:r>
                <a:r>
                  <a:rPr lang="zh-CN" altLang="en-US" dirty="0" smtClean="0"/>
                  <a:t> </a:t>
                </a:r>
                <a:r>
                  <a:rPr lang="en-US" altLang="zh-CN" dirty="0"/>
                  <a:t>state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charset="0"/>
                      </a:rPr>
                      <m:t>𝑠</m:t>
                    </m:r>
                  </m:oMath>
                </a14:m>
                <a:r>
                  <a:rPr lang="en-US" altLang="zh-CN" dirty="0" smtClean="0"/>
                  <a:t>.</a:t>
                </a:r>
              </a:p>
              <a:p>
                <a:pPr>
                  <a:spcBef>
                    <a:spcPts val="12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zh-CN" altLang="en-US" i="1" smtClean="0">
                            <a:latin typeface="Cambria Math" charset="0"/>
                          </a:rPr>
                          <m:t>𝔼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𝑆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 smtClean="0">
                                <a:latin typeface="Cambria Math" charset="0"/>
                              </a:rPr>
                              <m:t>𝜋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𝑆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dirty="0" smtClean="0"/>
                  <a:t>  </a:t>
                </a:r>
                <a:r>
                  <a:rPr lang="en-US" altLang="zh-CN" dirty="0" smtClean="0"/>
                  <a:t>evaluates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how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good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the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policy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𝜋</m:t>
                    </m:r>
                  </m:oMath>
                </a14:m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is.</a:t>
                </a:r>
                <a:endParaRPr lang="en-US" dirty="0" smtClean="0"/>
              </a:p>
              <a:p>
                <a:pPr>
                  <a:spcBef>
                    <a:spcPts val="1200"/>
                  </a:spcBef>
                  <a:spcAft>
                    <a:spcPts val="600"/>
                  </a:spcAft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00932"/>
                <a:ext cx="10550236" cy="4629529"/>
              </a:xfrm>
              <a:blipFill rotWithShape="0">
                <a:blip r:embed="rId3"/>
                <a:stretch>
                  <a:fillRect l="-1040" t="-2108" r="-2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Understanding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the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Value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Functions</a:t>
            </a:r>
            <a:endParaRPr lang="en-US" sz="3600" dirty="0">
              <a:solidFill>
                <a:srgbClr val="0070C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 flipV="1">
            <a:off x="5520387" y="4430319"/>
            <a:ext cx="2109605" cy="45719"/>
          </a:xfrm>
          <a:prstGeom prst="rect">
            <a:avLst/>
          </a:prstGeom>
          <a:noFill/>
          <a:ln w="57150">
            <a:solidFill>
              <a:srgbClr val="0B24FB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 flipV="1">
            <a:off x="1160748" y="5662010"/>
            <a:ext cx="1477522" cy="45719"/>
          </a:xfrm>
          <a:prstGeom prst="rect">
            <a:avLst/>
          </a:prstGeom>
          <a:noFill/>
          <a:ln w="57150">
            <a:solidFill>
              <a:srgbClr val="0B24FB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501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0" y="2244725"/>
            <a:ext cx="11823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Evaluating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Reinforcement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Learning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761390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08295"/>
            <a:ext cx="10515600" cy="1237957"/>
          </a:xfrm>
        </p:spPr>
        <p:txBody>
          <a:bodyPr>
            <a:normAutofit/>
          </a:bodyPr>
          <a:lstStyle/>
          <a:p>
            <a:r>
              <a:rPr lang="en-US" sz="2400" dirty="0"/>
              <a:t>Gym is a toolkit for developing and comparing reinforcement learning algorithms</a:t>
            </a:r>
            <a:r>
              <a:rPr lang="en-US" sz="2400" dirty="0" smtClean="0"/>
              <a:t>.</a:t>
            </a:r>
          </a:p>
          <a:p>
            <a:r>
              <a:rPr lang="en-US" sz="2400" dirty="0">
                <a:hlinkClick r:id="rId3"/>
              </a:rPr>
              <a:t>https://gym.openai.com/</a:t>
            </a:r>
            <a:endParaRPr lang="en-US" sz="240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err="1" smtClean="0">
                <a:latin typeface="Lucida Bright" panose="02040602050505020304" pitchFamily="18" charset="0"/>
              </a:rPr>
              <a:t>OpenAI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Gym</a:t>
            </a:r>
            <a:endParaRPr lang="en-US" sz="36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0911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endulum.mp4">
            <a:hlinkClick r:id="" action="ppaction://media"/>
            <a:hlinkHover r:id="" action="ppaction://ole?verb=0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929217" y="2546252"/>
            <a:ext cx="3634545" cy="3634545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08295"/>
            <a:ext cx="10515600" cy="1237957"/>
          </a:xfrm>
        </p:spPr>
        <p:txBody>
          <a:bodyPr>
            <a:normAutofit/>
          </a:bodyPr>
          <a:lstStyle/>
          <a:p>
            <a:r>
              <a:rPr lang="en-US" sz="2400" dirty="0"/>
              <a:t>Gym is a toolkit for developing and comparing reinforcement learning algorithms</a:t>
            </a:r>
            <a:r>
              <a:rPr lang="en-US" sz="2400" dirty="0" smtClean="0"/>
              <a:t>.</a:t>
            </a:r>
          </a:p>
          <a:p>
            <a:r>
              <a:rPr lang="en-US" sz="2400" dirty="0">
                <a:hlinkClick r:id="rId8"/>
              </a:rPr>
              <a:t>https://gym.openai.com/</a:t>
            </a:r>
            <a:endParaRPr lang="en-US" sz="240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err="1" smtClean="0">
                <a:latin typeface="Lucida Bright" panose="02040602050505020304" pitchFamily="18" charset="0"/>
              </a:rPr>
              <a:t>OpenAI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Gym</a:t>
            </a:r>
            <a:endParaRPr lang="en-US" sz="3600" dirty="0">
              <a:solidFill>
                <a:srgbClr val="0070C0"/>
              </a:solidFill>
            </a:endParaRPr>
          </a:p>
        </p:txBody>
      </p:sp>
      <p:pic>
        <p:nvPicPr>
          <p:cNvPr id="5" name="cartpole.mp4">
            <a:hlinkClick r:id="" action="ppaction://media"/>
            <a:hlinkHover r:id="" action="ppaction://ole?verb=0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38200" y="2418963"/>
            <a:ext cx="4719711" cy="3146473"/>
          </a:xfrm>
          <a:prstGeom prst="rect">
            <a:avLst/>
          </a:prstGeom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838200" y="5628430"/>
            <a:ext cx="4719712" cy="603558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dirty="0" smtClean="0"/>
              <a:t>Cart</a:t>
            </a:r>
            <a:r>
              <a:rPr lang="zh-CN" altLang="en-US" dirty="0" smtClean="0"/>
              <a:t> </a:t>
            </a:r>
            <a:r>
              <a:rPr lang="en-US" altLang="zh-CN" dirty="0" smtClean="0"/>
              <a:t>Pole</a:t>
            </a:r>
            <a:endParaRPr lang="en-US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6386634" y="5628430"/>
            <a:ext cx="4719712" cy="603558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dirty="0" smtClean="0"/>
              <a:t>Pendulum</a:t>
            </a:r>
            <a:endParaRPr lang="en-US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838200" y="2355969"/>
            <a:ext cx="10268146" cy="60355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b="1" dirty="0" smtClean="0"/>
              <a:t>Classical</a:t>
            </a:r>
            <a:r>
              <a:rPr lang="zh-CN" altLang="en-US" b="1" dirty="0" smtClean="0"/>
              <a:t> </a:t>
            </a:r>
            <a:r>
              <a:rPr lang="en-US" altLang="zh-CN" b="1" dirty="0" smtClean="0"/>
              <a:t>control</a:t>
            </a:r>
            <a:r>
              <a:rPr lang="zh-CN" altLang="en-US" b="1" dirty="0" smtClean="0"/>
              <a:t> </a:t>
            </a:r>
            <a:r>
              <a:rPr lang="en-US" altLang="zh-CN" b="1" dirty="0" smtClean="0"/>
              <a:t>problems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43579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video>
              <p:cMediaNode vol="80000">
                <p:cTn id="13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08295"/>
            <a:ext cx="10515600" cy="1237957"/>
          </a:xfrm>
        </p:spPr>
        <p:txBody>
          <a:bodyPr>
            <a:normAutofit/>
          </a:bodyPr>
          <a:lstStyle/>
          <a:p>
            <a:r>
              <a:rPr lang="en-US" sz="2400" dirty="0"/>
              <a:t>Gym is a toolkit for developing and comparing reinforcement learning algorithms</a:t>
            </a:r>
            <a:r>
              <a:rPr lang="en-US" sz="2400" dirty="0" smtClean="0"/>
              <a:t>.</a:t>
            </a:r>
          </a:p>
          <a:p>
            <a:r>
              <a:rPr lang="en-US" sz="2400" dirty="0">
                <a:hlinkClick r:id="rId9"/>
              </a:rPr>
              <a:t>https://gym.openai.com/</a:t>
            </a:r>
            <a:endParaRPr lang="en-US" sz="240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err="1" smtClean="0">
                <a:latin typeface="Lucida Bright" panose="02040602050505020304" pitchFamily="18" charset="0"/>
              </a:rPr>
              <a:t>OpenAI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Gym</a:t>
            </a:r>
            <a:endParaRPr lang="en-US" sz="3600" dirty="0">
              <a:solidFill>
                <a:srgbClr val="0070C0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38200" y="6050461"/>
            <a:ext cx="2200422" cy="603558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mtClean="0"/>
              <a:t>Pong</a:t>
            </a:r>
            <a:endParaRPr lang="en-US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4882002" y="6064529"/>
            <a:ext cx="2179466" cy="603558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 anchor="ctr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dirty="0" smtClean="0"/>
              <a:t>Space</a:t>
            </a:r>
            <a:r>
              <a:rPr lang="zh-CN" altLang="en-US" dirty="0" smtClean="0"/>
              <a:t> </a:t>
            </a:r>
            <a:r>
              <a:rPr lang="en-US" altLang="zh-CN" dirty="0" smtClean="0"/>
              <a:t>Invader</a:t>
            </a:r>
            <a:endParaRPr lang="en-US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838200" y="2355969"/>
            <a:ext cx="10268146" cy="60355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b="1" dirty="0" smtClean="0"/>
              <a:t>Atari</a:t>
            </a:r>
            <a:r>
              <a:rPr lang="zh-CN" altLang="en-US" b="1" dirty="0" smtClean="0"/>
              <a:t> </a:t>
            </a:r>
            <a:r>
              <a:rPr lang="en-US" altLang="zh-CN" b="1" dirty="0" smtClean="0"/>
              <a:t>Games</a:t>
            </a:r>
            <a:endParaRPr lang="en-US" b="1" dirty="0"/>
          </a:p>
        </p:txBody>
      </p:sp>
      <p:pic>
        <p:nvPicPr>
          <p:cNvPr id="2" name="Pong.mp4">
            <a:hlinkClick r:id="" action="ppaction://media"/>
            <a:hlinkHover r:id="" action="ppaction://ole?verb=0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38200" y="3117732"/>
            <a:ext cx="2200422" cy="2860549"/>
          </a:xfrm>
          <a:prstGeom prst="rect">
            <a:avLst/>
          </a:prstGeom>
        </p:spPr>
      </p:pic>
      <p:pic>
        <p:nvPicPr>
          <p:cNvPr id="10" name="SpaceInvaders.mp4">
            <a:hlinkClick r:id="" action="ppaction://media"/>
            <a:hlinkHover r:id="" action="ppaction://ole?verb=0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4882002" y="3117731"/>
            <a:ext cx="2179466" cy="2860549"/>
          </a:xfrm>
          <a:prstGeom prst="rect">
            <a:avLst/>
          </a:prstGeom>
        </p:spPr>
      </p:pic>
      <p:sp>
        <p:nvSpPr>
          <p:cNvPr id="12" name="Content Placeholder 2"/>
          <p:cNvSpPr txBox="1">
            <a:spLocks/>
          </p:cNvSpPr>
          <p:nvPr/>
        </p:nvSpPr>
        <p:spPr>
          <a:xfrm>
            <a:off x="8904848" y="6050461"/>
            <a:ext cx="2201497" cy="603558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dirty="0" smtClean="0"/>
              <a:t>Breakout</a:t>
            </a:r>
            <a:endParaRPr lang="en-US" dirty="0"/>
          </a:p>
        </p:txBody>
      </p:sp>
      <p:pic>
        <p:nvPicPr>
          <p:cNvPr id="13" name="Breakout.mp4">
            <a:hlinkClick r:id="" action="ppaction://media"/>
            <a:hlinkHover r:id="" action="ppaction://ole?verb=0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904849" y="3117731"/>
            <a:ext cx="2201497" cy="2861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590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video>
              <p:cMediaNode vol="80000">
                <p:cTn id="13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8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video>
              <p:cMediaNode vol="80000">
                <p:cTn id="19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08295"/>
            <a:ext cx="10515600" cy="1237957"/>
          </a:xfrm>
        </p:spPr>
        <p:txBody>
          <a:bodyPr>
            <a:normAutofit/>
          </a:bodyPr>
          <a:lstStyle/>
          <a:p>
            <a:r>
              <a:rPr lang="en-US" sz="2400" dirty="0"/>
              <a:t>Gym is a toolkit for developing and comparing reinforcement learning algorithms</a:t>
            </a:r>
            <a:r>
              <a:rPr lang="en-US" sz="2400" dirty="0" smtClean="0"/>
              <a:t>.</a:t>
            </a:r>
          </a:p>
          <a:p>
            <a:r>
              <a:rPr lang="en-US" sz="2400" dirty="0">
                <a:hlinkClick r:id="rId9"/>
              </a:rPr>
              <a:t>https://gym.openai.com/</a:t>
            </a:r>
            <a:endParaRPr lang="en-US" sz="240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err="1" smtClean="0">
                <a:latin typeface="Lucida Bright" panose="02040602050505020304" pitchFamily="18" charset="0"/>
              </a:rPr>
              <a:t>OpenAI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Gym</a:t>
            </a:r>
            <a:endParaRPr lang="en-US" sz="3600" dirty="0">
              <a:solidFill>
                <a:srgbClr val="0070C0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38200" y="5628430"/>
            <a:ext cx="2538046" cy="603558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mtClean="0"/>
              <a:t>Ant</a:t>
            </a:r>
            <a:endParaRPr lang="en-US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4674153" y="5642498"/>
            <a:ext cx="2591135" cy="603558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mtClean="0"/>
              <a:t>Humanoid</a:t>
            </a:r>
            <a:endParaRPr lang="en-US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838200" y="2355969"/>
            <a:ext cx="10268146" cy="60355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b="1" dirty="0" err="1" smtClean="0"/>
              <a:t>MuJoCo</a:t>
            </a:r>
            <a:r>
              <a:rPr lang="zh-CN" altLang="en-US" b="1" dirty="0" smtClean="0"/>
              <a:t>  </a:t>
            </a:r>
            <a:r>
              <a:rPr lang="en-US" altLang="zh-CN" b="1" dirty="0"/>
              <a:t>(Continuous control </a:t>
            </a:r>
            <a:r>
              <a:rPr lang="en-US" altLang="zh-CN" b="1" dirty="0" smtClean="0"/>
              <a:t>tasks.)</a:t>
            </a:r>
            <a:endParaRPr lang="en-US" b="1" dirty="0"/>
          </a:p>
        </p:txBody>
      </p:sp>
      <p:pic>
        <p:nvPicPr>
          <p:cNvPr id="7" name="Ant.mp4">
            <a:hlinkClick r:id="" action="ppaction://media"/>
            <a:hlinkHover r:id="" action="ppaction://ole?verb=0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38200" y="3024955"/>
            <a:ext cx="2538046" cy="2538046"/>
          </a:xfrm>
          <a:prstGeom prst="rect">
            <a:avLst/>
          </a:prstGeom>
        </p:spPr>
      </p:pic>
      <p:sp>
        <p:nvSpPr>
          <p:cNvPr id="13" name="Content Placeholder 2"/>
          <p:cNvSpPr txBox="1">
            <a:spLocks/>
          </p:cNvSpPr>
          <p:nvPr/>
        </p:nvSpPr>
        <p:spPr>
          <a:xfrm>
            <a:off x="8563196" y="5642498"/>
            <a:ext cx="2548255" cy="603558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dirty="0" smtClean="0"/>
              <a:t>Half</a:t>
            </a:r>
            <a:r>
              <a:rPr lang="zh-CN" altLang="en-US" dirty="0" smtClean="0"/>
              <a:t> </a:t>
            </a:r>
            <a:r>
              <a:rPr lang="en-US" altLang="zh-CN" dirty="0" smtClean="0"/>
              <a:t>Cheetah</a:t>
            </a:r>
            <a:endParaRPr lang="en-US" dirty="0"/>
          </a:p>
        </p:txBody>
      </p:sp>
      <p:pic>
        <p:nvPicPr>
          <p:cNvPr id="15" name="HalfCheetah.mp4">
            <a:hlinkClick r:id="" action="ppaction://media"/>
            <a:hlinkHover r:id="" action="ppaction://ole?verb=0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8563196" y="3019851"/>
            <a:ext cx="2543150" cy="2543150"/>
          </a:xfrm>
          <a:prstGeom prst="rect">
            <a:avLst/>
          </a:prstGeom>
        </p:spPr>
      </p:pic>
      <p:pic>
        <p:nvPicPr>
          <p:cNvPr id="5" name="Humanoid.mp4">
            <a:hlinkClick r:id="" action="ppaction://media"/>
            <a:hlinkHover r:id="" action="ppaction://ole?verb=0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4669169" y="3002953"/>
            <a:ext cx="2596119" cy="2596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633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video>
              <p:cMediaNode vol="80000">
                <p:cTn id="13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8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19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ujoco.mp4">
            <a:hlinkClick r:id="" action="ppaction://media"/>
            <a:hlinkHover r:id="" action="ppaction://ole?verb=0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379798" y="1042988"/>
            <a:ext cx="5432403" cy="5432403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err="1" smtClean="0">
                <a:latin typeface="Lucida Bright" panose="02040602050505020304" pitchFamily="18" charset="0"/>
              </a:rPr>
              <a:t>OpenAI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Gym</a:t>
            </a:r>
            <a:endParaRPr lang="en-US" sz="36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3979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artpole.mp4">
            <a:hlinkClick r:id="" action="ppaction://media"/>
            <a:hlinkHover r:id="" action="ppaction://ole?verb=0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35910" y="2964313"/>
            <a:ext cx="4719711" cy="3146473"/>
          </a:xfrm>
          <a:prstGeom prst="rect">
            <a:avLst/>
          </a:prstGeom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Play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err="1" smtClean="0">
                <a:latin typeface="Lucida Bright" panose="02040602050505020304" pitchFamily="18" charset="0"/>
              </a:rPr>
              <a:t>CartPole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Game</a:t>
            </a:r>
            <a:endParaRPr lang="en-US" sz="3600" dirty="0">
              <a:solidFill>
                <a:srgbClr val="0070C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467" y="1605695"/>
            <a:ext cx="6661443" cy="1072457"/>
          </a:xfrm>
          <a:prstGeom prst="rect">
            <a:avLst/>
          </a:prstGeom>
        </p:spPr>
      </p:pic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605692" y="3066756"/>
            <a:ext cx="6730218" cy="3672914"/>
          </a:xfrm>
        </p:spPr>
        <p:txBody>
          <a:bodyPr/>
          <a:lstStyle/>
          <a:p>
            <a:r>
              <a:rPr lang="en-US" altLang="zh-CN" dirty="0" smtClean="0"/>
              <a:t>Get</a:t>
            </a:r>
            <a:r>
              <a:rPr lang="zh-CN" altLang="en-US" dirty="0" smtClean="0"/>
              <a:t> </a:t>
            </a:r>
            <a:r>
              <a:rPr lang="en-US" altLang="zh-CN" dirty="0" smtClean="0"/>
              <a:t>the</a:t>
            </a:r>
            <a:r>
              <a:rPr lang="zh-CN" altLang="en-US" dirty="0" smtClean="0"/>
              <a:t> </a:t>
            </a:r>
            <a:r>
              <a:rPr lang="en-US" altLang="zh-CN" dirty="0" smtClean="0"/>
              <a:t>environment</a:t>
            </a:r>
            <a:r>
              <a:rPr lang="zh-CN" altLang="en-US" dirty="0" smtClean="0"/>
              <a:t> </a:t>
            </a:r>
            <a:r>
              <a:rPr lang="en-US" altLang="zh-CN" dirty="0" smtClean="0"/>
              <a:t>of</a:t>
            </a:r>
            <a:r>
              <a:rPr lang="zh-CN" altLang="en-US" dirty="0" smtClean="0"/>
              <a:t> </a:t>
            </a:r>
            <a:r>
              <a:rPr lang="en-US" altLang="zh-CN" dirty="0" err="1" smtClean="0"/>
              <a:t>CartPole</a:t>
            </a:r>
            <a:r>
              <a:rPr lang="zh-CN" altLang="en-US" dirty="0" smtClean="0"/>
              <a:t> </a:t>
            </a:r>
            <a:r>
              <a:rPr lang="en-US" altLang="zh-CN" dirty="0" smtClean="0"/>
              <a:t>from</a:t>
            </a:r>
            <a:r>
              <a:rPr lang="zh-CN" altLang="en-US" dirty="0" smtClean="0"/>
              <a:t> </a:t>
            </a:r>
            <a:r>
              <a:rPr lang="en-US" altLang="zh-CN" dirty="0" smtClean="0"/>
              <a:t>Gym.</a:t>
            </a:r>
          </a:p>
          <a:p>
            <a:r>
              <a:rPr lang="en-US" altLang="zh-CN" dirty="0" smtClean="0">
                <a:latin typeface="Courier New" charset="0"/>
                <a:ea typeface="Courier New" charset="0"/>
                <a:cs typeface="Courier New" charset="0"/>
              </a:rPr>
              <a:t>“</a:t>
            </a:r>
            <a:r>
              <a:rPr lang="en-US" altLang="zh-CN" dirty="0" err="1" smtClean="0">
                <a:latin typeface="Courier New" charset="0"/>
                <a:ea typeface="Courier New" charset="0"/>
                <a:cs typeface="Courier New" charset="0"/>
              </a:rPr>
              <a:t>env</a:t>
            </a:r>
            <a:r>
              <a:rPr lang="en-US" altLang="zh-CN" dirty="0" smtClean="0">
                <a:latin typeface="Courier New" charset="0"/>
                <a:ea typeface="Courier New" charset="0"/>
                <a:cs typeface="Courier New" charset="0"/>
              </a:rPr>
              <a:t>”</a:t>
            </a:r>
            <a:r>
              <a:rPr lang="zh-CN" altLang="en-US" dirty="0" smtClean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altLang="zh-CN" dirty="0" smtClean="0"/>
              <a:t>provides</a:t>
            </a:r>
            <a:r>
              <a:rPr lang="zh-CN" altLang="en-US" dirty="0" smtClean="0"/>
              <a:t> </a:t>
            </a:r>
            <a:r>
              <a:rPr lang="en-US" altLang="zh-CN" dirty="0" smtClean="0"/>
              <a:t>states</a:t>
            </a:r>
            <a:r>
              <a:rPr lang="zh-CN" altLang="en-US" dirty="0" smtClean="0"/>
              <a:t> </a:t>
            </a:r>
            <a:r>
              <a:rPr lang="en-US" altLang="zh-CN" dirty="0" smtClean="0"/>
              <a:t>and</a:t>
            </a:r>
            <a:r>
              <a:rPr lang="zh-CN" altLang="en-US" dirty="0" smtClean="0"/>
              <a:t> </a:t>
            </a:r>
            <a:r>
              <a:rPr lang="en-US" altLang="zh-CN" dirty="0" smtClean="0"/>
              <a:t>reward.</a:t>
            </a:r>
          </a:p>
          <a:p>
            <a:endParaRPr lang="en-US" dirty="0"/>
          </a:p>
        </p:txBody>
      </p:sp>
      <p:sp>
        <p:nvSpPr>
          <p:cNvPr id="2" name="Right Arrow 1"/>
          <p:cNvSpPr/>
          <p:nvPr/>
        </p:nvSpPr>
        <p:spPr>
          <a:xfrm>
            <a:off x="199504" y="1669438"/>
            <a:ext cx="456063" cy="422610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Arrow 6"/>
          <p:cNvSpPr/>
          <p:nvPr/>
        </p:nvSpPr>
        <p:spPr>
          <a:xfrm>
            <a:off x="199504" y="2187318"/>
            <a:ext cx="456063" cy="422610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 flipV="1">
            <a:off x="4005188" y="2655291"/>
            <a:ext cx="3330722" cy="45719"/>
          </a:xfrm>
          <a:prstGeom prst="rect">
            <a:avLst/>
          </a:prstGeom>
          <a:noFill/>
          <a:ln w="57150">
            <a:solidFill>
              <a:srgbClr val="0B24FB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590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5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video>
              <p:cMediaNode vol="80000">
                <p:cTn id="26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  <p:bldLst>
      <p:bldP spid="2" grpId="0" animBg="1"/>
      <p:bldP spid="2" grpId="1" animBg="1"/>
      <p:bldP spid="7" grpId="0" animBg="1"/>
      <p:bldP spid="8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Play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err="1">
                <a:latin typeface="Lucida Bright" panose="02040602050505020304" pitchFamily="18" charset="0"/>
              </a:rPr>
              <a:t>CartPole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Game</a:t>
            </a:r>
            <a:endParaRPr lang="en-US" sz="3600" dirty="0">
              <a:solidFill>
                <a:srgbClr val="0070C0"/>
              </a:solidFill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479" y="1042988"/>
            <a:ext cx="9209445" cy="5520877"/>
          </a:xfrm>
        </p:spPr>
      </p:pic>
      <p:sp>
        <p:nvSpPr>
          <p:cNvPr id="2" name="TextBox 1"/>
          <p:cNvSpPr txBox="1"/>
          <p:nvPr/>
        </p:nvSpPr>
        <p:spPr>
          <a:xfrm>
            <a:off x="7652026" y="2509614"/>
            <a:ext cx="2448576" cy="4616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A</a:t>
            </a:r>
            <a:r>
              <a:rPr lang="zh-CN" altLang="en-US" sz="2400" dirty="0" smtClean="0"/>
              <a:t> </a:t>
            </a:r>
            <a:r>
              <a:rPr lang="en-US" altLang="zh-CN" sz="2400" dirty="0" smtClean="0"/>
              <a:t>random</a:t>
            </a:r>
            <a:r>
              <a:rPr lang="zh-CN" altLang="en-US" sz="2400" dirty="0" smtClean="0"/>
              <a:t> </a:t>
            </a:r>
            <a:r>
              <a:rPr lang="en-US" altLang="zh-CN" sz="2400" dirty="0" smtClean="0">
                <a:solidFill>
                  <a:srgbClr val="FF0000"/>
                </a:solidFill>
              </a:rPr>
              <a:t>action</a:t>
            </a:r>
            <a:r>
              <a:rPr lang="en-US" altLang="zh-CN" sz="2400" dirty="0" smtClean="0"/>
              <a:t>.</a:t>
            </a:r>
            <a:endParaRPr lang="en-US" sz="2400" dirty="0"/>
          </a:p>
        </p:txBody>
      </p:sp>
      <p:cxnSp>
        <p:nvCxnSpPr>
          <p:cNvPr id="5" name="Curved Connector 4"/>
          <p:cNvCxnSpPr>
            <a:endCxn id="2" idx="2"/>
          </p:cNvCxnSpPr>
          <p:nvPr/>
        </p:nvCxnSpPr>
        <p:spPr>
          <a:xfrm rot="5400000" flipH="1" flipV="1">
            <a:off x="8334624" y="2978798"/>
            <a:ext cx="549209" cy="534171"/>
          </a:xfrm>
          <a:prstGeom prst="curved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048351" y="4568456"/>
            <a:ext cx="7121396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smtClean="0">
                <a:latin typeface="Courier New" charset="0"/>
                <a:ea typeface="Courier New" charset="0"/>
                <a:cs typeface="Courier New" charset="0"/>
              </a:rPr>
              <a:t>“done=1”</a:t>
            </a:r>
            <a:r>
              <a:rPr lang="zh-CN" altLang="en-US" sz="2400" dirty="0" smtClean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altLang="zh-CN" sz="2400" dirty="0" smtClean="0"/>
              <a:t>means</a:t>
            </a:r>
            <a:r>
              <a:rPr lang="zh-CN" altLang="en-US" sz="2400" dirty="0" smtClean="0"/>
              <a:t> </a:t>
            </a:r>
            <a:r>
              <a:rPr lang="en-US" altLang="zh-CN" sz="2400" dirty="0" smtClean="0"/>
              <a:t>finished</a:t>
            </a:r>
            <a:r>
              <a:rPr lang="zh-CN" altLang="en-US" sz="2400" dirty="0" smtClean="0"/>
              <a:t> </a:t>
            </a:r>
            <a:r>
              <a:rPr lang="en-US" altLang="zh-CN" sz="2400" dirty="0" smtClean="0"/>
              <a:t>(win</a:t>
            </a:r>
            <a:r>
              <a:rPr lang="zh-CN" altLang="en-US" sz="2400" dirty="0" smtClean="0"/>
              <a:t> </a:t>
            </a:r>
            <a:r>
              <a:rPr lang="en-US" altLang="zh-CN" sz="2400" dirty="0" smtClean="0"/>
              <a:t>or</a:t>
            </a:r>
            <a:r>
              <a:rPr lang="zh-CN" altLang="en-US" sz="2400" dirty="0" smtClean="0"/>
              <a:t> </a:t>
            </a:r>
            <a:r>
              <a:rPr lang="en-US" altLang="zh-CN" sz="2400" dirty="0" smtClean="0"/>
              <a:t>lose</a:t>
            </a:r>
            <a:r>
              <a:rPr lang="zh-CN" altLang="en-US" sz="2400" dirty="0" smtClean="0"/>
              <a:t> </a:t>
            </a:r>
            <a:r>
              <a:rPr lang="en-US" altLang="zh-CN" sz="2400" dirty="0" smtClean="0"/>
              <a:t>the</a:t>
            </a:r>
            <a:r>
              <a:rPr lang="zh-CN" altLang="en-US" sz="2400" dirty="0" smtClean="0"/>
              <a:t> </a:t>
            </a:r>
            <a:r>
              <a:rPr lang="en-US" altLang="zh-CN" sz="2400" dirty="0" smtClean="0"/>
              <a:t>game)</a:t>
            </a:r>
            <a:endParaRPr lang="en-US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5680203" y="1888259"/>
            <a:ext cx="5062721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A</a:t>
            </a:r>
            <a:r>
              <a:rPr lang="zh-CN" altLang="en-US" sz="2400" dirty="0" smtClean="0"/>
              <a:t> </a:t>
            </a:r>
            <a:r>
              <a:rPr lang="en-US" altLang="zh-CN" sz="2400" dirty="0" smtClean="0"/>
              <a:t>window pops </a:t>
            </a:r>
            <a:r>
              <a:rPr lang="en-US" altLang="zh-CN" sz="2400" dirty="0"/>
              <a:t>up rendering </a:t>
            </a:r>
            <a:r>
              <a:rPr lang="en-US" altLang="zh-CN" sz="2400" dirty="0" err="1" smtClean="0"/>
              <a:t>CartPole</a:t>
            </a:r>
            <a:r>
              <a:rPr lang="en-US" altLang="zh-CN" sz="2400" dirty="0" smtClean="0"/>
              <a:t>.</a:t>
            </a:r>
            <a:endParaRPr lang="en-US" sz="2400" dirty="0"/>
          </a:p>
        </p:txBody>
      </p:sp>
      <p:cxnSp>
        <p:nvCxnSpPr>
          <p:cNvPr id="14" name="Curved Connector 13"/>
          <p:cNvCxnSpPr>
            <a:endCxn id="13" idx="1"/>
          </p:cNvCxnSpPr>
          <p:nvPr/>
        </p:nvCxnSpPr>
        <p:spPr>
          <a:xfrm flipV="1">
            <a:off x="4646378" y="2119092"/>
            <a:ext cx="1033825" cy="412026"/>
          </a:xfrm>
          <a:prstGeom prst="curved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ight Arrow 8"/>
          <p:cNvSpPr/>
          <p:nvPr/>
        </p:nvSpPr>
        <p:spPr>
          <a:xfrm>
            <a:off x="1077416" y="1110039"/>
            <a:ext cx="456063" cy="422610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/>
          <p:cNvSpPr/>
          <p:nvPr/>
        </p:nvSpPr>
        <p:spPr>
          <a:xfrm>
            <a:off x="1077415" y="1850115"/>
            <a:ext cx="456063" cy="422610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/>
          <p:cNvSpPr/>
          <p:nvPr/>
        </p:nvSpPr>
        <p:spPr>
          <a:xfrm>
            <a:off x="1811706" y="3420053"/>
            <a:ext cx="456063" cy="422610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Arrow 14"/>
          <p:cNvSpPr/>
          <p:nvPr/>
        </p:nvSpPr>
        <p:spPr>
          <a:xfrm>
            <a:off x="1811706" y="3816557"/>
            <a:ext cx="456063" cy="422610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Arrow 15"/>
          <p:cNvSpPr/>
          <p:nvPr/>
        </p:nvSpPr>
        <p:spPr>
          <a:xfrm>
            <a:off x="1811705" y="2288065"/>
            <a:ext cx="456063" cy="422610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 flipV="1">
            <a:off x="7652026" y="4239165"/>
            <a:ext cx="3071444" cy="45719"/>
          </a:xfrm>
          <a:prstGeom prst="rect">
            <a:avLst/>
          </a:prstGeom>
          <a:noFill/>
          <a:ln w="57150">
            <a:solidFill>
              <a:srgbClr val="0B24FB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18" name="Right Arrow 17"/>
          <p:cNvSpPr/>
          <p:nvPr/>
        </p:nvSpPr>
        <p:spPr>
          <a:xfrm>
            <a:off x="1811704" y="4590951"/>
            <a:ext cx="456063" cy="422610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 flipV="1">
            <a:off x="2278121" y="4216304"/>
            <a:ext cx="4947082" cy="45719"/>
          </a:xfrm>
          <a:prstGeom prst="rect">
            <a:avLst/>
          </a:prstGeom>
          <a:noFill/>
          <a:ln w="57150">
            <a:solidFill>
              <a:srgbClr val="0B24FB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491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9" grpId="0" animBg="1"/>
      <p:bldP spid="19" grpId="1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0" y="2244725"/>
            <a:ext cx="11823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Summary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460441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42936" y="1747109"/>
                <a:ext cx="4421433" cy="4433444"/>
              </a:xfrm>
            </p:spPr>
            <p:txBody>
              <a:bodyPr/>
              <a:lstStyle/>
              <a:p>
                <a:pPr>
                  <a:spcAft>
                    <a:spcPts val="600"/>
                  </a:spcAft>
                </a:pPr>
                <a:r>
                  <a:rPr lang="en-US" dirty="0" smtClean="0"/>
                  <a:t>Agent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dirty="0" smtClean="0"/>
                  <a:t>Environment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dirty="0" smtClean="0"/>
                  <a:t>State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charset="0"/>
                      </a:rPr>
                      <m:t>𝑠</m:t>
                    </m:r>
                  </m:oMath>
                </a14:m>
                <a:endParaRPr lang="en-US" dirty="0" smtClean="0"/>
              </a:p>
              <a:p>
                <a:pPr>
                  <a:spcAft>
                    <a:spcPts val="600"/>
                  </a:spcAft>
                </a:pPr>
                <a:r>
                  <a:rPr lang="en-US" dirty="0"/>
                  <a:t>Action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charset="0"/>
                      </a:rPr>
                      <m:t>𝑎</m:t>
                    </m:r>
                  </m:oMath>
                </a14:m>
                <a:endParaRPr lang="en-US" dirty="0"/>
              </a:p>
              <a:p>
                <a:pPr>
                  <a:spcAft>
                    <a:spcPts val="600"/>
                  </a:spcAft>
                </a:pPr>
                <a:r>
                  <a:rPr lang="en-US" dirty="0"/>
                  <a:t>Reward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 charset="0"/>
                      </a:rPr>
                      <m:t>𝑟</m:t>
                    </m:r>
                  </m:oMath>
                </a14:m>
                <a:endParaRPr lang="en-US" dirty="0"/>
              </a:p>
              <a:p>
                <a:pPr>
                  <a:spcAft>
                    <a:spcPts val="600"/>
                  </a:spcAft>
                </a:pPr>
                <a:endParaRPr lang="en-US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2936" y="1747109"/>
                <a:ext cx="4421433" cy="4433444"/>
              </a:xfrm>
              <a:blipFill rotWithShape="0">
                <a:blip r:embed="rId3"/>
                <a:stretch>
                  <a:fillRect l="-2479" t="-23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Summary</a:t>
            </a:r>
            <a:endParaRPr lang="en-US" sz="3600" dirty="0">
              <a:solidFill>
                <a:srgbClr val="0070C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287" y="1747109"/>
            <a:ext cx="518861" cy="5417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2936" y="999795"/>
            <a:ext cx="4421433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smtClean="0"/>
              <a:t>Terminologies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23274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42936" y="1747109"/>
                <a:ext cx="4421433" cy="4433444"/>
              </a:xfrm>
            </p:spPr>
            <p:txBody>
              <a:bodyPr/>
              <a:lstStyle/>
              <a:p>
                <a:pPr>
                  <a:spcAft>
                    <a:spcPts val="600"/>
                  </a:spcAft>
                </a:pPr>
                <a:r>
                  <a:rPr lang="en-US" dirty="0" smtClean="0"/>
                  <a:t>Agent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dirty="0" smtClean="0"/>
                  <a:t>Environment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dirty="0" smtClean="0"/>
                  <a:t>State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charset="0"/>
                      </a:rPr>
                      <m:t>𝑠</m:t>
                    </m:r>
                  </m:oMath>
                </a14:m>
                <a:endParaRPr lang="en-US" dirty="0" smtClean="0"/>
              </a:p>
              <a:p>
                <a:pPr>
                  <a:spcAft>
                    <a:spcPts val="600"/>
                  </a:spcAft>
                </a:pPr>
                <a:r>
                  <a:rPr lang="en-US" dirty="0" smtClean="0"/>
                  <a:t>Action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𝑎</m:t>
                    </m:r>
                  </m:oMath>
                </a14:m>
                <a:endParaRPr lang="en-US" dirty="0" smtClean="0"/>
              </a:p>
              <a:p>
                <a:pPr>
                  <a:spcAft>
                    <a:spcPts val="600"/>
                  </a:spcAft>
                </a:pPr>
                <a:r>
                  <a:rPr lang="en-US" dirty="0" smtClean="0"/>
                  <a:t>Reward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charset="0"/>
                      </a:rPr>
                      <m:t>𝑟</m:t>
                    </m:r>
                  </m:oMath>
                </a14:m>
                <a:endParaRPr lang="en-US" dirty="0" smtClean="0"/>
              </a:p>
              <a:p>
                <a:pPr>
                  <a:spcAft>
                    <a:spcPts val="600"/>
                  </a:spcAft>
                </a:pPr>
                <a:r>
                  <a:rPr lang="en-US" dirty="0" smtClean="0"/>
                  <a:t>Policy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𝜋</m:t>
                    </m:r>
                    <m:d>
                      <m:dPr>
                        <m:ctrlPr>
                          <a:rPr lang="en-US" b="0" i="1" smtClean="0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e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e>
                    </m:d>
                  </m:oMath>
                </a14:m>
                <a:endParaRPr lang="en-US" dirty="0" smtClean="0"/>
              </a:p>
              <a:p>
                <a:pPr>
                  <a:spcAft>
                    <a:spcPts val="600"/>
                  </a:spcAft>
                </a:pPr>
                <a:r>
                  <a:rPr lang="en-US" dirty="0" smtClean="0"/>
                  <a:t>State transition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′</m:t>
                            </m:r>
                          </m:sup>
                        </m:sSup>
                      </m:e>
                      <m:e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charset="0"/>
                          </a:rPr>
                          <m:t>, 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2936" y="1747109"/>
                <a:ext cx="4421433" cy="4433444"/>
              </a:xfrm>
              <a:blipFill rotWithShape="0">
                <a:blip r:embed="rId3"/>
                <a:stretch>
                  <a:fillRect l="-2479" t="-23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Summary</a:t>
            </a:r>
            <a:endParaRPr lang="en-US" sz="3600" dirty="0">
              <a:solidFill>
                <a:srgbClr val="0070C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287" y="1747109"/>
            <a:ext cx="518861" cy="5417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2936" y="999795"/>
            <a:ext cx="4421433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smtClean="0"/>
              <a:t>Terminologies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06538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42936" y="1747109"/>
                <a:ext cx="4421433" cy="4433444"/>
              </a:xfrm>
            </p:spPr>
            <p:txBody>
              <a:bodyPr/>
              <a:lstStyle/>
              <a:p>
                <a:pPr>
                  <a:spcAft>
                    <a:spcPts val="600"/>
                  </a:spcAft>
                </a:pPr>
                <a:r>
                  <a:rPr lang="en-US" dirty="0" smtClean="0"/>
                  <a:t>Agent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dirty="0" smtClean="0"/>
                  <a:t>Environment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dirty="0" smtClean="0"/>
                  <a:t>State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charset="0"/>
                      </a:rPr>
                      <m:t>𝑠</m:t>
                    </m:r>
                  </m:oMath>
                </a14:m>
                <a:endParaRPr lang="en-US" dirty="0" smtClean="0"/>
              </a:p>
              <a:p>
                <a:pPr>
                  <a:spcAft>
                    <a:spcPts val="600"/>
                  </a:spcAft>
                </a:pPr>
                <a:r>
                  <a:rPr lang="en-US" dirty="0" smtClean="0"/>
                  <a:t>Action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𝑎</m:t>
                    </m:r>
                  </m:oMath>
                </a14:m>
                <a:endParaRPr lang="en-US" dirty="0" smtClean="0"/>
              </a:p>
              <a:p>
                <a:pPr>
                  <a:spcAft>
                    <a:spcPts val="600"/>
                  </a:spcAft>
                </a:pPr>
                <a:r>
                  <a:rPr lang="en-US" dirty="0" smtClean="0"/>
                  <a:t>Reward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charset="0"/>
                      </a:rPr>
                      <m:t>𝑟</m:t>
                    </m:r>
                  </m:oMath>
                </a14:m>
                <a:endParaRPr lang="en-US" dirty="0" smtClean="0"/>
              </a:p>
              <a:p>
                <a:pPr>
                  <a:spcAft>
                    <a:spcPts val="600"/>
                  </a:spcAft>
                </a:pPr>
                <a:r>
                  <a:rPr lang="en-US" dirty="0" smtClean="0"/>
                  <a:t>Policy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𝜋</m:t>
                    </m:r>
                    <m:d>
                      <m:dPr>
                        <m:ctrlPr>
                          <a:rPr lang="en-US" b="0" i="1" smtClean="0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e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e>
                    </m:d>
                  </m:oMath>
                </a14:m>
                <a:endParaRPr lang="en-US" dirty="0" smtClean="0"/>
              </a:p>
              <a:p>
                <a:pPr>
                  <a:spcAft>
                    <a:spcPts val="600"/>
                  </a:spcAft>
                </a:pPr>
                <a:r>
                  <a:rPr lang="en-US" dirty="0" smtClean="0"/>
                  <a:t>State transition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′</m:t>
                            </m:r>
                          </m:sup>
                        </m:sSup>
                      </m:e>
                      <m:e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charset="0"/>
                          </a:rPr>
                          <m:t>, 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2936" y="1747109"/>
                <a:ext cx="4421433" cy="4433444"/>
              </a:xfrm>
              <a:blipFill rotWithShape="0">
                <a:blip r:embed="rId3"/>
                <a:stretch>
                  <a:fillRect l="-2479" t="-23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Summary</a:t>
            </a:r>
            <a:endParaRPr lang="en-US" sz="3600" dirty="0">
              <a:solidFill>
                <a:srgbClr val="0070C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287" y="1747109"/>
            <a:ext cx="518861" cy="5417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2936" y="999795"/>
            <a:ext cx="4421433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smtClean="0"/>
              <a:t>Terminologies</a:t>
            </a:r>
            <a:endParaRPr lang="en-US" sz="2800" dirty="0"/>
          </a:p>
        </p:txBody>
      </p:sp>
      <p:sp>
        <p:nvSpPr>
          <p:cNvPr id="7" name="TextBox 6"/>
          <p:cNvSpPr txBox="1"/>
          <p:nvPr/>
        </p:nvSpPr>
        <p:spPr>
          <a:xfrm>
            <a:off x="6366143" y="999795"/>
            <a:ext cx="4927870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/>
              <a:t>Return and Value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/>
              <p:cNvSpPr txBox="1">
                <a:spLocks/>
              </p:cNvSpPr>
              <p:nvPr/>
            </p:nvSpPr>
            <p:spPr>
              <a:xfrm>
                <a:off x="6366142" y="1851972"/>
                <a:ext cx="5056824" cy="428403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Aft>
                    <a:spcPts val="600"/>
                  </a:spcAft>
                </a:pPr>
                <a:r>
                  <a:rPr lang="en-US" dirty="0" smtClean="0"/>
                  <a:t>Return:  </a:t>
                </a:r>
              </a:p>
              <a:p>
                <a:pPr marL="0" indent="0" algn="ctr">
                  <a:spcAft>
                    <a:spcPts val="1200"/>
                  </a:spcAft>
                  <a:buNone/>
                </a:pP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sz="2400" i="1"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en-US" sz="2400" i="1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en-US" sz="2400" i="1">
                        <a:latin typeface="Cambria Math" charset="0"/>
                      </a:rPr>
                      <m:t>+</m:t>
                    </m:r>
                    <m:r>
                      <a:rPr lang="en-US" sz="2400" i="1">
                        <a:solidFill>
                          <a:srgbClr val="C00000"/>
                        </a:solidFill>
                        <a:latin typeface="Cambria Math" charset="0"/>
                      </a:rPr>
                      <m:t>𝛾</m:t>
                    </m:r>
                    <m:r>
                      <a:rPr lang="en-US" sz="2400" i="1">
                        <a:solidFill>
                          <a:srgbClr val="C00000"/>
                        </a:solidFill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+1</m:t>
                        </m:r>
                      </m:sub>
                    </m:sSub>
                    <m:r>
                      <a:rPr lang="en-US" sz="2400" i="1">
                        <a:latin typeface="Cambria Math" charset="0"/>
                      </a:rPr>
                      <m:t>+</m:t>
                    </m:r>
                    <m:sSup>
                      <m:sSupPr>
                        <m:ctrlPr>
                          <a:rPr lang="en-US" sz="24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𝛾</m:t>
                        </m:r>
                      </m:e>
                      <m:sup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+2</m:t>
                        </m:r>
                      </m:sub>
                    </m:sSub>
                    <m:r>
                      <a:rPr lang="en-US" sz="2400" i="1">
                        <a:latin typeface="Cambria Math" charset="0"/>
                      </a:rPr>
                      <m:t>+⋯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pPr>
                  <a:spcBef>
                    <a:spcPts val="1600"/>
                  </a:spcBef>
                  <a:spcAft>
                    <a:spcPts val="600"/>
                  </a:spcAft>
                </a:pPr>
                <a:endParaRPr lang="en-US" dirty="0" smtClean="0"/>
              </a:p>
            </p:txBody>
          </p:sp>
        </mc:Choice>
        <mc:Fallback xmlns="">
          <p:sp>
            <p:nvSpPr>
              <p:cNvPr id="8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6142" y="1851972"/>
                <a:ext cx="5056824" cy="4284033"/>
              </a:xfrm>
              <a:prstGeom prst="rect">
                <a:avLst/>
              </a:prstGeom>
              <a:blipFill rotWithShape="0">
                <a:blip r:embed="rId5"/>
                <a:stretch>
                  <a:fillRect l="-2169" t="-24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299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42936" y="1747109"/>
                <a:ext cx="4421433" cy="4433444"/>
              </a:xfrm>
            </p:spPr>
            <p:txBody>
              <a:bodyPr/>
              <a:lstStyle/>
              <a:p>
                <a:pPr>
                  <a:spcAft>
                    <a:spcPts val="600"/>
                  </a:spcAft>
                </a:pPr>
                <a:r>
                  <a:rPr lang="en-US" dirty="0" smtClean="0"/>
                  <a:t>Agent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dirty="0" smtClean="0"/>
                  <a:t>Environment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dirty="0" smtClean="0"/>
                  <a:t>State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charset="0"/>
                      </a:rPr>
                      <m:t>𝑠</m:t>
                    </m:r>
                  </m:oMath>
                </a14:m>
                <a:endParaRPr lang="en-US" dirty="0" smtClean="0"/>
              </a:p>
              <a:p>
                <a:pPr>
                  <a:spcAft>
                    <a:spcPts val="600"/>
                  </a:spcAft>
                </a:pPr>
                <a:r>
                  <a:rPr lang="en-US" dirty="0" smtClean="0"/>
                  <a:t>Action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𝑎</m:t>
                    </m:r>
                  </m:oMath>
                </a14:m>
                <a:endParaRPr lang="en-US" dirty="0" smtClean="0"/>
              </a:p>
              <a:p>
                <a:pPr>
                  <a:spcAft>
                    <a:spcPts val="600"/>
                  </a:spcAft>
                </a:pPr>
                <a:r>
                  <a:rPr lang="en-US" dirty="0" smtClean="0"/>
                  <a:t>Reward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charset="0"/>
                      </a:rPr>
                      <m:t>𝑟</m:t>
                    </m:r>
                  </m:oMath>
                </a14:m>
                <a:endParaRPr lang="en-US" dirty="0" smtClean="0"/>
              </a:p>
              <a:p>
                <a:pPr>
                  <a:spcAft>
                    <a:spcPts val="600"/>
                  </a:spcAft>
                </a:pPr>
                <a:r>
                  <a:rPr lang="en-US" dirty="0" smtClean="0"/>
                  <a:t>Policy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𝜋</m:t>
                    </m:r>
                    <m:d>
                      <m:dPr>
                        <m:ctrlPr>
                          <a:rPr lang="en-US" b="0" i="1" smtClean="0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e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e>
                    </m:d>
                  </m:oMath>
                </a14:m>
                <a:endParaRPr lang="en-US" dirty="0" smtClean="0"/>
              </a:p>
              <a:p>
                <a:pPr>
                  <a:spcAft>
                    <a:spcPts val="600"/>
                  </a:spcAft>
                </a:pPr>
                <a:r>
                  <a:rPr lang="en-US" dirty="0" smtClean="0"/>
                  <a:t>State transition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′</m:t>
                            </m:r>
                          </m:sup>
                        </m:sSup>
                      </m:e>
                      <m:e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charset="0"/>
                          </a:rPr>
                          <m:t>, 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2936" y="1747109"/>
                <a:ext cx="4421433" cy="4433444"/>
              </a:xfrm>
              <a:blipFill rotWithShape="0">
                <a:blip r:embed="rId3"/>
                <a:stretch>
                  <a:fillRect l="-2479" t="-23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Summary</a:t>
            </a:r>
            <a:endParaRPr lang="en-US" sz="3600" dirty="0">
              <a:solidFill>
                <a:srgbClr val="0070C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287" y="1747109"/>
            <a:ext cx="518861" cy="5417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2936" y="999795"/>
            <a:ext cx="4421433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smtClean="0"/>
              <a:t>Terminologies</a:t>
            </a:r>
            <a:endParaRPr lang="en-US" sz="2800" dirty="0"/>
          </a:p>
        </p:txBody>
      </p:sp>
      <p:sp>
        <p:nvSpPr>
          <p:cNvPr id="7" name="TextBox 6"/>
          <p:cNvSpPr txBox="1"/>
          <p:nvPr/>
        </p:nvSpPr>
        <p:spPr>
          <a:xfrm>
            <a:off x="6366143" y="999795"/>
            <a:ext cx="4927870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/>
              <a:t>Return and Value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/>
              <p:cNvSpPr txBox="1">
                <a:spLocks/>
              </p:cNvSpPr>
              <p:nvPr/>
            </p:nvSpPr>
            <p:spPr>
              <a:xfrm>
                <a:off x="6366142" y="1851972"/>
                <a:ext cx="5056824" cy="428403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Aft>
                    <a:spcPts val="600"/>
                  </a:spcAft>
                </a:pPr>
                <a:r>
                  <a:rPr lang="en-US" dirty="0" smtClean="0"/>
                  <a:t>Return:  </a:t>
                </a:r>
              </a:p>
              <a:p>
                <a:pPr marL="0" indent="0" algn="ctr">
                  <a:spcAft>
                    <a:spcPts val="1200"/>
                  </a:spcAft>
                  <a:buNone/>
                </a:pP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sz="2400" i="1"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en-US" sz="2400" i="1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en-US" sz="2400" i="1">
                        <a:latin typeface="Cambria Math" charset="0"/>
                      </a:rPr>
                      <m:t>+</m:t>
                    </m:r>
                    <m:r>
                      <a:rPr lang="en-US" sz="2400" i="1">
                        <a:solidFill>
                          <a:srgbClr val="C00000"/>
                        </a:solidFill>
                        <a:latin typeface="Cambria Math" charset="0"/>
                      </a:rPr>
                      <m:t>𝛾</m:t>
                    </m:r>
                    <m:r>
                      <a:rPr lang="en-US" sz="2400" i="1">
                        <a:solidFill>
                          <a:srgbClr val="C00000"/>
                        </a:solidFill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+1</m:t>
                        </m:r>
                      </m:sub>
                    </m:sSub>
                    <m:r>
                      <a:rPr lang="en-US" sz="2400" i="1">
                        <a:latin typeface="Cambria Math" charset="0"/>
                      </a:rPr>
                      <m:t>+</m:t>
                    </m:r>
                    <m:sSup>
                      <m:sSupPr>
                        <m:ctrlPr>
                          <a:rPr lang="en-US" sz="24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𝛾</m:t>
                        </m:r>
                      </m:e>
                      <m:sup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+2</m:t>
                        </m:r>
                      </m:sub>
                    </m:sSub>
                    <m:r>
                      <a:rPr lang="en-US" sz="2400" i="1">
                        <a:latin typeface="Cambria Math" charset="0"/>
                      </a:rPr>
                      <m:t>+⋯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pPr>
                  <a:spcBef>
                    <a:spcPts val="1600"/>
                  </a:spcBef>
                  <a:spcAft>
                    <a:spcPts val="600"/>
                  </a:spcAft>
                </a:pPr>
                <a:r>
                  <a:rPr lang="en-US" dirty="0" smtClean="0"/>
                  <a:t>Action-value function:</a:t>
                </a:r>
              </a:p>
              <a:p>
                <a:pPr marL="0" indent="0" algn="ctr">
                  <a:spcAft>
                    <a:spcPts val="12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sz="2400" i="1">
                            <a:latin typeface="Cambria Math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i="1">
                            <a:latin typeface="Cambria Math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sz="2400" i="1">
                        <a:latin typeface="Cambria Math" charset="0"/>
                      </a:rPr>
                      <m:t>=</m:t>
                    </m:r>
                    <m:r>
                      <a:rPr lang="en-US" sz="2400" i="1">
                        <a:latin typeface="Cambria Math" charset="0"/>
                      </a:rPr>
                      <m:t>𝔼</m:t>
                    </m:r>
                    <m:r>
                      <a:rPr lang="en-US" sz="2400" i="1">
                        <a:latin typeface="Cambria Math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sz="2400" i="1"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i="1">
                            <a:latin typeface="Cambria Math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i="1">
                            <a:latin typeface="Cambria Math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 smtClean="0"/>
                  <a:t>.</a:t>
                </a:r>
                <a:endParaRPr lang="en-US" sz="2400" dirty="0"/>
              </a:p>
              <a:p>
                <a:pPr>
                  <a:spcBef>
                    <a:spcPts val="1600"/>
                  </a:spcBef>
                  <a:spcAft>
                    <a:spcPts val="600"/>
                  </a:spcAft>
                </a:pPr>
                <a:r>
                  <a:rPr lang="en-US" dirty="0" smtClean="0"/>
                  <a:t>State-value </a:t>
                </a:r>
                <a:r>
                  <a:rPr lang="en-US" dirty="0"/>
                  <a:t>function:</a:t>
                </a:r>
              </a:p>
              <a:p>
                <a:pPr marL="0" indent="0" algn="ctr">
                  <a:spcAft>
                    <a:spcPts val="12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</a:rPr>
                          <m:t>𝑉</m:t>
                        </m:r>
                      </m:e>
                      <m:sub>
                        <m:r>
                          <a:rPr lang="en-US" sz="2400" i="1">
                            <a:latin typeface="Cambria Math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sz="2400" i="1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</a:rPr>
                          <m:t>𝔼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𝐴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~</m:t>
                        </m:r>
                        <m:r>
                          <a:rPr lang="en-US" sz="2400" i="1">
                            <a:latin typeface="Cambria Math" charset="0"/>
                          </a:rPr>
                          <m:t>𝜋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400" i="1">
                                <a:latin typeface="Cambria Math" charset="0"/>
                              </a:rPr>
                              <m:t>𝜋</m:t>
                            </m:r>
                          </m:sub>
                        </m:sSub>
                        <m:d>
                          <m:dPr>
                            <m:ctrlPr>
                              <a:rPr lang="en-US" sz="2400" i="1">
                                <a:latin typeface="Cambria Math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400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charset="0"/>
                              </a:rPr>
                              <m:t>, </m:t>
                            </m:r>
                            <m:r>
                              <a:rPr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𝐴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8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6142" y="1851972"/>
                <a:ext cx="5056824" cy="4284033"/>
              </a:xfrm>
              <a:prstGeom prst="rect">
                <a:avLst/>
              </a:prstGeom>
              <a:blipFill rotWithShape="0">
                <a:blip r:embed="rId5"/>
                <a:stretch>
                  <a:fillRect l="-2169" t="-24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4068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75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75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75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75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Play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game using AI</a:t>
            </a:r>
            <a:endParaRPr lang="en-US" sz="3600" dirty="0">
              <a:solidFill>
                <a:srgbClr val="0070C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28283" y="2371920"/>
            <a:ext cx="6282472" cy="1631854"/>
          </a:xfrm>
          <a:prstGeom prst="rect">
            <a:avLst/>
          </a:prstGeom>
          <a:solidFill>
            <a:schemeClr val="tx2">
              <a:lumMod val="20000"/>
              <a:lumOff val="80000"/>
              <a:alpha val="5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 flipH="1">
            <a:off x="1512766" y="2825035"/>
            <a:ext cx="815798" cy="0"/>
          </a:xfrm>
          <a:prstGeom prst="line">
            <a:avLst/>
          </a:prstGeom>
          <a:ln w="38100">
            <a:solidFill>
              <a:schemeClr val="tx1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3170029" y="2825035"/>
            <a:ext cx="815798" cy="0"/>
          </a:xfrm>
          <a:prstGeom prst="line">
            <a:avLst/>
          </a:prstGeom>
          <a:ln w="38100">
            <a:solidFill>
              <a:schemeClr val="tx1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 flipV="1">
            <a:off x="1512767" y="2923173"/>
            <a:ext cx="815797" cy="685663"/>
          </a:xfrm>
          <a:prstGeom prst="line">
            <a:avLst/>
          </a:prstGeom>
          <a:ln w="38100">
            <a:solidFill>
              <a:schemeClr val="tx1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2290805" y="2516234"/>
                <a:ext cx="1004442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3200" i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3200" b="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𝑡</m:t>
                          </m:r>
                          <m:r>
                            <a:rPr lang="en-US" altLang="zh-CN" sz="3200" b="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0805" y="2516234"/>
                <a:ext cx="1004442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4033327" y="2516234"/>
                <a:ext cx="1054519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dirty="0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3200" b="0" i="1" dirty="0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3200" b="0" i="1" dirty="0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𝑡</m:t>
                          </m:r>
                          <m:r>
                            <a:rPr lang="en-US" altLang="zh-CN" sz="3200" b="0" i="1" dirty="0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3327" y="2516234"/>
                <a:ext cx="1054519" cy="58477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5913411" y="2516233"/>
                <a:ext cx="613309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3200" i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3200" b="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3411" y="2516233"/>
                <a:ext cx="613309" cy="58477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2314719" y="3316448"/>
                <a:ext cx="975780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dirty="0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3200" b="0" i="1" dirty="0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3200" b="0" i="1" dirty="0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  <m:t>𝑡</m:t>
                          </m:r>
                          <m:r>
                            <a:rPr lang="en-US" altLang="zh-CN" sz="3200" b="0" i="1" dirty="0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4719" y="3316448"/>
                <a:ext cx="975780" cy="58477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Group 28"/>
          <p:cNvGrpSpPr/>
          <p:nvPr/>
        </p:nvGrpSpPr>
        <p:grpSpPr>
          <a:xfrm>
            <a:off x="4994780" y="2839103"/>
            <a:ext cx="828056" cy="766869"/>
            <a:chOff x="5610240" y="4632740"/>
            <a:chExt cx="828056" cy="766869"/>
          </a:xfrm>
        </p:grpSpPr>
        <p:cxnSp>
          <p:nvCxnSpPr>
            <p:cNvPr id="30" name="Straight Connector 29"/>
            <p:cNvCxnSpPr/>
            <p:nvPr/>
          </p:nvCxnSpPr>
          <p:spPr>
            <a:xfrm flipH="1">
              <a:off x="5622498" y="4632740"/>
              <a:ext cx="815798" cy="0"/>
            </a:xfrm>
            <a:prstGeom prst="line">
              <a:avLst/>
            </a:prstGeom>
            <a:ln w="38100">
              <a:solidFill>
                <a:schemeClr val="tx1"/>
              </a:solidFill>
              <a:head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flipH="1" flipV="1">
              <a:off x="5610240" y="4713946"/>
              <a:ext cx="815797" cy="685663"/>
            </a:xfrm>
            <a:prstGeom prst="line">
              <a:avLst/>
            </a:prstGeom>
            <a:ln w="38100">
              <a:solidFill>
                <a:schemeClr val="tx1"/>
              </a:solidFill>
              <a:head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/>
              <p:cNvSpPr/>
              <p:nvPr/>
            </p:nvSpPr>
            <p:spPr>
              <a:xfrm>
                <a:off x="5807901" y="3313584"/>
                <a:ext cx="975780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dirty="0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3200" b="0" i="1" dirty="0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3200" b="0" i="1" dirty="0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  <m:t>𝑡</m:t>
                          </m:r>
                          <m:r>
                            <a:rPr lang="en-US" altLang="zh-CN" sz="3200" b="0" i="1" dirty="0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7901" y="3313584"/>
                <a:ext cx="975780" cy="58477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/>
              <p:cNvSpPr/>
              <p:nvPr/>
            </p:nvSpPr>
            <p:spPr>
              <a:xfrm>
                <a:off x="683415" y="2452474"/>
                <a:ext cx="739305" cy="707886"/>
              </a:xfrm>
              <a:prstGeom prst="rect">
                <a:avLst/>
              </a:prstGeom>
            </p:spPr>
            <p:txBody>
              <a:bodyPr wrap="none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4000" i="1" dirty="0">
                          <a:latin typeface="Cambria Math" charset="0"/>
                        </a:rPr>
                        <m:t>⋯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9" name="Rectangle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415" y="2452474"/>
                <a:ext cx="739305" cy="707886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5" name="Group 44"/>
          <p:cNvGrpSpPr/>
          <p:nvPr/>
        </p:nvGrpSpPr>
        <p:grpSpPr>
          <a:xfrm>
            <a:off x="4692337" y="1703539"/>
            <a:ext cx="1483099" cy="3652067"/>
            <a:chOff x="4780019" y="2804869"/>
            <a:chExt cx="1483099" cy="3652067"/>
          </a:xfrm>
        </p:grpSpPr>
        <p:cxnSp>
          <p:nvCxnSpPr>
            <p:cNvPr id="15" name="Straight Connector 14"/>
            <p:cNvCxnSpPr/>
            <p:nvPr/>
          </p:nvCxnSpPr>
          <p:spPr>
            <a:xfrm flipH="1">
              <a:off x="5521569" y="2804869"/>
              <a:ext cx="2409" cy="3047642"/>
            </a:xfrm>
            <a:prstGeom prst="line">
              <a:avLst/>
            </a:prstGeom>
            <a:ln w="38100"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/>
            <p:cNvSpPr txBox="1"/>
            <p:nvPr/>
          </p:nvSpPr>
          <p:spPr>
            <a:xfrm>
              <a:off x="4780019" y="5933716"/>
              <a:ext cx="148309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800" dirty="0" smtClean="0">
                  <a:solidFill>
                    <a:schemeClr val="accent2">
                      <a:lumMod val="75000"/>
                    </a:schemeClr>
                  </a:solidFill>
                  <a:latin typeface="Lucida Console" charset="0"/>
                  <a:ea typeface="Lucida Console" charset="0"/>
                  <a:cs typeface="Lucida Console" charset="0"/>
                </a:rPr>
                <a:t>Time</a:t>
              </a:r>
              <a:r>
                <a:rPr lang="zh-CN" altLang="en-US" sz="2800" dirty="0" smtClean="0">
                  <a:solidFill>
                    <a:schemeClr val="accent2">
                      <a:lumMod val="75000"/>
                    </a:schemeClr>
                  </a:solidFill>
                  <a:latin typeface="Lucida Console" charset="0"/>
                  <a:ea typeface="Lucida Console" charset="0"/>
                  <a:cs typeface="Lucida Console" charset="0"/>
                </a:rPr>
                <a:t> </a:t>
              </a:r>
              <a:r>
                <a:rPr lang="en-US" altLang="zh-CN" sz="2800" dirty="0" smtClean="0">
                  <a:solidFill>
                    <a:schemeClr val="accent2">
                      <a:lumMod val="75000"/>
                    </a:schemeClr>
                  </a:solidFill>
                  <a:latin typeface="Lucida Console" charset="0"/>
                  <a:ea typeface="Lucida Console" charset="0"/>
                  <a:cs typeface="Lucida Console" charset="0"/>
                </a:rPr>
                <a:t>t</a:t>
              </a:r>
              <a:endParaRPr lang="en-US" sz="2800" dirty="0">
                <a:solidFill>
                  <a:schemeClr val="accent2">
                    <a:lumMod val="75000"/>
                  </a:schemeClr>
                </a:solidFill>
                <a:latin typeface="Lucida Console" charset="0"/>
                <a:ea typeface="Lucida Console" charset="0"/>
                <a:cs typeface="Lucida Console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20381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5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750"/>
                            </p:stCondLst>
                            <p:childTnLst>
                              <p:par>
                                <p:cTn id="12" presetID="35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3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35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6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250"/>
                            </p:stCondLst>
                            <p:childTnLst>
                              <p:par>
                                <p:cTn id="18" presetID="35" presetClass="emph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9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4" grpId="1"/>
      <p:bldP spid="24" grpId="2"/>
      <p:bldP spid="24" grpId="3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Play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game using AI</a:t>
            </a:r>
            <a:endParaRPr lang="en-US" sz="3600" dirty="0">
              <a:solidFill>
                <a:srgbClr val="0070C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28283" y="2371920"/>
            <a:ext cx="6282472" cy="1631854"/>
          </a:xfrm>
          <a:prstGeom prst="rect">
            <a:avLst/>
          </a:prstGeom>
          <a:solidFill>
            <a:schemeClr val="tx2">
              <a:lumMod val="20000"/>
              <a:lumOff val="80000"/>
              <a:alpha val="5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 flipH="1">
            <a:off x="1512766" y="2825035"/>
            <a:ext cx="815798" cy="0"/>
          </a:xfrm>
          <a:prstGeom prst="line">
            <a:avLst/>
          </a:prstGeom>
          <a:ln w="38100">
            <a:solidFill>
              <a:schemeClr val="tx1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3170029" y="2825035"/>
            <a:ext cx="815798" cy="0"/>
          </a:xfrm>
          <a:prstGeom prst="line">
            <a:avLst/>
          </a:prstGeom>
          <a:ln w="38100">
            <a:solidFill>
              <a:schemeClr val="tx1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 flipV="1">
            <a:off x="1512767" y="2923173"/>
            <a:ext cx="815797" cy="685663"/>
          </a:xfrm>
          <a:prstGeom prst="line">
            <a:avLst/>
          </a:prstGeom>
          <a:ln w="38100">
            <a:solidFill>
              <a:schemeClr val="tx1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2290805" y="2516234"/>
                <a:ext cx="1004442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3200" i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3200" b="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𝑡</m:t>
                          </m:r>
                          <m:r>
                            <a:rPr lang="en-US" altLang="zh-CN" sz="3200" b="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0805" y="2516234"/>
                <a:ext cx="1004442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4033327" y="2516234"/>
                <a:ext cx="1054519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dirty="0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3200" b="0" i="1" dirty="0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3200" b="0" i="1" dirty="0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𝑡</m:t>
                          </m:r>
                          <m:r>
                            <a:rPr lang="en-US" altLang="zh-CN" sz="3200" b="0" i="1" dirty="0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3327" y="2516234"/>
                <a:ext cx="1054519" cy="58477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5913411" y="2516233"/>
                <a:ext cx="613309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3200" i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3200" b="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3411" y="2516233"/>
                <a:ext cx="613309" cy="58477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2314719" y="3316448"/>
                <a:ext cx="975780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dirty="0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3200" b="0" i="1" dirty="0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3200" b="0" i="1" dirty="0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  <m:t>𝑡</m:t>
                          </m:r>
                          <m:r>
                            <a:rPr lang="en-US" altLang="zh-CN" sz="3200" b="0" i="1" dirty="0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4719" y="3316448"/>
                <a:ext cx="975780" cy="58477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Group 28"/>
          <p:cNvGrpSpPr/>
          <p:nvPr/>
        </p:nvGrpSpPr>
        <p:grpSpPr>
          <a:xfrm>
            <a:off x="4994780" y="2839103"/>
            <a:ext cx="828056" cy="766869"/>
            <a:chOff x="5610240" y="4632740"/>
            <a:chExt cx="828056" cy="766869"/>
          </a:xfrm>
        </p:grpSpPr>
        <p:cxnSp>
          <p:nvCxnSpPr>
            <p:cNvPr id="30" name="Straight Connector 29"/>
            <p:cNvCxnSpPr/>
            <p:nvPr/>
          </p:nvCxnSpPr>
          <p:spPr>
            <a:xfrm flipH="1">
              <a:off x="5622498" y="4632740"/>
              <a:ext cx="815798" cy="0"/>
            </a:xfrm>
            <a:prstGeom prst="line">
              <a:avLst/>
            </a:prstGeom>
            <a:ln w="38100">
              <a:solidFill>
                <a:schemeClr val="tx1"/>
              </a:solidFill>
              <a:head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flipH="1" flipV="1">
              <a:off x="5610240" y="4713946"/>
              <a:ext cx="815797" cy="685663"/>
            </a:xfrm>
            <a:prstGeom prst="line">
              <a:avLst/>
            </a:prstGeom>
            <a:ln w="38100">
              <a:solidFill>
                <a:schemeClr val="tx1"/>
              </a:solidFill>
              <a:head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/>
              <p:cNvSpPr/>
              <p:nvPr/>
            </p:nvSpPr>
            <p:spPr>
              <a:xfrm>
                <a:off x="5807901" y="3313584"/>
                <a:ext cx="975780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dirty="0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3200" b="0" i="1" dirty="0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3200" b="0" i="1" dirty="0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  <m:t>𝑡</m:t>
                          </m:r>
                          <m:r>
                            <a:rPr lang="en-US" altLang="zh-CN" sz="3200" b="0" i="1" dirty="0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7901" y="3313584"/>
                <a:ext cx="975780" cy="58477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/>
              <p:cNvSpPr/>
              <p:nvPr/>
            </p:nvSpPr>
            <p:spPr>
              <a:xfrm>
                <a:off x="683415" y="2452474"/>
                <a:ext cx="739305" cy="707886"/>
              </a:xfrm>
              <a:prstGeom prst="rect">
                <a:avLst/>
              </a:prstGeom>
            </p:spPr>
            <p:txBody>
              <a:bodyPr wrap="none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4000" i="1" dirty="0">
                          <a:latin typeface="Cambria Math" charset="0"/>
                        </a:rPr>
                        <m:t>⋯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9" name="Rectangle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415" y="2452474"/>
                <a:ext cx="739305" cy="707886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Connector 45"/>
          <p:cNvCxnSpPr/>
          <p:nvPr/>
        </p:nvCxnSpPr>
        <p:spPr>
          <a:xfrm flipH="1">
            <a:off x="6503996" y="2827381"/>
            <a:ext cx="815798" cy="0"/>
          </a:xfrm>
          <a:prstGeom prst="line">
            <a:avLst/>
          </a:prstGeom>
          <a:ln w="38100">
            <a:solidFill>
              <a:schemeClr val="tx1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/>
              <p:cNvSpPr/>
              <p:nvPr/>
            </p:nvSpPr>
            <p:spPr>
              <a:xfrm>
                <a:off x="7334577" y="2516233"/>
                <a:ext cx="663387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dirty="0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3200" b="0" i="1" dirty="0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3200" b="0" i="1" dirty="0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7" name="Rectangle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4577" y="2516233"/>
                <a:ext cx="663387" cy="584775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/>
              <p:cNvSpPr/>
              <p:nvPr/>
            </p:nvSpPr>
            <p:spPr>
              <a:xfrm>
                <a:off x="6645682" y="2320509"/>
                <a:ext cx="530145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320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𝜋</m:t>
                      </m:r>
                    </m:oMath>
                  </m:oMathPara>
                </a14:m>
                <a:endParaRPr lang="en-US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5682" y="2320509"/>
                <a:ext cx="530145" cy="584775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Group 34"/>
          <p:cNvGrpSpPr/>
          <p:nvPr/>
        </p:nvGrpSpPr>
        <p:grpSpPr>
          <a:xfrm>
            <a:off x="4692337" y="1703539"/>
            <a:ext cx="1483099" cy="3652067"/>
            <a:chOff x="4780019" y="2804869"/>
            <a:chExt cx="1483099" cy="3652067"/>
          </a:xfrm>
        </p:grpSpPr>
        <p:cxnSp>
          <p:nvCxnSpPr>
            <p:cNvPr id="36" name="Straight Connector 35"/>
            <p:cNvCxnSpPr/>
            <p:nvPr/>
          </p:nvCxnSpPr>
          <p:spPr>
            <a:xfrm flipH="1">
              <a:off x="5521569" y="2804869"/>
              <a:ext cx="2409" cy="3047642"/>
            </a:xfrm>
            <a:prstGeom prst="line">
              <a:avLst/>
            </a:prstGeom>
            <a:ln w="38100"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/>
            <p:cNvSpPr txBox="1"/>
            <p:nvPr/>
          </p:nvSpPr>
          <p:spPr>
            <a:xfrm>
              <a:off x="4780019" y="5933716"/>
              <a:ext cx="148309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800" dirty="0" smtClean="0">
                  <a:solidFill>
                    <a:schemeClr val="accent2">
                      <a:lumMod val="75000"/>
                    </a:schemeClr>
                  </a:solidFill>
                  <a:latin typeface="Lucida Console" charset="0"/>
                  <a:ea typeface="Lucida Console" charset="0"/>
                  <a:cs typeface="Lucida Console" charset="0"/>
                </a:rPr>
                <a:t>Time</a:t>
              </a:r>
              <a:r>
                <a:rPr lang="zh-CN" altLang="en-US" sz="2800" dirty="0" smtClean="0">
                  <a:solidFill>
                    <a:schemeClr val="accent2">
                      <a:lumMod val="75000"/>
                    </a:schemeClr>
                  </a:solidFill>
                  <a:latin typeface="Lucida Console" charset="0"/>
                  <a:ea typeface="Lucida Console" charset="0"/>
                  <a:cs typeface="Lucida Console" charset="0"/>
                </a:rPr>
                <a:t> </a:t>
              </a:r>
              <a:r>
                <a:rPr lang="en-US" altLang="zh-CN" sz="2800" dirty="0" smtClean="0">
                  <a:solidFill>
                    <a:schemeClr val="accent2">
                      <a:lumMod val="75000"/>
                    </a:schemeClr>
                  </a:solidFill>
                  <a:latin typeface="Lucida Console" charset="0"/>
                  <a:ea typeface="Lucida Console" charset="0"/>
                  <a:cs typeface="Lucida Console" charset="0"/>
                </a:rPr>
                <a:t>t</a:t>
              </a:r>
              <a:endParaRPr lang="en-US" sz="2800" dirty="0">
                <a:solidFill>
                  <a:schemeClr val="accent2">
                    <a:lumMod val="75000"/>
                  </a:schemeClr>
                </a:solidFill>
                <a:latin typeface="Lucida Console" charset="0"/>
                <a:ea typeface="Lucida Console" charset="0"/>
                <a:cs typeface="Lucida Console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52826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35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35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35" presetClass="emph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0"/>
                            </p:stCondLst>
                            <p:childTnLst>
                              <p:par>
                                <p:cTn id="2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4" grpId="1"/>
      <p:bldP spid="24" grpId="2"/>
      <p:bldP spid="24" grpId="3"/>
      <p:bldP spid="47" grpId="0"/>
      <p:bldP spid="34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6910755" y="2371920"/>
            <a:ext cx="1469157" cy="1631854"/>
          </a:xfrm>
          <a:prstGeom prst="rect">
            <a:avLst/>
          </a:prstGeom>
          <a:solidFill>
            <a:schemeClr val="tx2">
              <a:lumMod val="20000"/>
              <a:lumOff val="80000"/>
              <a:alpha val="5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Play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game using AI</a:t>
            </a:r>
            <a:endParaRPr lang="en-US" sz="3600" dirty="0">
              <a:solidFill>
                <a:srgbClr val="0070C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28283" y="2371920"/>
            <a:ext cx="6282472" cy="1631854"/>
          </a:xfrm>
          <a:prstGeom prst="rect">
            <a:avLst/>
          </a:prstGeom>
          <a:solidFill>
            <a:schemeClr val="tx2">
              <a:lumMod val="20000"/>
              <a:lumOff val="80000"/>
              <a:alpha val="5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 flipH="1">
            <a:off x="1512766" y="2825035"/>
            <a:ext cx="815798" cy="0"/>
          </a:xfrm>
          <a:prstGeom prst="line">
            <a:avLst/>
          </a:prstGeom>
          <a:ln w="38100">
            <a:solidFill>
              <a:schemeClr val="tx1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3170029" y="2825035"/>
            <a:ext cx="815798" cy="0"/>
          </a:xfrm>
          <a:prstGeom prst="line">
            <a:avLst/>
          </a:prstGeom>
          <a:ln w="38100">
            <a:solidFill>
              <a:schemeClr val="tx1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 flipV="1">
            <a:off x="1512767" y="2923173"/>
            <a:ext cx="815797" cy="685663"/>
          </a:xfrm>
          <a:prstGeom prst="line">
            <a:avLst/>
          </a:prstGeom>
          <a:ln w="38100">
            <a:solidFill>
              <a:schemeClr val="tx1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2290805" y="2516234"/>
                <a:ext cx="1004442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3200" i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3200" b="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𝑡</m:t>
                          </m:r>
                          <m:r>
                            <a:rPr lang="en-US" altLang="zh-CN" sz="3200" b="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0805" y="2516234"/>
                <a:ext cx="1004442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4033327" y="2516234"/>
                <a:ext cx="1054519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dirty="0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3200" b="0" i="1" dirty="0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3200" b="0" i="1" dirty="0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𝑡</m:t>
                          </m:r>
                          <m:r>
                            <a:rPr lang="en-US" altLang="zh-CN" sz="3200" b="0" i="1" dirty="0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3327" y="2516234"/>
                <a:ext cx="1054519" cy="58477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5913411" y="2516233"/>
                <a:ext cx="613309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3200" i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3200" b="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3411" y="2516233"/>
                <a:ext cx="613309" cy="58477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2314719" y="3316448"/>
                <a:ext cx="975780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dirty="0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3200" b="0" i="1" dirty="0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3200" b="0" i="1" dirty="0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  <m:t>𝑡</m:t>
                          </m:r>
                          <m:r>
                            <a:rPr lang="en-US" altLang="zh-CN" sz="3200" b="0" i="1" dirty="0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4719" y="3316448"/>
                <a:ext cx="975780" cy="58477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Group 28"/>
          <p:cNvGrpSpPr/>
          <p:nvPr/>
        </p:nvGrpSpPr>
        <p:grpSpPr>
          <a:xfrm>
            <a:off x="4994780" y="2839103"/>
            <a:ext cx="828056" cy="766869"/>
            <a:chOff x="5610240" y="4632740"/>
            <a:chExt cx="828056" cy="766869"/>
          </a:xfrm>
        </p:grpSpPr>
        <p:cxnSp>
          <p:nvCxnSpPr>
            <p:cNvPr id="30" name="Straight Connector 29"/>
            <p:cNvCxnSpPr/>
            <p:nvPr/>
          </p:nvCxnSpPr>
          <p:spPr>
            <a:xfrm flipH="1">
              <a:off x="5622498" y="4632740"/>
              <a:ext cx="815798" cy="0"/>
            </a:xfrm>
            <a:prstGeom prst="line">
              <a:avLst/>
            </a:prstGeom>
            <a:ln w="38100">
              <a:solidFill>
                <a:schemeClr val="tx1"/>
              </a:solidFill>
              <a:head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flipH="1" flipV="1">
              <a:off x="5610240" y="4713946"/>
              <a:ext cx="815797" cy="685663"/>
            </a:xfrm>
            <a:prstGeom prst="line">
              <a:avLst/>
            </a:prstGeom>
            <a:ln w="38100">
              <a:solidFill>
                <a:schemeClr val="tx1"/>
              </a:solidFill>
              <a:head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/>
              <p:cNvSpPr/>
              <p:nvPr/>
            </p:nvSpPr>
            <p:spPr>
              <a:xfrm>
                <a:off x="5807901" y="3313584"/>
                <a:ext cx="975780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dirty="0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3200" b="0" i="1" dirty="0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3200" b="0" i="1" dirty="0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  <m:t>𝑡</m:t>
                          </m:r>
                          <m:r>
                            <a:rPr lang="en-US" altLang="zh-CN" sz="3200" b="0" i="1" dirty="0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7901" y="3313584"/>
                <a:ext cx="975780" cy="58477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/>
              <p:cNvSpPr/>
              <p:nvPr/>
            </p:nvSpPr>
            <p:spPr>
              <a:xfrm>
                <a:off x="683415" y="2452474"/>
                <a:ext cx="739305" cy="707886"/>
              </a:xfrm>
              <a:prstGeom prst="rect">
                <a:avLst/>
              </a:prstGeom>
            </p:spPr>
            <p:txBody>
              <a:bodyPr wrap="none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4000" i="1" dirty="0">
                          <a:latin typeface="Cambria Math" charset="0"/>
                        </a:rPr>
                        <m:t>⋯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9" name="Rectangle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415" y="2452474"/>
                <a:ext cx="739305" cy="707886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Connector 45"/>
          <p:cNvCxnSpPr/>
          <p:nvPr/>
        </p:nvCxnSpPr>
        <p:spPr>
          <a:xfrm flipH="1">
            <a:off x="6503996" y="2827381"/>
            <a:ext cx="815798" cy="0"/>
          </a:xfrm>
          <a:prstGeom prst="line">
            <a:avLst/>
          </a:prstGeom>
          <a:ln w="38100">
            <a:solidFill>
              <a:schemeClr val="tx1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/>
              <p:cNvSpPr/>
              <p:nvPr/>
            </p:nvSpPr>
            <p:spPr>
              <a:xfrm>
                <a:off x="7334577" y="2516233"/>
                <a:ext cx="663387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dirty="0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3200" b="0" i="1" dirty="0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3200" b="0" i="1" dirty="0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7" name="Rectangle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4577" y="2516233"/>
                <a:ext cx="663387" cy="584775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8846730" y="2516233"/>
                <a:ext cx="1025281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3200" b="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3200" b="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𝑡</m:t>
                          </m:r>
                          <m:r>
                            <a:rPr lang="en-US" altLang="zh-CN" sz="3200" b="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6730" y="2516233"/>
                <a:ext cx="1025281" cy="584775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Connector 32"/>
          <p:cNvCxnSpPr/>
          <p:nvPr/>
        </p:nvCxnSpPr>
        <p:spPr>
          <a:xfrm flipH="1">
            <a:off x="8008882" y="2839103"/>
            <a:ext cx="815798" cy="0"/>
          </a:xfrm>
          <a:prstGeom prst="line">
            <a:avLst/>
          </a:prstGeom>
          <a:ln w="38100">
            <a:solidFill>
              <a:schemeClr val="tx1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H="1" flipV="1">
            <a:off x="7994063" y="2920309"/>
            <a:ext cx="815797" cy="685663"/>
          </a:xfrm>
          <a:prstGeom prst="line">
            <a:avLst/>
          </a:prstGeom>
          <a:ln w="38100">
            <a:solidFill>
              <a:schemeClr val="tx1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/>
              <p:cNvSpPr/>
              <p:nvPr/>
            </p:nvSpPr>
            <p:spPr>
              <a:xfrm>
                <a:off x="8979798" y="3313584"/>
                <a:ext cx="584647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dirty="0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3200" b="0" i="1" dirty="0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3200" b="0" i="1" dirty="0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37" name="Rectangle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9798" y="3313584"/>
                <a:ext cx="584647" cy="584775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/>
              <p:cNvSpPr/>
              <p:nvPr/>
            </p:nvSpPr>
            <p:spPr>
              <a:xfrm>
                <a:off x="8111224" y="2257879"/>
                <a:ext cx="511870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3200" b="0" i="1" dirty="0" smtClean="0">
                          <a:latin typeface="Cambria Math" charset="0"/>
                        </a:rPr>
                        <m:t>𝑝</m:t>
                      </m:r>
                    </m:oMath>
                  </m:oMathPara>
                </a14:m>
                <a:endParaRPr lang="en-US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8" name="Rectangle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1224" y="2257879"/>
                <a:ext cx="511870" cy="584775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" name="Group 40"/>
          <p:cNvGrpSpPr/>
          <p:nvPr/>
        </p:nvGrpSpPr>
        <p:grpSpPr>
          <a:xfrm>
            <a:off x="4692337" y="1703539"/>
            <a:ext cx="1483099" cy="3652067"/>
            <a:chOff x="4780019" y="2804869"/>
            <a:chExt cx="1483099" cy="3652067"/>
          </a:xfrm>
        </p:grpSpPr>
        <p:cxnSp>
          <p:nvCxnSpPr>
            <p:cNvPr id="42" name="Straight Connector 41"/>
            <p:cNvCxnSpPr/>
            <p:nvPr/>
          </p:nvCxnSpPr>
          <p:spPr>
            <a:xfrm flipH="1">
              <a:off x="5521569" y="2804869"/>
              <a:ext cx="2409" cy="3047642"/>
            </a:xfrm>
            <a:prstGeom prst="line">
              <a:avLst/>
            </a:prstGeom>
            <a:ln w="38100"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/>
            <p:cNvSpPr txBox="1"/>
            <p:nvPr/>
          </p:nvSpPr>
          <p:spPr>
            <a:xfrm>
              <a:off x="4780019" y="5933716"/>
              <a:ext cx="148309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800" dirty="0" smtClean="0">
                  <a:solidFill>
                    <a:schemeClr val="accent2">
                      <a:lumMod val="75000"/>
                    </a:schemeClr>
                  </a:solidFill>
                  <a:latin typeface="Lucida Console" charset="0"/>
                  <a:ea typeface="Lucida Console" charset="0"/>
                  <a:cs typeface="Lucida Console" charset="0"/>
                </a:rPr>
                <a:t>Time</a:t>
              </a:r>
              <a:r>
                <a:rPr lang="zh-CN" altLang="en-US" sz="2800" dirty="0" smtClean="0">
                  <a:solidFill>
                    <a:schemeClr val="accent2">
                      <a:lumMod val="75000"/>
                    </a:schemeClr>
                  </a:solidFill>
                  <a:latin typeface="Lucida Console" charset="0"/>
                  <a:ea typeface="Lucida Console" charset="0"/>
                  <a:cs typeface="Lucida Console" charset="0"/>
                </a:rPr>
                <a:t> </a:t>
              </a:r>
              <a:r>
                <a:rPr lang="en-US" altLang="zh-CN" sz="2800" dirty="0" smtClean="0">
                  <a:solidFill>
                    <a:schemeClr val="accent2">
                      <a:lumMod val="75000"/>
                    </a:schemeClr>
                  </a:solidFill>
                  <a:latin typeface="Lucida Console" charset="0"/>
                  <a:ea typeface="Lucida Console" charset="0"/>
                  <a:cs typeface="Lucida Console" charset="0"/>
                </a:rPr>
                <a:t>t</a:t>
              </a:r>
              <a:endParaRPr lang="en-US" sz="2800" dirty="0">
                <a:solidFill>
                  <a:schemeClr val="accent2">
                    <a:lumMod val="75000"/>
                  </a:schemeClr>
                </a:solidFill>
                <a:latin typeface="Lucida Console" charset="0"/>
                <a:ea typeface="Lucida Console" charset="0"/>
                <a:cs typeface="Lucida Console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09484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5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" presetID="35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35" presetClass="emph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47" grpId="0"/>
      <p:bldP spid="47" grpId="1"/>
      <p:bldP spid="47" grpId="3"/>
      <p:bldP spid="26" grpId="0"/>
      <p:bldP spid="37" grpId="0"/>
      <p:bldP spid="38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/>
        </p:nvSpPr>
        <p:spPr>
          <a:xfrm>
            <a:off x="8379912" y="2371920"/>
            <a:ext cx="1729288" cy="1631854"/>
          </a:xfrm>
          <a:prstGeom prst="rect">
            <a:avLst/>
          </a:prstGeom>
          <a:solidFill>
            <a:schemeClr val="tx2">
              <a:lumMod val="20000"/>
              <a:lumOff val="80000"/>
              <a:alpha val="5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6910755" y="2371920"/>
            <a:ext cx="1469157" cy="1631854"/>
          </a:xfrm>
          <a:prstGeom prst="rect">
            <a:avLst/>
          </a:prstGeom>
          <a:solidFill>
            <a:schemeClr val="tx2">
              <a:lumMod val="20000"/>
              <a:lumOff val="80000"/>
              <a:alpha val="5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Play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game using AI</a:t>
            </a:r>
            <a:endParaRPr lang="en-US" sz="3600" dirty="0">
              <a:solidFill>
                <a:srgbClr val="0070C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28283" y="2371920"/>
            <a:ext cx="6282472" cy="1631854"/>
          </a:xfrm>
          <a:prstGeom prst="rect">
            <a:avLst/>
          </a:prstGeom>
          <a:solidFill>
            <a:schemeClr val="tx2">
              <a:lumMod val="20000"/>
              <a:lumOff val="80000"/>
              <a:alpha val="5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 flipH="1">
            <a:off x="1512766" y="2825035"/>
            <a:ext cx="815798" cy="0"/>
          </a:xfrm>
          <a:prstGeom prst="line">
            <a:avLst/>
          </a:prstGeom>
          <a:ln w="38100">
            <a:solidFill>
              <a:schemeClr val="tx1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3170029" y="2825035"/>
            <a:ext cx="815798" cy="0"/>
          </a:xfrm>
          <a:prstGeom prst="line">
            <a:avLst/>
          </a:prstGeom>
          <a:ln w="38100">
            <a:solidFill>
              <a:schemeClr val="tx1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 flipV="1">
            <a:off x="1512767" y="2923173"/>
            <a:ext cx="815797" cy="685663"/>
          </a:xfrm>
          <a:prstGeom prst="line">
            <a:avLst/>
          </a:prstGeom>
          <a:ln w="38100">
            <a:solidFill>
              <a:schemeClr val="tx1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2290805" y="2516234"/>
                <a:ext cx="1004442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3200" i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3200" b="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𝑡</m:t>
                          </m:r>
                          <m:r>
                            <a:rPr lang="en-US" altLang="zh-CN" sz="3200" b="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0805" y="2516234"/>
                <a:ext cx="1004442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4033327" y="2516234"/>
                <a:ext cx="1054519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dirty="0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3200" b="0" i="1" dirty="0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3200" b="0" i="1" dirty="0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𝑡</m:t>
                          </m:r>
                          <m:r>
                            <a:rPr lang="en-US" altLang="zh-CN" sz="3200" b="0" i="1" dirty="0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3327" y="2516234"/>
                <a:ext cx="1054519" cy="58477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5913411" y="2516233"/>
                <a:ext cx="613309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3200" i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3200" b="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3411" y="2516233"/>
                <a:ext cx="613309" cy="58477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2314719" y="3316448"/>
                <a:ext cx="975780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dirty="0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3200" b="0" i="1" dirty="0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3200" b="0" i="1" dirty="0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  <m:t>𝑡</m:t>
                          </m:r>
                          <m:r>
                            <a:rPr lang="en-US" altLang="zh-CN" sz="3200" b="0" i="1" dirty="0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4719" y="3316448"/>
                <a:ext cx="975780" cy="58477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Group 28"/>
          <p:cNvGrpSpPr/>
          <p:nvPr/>
        </p:nvGrpSpPr>
        <p:grpSpPr>
          <a:xfrm>
            <a:off x="4994780" y="2839103"/>
            <a:ext cx="828056" cy="766869"/>
            <a:chOff x="5610240" y="4632740"/>
            <a:chExt cx="828056" cy="766869"/>
          </a:xfrm>
        </p:grpSpPr>
        <p:cxnSp>
          <p:nvCxnSpPr>
            <p:cNvPr id="30" name="Straight Connector 29"/>
            <p:cNvCxnSpPr/>
            <p:nvPr/>
          </p:nvCxnSpPr>
          <p:spPr>
            <a:xfrm flipH="1">
              <a:off x="5622498" y="4632740"/>
              <a:ext cx="815798" cy="0"/>
            </a:xfrm>
            <a:prstGeom prst="line">
              <a:avLst/>
            </a:prstGeom>
            <a:ln w="38100">
              <a:solidFill>
                <a:schemeClr val="tx1"/>
              </a:solidFill>
              <a:head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flipH="1" flipV="1">
              <a:off x="5610240" y="4713946"/>
              <a:ext cx="815797" cy="685663"/>
            </a:xfrm>
            <a:prstGeom prst="line">
              <a:avLst/>
            </a:prstGeom>
            <a:ln w="38100">
              <a:solidFill>
                <a:schemeClr val="tx1"/>
              </a:solidFill>
              <a:head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/>
              <p:cNvSpPr/>
              <p:nvPr/>
            </p:nvSpPr>
            <p:spPr>
              <a:xfrm>
                <a:off x="5807901" y="3313584"/>
                <a:ext cx="975780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dirty="0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3200" b="0" i="1" dirty="0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3200" b="0" i="1" dirty="0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  <m:t>𝑡</m:t>
                          </m:r>
                          <m:r>
                            <a:rPr lang="en-US" altLang="zh-CN" sz="3200" b="0" i="1" dirty="0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7901" y="3313584"/>
                <a:ext cx="975780" cy="58477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/>
              <p:cNvSpPr/>
              <p:nvPr/>
            </p:nvSpPr>
            <p:spPr>
              <a:xfrm>
                <a:off x="683415" y="2452474"/>
                <a:ext cx="739305" cy="707886"/>
              </a:xfrm>
              <a:prstGeom prst="rect">
                <a:avLst/>
              </a:prstGeom>
            </p:spPr>
            <p:txBody>
              <a:bodyPr wrap="none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4000" i="1" dirty="0">
                          <a:latin typeface="Cambria Math" charset="0"/>
                        </a:rPr>
                        <m:t>⋯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9" name="Rectangle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415" y="2452474"/>
                <a:ext cx="739305" cy="707886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Connector 45"/>
          <p:cNvCxnSpPr/>
          <p:nvPr/>
        </p:nvCxnSpPr>
        <p:spPr>
          <a:xfrm flipH="1">
            <a:off x="6503996" y="2827381"/>
            <a:ext cx="815798" cy="0"/>
          </a:xfrm>
          <a:prstGeom prst="line">
            <a:avLst/>
          </a:prstGeom>
          <a:ln w="38100">
            <a:solidFill>
              <a:schemeClr val="tx1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/>
              <p:cNvSpPr/>
              <p:nvPr/>
            </p:nvSpPr>
            <p:spPr>
              <a:xfrm>
                <a:off x="7334577" y="2516233"/>
                <a:ext cx="663387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dirty="0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3200" b="0" i="1" dirty="0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3200" b="0" i="1" dirty="0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7" name="Rectangle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4577" y="2516233"/>
                <a:ext cx="663387" cy="584775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8846730" y="2516233"/>
                <a:ext cx="1025281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3200" b="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3200" b="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𝑡</m:t>
                          </m:r>
                          <m:r>
                            <a:rPr lang="en-US" altLang="zh-CN" sz="3200" b="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6730" y="2516233"/>
                <a:ext cx="1025281" cy="584775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Connector 32"/>
          <p:cNvCxnSpPr/>
          <p:nvPr/>
        </p:nvCxnSpPr>
        <p:spPr>
          <a:xfrm flipH="1">
            <a:off x="8008882" y="2839103"/>
            <a:ext cx="815798" cy="0"/>
          </a:xfrm>
          <a:prstGeom prst="line">
            <a:avLst/>
          </a:prstGeom>
          <a:ln w="38100">
            <a:solidFill>
              <a:schemeClr val="tx1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H="1" flipV="1">
            <a:off x="7994063" y="2920309"/>
            <a:ext cx="815797" cy="685663"/>
          </a:xfrm>
          <a:prstGeom prst="line">
            <a:avLst/>
          </a:prstGeom>
          <a:ln w="38100">
            <a:solidFill>
              <a:schemeClr val="tx1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/>
              <p:cNvSpPr/>
              <p:nvPr/>
            </p:nvSpPr>
            <p:spPr>
              <a:xfrm>
                <a:off x="8979798" y="3313584"/>
                <a:ext cx="584647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dirty="0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3200" b="0" i="1" dirty="0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3200" b="0" i="1" dirty="0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37" name="Rectangle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9798" y="3313584"/>
                <a:ext cx="584647" cy="584775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" name="Group 40"/>
          <p:cNvGrpSpPr/>
          <p:nvPr/>
        </p:nvGrpSpPr>
        <p:grpSpPr>
          <a:xfrm>
            <a:off x="4692337" y="1703539"/>
            <a:ext cx="1483099" cy="3652067"/>
            <a:chOff x="4780019" y="2804869"/>
            <a:chExt cx="1483099" cy="3652067"/>
          </a:xfrm>
        </p:grpSpPr>
        <p:cxnSp>
          <p:nvCxnSpPr>
            <p:cNvPr id="42" name="Straight Connector 41"/>
            <p:cNvCxnSpPr/>
            <p:nvPr/>
          </p:nvCxnSpPr>
          <p:spPr>
            <a:xfrm flipH="1">
              <a:off x="5521569" y="2804869"/>
              <a:ext cx="2409" cy="3047642"/>
            </a:xfrm>
            <a:prstGeom prst="line">
              <a:avLst/>
            </a:prstGeom>
            <a:ln w="38100"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/>
            <p:cNvSpPr txBox="1"/>
            <p:nvPr/>
          </p:nvSpPr>
          <p:spPr>
            <a:xfrm>
              <a:off x="4780019" y="5933716"/>
              <a:ext cx="148309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800" dirty="0" smtClean="0">
                  <a:solidFill>
                    <a:schemeClr val="accent2">
                      <a:lumMod val="75000"/>
                    </a:schemeClr>
                  </a:solidFill>
                  <a:latin typeface="Lucida Console" charset="0"/>
                  <a:ea typeface="Lucida Console" charset="0"/>
                  <a:cs typeface="Lucida Console" charset="0"/>
                </a:rPr>
                <a:t>Time</a:t>
              </a:r>
              <a:r>
                <a:rPr lang="zh-CN" altLang="en-US" sz="2800" dirty="0" smtClean="0">
                  <a:solidFill>
                    <a:schemeClr val="accent2">
                      <a:lumMod val="75000"/>
                    </a:schemeClr>
                  </a:solidFill>
                  <a:latin typeface="Lucida Console" charset="0"/>
                  <a:ea typeface="Lucida Console" charset="0"/>
                  <a:cs typeface="Lucida Console" charset="0"/>
                </a:rPr>
                <a:t> </a:t>
              </a:r>
              <a:r>
                <a:rPr lang="en-US" altLang="zh-CN" sz="2800" dirty="0" smtClean="0">
                  <a:solidFill>
                    <a:schemeClr val="accent2">
                      <a:lumMod val="75000"/>
                    </a:schemeClr>
                  </a:solidFill>
                  <a:latin typeface="Lucida Console" charset="0"/>
                  <a:ea typeface="Lucida Console" charset="0"/>
                  <a:cs typeface="Lucida Console" charset="0"/>
                </a:rPr>
                <a:t>t</a:t>
              </a:r>
              <a:endParaRPr lang="en-US" sz="2800" dirty="0">
                <a:solidFill>
                  <a:schemeClr val="accent2">
                    <a:lumMod val="75000"/>
                  </a:schemeClr>
                </a:solidFill>
                <a:latin typeface="Lucida Console" charset="0"/>
                <a:ea typeface="Lucida Console" charset="0"/>
                <a:cs typeface="Lucida Console" charset="0"/>
              </a:endParaRP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7421958" y="1703539"/>
            <a:ext cx="1915909" cy="3652067"/>
            <a:chOff x="4563615" y="2804869"/>
            <a:chExt cx="1915909" cy="3652067"/>
          </a:xfrm>
        </p:grpSpPr>
        <p:cxnSp>
          <p:nvCxnSpPr>
            <p:cNvPr id="48" name="Straight Connector 47"/>
            <p:cNvCxnSpPr/>
            <p:nvPr/>
          </p:nvCxnSpPr>
          <p:spPr>
            <a:xfrm flipH="1">
              <a:off x="5521569" y="2804869"/>
              <a:ext cx="2409" cy="3047642"/>
            </a:xfrm>
            <a:prstGeom prst="line">
              <a:avLst/>
            </a:prstGeom>
            <a:ln w="38100"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/>
            <p:cNvSpPr txBox="1"/>
            <p:nvPr/>
          </p:nvSpPr>
          <p:spPr>
            <a:xfrm>
              <a:off x="4563615" y="5933716"/>
              <a:ext cx="191590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800" dirty="0" smtClean="0">
                  <a:solidFill>
                    <a:schemeClr val="accent2">
                      <a:lumMod val="75000"/>
                    </a:schemeClr>
                  </a:solidFill>
                  <a:latin typeface="Lucida Console" charset="0"/>
                  <a:ea typeface="Lucida Console" charset="0"/>
                  <a:cs typeface="Lucida Console" charset="0"/>
                </a:rPr>
                <a:t>Time</a:t>
              </a:r>
              <a:r>
                <a:rPr lang="zh-CN" altLang="en-US" sz="2800" dirty="0" smtClean="0">
                  <a:solidFill>
                    <a:schemeClr val="accent2">
                      <a:lumMod val="75000"/>
                    </a:schemeClr>
                  </a:solidFill>
                  <a:latin typeface="Lucida Console" charset="0"/>
                  <a:ea typeface="Lucida Console" charset="0"/>
                  <a:cs typeface="Lucida Console" charset="0"/>
                </a:rPr>
                <a:t> </a:t>
              </a:r>
              <a:r>
                <a:rPr lang="en-US" altLang="zh-CN" sz="2800" dirty="0" smtClean="0">
                  <a:solidFill>
                    <a:schemeClr val="accent2">
                      <a:lumMod val="75000"/>
                    </a:schemeClr>
                  </a:solidFill>
                  <a:latin typeface="Lucida Console" charset="0"/>
                  <a:ea typeface="Lucida Console" charset="0"/>
                  <a:cs typeface="Lucida Console" charset="0"/>
                </a:rPr>
                <a:t>t+1</a:t>
              </a:r>
              <a:endParaRPr lang="en-US" sz="2800" dirty="0">
                <a:solidFill>
                  <a:schemeClr val="accent2">
                    <a:lumMod val="75000"/>
                  </a:schemeClr>
                </a:solidFill>
                <a:latin typeface="Lucida Console" charset="0"/>
                <a:ea typeface="Lucida Console" charset="0"/>
                <a:cs typeface="Lucida Console" charset="0"/>
              </a:endParaRPr>
            </a:p>
          </p:txBody>
        </p:sp>
      </p:grpSp>
      <p:cxnSp>
        <p:nvCxnSpPr>
          <p:cNvPr id="50" name="Straight Connector 49"/>
          <p:cNvCxnSpPr/>
          <p:nvPr/>
        </p:nvCxnSpPr>
        <p:spPr>
          <a:xfrm flipH="1">
            <a:off x="9753715" y="2839103"/>
            <a:ext cx="815798" cy="0"/>
          </a:xfrm>
          <a:prstGeom prst="line">
            <a:avLst/>
          </a:prstGeom>
          <a:ln w="38100">
            <a:solidFill>
              <a:schemeClr val="tx1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50"/>
              <p:cNvSpPr/>
              <p:nvPr/>
            </p:nvSpPr>
            <p:spPr>
              <a:xfrm>
                <a:off x="10646532" y="2471092"/>
                <a:ext cx="739305" cy="707886"/>
              </a:xfrm>
              <a:prstGeom prst="rect">
                <a:avLst/>
              </a:prstGeom>
            </p:spPr>
            <p:txBody>
              <a:bodyPr wrap="none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4000" i="1" dirty="0">
                          <a:latin typeface="Cambria Math" charset="0"/>
                        </a:rPr>
                        <m:t>⋯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51" name="Rectangle 5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6532" y="2471092"/>
                <a:ext cx="739305" cy="707886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6821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51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469106" y="2185353"/>
            <a:ext cx="11377612" cy="1963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4000" b="1" dirty="0" smtClean="0">
                <a:latin typeface="Lucida Bright" charset="0"/>
                <a:ea typeface="Lucida Bright" charset="0"/>
                <a:cs typeface="Lucida Bright" charset="0"/>
              </a:rPr>
              <a:t>Thank</a:t>
            </a:r>
            <a:r>
              <a:rPr lang="zh-CN" altLang="en-US" sz="4000" b="1" dirty="0" smtClean="0">
                <a:latin typeface="Lucida Bright" charset="0"/>
                <a:ea typeface="Lucida Bright" charset="0"/>
                <a:cs typeface="Lucida Bright" charset="0"/>
              </a:rPr>
              <a:t> </a:t>
            </a:r>
            <a:r>
              <a:rPr lang="en-US" altLang="zh-CN" sz="4000" b="1" dirty="0" smtClean="0">
                <a:latin typeface="Lucida Bright" charset="0"/>
                <a:ea typeface="Lucida Bright" charset="0"/>
                <a:cs typeface="Lucida Bright" charset="0"/>
              </a:rPr>
              <a:t>You!</a:t>
            </a:r>
            <a:endParaRPr lang="en-US" sz="4000" b="1" dirty="0">
              <a:latin typeface="Lucida Bright" charset="0"/>
              <a:ea typeface="Lucida Bright" charset="0"/>
              <a:cs typeface="Lucida Bright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911143" y="6457890"/>
            <a:ext cx="449353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http://wangshusen.github.io/</a:t>
            </a:r>
            <a:endParaRPr 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Courier New" charset="0"/>
              <a:ea typeface="Courier New" charset="0"/>
              <a:cs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3444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58119</TotalTime>
  <Words>10580</Words>
  <Application>Microsoft Macintosh PowerPoint</Application>
  <PresentationFormat>Widescreen</PresentationFormat>
  <Paragraphs>2750</Paragraphs>
  <Slides>95</Slides>
  <Notes>95</Notes>
  <HiddenSlides>0</HiddenSlides>
  <MMClips>10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95</vt:i4>
      </vt:variant>
    </vt:vector>
  </HeadingPairs>
  <TitlesOfParts>
    <vt:vector size="110" baseType="lpstr">
      <vt:lpstr>Abadi MT Condensed Light</vt:lpstr>
      <vt:lpstr>Baghdad</vt:lpstr>
      <vt:lpstr>Calibri</vt:lpstr>
      <vt:lpstr>Calibri Light</vt:lpstr>
      <vt:lpstr>Cambria Math</vt:lpstr>
      <vt:lpstr>Courier New</vt:lpstr>
      <vt:lpstr>DengXian</vt:lpstr>
      <vt:lpstr>DengXian Light</vt:lpstr>
      <vt:lpstr>Lucida Bright</vt:lpstr>
      <vt:lpstr>Lucida Console</vt:lpstr>
      <vt:lpstr>Mangal</vt:lpstr>
      <vt:lpstr>Weibei SC</vt:lpstr>
      <vt:lpstr>Wingdings</vt:lpstr>
      <vt:lpstr>Arial</vt:lpstr>
      <vt:lpstr>Office Theme</vt:lpstr>
      <vt:lpstr>Reinforcement Learning Basics</vt:lpstr>
      <vt:lpstr>A little bit probability theory…</vt:lpstr>
      <vt:lpstr>Random Variable</vt:lpstr>
      <vt:lpstr>Random Variable</vt:lpstr>
      <vt:lpstr>Probability Density Function (PDF)</vt:lpstr>
      <vt:lpstr>Probability Density Function (PDF)</vt:lpstr>
      <vt:lpstr>Probability Mass Function (PMF)</vt:lpstr>
      <vt:lpstr>Probability Mass Function (PMF)</vt:lpstr>
      <vt:lpstr>Probability Mass Function (PMF)</vt:lpstr>
      <vt:lpstr>Properties of PDF/PMF</vt:lpstr>
      <vt:lpstr>Expectation</vt:lpstr>
      <vt:lpstr>Random Sampling</vt:lpstr>
      <vt:lpstr>Random Sampling</vt:lpstr>
      <vt:lpstr>Random Sampling</vt:lpstr>
      <vt:lpstr>Terminologies</vt:lpstr>
      <vt:lpstr>Terminology: state and action</vt:lpstr>
      <vt:lpstr>Terminology: state and action</vt:lpstr>
      <vt:lpstr>Terminology: policy</vt:lpstr>
      <vt:lpstr>Terminology: policy</vt:lpstr>
      <vt:lpstr>Terminology: policy</vt:lpstr>
      <vt:lpstr>Terminology: policy</vt:lpstr>
      <vt:lpstr>Terminology: policy</vt:lpstr>
      <vt:lpstr>Terminology: policy</vt:lpstr>
      <vt:lpstr>Terminology: reward</vt:lpstr>
      <vt:lpstr>Terminology: reward</vt:lpstr>
      <vt:lpstr>Terminology: reward</vt:lpstr>
      <vt:lpstr>Terminology: reward</vt:lpstr>
      <vt:lpstr>Terminology: state transition</vt:lpstr>
      <vt:lpstr>Terminology: state transition</vt:lpstr>
      <vt:lpstr>Terminology: state transition</vt:lpstr>
      <vt:lpstr>Terminology: state transition</vt:lpstr>
      <vt:lpstr>Terminology: state transition</vt:lpstr>
      <vt:lpstr>Two Sources of Randomness</vt:lpstr>
      <vt:lpstr>PowerPoint Presentation</vt:lpstr>
      <vt:lpstr>Randomness in Actions</vt:lpstr>
      <vt:lpstr>Randomness in States</vt:lpstr>
      <vt:lpstr>Randomness in States</vt:lpstr>
      <vt:lpstr>Two Sources of Randomness</vt:lpstr>
      <vt:lpstr>Agent-Environment Interaction</vt:lpstr>
      <vt:lpstr>Agent-Environment Interaction</vt:lpstr>
      <vt:lpstr>Agent-Environment Interaction</vt:lpstr>
      <vt:lpstr>Agent-Environment Interaction</vt:lpstr>
      <vt:lpstr>Play game using AI</vt:lpstr>
      <vt:lpstr>Play game using AI</vt:lpstr>
      <vt:lpstr>Play game using AI</vt:lpstr>
      <vt:lpstr>Play game using AI</vt:lpstr>
      <vt:lpstr>Play game using AI</vt:lpstr>
      <vt:lpstr>Rewards and Returns</vt:lpstr>
      <vt:lpstr>Return</vt:lpstr>
      <vt:lpstr>Return</vt:lpstr>
      <vt:lpstr>Return</vt:lpstr>
      <vt:lpstr>Return</vt:lpstr>
      <vt:lpstr>Discounted Returns</vt:lpstr>
      <vt:lpstr>Discounted Returns</vt:lpstr>
      <vt:lpstr>Randomness in Returns</vt:lpstr>
      <vt:lpstr>Randomness in Returns</vt:lpstr>
      <vt:lpstr>Randomness in Returns</vt:lpstr>
      <vt:lpstr>Randomness in Returns</vt:lpstr>
      <vt:lpstr>Randomness in Returns</vt:lpstr>
      <vt:lpstr>Randomness in Returns</vt:lpstr>
      <vt:lpstr>Randomness in Returns</vt:lpstr>
      <vt:lpstr>Value Functions</vt:lpstr>
      <vt:lpstr>Action-Value Function Q_π (s, a)</vt:lpstr>
      <vt:lpstr>Action-Value Function Q_π (s, a)</vt:lpstr>
      <vt:lpstr>Action-Value Function Q_π (s, a)</vt:lpstr>
      <vt:lpstr>Action-Value Function Q_π (s, a)</vt:lpstr>
      <vt:lpstr>Action-Value Function Q_π (s, a)</vt:lpstr>
      <vt:lpstr>Action-Value Function Q_π (s, a)</vt:lpstr>
      <vt:lpstr>Action-Value Function Q_π (s, a)</vt:lpstr>
      <vt:lpstr>Action-Value Function Q_π (s, a)</vt:lpstr>
      <vt:lpstr>Action-Value Function Q_π (s, a)</vt:lpstr>
      <vt:lpstr>State-Value Function V_π (s)</vt:lpstr>
      <vt:lpstr>State-Value Function V_π (s)</vt:lpstr>
      <vt:lpstr>State-Value Function V_π (s)</vt:lpstr>
      <vt:lpstr>State-Value Function V_π (s)</vt:lpstr>
      <vt:lpstr>Understanding the Value Functions</vt:lpstr>
      <vt:lpstr>Understanding the Value Functions</vt:lpstr>
      <vt:lpstr>Evaluating Reinforcement Learning</vt:lpstr>
      <vt:lpstr>OpenAI Gym</vt:lpstr>
      <vt:lpstr>OpenAI Gym</vt:lpstr>
      <vt:lpstr>OpenAI Gym</vt:lpstr>
      <vt:lpstr>OpenAI Gym</vt:lpstr>
      <vt:lpstr>OpenAI Gym</vt:lpstr>
      <vt:lpstr>Play CartPole Game</vt:lpstr>
      <vt:lpstr>Play CartPole Game</vt:lpstr>
      <vt:lpstr>Summary</vt:lpstr>
      <vt:lpstr>Summary</vt:lpstr>
      <vt:lpstr>Summary</vt:lpstr>
      <vt:lpstr>Summary</vt:lpstr>
      <vt:lpstr>Summary</vt:lpstr>
      <vt:lpstr>Play game using AI</vt:lpstr>
      <vt:lpstr>Play game using AI</vt:lpstr>
      <vt:lpstr>Play game using AI</vt:lpstr>
      <vt:lpstr>Play game using AI</vt:lpstr>
      <vt:lpstr>PowerPoint Presentation</vt:lpstr>
    </vt:vector>
  </TitlesOfParts>
  <Company/>
  <LinksUpToDate>false</LinksUpToDate>
  <SharedDoc>false</SharedDoc>
  <HyperlinksChanged>false</HyperlinksChanged>
  <AppVersion>15.0027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shusen wang</dc:creator>
  <cp:lastModifiedBy>Shusen Wang</cp:lastModifiedBy>
  <cp:revision>1301</cp:revision>
  <cp:lastPrinted>2019-12-12T02:12:24Z</cp:lastPrinted>
  <dcterms:created xsi:type="dcterms:W3CDTF">2017-08-22T04:44:10Z</dcterms:created>
  <dcterms:modified xsi:type="dcterms:W3CDTF">2021-05-16T04:56:16Z</dcterms:modified>
</cp:coreProperties>
</file>